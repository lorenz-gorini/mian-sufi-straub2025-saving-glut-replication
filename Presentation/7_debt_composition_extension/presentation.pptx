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618697902948f7" /><Relationship Type="http://schemas.openxmlformats.org/officeDocument/2006/relationships/extended-properties" Target="/docProps/app.xml" Id="Rf9c27059e9314d24" /><Relationship Type="http://schemas.openxmlformats.org/officeDocument/2006/relationships/officeDocument" Target="/ppt/presentation.xml" Id="Rf7238fd6987c49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0034ac30b349e5"/>
  </p:sldMasterIdLst>
  <p:notesMasterIdLst>
    <p:notesMasterId xmlns:r="http://schemas.openxmlformats.org/officeDocument/2006/relationships" r:id="R3d33d742dea44b78"/>
  </p:notesMasterIdLst>
  <p:sldIdLst>
    <p:sldId xmlns:r="http://schemas.openxmlformats.org/officeDocument/2006/relationships" id="256" r:id="R7e51e485305d4a3a"/>
    <p:sldId xmlns:r="http://schemas.openxmlformats.org/officeDocument/2006/relationships" id="257" r:id="R49339656f9424705"/>
    <p:sldId xmlns:r="http://schemas.openxmlformats.org/officeDocument/2006/relationships" id="258" r:id="Rac2d624e302b4a37"/>
    <p:sldId xmlns:r="http://schemas.openxmlformats.org/officeDocument/2006/relationships" id="259" r:id="Rc0d8f168089c48a3"/>
    <p:sldId xmlns:r="http://schemas.openxmlformats.org/officeDocument/2006/relationships" id="260" r:id="R174270711c4b412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1cfd43aadf474b" /><Relationship Type="http://schemas.openxmlformats.org/officeDocument/2006/relationships/slideMaster" Target="/ppt/slideMasters/slideMaster1.xml" Id="Rf50034ac30b349e5" /><Relationship Type="http://schemas.openxmlformats.org/officeDocument/2006/relationships/notesMaster" Target="/ppt/notesMasters/notesMaster1.xml" Id="R3d33d742dea44b78" /><Relationship Type="http://schemas.openxmlformats.org/officeDocument/2006/relationships/presProps" Target="/ppt/presProps.xml" Id="R84d06f7e83f44abd" /><Relationship Type="http://schemas.openxmlformats.org/officeDocument/2006/relationships/tableStyles" Target="/ppt/tableStyles.xml" Id="R96e63b7da8104de7" /><Relationship Type="http://schemas.openxmlformats.org/officeDocument/2006/relationships/slide" Target="/ppt/slides/slide1.xml" Id="R7e51e485305d4a3a" /><Relationship Type="http://schemas.openxmlformats.org/officeDocument/2006/relationships/slide" Target="/ppt/slides/slide2.xml" Id="R49339656f9424705" /><Relationship Type="http://schemas.openxmlformats.org/officeDocument/2006/relationships/slide" Target="/ppt/slides/slide3.xml" Id="Rac2d624e302b4a37" /><Relationship Type="http://schemas.openxmlformats.org/officeDocument/2006/relationships/slide" Target="/ppt/slides/slide4.xml" Id="Rc0d8f168089c48a3" /><Relationship Type="http://schemas.openxmlformats.org/officeDocument/2006/relationships/slide" Target="/ppt/slides/slide5.xml" Id="R174270711c4b41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9ca93387e5b468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b704f707c84d2c" /><Relationship Type="http://schemas.openxmlformats.org/officeDocument/2006/relationships/notesMaster" Target="/ppt/notesMasters/notesMaster1.xml" Id="R2ea3482c97da42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b09f5235d94984" /><Relationship Type="http://schemas.openxmlformats.org/officeDocument/2006/relationships/notesMaster" Target="/ppt/notesMasters/notesMaster1.xml" Id="R75587acae95c4a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08487e898014d9e" /><Relationship Type="http://schemas.openxmlformats.org/officeDocument/2006/relationships/notesMaster" Target="/ppt/notesMasters/notesMaster1.xml" Id="Ra124a1b57ee540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8d83c1d54a4704" /><Relationship Type="http://schemas.openxmlformats.org/officeDocument/2006/relationships/notesMaster" Target="/ppt/notesMasters/notesMaster1.xml" Id="R6c1ac2de31914c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acdd2d73de4295" /><Relationship Type="http://schemas.openxmlformats.org/officeDocument/2006/relationships/notesMaster" Target="/ppt/notesMasters/notesMaster1.xml" Id="Re82f6646438248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Sections 3.1, 3.5, and 4.1–4.2.</a:t>
            </a:r>
          </a:p>
          <a:p xmlns:a="http://schemas.openxmlformats.org/drawingml/2006/main">
            <a:r>
              <a:t>- research_extension_idea_2.md, Stage 1 research design.</a:t>
            </a:r>
          </a:p>
          <a:p xmlns:a="http://schemas.openxmlformats.org/drawingml/2006/main">
            <a:r>
              <a:t>- Data/processed/debt_composition_presentation_metrics.csv, generated 2026-08-14.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Data/processed/debt_composition_2021_direct.csv, debt_liabilities_relative_to_1982.</a:t>
            </a:r>
          </a:p>
          <a:p xmlns:a="http://schemas.openxmlformats.org/drawingml/2006/main">
            <a:r>
              <a:t>- MSS2021Febreplicationkit/data/finalfiles/Yunveilhhd.dta, d_hh_hmort and d_hh_ccred.</a:t>
            </a:r>
          </a:p>
          <a:p xmlns:a="http://schemas.openxmlformats.org/drawingml/2006/main">
            <a:r>
              <a:t>- MSS2021Febreplicationkit/data/PSZusdina/Yszshares_fine.dta, owner-mortgage and nonmortgage wealth shares.</a:t>
            </a:r>
          </a:p>
          <a:p xmlns:a="http://schemas.openxmlformats.org/drawingml/2006/main">
            <a:r>
              <a:t>- Code/scripts/build_debt_composition_extension.py.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Data/processed/debt_composition_period_summary.csv, 1998–2007 period averages.</a:t>
            </a:r>
          </a:p>
          <a:p xmlns:a="http://schemas.openxmlformats.org/drawingml/2006/main">
            <a:r>
              <a:t>- MSS2021Febreplicationkit/data/finalfiles/YwealthFOF.dta, group debt levels after DINA allocation.</a:t>
            </a:r>
          </a:p>
          <a:p xmlns:a="http://schemas.openxmlformats.org/drawingml/2006/main">
            <a:r>
              <a:t>- MSS2021Febreplicationkit/data/finalfiles/Ywealthreturns.dta, mortgage and consumer-debt write-down factors.</a:t>
            </a:r>
          </a:p>
          <a:p xmlns:a="http://schemas.openxmlformats.org/drawingml/2006/main">
            <a:r>
              <a:t>- Code/unveiling/debt_composition_extension.py, S[g,k,t] = W[g,k,t] - (1 + pi[g,k,t]) W[g,k,t-1].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Data/processed/debt_composition_2021_direct.csv, net_debt_relative_to_1982.</a:t>
            </a:r>
          </a:p>
          <a:p xmlns:a="http://schemas.openxmlformats.org/drawingml/2006/main">
            <a:r>
              <a:t>- Code/unveiling/figure8_2021_direct.py, category-specific Omega = (I - Q)^(-1) B allocation.</a:t>
            </a:r>
          </a:p>
          <a:p xmlns:a="http://schemas.openxmlformats.org/drawingml/2006/main">
            <a:r>
              <a:t>- Data/interim/debt_composition_accounting_diagnostics.csv; category additivity error at most 9.31e-10 million dollars and spectral radius at most 0.180.</a:t>
            </a:r>
          </a:p>
          <a:p xmlns:a="http://schemas.openxmlformats.org/drawingml/2006/main">
            <a:r>
              <a:t>- MSS_SGR_July242025.pdf, Sections 2.1–2.2 and 4.1–4.2.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research_extension_idea_2.md, Stages 2–4 and measurement safeguards.</a:t>
            </a:r>
          </a:p>
          <a:p xmlns:a="http://schemas.openxmlformats.org/drawingml/2006/main">
            <a:r>
              <a:t>- Federal Reserve Survey of Consumer Finances: https://www.federalreserve.gov/econres/scfindex.htm</a:t>
            </a:r>
          </a:p>
          <a:p xmlns:a="http://schemas.openxmlformats.org/drawingml/2006/main">
            <a:r>
              <a:t>- Federal Reserve Distributional Financial Accounts: https://www.federalreserve.gov/releases/z1/dataviz/dfa/index.html</a:t>
            </a:r>
          </a:p>
          <a:p xmlns:a="http://schemas.openxmlformats.org/drawingml/2006/main">
            <a:r>
              <a:t>- CBO, Trends in the Distribution of Family Wealth, 1989 to 2022: https://www.cbo.gov/publication/60807</a:t>
            </a:r>
          </a:p>
          <a:p xmlns:a="http://schemas.openxmlformats.org/drawingml/2006/main">
            <a:r>
              <a:t>- Bartscher, Kuhn, Schularick, and Steins (2025): https://doi.org/10.1016/j.red.2025.101288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056a087a724b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17fc721777c4824" /><Relationship Type="http://schemas.openxmlformats.org/officeDocument/2006/relationships/slideLayout" Target="/ppt/slideLayouts/slideLayout1.xml" Id="Re17d4a5c2547496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17d4a5c2547496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3627a9e9c6480c" /><Relationship Type="http://schemas.openxmlformats.org/officeDocument/2006/relationships/notesSlide" Target="/ppt/notesSlides/notesSlide1.xml" Id="Rfaf49f98eda24e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a39ab845cb4c6a" /><Relationship Type="http://schemas.openxmlformats.org/officeDocument/2006/relationships/chart" Target="/ppt/slides/charts/chart1.xml" Id="R252525b87f7944d9" /><Relationship Type="http://schemas.openxmlformats.org/officeDocument/2006/relationships/notesSlide" Target="/ppt/notesSlides/notesSlide2.xml" Id="R0fd87e88edb44f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d99aa22b749d4" /><Relationship Type="http://schemas.openxmlformats.org/officeDocument/2006/relationships/chart" Target="/ppt/slides/charts/chart2.xml" Id="R128f2bc0fd9c4517" /><Relationship Type="http://schemas.openxmlformats.org/officeDocument/2006/relationships/notesSlide" Target="/ppt/notesSlides/notesSlide3.xml" Id="R1d5362bbef614b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f30f0c94414d30" /><Relationship Type="http://schemas.openxmlformats.org/officeDocument/2006/relationships/chart" Target="/ppt/slides/charts/chart3.xml" Id="R20f057f345414fd3" /><Relationship Type="http://schemas.openxmlformats.org/officeDocument/2006/relationships/notesSlide" Target="/ppt/notesSlides/notesSlide4.xml" Id="Rc112a2be07df42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604acdbc64161" /><Relationship Type="http://schemas.openxmlformats.org/officeDocument/2006/relationships/notesSlide" Target="/ppt/notesSlides/notesSlide5.xml" Id="R3659b1f5325649d1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Home mortgages</c:v>
          </c:tx>
          <c:spPr>
            <a:solidFill xmlns:a="http://schemas.openxmlformats.org/drawingml/2006/main">
              <a:srgbClr val="C85200"/>
            </a:solidFill>
          </c:spPr>
          <c:cat>
            <c:strLit>
              <c:ptCount val="4"/>
              <c:pt idx="0">
                <c:v>Top 1%</c:v>
              </c:pt>
              <c:pt idx="1">
                <c:v>Next 9%</c:v>
              </c:pt>
              <c:pt idx="2">
                <c:v>Next 40%</c:v>
              </c:pt>
              <c:pt idx="3">
                <c:v>Bottom 50%</c:v>
              </c:pt>
            </c:strLit>
          </c:cat>
          <c:val>
            <c:numLit>
              <c:formatCode>0.0</c:formatCode>
              <c:ptCount val="4"/>
              <c:pt idx="0">
                <c:v>4.499593417101081</c:v>
              </c:pt>
              <c:pt idx="1">
                <c:v>7.965096337039496</c:v>
              </c:pt>
              <c:pt idx="2">
                <c:v>23.625422110366976</c:v>
              </c:pt>
              <c:pt idx="3">
                <c:v>13.845944928739456</c:v>
              </c:pt>
            </c:numLit>
          </c:val>
        </c:ser>
        <c:ser>
          <c:idx val="1"/>
          <c:order val="1"/>
          <c:tx>
            <c:v>Consumer credit</c:v>
          </c:tx>
          <c:spPr>
            <a:solidFill xmlns:a="http://schemas.openxmlformats.org/drawingml/2006/main">
              <a:srgbClr val="1170AA"/>
            </a:solidFill>
          </c:spPr>
          <c:cat>
            <c:strLit>
              <c:ptCount val="4"/>
              <c:pt idx="0">
                <c:v>Top 1%</c:v>
              </c:pt>
              <c:pt idx="1">
                <c:v>Next 9%</c:v>
              </c:pt>
              <c:pt idx="2">
                <c:v>Next 40%</c:v>
              </c:pt>
              <c:pt idx="3">
                <c:v>Bottom 50%</c:v>
              </c:pt>
            </c:strLit>
          </c:cat>
          <c:val>
            <c:numLit>
              <c:formatCode>0.0</c:formatCode>
              <c:ptCount val="4"/>
              <c:pt idx="0">
                <c:v>0.0030121314919162936</c:v>
              </c:pt>
              <c:pt idx="1">
                <c:v>0.24765855217187202</c:v>
              </c:pt>
              <c:pt idx="2">
                <c:v>2.9162575872399343</c:v>
              </c:pt>
              <c:pt idx="3">
                <c:v>4.044698901274537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solidFill>
                    <a:srgbClr val="12304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2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CE3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2304A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27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3616E"/>
                    </a:solidFill>
                  </a:rPr>
                  <a:t>1982–2007 change (pp national income)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3616E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CE3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16E"/>
                </a:solidFill>
              </a:defRPr>
            </a:pPr>
          </a:p>
        </c:txPr>
        <c:crossAx val="48650112"/>
        <c:crossBetween val="between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12304A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Home mortgages</c:v>
          </c:tx>
          <c:spPr>
            <a:solidFill xmlns:a="http://schemas.openxmlformats.org/drawingml/2006/main">
              <a:srgbClr val="C85200"/>
            </a:solidFill>
          </c:spPr>
          <c:invertIfNegative val="0"/>
          <c:cat>
            <c:strLit>
              <c:ptCount val="4"/>
              <c:pt idx="0">
                <c:v>Top 1%</c:v>
              </c:pt>
              <c:pt idx="1">
                <c:v>Next 9%</c:v>
              </c:pt>
              <c:pt idx="2">
                <c:v>Next 40%</c:v>
              </c:pt>
              <c:pt idx="3">
                <c:v>Bottom 50%</c:v>
              </c:pt>
            </c:strLit>
          </c:cat>
          <c:val>
            <c:numLit>
              <c:formatCode>0.0</c:formatCode>
              <c:ptCount val="4"/>
              <c:pt idx="0">
                <c:v>-0.4282277038873723</c:v>
              </c:pt>
              <c:pt idx="1">
                <c:v>-0.9885089135273171</c:v>
              </c:pt>
              <c:pt idx="2">
                <c:v>-3.090152291969412</c:v>
              </c:pt>
              <c:pt idx="3">
                <c:v>-2.2773627659483466</c:v>
              </c:pt>
            </c:numLit>
          </c:val>
        </c:ser>
        <c:ser>
          <c:idx val="1"/>
          <c:order val="1"/>
          <c:tx>
            <c:v>Consumer credit</c:v>
          </c:tx>
          <c:spPr>
            <a:solidFill xmlns:a="http://schemas.openxmlformats.org/drawingml/2006/main">
              <a:srgbClr val="1170AA"/>
            </a:solidFill>
          </c:spPr>
          <c:invertIfNegative val="0"/>
          <c:cat>
            <c:strLit>
              <c:ptCount val="4"/>
              <c:pt idx="0">
                <c:v>Top 1%</c:v>
              </c:pt>
              <c:pt idx="1">
                <c:v>Next 9%</c:v>
              </c:pt>
              <c:pt idx="2">
                <c:v>Next 40%</c:v>
              </c:pt>
              <c:pt idx="3">
                <c:v>Bottom 50%</c:v>
              </c:pt>
            </c:strLit>
          </c:cat>
          <c:val>
            <c:numLit>
              <c:formatCode>0.0</c:formatCode>
              <c:ptCount val="4"/>
              <c:pt idx="0">
                <c:v>-0.011981914938061016</c:v>
              </c:pt>
              <c:pt idx="1">
                <c:v>-0.15308492071509464</c:v>
              </c:pt>
              <c:pt idx="2">
                <c:v>-0.7256856345421425</c:v>
              </c:pt>
              <c:pt idx="3">
                <c:v>-0.8819126285377513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solidFill>
                    <a:srgbClr val="12304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2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CE3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2304A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5"/>
          <c:min val="-3.7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3616E"/>
                    </a:solidFill>
                  </a:rPr>
                  <a:t>Average annual contribution (pp national income)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3616E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CE3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16E"/>
                </a:solidFill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12304A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Home mortgages</c:v>
          </c:tx>
          <c:spPr>
            <a:solidFill xmlns:a="http://schemas.openxmlformats.org/drawingml/2006/main">
              <a:srgbClr val="C85200"/>
            </a:solidFill>
          </c:spPr>
          <c:invertIfNegative val="0"/>
          <c:cat>
            <c:strLit>
              <c:ptCount val="4"/>
              <c:pt idx="0">
                <c:v>Top 1%</c:v>
              </c:pt>
              <c:pt idx="1">
                <c:v>Next 9%</c:v>
              </c:pt>
              <c:pt idx="2">
                <c:v>Next 40%</c:v>
              </c:pt>
              <c:pt idx="3">
                <c:v>Bottom 50%</c:v>
              </c:pt>
            </c:strLit>
          </c:cat>
          <c:val>
            <c:numLit>
              <c:formatCode>0.0</c:formatCode>
              <c:ptCount val="4"/>
              <c:pt idx="0">
                <c:v>8.690144679974583</c:v>
              </c:pt>
              <c:pt idx="1">
                <c:v>-0.3813230924429284</c:v>
              </c:pt>
              <c:pt idx="2">
                <c:v>-19.015979174052816</c:v>
              </c:pt>
              <c:pt idx="3">
                <c:v>-13.726391344513011</c:v>
              </c:pt>
            </c:numLit>
          </c:val>
        </c:ser>
        <c:ser>
          <c:idx val="1"/>
          <c:order val="1"/>
          <c:tx>
            <c:v>Consumer credit</c:v>
          </c:tx>
          <c:spPr>
            <a:solidFill xmlns:a="http://schemas.openxmlformats.org/drawingml/2006/main">
              <a:srgbClr val="1170AA"/>
            </a:solidFill>
          </c:spPr>
          <c:invertIfNegative val="0"/>
          <c:cat>
            <c:strLit>
              <c:ptCount val="4"/>
              <c:pt idx="0">
                <c:v>Top 1%</c:v>
              </c:pt>
              <c:pt idx="1">
                <c:v>Next 9%</c:v>
              </c:pt>
              <c:pt idx="2">
                <c:v>Next 40%</c:v>
              </c:pt>
              <c:pt idx="3">
                <c:v>Bottom 50%</c:v>
              </c:pt>
            </c:strLit>
          </c:cat>
          <c:val>
            <c:numLit>
              <c:formatCode>0.0</c:formatCode>
              <c:ptCount val="4"/>
              <c:pt idx="0">
                <c:v>2.780721045617579</c:v>
              </c:pt>
              <c:pt idx="1">
                <c:v>-0.15266032385476622</c:v>
              </c:pt>
              <c:pt idx="2">
                <c:v>-3.462054605670174</c:v>
              </c:pt>
              <c:pt idx="3">
                <c:v>-4.28822610033058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solidFill>
                    <a:srgbClr val="12304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2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CE3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2304A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2"/>
          <c:min val="-23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3616E"/>
                    </a:solidFill>
                  </a:rPr>
                  <a:t>Assets minus liabilities, 1982–2007 change (pp NI)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3616E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CE3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16E"/>
                </a:solidFill>
              </a:defRPr>
            </a:pPr>
          </a:p>
        </c:txPr>
        <c:crossAx val="48650112"/>
        <c:crossBetween val="between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12304A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-eyebrow">
            <a:extLst xmlns:a="http://schemas.openxmlformats.org/drawingml/2006/main">
              <a:ext uri="{FF2B5EF4-FFF2-40B4-BE49-F238E27FC236}">
                <a16:creationId xmlns:a16="http://schemas.microsoft.com/office/drawing/2014/main" id="{99DD95F6-3A5A-4A4C-8A89-ECBD22F61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667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PROPOSED EXTENSION  ·  PRELIMINARY ACCOUNTING EVIDENCE</a:t>
            </a:r>
          </a:p>
        </p:txBody>
      </p:sp>
      <p:sp>
        <p:nvSpPr>
          <p:cNvPr id="2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0854D70F-3EC1-400A-AC56-5218F1C69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762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2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deck-title">
            <a:extLst xmlns:a="http://schemas.openxmlformats.org/drawingml/2006/main">
              <a:ext uri="{FF2B5EF4-FFF2-40B4-BE49-F238E27FC236}">
                <a16:creationId xmlns:a16="http://schemas.microsoft.com/office/drawing/2014/main" id="{B30A67FD-614F-42B9-89BC-D1698D56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257300"/>
            <a:ext cx="9525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5100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defRPr>
            </a:pPr>
            <a:r>
              <a:rPr sz="5100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rPr>
              <a:t>Mortgages link rich saving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5100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defRPr>
            </a:pPr>
            <a:r>
              <a:rPr sz="5100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rPr>
              <a:t>to middle-wealth borrowing</a:t>
            </a:r>
          </a:p>
        </p:txBody>
      </p:sp>
      <p:sp>
        <p:nvSpPr>
          <p:cNvPr id="4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C39B2A02-1210-47BC-9607-450FCFFB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86125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A category-specific extension of Mian, Straub, and Sufi</a:t>
            </a:r>
          </a:p>
        </p:txBody>
      </p:sp>
      <p:sp>
        <p:nvSpPr>
          <p:cNvPr id="5" name="deck-boundary">
            <a:extLst xmlns:a="http://schemas.openxmlformats.org/drawingml/2006/main">
              <a:ext uri="{FF2B5EF4-FFF2-40B4-BE49-F238E27FC236}">
                <a16:creationId xmlns:a16="http://schemas.microsoft.com/office/drawing/2014/main" id="{E3951BE8-5A8B-4B7C-B570-51A9AA1E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005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1963–2016 authors-kit inputs  ·  full Leontief unveiling  ·  descriptive, not causal</a:t>
            </a:r>
          </a:p>
        </p:txBody>
      </p:sp>
      <p:sp>
        <p:nvSpPr>
          <p:cNvPr id="6" name="title-bottom-rule">
            <a:extLst xmlns:a="http://schemas.openxmlformats.org/drawingml/2006/main">
              <a:ext uri="{FF2B5EF4-FFF2-40B4-BE49-F238E27FC236}">
                <a16:creationId xmlns:a16="http://schemas.microsoft.com/office/drawing/2014/main" id="{E649021F-0E32-4BB8-8612-E9BA348F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67400"/>
            <a:ext cx="1076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itle-footer">
            <a:extLst xmlns:a="http://schemas.openxmlformats.org/drawingml/2006/main">
              <a:ext uri="{FF2B5EF4-FFF2-40B4-BE49-F238E27FC236}">
                <a16:creationId xmlns:a16="http://schemas.microsoft.com/office/drawing/2014/main" id="{AC87F35D-0F1F-49E8-9D0B-CDFCC1C4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15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Research-extension evidence for the course submission</a:t>
            </a:r>
          </a:p>
        </p:txBody>
      </p:sp>
    </p:spTree>
    <p:extLst>
      <p:ext uri="{BB962C8B-B14F-4D97-AF65-F5344CB8AC3E}">
        <p14:creationId xmlns:p14="http://schemas.microsoft.com/office/powerpoint/2010/main" val="1090404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-2">
            <a:extLst xmlns:a="http://schemas.openxmlformats.org/drawingml/2006/main">
              <a:ext uri="{FF2B5EF4-FFF2-40B4-BE49-F238E27FC236}">
                <a16:creationId xmlns:a16="http://schemas.microsoft.com/office/drawing/2014/main" id="{2BFBC322-7AF8-4DCD-A3CB-11ADC78B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RESEARCH EXTENSION  ·  PRELIMINARY EVIDENCE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52A47A68-F390-4EF3-8747-F5872924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14325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C5A1728D-1E90-4EDB-BFD6-5DBD26BAE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defRPr>
            </a:pPr>
            <a:r>
              <a:rPr sz="3525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rPr>
              <a:t>Mortgage debt dominated below the top 10%</a:t>
            </a:r>
          </a:p>
        </p:txBody>
      </p:sp>
      <p:sp>
        <p:nvSpPr>
          <p:cNvPr id="4" name="title-rule-2">
            <a:extLst xmlns:a="http://schemas.openxmlformats.org/drawingml/2006/main">
              <a:ext uri="{FF2B5EF4-FFF2-40B4-BE49-F238E27FC236}">
                <a16:creationId xmlns:a16="http://schemas.microsoft.com/office/drawing/2014/main" id="{54F501DA-1EAF-4540-9704-DA25E29B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5875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200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723900" y="1524000"/>
          <a:ext xmlns:a="http://schemas.openxmlformats.org/drawingml/2006/main" cx="80962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52525b87f7944d9"/>
          </a:graphicData>
        </a:graphic>
      </p:graphicFrame>
      <p:sp>
        <p:nvSpPr>
          <p:cNvPr id="6" name="borrower-callout">
            <a:extLst xmlns:a="http://schemas.openxmlformats.org/drawingml/2006/main">
              <a:ext uri="{FF2B5EF4-FFF2-40B4-BE49-F238E27FC236}">
                <a16:creationId xmlns:a16="http://schemas.microsoft.com/office/drawing/2014/main" id="{B44B086E-E8FD-4B98-9C53-0F1CDFA3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943100"/>
            <a:ext cx="23336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orrower-callout-head">
            <a:extLst xmlns:a="http://schemas.openxmlformats.org/drawingml/2006/main">
              <a:ext uri="{FF2B5EF4-FFF2-40B4-BE49-F238E27FC236}">
                <a16:creationId xmlns:a16="http://schemas.microsoft.com/office/drawing/2014/main" id="{D7126311-801A-4AB1-8499-E5D86C46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1717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Largest mortgage build-up</a:t>
            </a:r>
          </a:p>
        </p:txBody>
      </p:sp>
      <p:sp>
        <p:nvSpPr>
          <p:cNvPr id="8" name="borrower-next40">
            <a:extLst xmlns:a="http://schemas.openxmlformats.org/drawingml/2006/main">
              <a:ext uri="{FF2B5EF4-FFF2-40B4-BE49-F238E27FC236}">
                <a16:creationId xmlns:a16="http://schemas.microsoft.com/office/drawing/2014/main" id="{B46D97F1-F6D0-41DF-B3B4-B82F118F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857500"/>
            <a:ext cx="1924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+23.6 pp</a:t>
            </a:r>
          </a:p>
        </p:txBody>
      </p:sp>
      <p:sp>
        <p:nvSpPr>
          <p:cNvPr id="9" name="borrower-next40-label">
            <a:extLst xmlns:a="http://schemas.openxmlformats.org/drawingml/2006/main">
              <a:ext uri="{FF2B5EF4-FFF2-40B4-BE49-F238E27FC236}">
                <a16:creationId xmlns:a16="http://schemas.microsoft.com/office/drawing/2014/main" id="{D20FC1F1-3173-4DFB-8CEB-A16A1DB1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333750"/>
            <a:ext cx="1924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Next 40% mortgage liabilities</a:t>
            </a:r>
          </a:p>
        </p:txBody>
      </p:sp>
      <p:sp>
        <p:nvSpPr>
          <p:cNvPr id="10" name="borrower-contrast">
            <a:extLst xmlns:a="http://schemas.openxmlformats.org/drawingml/2006/main">
              <a:ext uri="{FF2B5EF4-FFF2-40B4-BE49-F238E27FC236}">
                <a16:creationId xmlns:a16="http://schemas.microsoft.com/office/drawing/2014/main" id="{65539AB7-FC18-426D-BB5A-E340CACF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000500"/>
            <a:ext cx="192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Top 1%: +4.5 pp</a:t>
            </a:r>
          </a:p>
        </p:txBody>
      </p:sp>
      <p:sp>
        <p:nvSpPr>
          <p:cNvPr id="11" name="implication-band-2">
            <a:extLst xmlns:a="http://schemas.openxmlformats.org/drawingml/2006/main">
              <a:ext uri="{FF2B5EF4-FFF2-40B4-BE49-F238E27FC236}">
                <a16:creationId xmlns:a16="http://schemas.microsoft.com/office/drawing/2014/main" id="{A50FCB66-63B2-4E7E-856B-A219A9EF3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mplication-2">
            <a:extLst xmlns:a="http://schemas.openxmlformats.org/drawingml/2006/main">
              <a:ext uri="{FF2B5EF4-FFF2-40B4-BE49-F238E27FC236}">
                <a16:creationId xmlns:a16="http://schemas.microsoft.com/office/drawing/2014/main" id="{9AC8CCB1-339F-412C-9D38-8228681F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81675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The housing channel is quantitatively much larger than consumer credit for the middle 40% and bottom half.</a:t>
            </a:r>
          </a:p>
        </p:txBody>
      </p:sp>
      <p:sp>
        <p:nvSpPr>
          <p:cNvPr id="13" name="source-2">
            <a:extLst xmlns:a="http://schemas.openxmlformats.org/drawingml/2006/main">
              <a:ext uri="{FF2B5EF4-FFF2-40B4-BE49-F238E27FC236}">
                <a16:creationId xmlns:a16="http://schemas.microsoft.com/office/drawing/2014/main" id="{1D97F2B6-18F4-4D1A-BD87-AE0F64991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Source: 2021 authors-kit Financial Accounts and DINA shares; positive liabilities owed; 1982–2007 change.</a:t>
            </a:r>
          </a:p>
        </p:txBody>
      </p:sp>
    </p:spTree>
    <p:extLst>
      <p:ext uri="{BB962C8B-B14F-4D97-AF65-F5344CB8AC3E}">
        <p14:creationId xmlns:p14="http://schemas.microsoft.com/office/powerpoint/2010/main" val="20413731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-3">
            <a:extLst xmlns:a="http://schemas.openxmlformats.org/drawingml/2006/main">
              <a:ext uri="{FF2B5EF4-FFF2-40B4-BE49-F238E27FC236}">
                <a16:creationId xmlns:a16="http://schemas.microsoft.com/office/drawing/2014/main" id="{58CB3A3E-6A93-4C1E-883E-97A8E194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RESEARCH EXTENSION  ·  PRELIMINARY EVIDENCE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1E9D3AB4-0FAE-4C7B-ACBE-ECAFD470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14325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B44FFF79-4C96-44BF-BD41-81DDE3C3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defRPr>
            </a:pPr>
            <a:r>
              <a:rPr sz="3525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rPr>
              <a:t>Mortgages drove the housing-boom saving drag</a:t>
            </a:r>
          </a:p>
        </p:txBody>
      </p:sp>
      <p:sp>
        <p:nvSpPr>
          <p:cNvPr id="4" name="title-rule-3">
            <a:extLst xmlns:a="http://schemas.openxmlformats.org/drawingml/2006/main">
              <a:ext uri="{FF2B5EF4-FFF2-40B4-BE49-F238E27FC236}">
                <a16:creationId xmlns:a16="http://schemas.microsoft.com/office/drawing/2014/main" id="{2BF0F4E3-FADD-424D-B110-BA01143D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5875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200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723900" y="1524000"/>
          <a:ext xmlns:a="http://schemas.openxmlformats.org/drawingml/2006/main" cx="80962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28f2bc0fd9c4517"/>
          </a:graphicData>
        </a:graphic>
      </p:graphicFrame>
      <p:sp>
        <p:nvSpPr>
          <p:cNvPr id="6" name="saving-callout">
            <a:extLst xmlns:a="http://schemas.openxmlformats.org/drawingml/2006/main">
              <a:ext uri="{FF2B5EF4-FFF2-40B4-BE49-F238E27FC236}">
                <a16:creationId xmlns:a16="http://schemas.microsoft.com/office/drawing/2014/main" id="{3592225C-77F8-43C9-A780-B86E1142D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943100"/>
            <a:ext cx="23336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aving-callout-head">
            <a:extLst xmlns:a="http://schemas.openxmlformats.org/drawingml/2006/main">
              <a:ext uri="{FF2B5EF4-FFF2-40B4-BE49-F238E27FC236}">
                <a16:creationId xmlns:a16="http://schemas.microsoft.com/office/drawing/2014/main" id="{F86BB777-D910-4728-84F0-BD314513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171700"/>
            <a:ext cx="1924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1998–2007</a:t>
            </a:r>
          </a:p>
        </p:txBody>
      </p:sp>
      <p:sp>
        <p:nvSpPr>
          <p:cNvPr id="8" name="saving-next40">
            <a:extLst xmlns:a="http://schemas.openxmlformats.org/drawingml/2006/main">
              <a:ext uri="{FF2B5EF4-FFF2-40B4-BE49-F238E27FC236}">
                <a16:creationId xmlns:a16="http://schemas.microsoft.com/office/drawing/2014/main" id="{414281AC-0CB0-4A1B-A140-1F2D8F40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724150"/>
            <a:ext cx="1924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277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−3.09 pp/yr</a:t>
            </a:r>
          </a:p>
        </p:txBody>
      </p:sp>
      <p:sp>
        <p:nvSpPr>
          <p:cNvPr id="9" name="saving-next40-label">
            <a:extLst xmlns:a="http://schemas.openxmlformats.org/drawingml/2006/main">
              <a:ext uri="{FF2B5EF4-FFF2-40B4-BE49-F238E27FC236}">
                <a16:creationId xmlns:a16="http://schemas.microsoft.com/office/drawing/2014/main" id="{BC0A0CF3-09AA-4182-9E93-97B356D00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57550"/>
            <a:ext cx="1924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Next 40% mortgage contribution to active saving</a:t>
            </a:r>
          </a:p>
        </p:txBody>
      </p:sp>
      <p:sp>
        <p:nvSpPr>
          <p:cNvPr id="10" name="saving-contrast">
            <a:extLst xmlns:a="http://schemas.openxmlformats.org/drawingml/2006/main">
              <a:ext uri="{FF2B5EF4-FFF2-40B4-BE49-F238E27FC236}">
                <a16:creationId xmlns:a16="http://schemas.microsoft.com/office/drawing/2014/main" id="{7E6096EA-2A74-4350-B145-6E4A78C4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057650"/>
            <a:ext cx="192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Top 1%: −0.43 pp/yr</a:t>
            </a:r>
          </a:p>
        </p:txBody>
      </p:sp>
      <p:sp>
        <p:nvSpPr>
          <p:cNvPr id="11" name="implication-band-3">
            <a:extLst xmlns:a="http://schemas.openxmlformats.org/drawingml/2006/main">
              <a:ext uri="{FF2B5EF4-FFF2-40B4-BE49-F238E27FC236}">
                <a16:creationId xmlns:a16="http://schemas.microsoft.com/office/drawing/2014/main" id="{F8174ED4-41D2-4E8E-BA56-85CB5666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mplication-3">
            <a:extLst xmlns:a="http://schemas.openxmlformats.org/drawingml/2006/main">
              <a:ext uri="{FF2B5EF4-FFF2-40B4-BE49-F238E27FC236}">
                <a16:creationId xmlns:a16="http://schemas.microsoft.com/office/drawing/2014/main" id="{BADE951D-E52C-4405-B43B-7EA27DA8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81675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Write-down-adjusted mortgage borrowing explains most of the selected debt-related saving reduction in the boom.</a:t>
            </a:r>
          </a:p>
        </p:txBody>
      </p:sp>
      <p:sp>
        <p:nvSpPr>
          <p:cNvPr id="13" name="source-3">
            <a:extLst xmlns:a="http://schemas.openxmlformats.org/drawingml/2006/main">
              <a:ext uri="{FF2B5EF4-FFF2-40B4-BE49-F238E27FC236}">
                <a16:creationId xmlns:a16="http://schemas.microsoft.com/office/drawing/2014/main" id="{D05F340C-E55A-4363-9512-F990B8E56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Source: Figure 5 balance sheets and debt write-down factors; negative values mean active borrowing reduced saving.</a:t>
            </a:r>
          </a:p>
        </p:txBody>
      </p:sp>
    </p:spTree>
    <p:extLst>
      <p:ext uri="{BB962C8B-B14F-4D97-AF65-F5344CB8AC3E}">
        <p14:creationId xmlns:p14="http://schemas.microsoft.com/office/powerpoint/2010/main" val="18195582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-4">
            <a:extLst xmlns:a="http://schemas.openxmlformats.org/drawingml/2006/main">
              <a:ext uri="{FF2B5EF4-FFF2-40B4-BE49-F238E27FC236}">
                <a16:creationId xmlns:a16="http://schemas.microsoft.com/office/drawing/2014/main" id="{082846A9-8465-433A-BF9D-83A132C17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RESEARCH EXTENSION  ·  PRELIMINARY EVIDENCE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F2234565-615B-4BB0-94E4-8E168EE1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14325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7C3EB8DD-59E9-44B4-90F9-39758088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defRPr>
            </a:pPr>
            <a:r>
              <a:rPr sz="3525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rPr>
              <a:t>Unveiling separates mortgage lenders from borrowers</a:t>
            </a:r>
          </a:p>
        </p:txBody>
      </p:sp>
      <p:sp>
        <p:nvSpPr>
          <p:cNvPr id="4" name="title-rule-4">
            <a:extLst xmlns:a="http://schemas.openxmlformats.org/drawingml/2006/main">
              <a:ext uri="{FF2B5EF4-FFF2-40B4-BE49-F238E27FC236}">
                <a16:creationId xmlns:a16="http://schemas.microsoft.com/office/drawing/2014/main" id="{4EDF3FAC-EFC3-4D7F-8101-FED27FF2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5875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200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723900" y="1524000"/>
          <a:ext xmlns:a="http://schemas.openxmlformats.org/drawingml/2006/main" cx="809625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0f057f345414fd3"/>
          </a:graphicData>
        </a:graphic>
      </p:graphicFrame>
      <p:sp>
        <p:nvSpPr>
          <p:cNvPr id="6" name="unveiling-callout">
            <a:extLst xmlns:a="http://schemas.openxmlformats.org/drawingml/2006/main">
              <a:ext uri="{FF2B5EF4-FFF2-40B4-BE49-F238E27FC236}">
                <a16:creationId xmlns:a16="http://schemas.microsoft.com/office/drawing/2014/main" id="{47BCF1F6-7BFE-4E24-8786-60E06BC2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809750"/>
            <a:ext cx="2333625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unveiling-callout-head">
            <a:extLst xmlns:a="http://schemas.openxmlformats.org/drawingml/2006/main">
              <a:ext uri="{FF2B5EF4-FFF2-40B4-BE49-F238E27FC236}">
                <a16:creationId xmlns:a16="http://schemas.microsoft.com/office/drawing/2014/main" id="{B1AC4BFB-EFB5-4AC9-AFC4-8683FD7E0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038350"/>
            <a:ext cx="1924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170A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170AA"/>
                </a:solidFill>
                <a:latin typeface="Calibri"/>
                <a:ea typeface="Calibri"/>
                <a:cs typeface="Calibri"/>
              </a:rPr>
              <a:t>Mortgage net positions</a:t>
            </a:r>
          </a:p>
        </p:txBody>
      </p:sp>
      <p:sp>
        <p:nvSpPr>
          <p:cNvPr id="8" name="unveiling-top1">
            <a:extLst xmlns:a="http://schemas.openxmlformats.org/drawingml/2006/main">
              <a:ext uri="{FF2B5EF4-FFF2-40B4-BE49-F238E27FC236}">
                <a16:creationId xmlns:a16="http://schemas.microsoft.com/office/drawing/2014/main" id="{1E49303A-E8B3-4196-90AA-74429272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9080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277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+8.69 pp</a:t>
            </a:r>
          </a:p>
        </p:txBody>
      </p:sp>
      <p:sp>
        <p:nvSpPr>
          <p:cNvPr id="9" name="unveiling-top1-label">
            <a:extLst xmlns:a="http://schemas.openxmlformats.org/drawingml/2006/main">
              <a:ext uri="{FF2B5EF4-FFF2-40B4-BE49-F238E27FC236}">
                <a16:creationId xmlns:a16="http://schemas.microsoft.com/office/drawing/2014/main" id="{97F8516E-6D74-4F0A-96A7-694C3553D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038475"/>
            <a:ext cx="1924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Top 1%</a:t>
            </a:r>
          </a:p>
        </p:txBody>
      </p:sp>
      <p:sp>
        <p:nvSpPr>
          <p:cNvPr id="10" name="unveiling-next40">
            <a:extLst xmlns:a="http://schemas.openxmlformats.org/drawingml/2006/main">
              <a:ext uri="{FF2B5EF4-FFF2-40B4-BE49-F238E27FC236}">
                <a16:creationId xmlns:a16="http://schemas.microsoft.com/office/drawing/2014/main" id="{365CEB72-6399-4174-B870-6EFD4814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495675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277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−19.02 pp</a:t>
            </a:r>
          </a:p>
        </p:txBody>
      </p:sp>
      <p:sp>
        <p:nvSpPr>
          <p:cNvPr id="11" name="unveiling-next40-label">
            <a:extLst xmlns:a="http://schemas.openxmlformats.org/drawingml/2006/main">
              <a:ext uri="{FF2B5EF4-FFF2-40B4-BE49-F238E27FC236}">
                <a16:creationId xmlns:a16="http://schemas.microsoft.com/office/drawing/2014/main" id="{FFB75C12-0DCE-4775-A25A-A2F7FC2E0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43350"/>
            <a:ext cx="1924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Next 40%</a:t>
            </a:r>
          </a:p>
        </p:txBody>
      </p:sp>
      <p:sp>
        <p:nvSpPr>
          <p:cNvPr id="12" name="implication-band-4">
            <a:extLst xmlns:a="http://schemas.openxmlformats.org/drawingml/2006/main">
              <a:ext uri="{FF2B5EF4-FFF2-40B4-BE49-F238E27FC236}">
                <a16:creationId xmlns:a16="http://schemas.microsoft.com/office/drawing/2014/main" id="{FBC1B51D-743B-4869-8D28-4A0A31AF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implication-4">
            <a:extLst xmlns:a="http://schemas.openxmlformats.org/drawingml/2006/main">
              <a:ext uri="{FF2B5EF4-FFF2-40B4-BE49-F238E27FC236}">
                <a16:creationId xmlns:a16="http://schemas.microsoft.com/office/drawing/2014/main" id="{FAF8B18F-54A4-4BE1-87A3-0DC7091A2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81675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The same mortgage expansion creates a widening lender–borrower split once banks, funds, insurers, and GSE chains are unveiled.</a:t>
            </a:r>
          </a:p>
        </p:txBody>
      </p:sp>
      <p:sp>
        <p:nvSpPr>
          <p:cNvPr id="14" name="source-4">
            <a:extLst xmlns:a="http://schemas.openxmlformats.org/drawingml/2006/main">
              <a:ext uri="{FF2B5EF4-FFF2-40B4-BE49-F238E27FC236}">
                <a16:creationId xmlns:a16="http://schemas.microsoft.com/office/drawing/2014/main" id="{EE899237-8208-4781-9C0D-46A969CFF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Source: 2021 direct cells + full Leontief solve; positive net position means ultimate assets exceed debt owed.</a:t>
            </a:r>
          </a:p>
        </p:txBody>
      </p:sp>
    </p:spTree>
    <p:extLst>
      <p:ext uri="{BB962C8B-B14F-4D97-AF65-F5344CB8AC3E}">
        <p14:creationId xmlns:p14="http://schemas.microsoft.com/office/powerpoint/2010/main" val="9072234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-5">
            <a:extLst xmlns:a="http://schemas.openxmlformats.org/drawingml/2006/main">
              <a:ext uri="{FF2B5EF4-FFF2-40B4-BE49-F238E27FC236}">
                <a16:creationId xmlns:a16="http://schemas.microsoft.com/office/drawing/2014/main" id="{DDC34EFA-C70F-4121-9780-BA601F5D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RESEARCH EXTENSION  ·  PRELIMINARY EVIDENCE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C9632ED7-9FBA-4A5B-AB98-A9A4C422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14325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B1B1523B-277E-471A-AD61-2D404472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defRPr>
            </a:pPr>
            <a:r>
              <a:rPr sz="3525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rPr>
              <a:t>The next step is a causal mortgage-credit test</a:t>
            </a:r>
          </a:p>
        </p:txBody>
      </p:sp>
      <p:sp>
        <p:nvSpPr>
          <p:cNvPr id="4" name="title-rule-5">
            <a:extLst xmlns:a="http://schemas.openxmlformats.org/drawingml/2006/main">
              <a:ext uri="{FF2B5EF4-FFF2-40B4-BE49-F238E27FC236}">
                <a16:creationId xmlns:a16="http://schemas.microsoft.com/office/drawing/2014/main" id="{CB60D68D-4796-45C9-A03E-60C1238E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5875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2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tep-1-number">
            <a:extLst xmlns:a="http://schemas.openxmlformats.org/drawingml/2006/main">
              <a:ext uri="{FF2B5EF4-FFF2-40B4-BE49-F238E27FC236}">
                <a16:creationId xmlns:a16="http://schemas.microsoft.com/office/drawing/2014/main" id="{D69633A3-5F24-4368-9654-8E077DBC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6" name="step-1-head">
            <a:extLst xmlns:a="http://schemas.openxmlformats.org/drawingml/2006/main">
              <a:ext uri="{FF2B5EF4-FFF2-40B4-BE49-F238E27FC236}">
                <a16:creationId xmlns:a16="http://schemas.microsoft.com/office/drawing/2014/main" id="{D6DFF213-09A6-4F03-909E-39CD5836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714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Established here</a:t>
            </a:r>
          </a:p>
        </p:txBody>
      </p:sp>
      <p:sp>
        <p:nvSpPr>
          <p:cNvPr id="7" name="step-1-body">
            <a:extLst xmlns:a="http://schemas.openxmlformats.org/drawingml/2006/main">
              <a:ext uri="{FF2B5EF4-FFF2-40B4-BE49-F238E27FC236}">
                <a16:creationId xmlns:a16="http://schemas.microsoft.com/office/drawing/2014/main" id="{FE82270F-BDC3-424C-9EF3-B9F57492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181225"/>
            <a:ext cx="2667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Mortgages dominate the pre-2008 debt build-up and saving drag for the next 40% and bottom 50%; the top 1% becomes a net ultimate lender.</a:t>
            </a:r>
          </a:p>
        </p:txBody>
      </p:sp>
      <p:sp>
        <p:nvSpPr>
          <p:cNvPr id="8" name="step-divider-1">
            <a:extLst xmlns:a="http://schemas.openxmlformats.org/drawingml/2006/main">
              <a:ext uri="{FF2B5EF4-FFF2-40B4-BE49-F238E27FC236}">
                <a16:creationId xmlns:a16="http://schemas.microsoft.com/office/drawing/2014/main" id="{F312048D-E3EA-4B87-9296-4518A463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95450"/>
            <a:ext cx="19050" cy="262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ep-2-number">
            <a:extLst xmlns:a="http://schemas.openxmlformats.org/drawingml/2006/main">
              <a:ext uri="{FF2B5EF4-FFF2-40B4-BE49-F238E27FC236}">
                <a16:creationId xmlns:a16="http://schemas.microsoft.com/office/drawing/2014/main" id="{44F2638C-CDA8-44CF-A088-459BEE379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145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0" name="step-2-head">
            <a:extLst xmlns:a="http://schemas.openxmlformats.org/drawingml/2006/main">
              <a:ext uri="{FF2B5EF4-FFF2-40B4-BE49-F238E27FC236}">
                <a16:creationId xmlns:a16="http://schemas.microsoft.com/office/drawing/2014/main" id="{CFB33606-E822-408D-BB34-88BE9BC8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714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Not identified</a:t>
            </a:r>
          </a:p>
        </p:txBody>
      </p:sp>
      <p:sp>
        <p:nvSpPr>
          <p:cNvPr id="11" name="step-2-body">
            <a:extLst xmlns:a="http://schemas.openxmlformats.org/drawingml/2006/main">
              <a:ext uri="{FF2B5EF4-FFF2-40B4-BE49-F238E27FC236}">
                <a16:creationId xmlns:a16="http://schemas.microsoft.com/office/drawing/2014/main" id="{5A77C8DA-01D0-428C-B1F8-622A8AB8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81225"/>
            <a:ext cx="2667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These accounts do not establish that credit supply caused house-price growth or lower saving. Age, homeownership, income, and housing supply remain confounders.</a:t>
            </a:r>
          </a:p>
        </p:txBody>
      </p:sp>
      <p:sp>
        <p:nvSpPr>
          <p:cNvPr id="12" name="step-divider-2">
            <a:extLst xmlns:a="http://schemas.openxmlformats.org/drawingml/2006/main">
              <a:ext uri="{FF2B5EF4-FFF2-40B4-BE49-F238E27FC236}">
                <a16:creationId xmlns:a16="http://schemas.microsoft.com/office/drawing/2014/main" id="{7FAC27AB-6B9C-42EA-B5A3-5FBD0614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95450"/>
            <a:ext cx="19050" cy="262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ep-3-number">
            <a:extLst xmlns:a="http://schemas.openxmlformats.org/drawingml/2006/main">
              <a:ext uri="{FF2B5EF4-FFF2-40B4-BE49-F238E27FC236}">
                <a16:creationId xmlns:a16="http://schemas.microsoft.com/office/drawing/2014/main" id="{AEFCAD10-131A-4B64-AB6C-E00479BF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7145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4" name="step-3-head">
            <a:extLst xmlns:a="http://schemas.openxmlformats.org/drawingml/2006/main">
              <a:ext uri="{FF2B5EF4-FFF2-40B4-BE49-F238E27FC236}">
                <a16:creationId xmlns:a16="http://schemas.microsoft.com/office/drawing/2014/main" id="{13A82533-DB0A-4DCE-A9BA-25EB2E1C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7145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Proposed test</a:t>
            </a:r>
          </a:p>
        </p:txBody>
      </p:sp>
      <p:sp>
        <p:nvSpPr>
          <p:cNvPr id="15" name="step-3-body">
            <a:extLst xmlns:a="http://schemas.openxmlformats.org/drawingml/2006/main">
              <a:ext uri="{FF2B5EF4-FFF2-40B4-BE49-F238E27FC236}">
                <a16:creationId xmlns:a16="http://schemas.microsoft.com/office/drawing/2014/main" id="{D011B8A8-7E21-40C3-9708-AC84B3488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181225"/>
            <a:ext cx="2286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Combine SCF or DFA borrower detail with ultimate owners; then exploit mortgage-policy or credit-supply shocks.</a:t>
            </a:r>
          </a:p>
        </p:txBody>
      </p:sp>
      <p:sp>
        <p:nvSpPr>
          <p:cNvPr id="16" name="implication-band-5">
            <a:extLst xmlns:a="http://schemas.openxmlformats.org/drawingml/2006/main">
              <a:ext uri="{FF2B5EF4-FFF2-40B4-BE49-F238E27FC236}">
                <a16:creationId xmlns:a16="http://schemas.microsoft.com/office/drawing/2014/main" id="{4C91719A-9575-4F9C-9F21-A5CF8C692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implication-5">
            <a:extLst xmlns:a="http://schemas.openxmlformats.org/drawingml/2006/main">
              <a:ext uri="{FF2B5EF4-FFF2-40B4-BE49-F238E27FC236}">
                <a16:creationId xmlns:a16="http://schemas.microsoft.com/office/drawing/2014/main" id="{35C94013-B5DB-4E92-9ED8-C4FD3CBA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81675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Research question: did expanded mortgage credit transmit top-wealth saving into house prices and lower measured saving below the top?</a:t>
            </a:r>
          </a:p>
        </p:txBody>
      </p:sp>
      <p:sp>
        <p:nvSpPr>
          <p:cNvPr id="18" name="source-5">
            <a:extLst xmlns:a="http://schemas.openxmlformats.org/drawingml/2006/main">
              <a:ext uri="{FF2B5EF4-FFF2-40B4-BE49-F238E27FC236}">
                <a16:creationId xmlns:a16="http://schemas.microsoft.com/office/drawing/2014/main" id="{D1A9A269-E4B5-432E-863C-081A78E4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Next data: SCF/DFA borrower composition; causal design must separate credit supply from demand and wealth-rank mechanics.</a:t>
            </a:r>
          </a:p>
        </p:txBody>
      </p:sp>
    </p:spTree>
    <p:extLst>
      <p:ext uri="{BB962C8B-B14F-4D97-AF65-F5344CB8AC3E}">
        <p14:creationId xmlns:p14="http://schemas.microsoft.com/office/powerpoint/2010/main" val="10589602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2026-08-14T17:16:05.9420000Z</dcterms:created>
  <dcterms:modified xsi:type="dcterms:W3CDTF">2026-08-14T17:16:05.9420000Z</dcterms:modified>
</coreProperties>
</file>
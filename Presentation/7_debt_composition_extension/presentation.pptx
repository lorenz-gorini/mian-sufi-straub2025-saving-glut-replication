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f503c9346d4085" /><Relationship Type="http://schemas.openxmlformats.org/officeDocument/2006/relationships/extended-properties" Target="/docProps/app.xml" Id="Rd223e132a7ff4836" /><Relationship Type="http://schemas.openxmlformats.org/officeDocument/2006/relationships/officeDocument" Target="/ppt/presentation.xml" Id="R535688c0f96e4f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1024fa5d1941e9"/>
  </p:sldMasterIdLst>
  <p:notesMasterIdLst>
    <p:notesMasterId xmlns:r="http://schemas.openxmlformats.org/officeDocument/2006/relationships" r:id="Rfc00da5c722142ef"/>
  </p:notesMasterIdLst>
  <p:sldIdLst>
    <p:sldId xmlns:r="http://schemas.openxmlformats.org/officeDocument/2006/relationships" id="256" r:id="Rd50900ad887649c5"/>
    <p:sldId xmlns:r="http://schemas.openxmlformats.org/officeDocument/2006/relationships" id="257" r:id="R469df545a9e14934"/>
    <p:sldId xmlns:r="http://schemas.openxmlformats.org/officeDocument/2006/relationships" id="258" r:id="Ra7f14f400d944574"/>
    <p:sldId xmlns:r="http://schemas.openxmlformats.org/officeDocument/2006/relationships" id="259" r:id="R6d81f65117bd43ea"/>
    <p:sldId xmlns:r="http://schemas.openxmlformats.org/officeDocument/2006/relationships" id="260" r:id="R0e3d9a619b7942d9"/>
    <p:sldId xmlns:r="http://schemas.openxmlformats.org/officeDocument/2006/relationships" id="261" r:id="Rc2f1280bb22e4274"/>
    <p:sldId xmlns:r="http://schemas.openxmlformats.org/officeDocument/2006/relationships" id="262" r:id="R469a268a1f3a49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da7c2f27a24caf" /><Relationship Type="http://schemas.openxmlformats.org/officeDocument/2006/relationships/slideMaster" Target="/ppt/slideMasters/slideMaster1.xml" Id="Rf21024fa5d1941e9" /><Relationship Type="http://schemas.openxmlformats.org/officeDocument/2006/relationships/notesMaster" Target="/ppt/notesMasters/notesMaster1.xml" Id="Rfc00da5c722142ef" /><Relationship Type="http://schemas.openxmlformats.org/officeDocument/2006/relationships/presProps" Target="/ppt/presProps.xml" Id="Ra3119b4145de4b60" /><Relationship Type="http://schemas.openxmlformats.org/officeDocument/2006/relationships/tableStyles" Target="/ppt/tableStyles.xml" Id="Re9cc030a2462460e" /><Relationship Type="http://schemas.openxmlformats.org/officeDocument/2006/relationships/slide" Target="/ppt/slides/slide1.xml" Id="Rd50900ad887649c5" /><Relationship Type="http://schemas.openxmlformats.org/officeDocument/2006/relationships/slide" Target="/ppt/slides/slide2.xml" Id="R469df545a9e14934" /><Relationship Type="http://schemas.openxmlformats.org/officeDocument/2006/relationships/slide" Target="/ppt/slides/slide3.xml" Id="Ra7f14f400d944574" /><Relationship Type="http://schemas.openxmlformats.org/officeDocument/2006/relationships/slide" Target="/ppt/slides/slide4.xml" Id="R6d81f65117bd43ea" /><Relationship Type="http://schemas.openxmlformats.org/officeDocument/2006/relationships/slide" Target="/ppt/slides/slide5.xml" Id="R0e3d9a619b7942d9" /><Relationship Type="http://schemas.openxmlformats.org/officeDocument/2006/relationships/slide" Target="/ppt/slides/slide6.xml" Id="Rc2f1280bb22e4274" /><Relationship Type="http://schemas.openxmlformats.org/officeDocument/2006/relationships/slide" Target="/ppt/slides/slide7.xml" Id="R469a268a1f3a49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bd2f4d810b47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8ca8789b724482" /><Relationship Type="http://schemas.openxmlformats.org/officeDocument/2006/relationships/notesMaster" Target="/ppt/notesMasters/notesMaster1.xml" Id="R078c618fc1db48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5b71d933f74a85" /><Relationship Type="http://schemas.openxmlformats.org/officeDocument/2006/relationships/notesMaster" Target="/ppt/notesMasters/notesMaster1.xml" Id="R6a150c61104c4b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a9466fa6b9438c" /><Relationship Type="http://schemas.openxmlformats.org/officeDocument/2006/relationships/notesMaster" Target="/ppt/notesMasters/notesMaster1.xml" Id="R2f01f564555542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87df77d3b3450c" /><Relationship Type="http://schemas.openxmlformats.org/officeDocument/2006/relationships/notesMaster" Target="/ppt/notesMasters/notesMaster1.xml" Id="R794d879f924544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5d20faf2904442" /><Relationship Type="http://schemas.openxmlformats.org/officeDocument/2006/relationships/notesMaster" Target="/ppt/notesMasters/notesMaster1.xml" Id="Rc327b89bc80d44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562075c70841f8" /><Relationship Type="http://schemas.openxmlformats.org/officeDocument/2006/relationships/notesMaster" Target="/ppt/notesMasters/notesMaster1.xml" Id="Rf41fc48611c042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b89c2ee65a4a3e" /><Relationship Type="http://schemas.openxmlformats.org/officeDocument/2006/relationships/notesMaster" Target="/ppt/notesMasters/notesMaster1.xml" Id="Ra7379ca1fc2648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Sections 3.1, 3.5, and 4.1–4.2.</a:t>
            </a:r>
          </a:p>
          <a:p xmlns:a="http://schemas.openxmlformats.org/drawingml/2006/main">
            <a:r>
              <a:t>- research_extension_idea_2.md, Stage 1 research design.</a:t>
            </a:r>
          </a:p>
          <a:p xmlns:a="http://schemas.openxmlformats.org/drawingml/2006/main">
            <a:r>
              <a:t>- Data/processed/debt_composition_presentation_metrics.csv, generated 2026-08-14.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Data/processed/debt_composition_2021_direct.csv, debt_liabilities_relative_to_1982.</a:t>
            </a:r>
          </a:p>
          <a:p xmlns:a="http://schemas.openxmlformats.org/drawingml/2006/main">
            <a:r>
              <a:t>- MSS2021Febreplicationkit/data/finalfiles/Yunveilhhd.dta, d_hh_hmort and d_hh_ccred.</a:t>
            </a:r>
          </a:p>
          <a:p xmlns:a="http://schemas.openxmlformats.org/drawingml/2006/main">
            <a:r>
              <a:t>- MSS2021Febreplicationkit/data/PSZusdina/Yszshares_fine.dta, owner-mortgage and nonmortgage wealth shares.</a:t>
            </a:r>
          </a:p>
          <a:p xmlns:a="http://schemas.openxmlformats.org/drawingml/2006/main">
            <a:r>
              <a:t>- Code/scripts/build_debt_composition_extension.py.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Data/processed/debt_composition_period_summary.csv, 1998–2007 period averages.</a:t>
            </a:r>
          </a:p>
          <a:p xmlns:a="http://schemas.openxmlformats.org/drawingml/2006/main">
            <a:r>
              <a:t>- MSS2021Febreplicationkit/data/finalfiles/YwealthFOF.dta, group debt levels after DINA allocation.</a:t>
            </a:r>
          </a:p>
          <a:p xmlns:a="http://schemas.openxmlformats.org/drawingml/2006/main">
            <a:r>
              <a:t>- MSS2021Febreplicationkit/data/finalfiles/Ywealthreturns.dta, mortgage and consumer-debt write-down factors.</a:t>
            </a:r>
          </a:p>
          <a:p xmlns:a="http://schemas.openxmlformats.org/drawingml/2006/main">
            <a:r>
              <a:t>- Code/unveiling/debt_composition_extension.py, S[g,k,t] = W[g,k,t] - (1 + pi[g,k,t]) W[g,k,t-1].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Data/processed/debt_composition_2021_direct.csv, net_debt_relative_to_1982.</a:t>
            </a:r>
          </a:p>
          <a:p xmlns:a="http://schemas.openxmlformats.org/drawingml/2006/main">
            <a:r>
              <a:t>- Code/unveiling/figure8_2021_direct.py, category-specific Omega = (I - Q)^(-1) B allocation.</a:t>
            </a:r>
          </a:p>
          <a:p xmlns:a="http://schemas.openxmlformats.org/drawingml/2006/main">
            <a:r>
              <a:t>- Data/interim/debt_composition_accounting_diagnostics.csv; category additivity error at most 9.31e-10 million dollars and spectral radius at most 0.180.</a:t>
            </a:r>
          </a:p>
          <a:p xmlns:a="http://schemas.openxmlformats.org/drawingml/2006/main">
            <a:r>
              <a:t>- MSS_SGR_July242025.pdf, Sections 2.1–2.2 and 4.1–4.2.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Results_Proposal/figures/figure6_authors_data_wealth_levels.png.</a:t>
            </a:r>
          </a:p>
          <a:p xmlns:a="http://schemas.openxmlformats.org/drawingml/2006/main">
            <a:r>
              <a:t>- Data/processed/figure6_authors_data.csv, pre-1982 90th-percentile and post-1982 80th-percentile rows.</a:t>
            </a:r>
          </a:p>
          <a:p xmlns:a="http://schemas.openxmlformats.org/drawingml/2006/main">
            <a:r>
              <a:t>- Code/scripts/build_figure6_authors_data.py.</a:t>
            </a:r>
          </a:p>
          <a:p xmlns:a="http://schemas.openxmlformats.org/drawingml/2006/main">
            <a:r>
              <a:t>- docs/project/tasks/figure6-replication.md, matched wealth-level interpretation and repeated-cross-section boundary.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Results_Proposal/figures/figure6_rolling5_heatmap.png.</a:t>
            </a:r>
          </a:p>
          <a:p xmlns:a="http://schemas.openxmlformats.org/drawingml/2006/main">
            <a:r>
              <a:t>- Data/processed/figure6_authors_rolling5.csv.</a:t>
            </a:r>
          </a:p>
          <a:p xmlns:a="http://schemas.openxmlformats.org/drawingml/2006/main">
            <a:r>
              <a:t>- Code/scripts/build_figure6_authors_data.py.</a:t>
            </a:r>
          </a:p>
          <a:p xmlns:a="http://schemas.openxmlformats.org/drawingml/2006/main">
            <a:r>
              <a:t>- docs/project/tasks/figure6-replication.md, time-evolution interpretation and nonmonotonicity boundary.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research_extension_idea_2.md, Stages 2–4 and measurement safeguards.</a:t>
            </a:r>
          </a:p>
          <a:p xmlns:a="http://schemas.openxmlformats.org/drawingml/2006/main">
            <a:r>
              <a:t>- Federal Reserve Survey of Consumer Finances: https://www.federalreserve.gov/econres/scfindex.htm</a:t>
            </a:r>
          </a:p>
          <a:p xmlns:a="http://schemas.openxmlformats.org/drawingml/2006/main">
            <a:r>
              <a:t>- Federal Reserve Distributional Financial Accounts: https://www.federalreserve.gov/releases/z1/dataviz/dfa/index.html</a:t>
            </a:r>
          </a:p>
          <a:p xmlns:a="http://schemas.openxmlformats.org/drawingml/2006/main">
            <a:r>
              <a:t>- CBO, Trends in the Distribution of Family Wealth, 1989 to 2022: https://www.cbo.gov/publication/60807</a:t>
            </a:r>
          </a:p>
          <a:p xmlns:a="http://schemas.openxmlformats.org/drawingml/2006/main">
            <a:r>
              <a:t>- Bartscher, Kuhn, Schularick, and Steins (2025): https://doi.org/10.1016/j.red.2025.101288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efc00c8704b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13367d68e24cf4" /><Relationship Type="http://schemas.openxmlformats.org/officeDocument/2006/relationships/slideLayout" Target="/ppt/slideLayouts/slideLayout1.xml" Id="Racca190a6a3542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ca190a6a3542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7df4a8f294996" /><Relationship Type="http://schemas.openxmlformats.org/officeDocument/2006/relationships/notesSlide" Target="/ppt/notesSlides/notesSlide1.xml" Id="R57de5e3ea97049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4a1a17d43497e" /><Relationship Type="http://schemas.openxmlformats.org/officeDocument/2006/relationships/chart" Target="/ppt/slides/charts/chart1.xml" Id="R667993c3028443a6" /><Relationship Type="http://schemas.openxmlformats.org/officeDocument/2006/relationships/notesSlide" Target="/ppt/notesSlides/notesSlide2.xml" Id="R7a40e4b76dcd4a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da38806a34d10" /><Relationship Type="http://schemas.openxmlformats.org/officeDocument/2006/relationships/chart" Target="/ppt/slides/charts/chart2.xml" Id="R297dbef0ed7c4e73" /><Relationship Type="http://schemas.openxmlformats.org/officeDocument/2006/relationships/notesSlide" Target="/ppt/notesSlides/notesSlide3.xml" Id="R08603d07c08b41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1cae02280454a" /><Relationship Type="http://schemas.openxmlformats.org/officeDocument/2006/relationships/chart" Target="/ppt/slides/charts/chart3.xml" Id="R31a2c9c79c0f4610" /><Relationship Type="http://schemas.openxmlformats.org/officeDocument/2006/relationships/notesSlide" Target="/ppt/notesSlides/notesSlide4.xml" Id="Rdc1999b8978848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628281bbd44b9" /><Relationship Type="http://schemas.openxmlformats.org/officeDocument/2006/relationships/image" Target="/ppt/media/image.png" Id="R1ced3a6fac5e41ca" /><Relationship Type="http://schemas.openxmlformats.org/officeDocument/2006/relationships/notesSlide" Target="/ppt/notesSlides/notesSlide5.xml" Id="R4fe2d10600a648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886e0c3be4d90" /><Relationship Type="http://schemas.openxmlformats.org/officeDocument/2006/relationships/image" Target="/ppt/media/image2.png" Id="Re82834e4f9704d6c" /><Relationship Type="http://schemas.openxmlformats.org/officeDocument/2006/relationships/notesSlide" Target="/ppt/notesSlides/notesSlide6.xml" Id="R2caa163aad204c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68ac2b5b74307" /><Relationship Type="http://schemas.openxmlformats.org/officeDocument/2006/relationships/notesSlide" Target="/ppt/notesSlides/notesSlide7.xml" Id="R9496fcd7d31c4c5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Home mortgages</c:v>
          </c:tx>
          <c:spPr>
            <a:solidFill xmlns:a="http://schemas.openxmlformats.org/drawingml/2006/main">
              <a:srgbClr val="C85200"/>
            </a:solidFill>
          </c:spPr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4.499593417101081</c:v>
              </c:pt>
              <c:pt idx="1">
                <c:v>7.965096337039496</c:v>
              </c:pt>
              <c:pt idx="2">
                <c:v>23.625422110366976</c:v>
              </c:pt>
              <c:pt idx="3">
                <c:v>13.845944928739456</c:v>
              </c:pt>
            </c:numLit>
          </c:val>
        </c:ser>
        <c:ser>
          <c:idx val="1"/>
          <c:order val="1"/>
          <c:tx>
            <c:v>Consumer credit</c:v>
          </c:tx>
          <c:spPr>
            <a:solidFill xmlns:a="http://schemas.openxmlformats.org/drawingml/2006/main">
              <a:srgbClr val="1170AA"/>
            </a:solidFill>
          </c:spPr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0.0030121314919162936</c:v>
              </c:pt>
              <c:pt idx="1">
                <c:v>0.24765855217187202</c:v>
              </c:pt>
              <c:pt idx="2">
                <c:v>2.9162575872399343</c:v>
              </c:pt>
              <c:pt idx="3">
                <c:v>4.044698901274537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230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304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3616E"/>
                    </a:solidFill>
                  </a:rPr>
                  <a:t>1982–2007 change (pp national income)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3616E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6E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230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Home mortgages</c:v>
          </c:tx>
          <c:spPr>
            <a:solidFill xmlns:a="http://schemas.openxmlformats.org/drawingml/2006/main">
              <a:srgbClr val="C85200"/>
            </a:solidFill>
          </c:spPr>
          <c:invertIfNegative val="0"/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-0.4282277038873723</c:v>
              </c:pt>
              <c:pt idx="1">
                <c:v>-0.9885089135273171</c:v>
              </c:pt>
              <c:pt idx="2">
                <c:v>-3.090152291969412</c:v>
              </c:pt>
              <c:pt idx="3">
                <c:v>-2.2773627659483466</c:v>
              </c:pt>
            </c:numLit>
          </c:val>
        </c:ser>
        <c:ser>
          <c:idx val="1"/>
          <c:order val="1"/>
          <c:tx>
            <c:v>Consumer credit</c:v>
          </c:tx>
          <c:spPr>
            <a:solidFill xmlns:a="http://schemas.openxmlformats.org/drawingml/2006/main">
              <a:srgbClr val="1170AA"/>
            </a:solidFill>
          </c:spPr>
          <c:invertIfNegative val="0"/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-0.011981914938061016</c:v>
              </c:pt>
              <c:pt idx="1">
                <c:v>-0.15308492071509464</c:v>
              </c:pt>
              <c:pt idx="2">
                <c:v>-0.7256856345421425</c:v>
              </c:pt>
              <c:pt idx="3">
                <c:v>-0.8819126285377513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230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304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-3.7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3616E"/>
                    </a:solidFill>
                  </a:rPr>
                  <a:t>Average annual contribution (pp national income)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3616E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6E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230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Home mortgages</c:v>
          </c:tx>
          <c:spPr>
            <a:solidFill xmlns:a="http://schemas.openxmlformats.org/drawingml/2006/main">
              <a:srgbClr val="C85200"/>
            </a:solidFill>
          </c:spPr>
          <c:invertIfNegative val="0"/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8.690144679974583</c:v>
              </c:pt>
              <c:pt idx="1">
                <c:v>-0.3813230924429284</c:v>
              </c:pt>
              <c:pt idx="2">
                <c:v>-19.015979174052816</c:v>
              </c:pt>
              <c:pt idx="3">
                <c:v>-13.726391344513011</c:v>
              </c:pt>
            </c:numLit>
          </c:val>
        </c:ser>
        <c:ser>
          <c:idx val="1"/>
          <c:order val="1"/>
          <c:tx>
            <c:v>Consumer credit</c:v>
          </c:tx>
          <c:spPr>
            <a:solidFill xmlns:a="http://schemas.openxmlformats.org/drawingml/2006/main">
              <a:srgbClr val="1170AA"/>
            </a:solidFill>
          </c:spPr>
          <c:invertIfNegative val="0"/>
          <c:cat>
            <c:strLit>
              <c:ptCount val="4"/>
              <c:pt idx="0">
                <c:v>Top 1%</c:v>
              </c:pt>
              <c:pt idx="1">
                <c:v>Next 9%</c:v>
              </c:pt>
              <c:pt idx="2">
                <c:v>Next 40%</c:v>
              </c:pt>
              <c:pt idx="3">
                <c:v>Bottom 50%</c:v>
              </c:pt>
            </c:strLit>
          </c:cat>
          <c:val>
            <c:numLit>
              <c:formatCode>0.0</c:formatCode>
              <c:ptCount val="4"/>
              <c:pt idx="0">
                <c:v>2.780721045617579</c:v>
              </c:pt>
              <c:pt idx="1">
                <c:v>-0.15266032385476622</c:v>
              </c:pt>
              <c:pt idx="2">
                <c:v>-3.462054605670174</c:v>
              </c:pt>
              <c:pt idx="3">
                <c:v>-4.28822610033058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230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304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-23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3616E"/>
                    </a:solidFill>
                  </a:rPr>
                  <a:t>Assets minus liabilities, 1982–2007 change (pp NI)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3616E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6E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230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C0F44DB5-748C-4FEB-904C-4A54509D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PROPOSED EXTENSION  ·  PRELIMINARY ACCOUNTING EVIDENCE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1EC3742-C838-4B5D-8F91-30E40D76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762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FE56EFB6-2614-4950-951B-ECB8A9B3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9525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5100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Mortgages link rich saving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5100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to middle-wealth borrowing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452BD9A-D1D1-448C-A7A3-DA5DD018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861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A category-specific extension of Mian, Straub, and Sufi</a:t>
            </a:r>
          </a:p>
        </p:txBody>
      </p:sp>
      <p:sp>
        <p:nvSpPr>
          <p:cNvPr id="5" name="deck-boundary">
            <a:extLst xmlns:a="http://schemas.openxmlformats.org/drawingml/2006/main">
              <a:ext uri="{FF2B5EF4-FFF2-40B4-BE49-F238E27FC236}">
                <a16:creationId xmlns:a16="http://schemas.microsoft.com/office/drawing/2014/main" id="{FF9ED144-0C1C-4FD2-8797-11CFBDD0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1963–2016 authors-kit inputs  ·  full Leontief unveiling  ·  descriptive, not causal</a:t>
            </a:r>
          </a:p>
        </p:txBody>
      </p:sp>
      <p:sp>
        <p:nvSpPr>
          <p:cNvPr id="6" name="title-bottom-rule">
            <a:extLst xmlns:a="http://schemas.openxmlformats.org/drawingml/2006/main">
              <a:ext uri="{FF2B5EF4-FFF2-40B4-BE49-F238E27FC236}">
                <a16:creationId xmlns:a16="http://schemas.microsoft.com/office/drawing/2014/main" id="{B8B5E906-3E36-49DE-83C3-922BB520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tle-footer">
            <a:extLst xmlns:a="http://schemas.openxmlformats.org/drawingml/2006/main">
              <a:ext uri="{FF2B5EF4-FFF2-40B4-BE49-F238E27FC236}">
                <a16:creationId xmlns:a16="http://schemas.microsoft.com/office/drawing/2014/main" id="{541D8AB2-FA4C-43C7-A521-2E66BB99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Research-extension evidence for the course submission</a:t>
            </a:r>
          </a:p>
        </p:txBody>
      </p:sp>
    </p:spTree>
    <p:extLst>
      <p:ext uri="{BB962C8B-B14F-4D97-AF65-F5344CB8AC3E}">
        <p14:creationId xmlns:p14="http://schemas.microsoft.com/office/powerpoint/2010/main" val="1696016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2">
            <a:extLst xmlns:a="http://schemas.openxmlformats.org/drawingml/2006/main">
              <a:ext uri="{FF2B5EF4-FFF2-40B4-BE49-F238E27FC236}">
                <a16:creationId xmlns:a16="http://schemas.microsoft.com/office/drawing/2014/main" id="{D1CD0C76-AF27-4629-834A-23D6A117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RESEARCH EXTENSION  ·  PRELIMINARY EVIDENCE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BB64C5FC-0F34-4510-9B15-04462ACE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FAC0F1E8-CB5C-4DD6-B177-13347DC9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Mortgage debt dominated below the top 10%</a:t>
            </a:r>
          </a:p>
        </p:txBody>
      </p:sp>
      <p:sp>
        <p:nvSpPr>
          <p:cNvPr id="4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E695E249-90C2-4A26-BD04-1C6E91CA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0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23900" y="1524000"/>
          <a:ext xmlns:a="http://schemas.openxmlformats.org/drawingml/2006/main" cx="8096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7993c3028443a6"/>
          </a:graphicData>
        </a:graphic>
      </p:graphicFrame>
      <p:sp>
        <p:nvSpPr>
          <p:cNvPr id="6" name="borrower-callout">
            <a:extLst xmlns:a="http://schemas.openxmlformats.org/drawingml/2006/main">
              <a:ext uri="{FF2B5EF4-FFF2-40B4-BE49-F238E27FC236}">
                <a16:creationId xmlns:a16="http://schemas.microsoft.com/office/drawing/2014/main" id="{09DB1D91-082A-43AB-AFAF-5F77B576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43100"/>
            <a:ext cx="2333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rrower-callout-head">
            <a:extLst xmlns:a="http://schemas.openxmlformats.org/drawingml/2006/main">
              <a:ext uri="{FF2B5EF4-FFF2-40B4-BE49-F238E27FC236}">
                <a16:creationId xmlns:a16="http://schemas.microsoft.com/office/drawing/2014/main" id="{A21152A3-2F83-4236-BF5E-D69748BC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Largest mortgage build-up</a:t>
            </a:r>
          </a:p>
        </p:txBody>
      </p:sp>
      <p:sp>
        <p:nvSpPr>
          <p:cNvPr id="8" name="borrower-next40">
            <a:extLst xmlns:a="http://schemas.openxmlformats.org/drawingml/2006/main">
              <a:ext uri="{FF2B5EF4-FFF2-40B4-BE49-F238E27FC236}">
                <a16:creationId xmlns:a16="http://schemas.microsoft.com/office/drawing/2014/main" id="{9C114B42-8A74-40AB-AA5F-4227800B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+23.6 pp</a:t>
            </a:r>
          </a:p>
        </p:txBody>
      </p:sp>
      <p:sp>
        <p:nvSpPr>
          <p:cNvPr id="9" name="borrower-next40-label">
            <a:extLst xmlns:a="http://schemas.openxmlformats.org/drawingml/2006/main">
              <a:ext uri="{FF2B5EF4-FFF2-40B4-BE49-F238E27FC236}">
                <a16:creationId xmlns:a16="http://schemas.microsoft.com/office/drawing/2014/main" id="{26BF9A5C-07E6-48AB-98BF-77B7D340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337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Next 40% mortgage liabilities</a:t>
            </a:r>
          </a:p>
        </p:txBody>
      </p:sp>
      <p:sp>
        <p:nvSpPr>
          <p:cNvPr id="10" name="borrower-contrast">
            <a:extLst xmlns:a="http://schemas.openxmlformats.org/drawingml/2006/main">
              <a:ext uri="{FF2B5EF4-FFF2-40B4-BE49-F238E27FC236}">
                <a16:creationId xmlns:a16="http://schemas.microsoft.com/office/drawing/2014/main" id="{E824FBE0-7D95-4204-9C30-88F61F3B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005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Top 1%: +4.5 pp</a:t>
            </a:r>
          </a:p>
        </p:txBody>
      </p:sp>
      <p:sp>
        <p:nvSpPr>
          <p:cNvPr id="11" name="implication-band-2">
            <a:extLst xmlns:a="http://schemas.openxmlformats.org/drawingml/2006/main">
              <a:ext uri="{FF2B5EF4-FFF2-40B4-BE49-F238E27FC236}">
                <a16:creationId xmlns:a16="http://schemas.microsoft.com/office/drawing/2014/main" id="{4B383F4D-AAA5-4124-B973-F8ADB5E8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plication-2">
            <a:extLst xmlns:a="http://schemas.openxmlformats.org/drawingml/2006/main">
              <a:ext uri="{FF2B5EF4-FFF2-40B4-BE49-F238E27FC236}">
                <a16:creationId xmlns:a16="http://schemas.microsoft.com/office/drawing/2014/main" id="{BA8B0C6B-41D6-4797-9DC7-B0BDAC15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The housing channel is quantitatively much larger than consumer credit for the middle 40% and bottom half.</a:t>
            </a:r>
          </a:p>
        </p:txBody>
      </p:sp>
      <p:sp>
        <p:nvSpPr>
          <p:cNvPr id="13" name="source-2">
            <a:extLst xmlns:a="http://schemas.openxmlformats.org/drawingml/2006/main">
              <a:ext uri="{FF2B5EF4-FFF2-40B4-BE49-F238E27FC236}">
                <a16:creationId xmlns:a16="http://schemas.microsoft.com/office/drawing/2014/main" id="{3F72D6FD-C0D2-4B9D-A8B1-9E44246D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Source: 2021 authors-kit Financial Accounts and DINA shares; positive liabilities owed; 1982–2007 change.</a:t>
            </a:r>
          </a:p>
        </p:txBody>
      </p:sp>
    </p:spTree>
    <p:extLst>
      <p:ext uri="{BB962C8B-B14F-4D97-AF65-F5344CB8AC3E}">
        <p14:creationId xmlns:p14="http://schemas.microsoft.com/office/powerpoint/2010/main" val="643993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3">
            <a:extLst xmlns:a="http://schemas.openxmlformats.org/drawingml/2006/main">
              <a:ext uri="{FF2B5EF4-FFF2-40B4-BE49-F238E27FC236}">
                <a16:creationId xmlns:a16="http://schemas.microsoft.com/office/drawing/2014/main" id="{93261DA2-C780-44EA-91E5-122655EC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RESEARCH EXTENSION  ·  PRELIMINARY EVIDENCE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91FD943B-4ABB-42C2-A98A-A10AFC5A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ABF02254-494E-4C5F-AFD7-AB595F82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Mortgages drove the housing-boom saving drag</a:t>
            </a:r>
          </a:p>
        </p:txBody>
      </p:sp>
      <p:sp>
        <p:nvSpPr>
          <p:cNvPr id="4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152424A1-4299-46AD-BCA0-6FC434ED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0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23900" y="1524000"/>
          <a:ext xmlns:a="http://schemas.openxmlformats.org/drawingml/2006/main" cx="8096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7dbef0ed7c4e73"/>
          </a:graphicData>
        </a:graphic>
      </p:graphicFrame>
      <p:sp>
        <p:nvSpPr>
          <p:cNvPr id="6" name="saving-callout">
            <a:extLst xmlns:a="http://schemas.openxmlformats.org/drawingml/2006/main">
              <a:ext uri="{FF2B5EF4-FFF2-40B4-BE49-F238E27FC236}">
                <a16:creationId xmlns:a16="http://schemas.microsoft.com/office/drawing/2014/main" id="{6E8B3ACF-AABF-4235-8354-2927E213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43100"/>
            <a:ext cx="2333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aving-callout-head">
            <a:extLst xmlns:a="http://schemas.openxmlformats.org/drawingml/2006/main">
              <a:ext uri="{FF2B5EF4-FFF2-40B4-BE49-F238E27FC236}">
                <a16:creationId xmlns:a16="http://schemas.microsoft.com/office/drawing/2014/main" id="{A0784F4E-D0E2-48BD-BADC-E9178D28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1998–2007</a:t>
            </a:r>
          </a:p>
        </p:txBody>
      </p:sp>
      <p:sp>
        <p:nvSpPr>
          <p:cNvPr id="8" name="saving-next40">
            <a:extLst xmlns:a="http://schemas.openxmlformats.org/drawingml/2006/main">
              <a:ext uri="{FF2B5EF4-FFF2-40B4-BE49-F238E27FC236}">
                <a16:creationId xmlns:a16="http://schemas.microsoft.com/office/drawing/2014/main" id="{6CD98478-3B62-40E3-AC3C-35407701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−3.09 pp/yr</a:t>
            </a:r>
          </a:p>
        </p:txBody>
      </p:sp>
      <p:sp>
        <p:nvSpPr>
          <p:cNvPr id="9" name="saving-next40-label">
            <a:extLst xmlns:a="http://schemas.openxmlformats.org/drawingml/2006/main">
              <a:ext uri="{FF2B5EF4-FFF2-40B4-BE49-F238E27FC236}">
                <a16:creationId xmlns:a16="http://schemas.microsoft.com/office/drawing/2014/main" id="{C16EDC9F-0615-48D9-9DB8-A6003845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5755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Next 40% mortgage contribution to active saving</a:t>
            </a:r>
          </a:p>
        </p:txBody>
      </p:sp>
      <p:sp>
        <p:nvSpPr>
          <p:cNvPr id="10" name="saving-contrast">
            <a:extLst xmlns:a="http://schemas.openxmlformats.org/drawingml/2006/main">
              <a:ext uri="{FF2B5EF4-FFF2-40B4-BE49-F238E27FC236}">
                <a16:creationId xmlns:a16="http://schemas.microsoft.com/office/drawing/2014/main" id="{D4145115-C1C9-4BEC-A5D0-FF0DD226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576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Top 1%: −0.43 pp/yr</a:t>
            </a:r>
          </a:p>
        </p:txBody>
      </p:sp>
      <p:sp>
        <p:nvSpPr>
          <p:cNvPr id="11" name="implication-band-3">
            <a:extLst xmlns:a="http://schemas.openxmlformats.org/drawingml/2006/main">
              <a:ext uri="{FF2B5EF4-FFF2-40B4-BE49-F238E27FC236}">
                <a16:creationId xmlns:a16="http://schemas.microsoft.com/office/drawing/2014/main" id="{D5B0EA41-A326-4223-A9F1-6B6D7837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plication-3">
            <a:extLst xmlns:a="http://schemas.openxmlformats.org/drawingml/2006/main">
              <a:ext uri="{FF2B5EF4-FFF2-40B4-BE49-F238E27FC236}">
                <a16:creationId xmlns:a16="http://schemas.microsoft.com/office/drawing/2014/main" id="{80F3846D-AFE5-491B-BB53-79AD2876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Write-down-adjusted mortgage borrowing explains most of the selected debt-related saving reduction in the boom.</a:t>
            </a:r>
          </a:p>
        </p:txBody>
      </p:sp>
      <p:sp>
        <p:nvSpPr>
          <p:cNvPr id="13" name="source-3">
            <a:extLst xmlns:a="http://schemas.openxmlformats.org/drawingml/2006/main">
              <a:ext uri="{FF2B5EF4-FFF2-40B4-BE49-F238E27FC236}">
                <a16:creationId xmlns:a16="http://schemas.microsoft.com/office/drawing/2014/main" id="{6AD9837E-07DE-4808-80FF-F7AA3D3C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Source: Figure 5 balance sheets and debt write-down factors; negative values mean active borrowing reduced saving.</a:t>
            </a:r>
          </a:p>
        </p:txBody>
      </p:sp>
    </p:spTree>
    <p:extLst>
      <p:ext uri="{BB962C8B-B14F-4D97-AF65-F5344CB8AC3E}">
        <p14:creationId xmlns:p14="http://schemas.microsoft.com/office/powerpoint/2010/main" val="1210123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4">
            <a:extLst xmlns:a="http://schemas.openxmlformats.org/drawingml/2006/main">
              <a:ext uri="{FF2B5EF4-FFF2-40B4-BE49-F238E27FC236}">
                <a16:creationId xmlns:a16="http://schemas.microsoft.com/office/drawing/2014/main" id="{04D27481-2D51-4FDC-A458-E50B46BA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RESEARCH EXTENSION  ·  PRELIMINARY EVIDENCE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3FBCA310-3DE7-4459-A68A-7A732111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13C7AD41-C051-4BE1-B3DF-9419811B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Unveiling separates mortgage lenders from borrowers</a:t>
            </a:r>
          </a:p>
        </p:txBody>
      </p:sp>
      <p:sp>
        <p:nvSpPr>
          <p:cNvPr id="4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B937DE71-60F9-4EA0-8DBE-8BD10841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0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23900" y="1524000"/>
          <a:ext xmlns:a="http://schemas.openxmlformats.org/drawingml/2006/main" cx="8096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a2c9c79c0f4610"/>
          </a:graphicData>
        </a:graphic>
      </p:graphicFrame>
      <p:sp>
        <p:nvSpPr>
          <p:cNvPr id="6" name="unveiling-callout">
            <a:extLst xmlns:a="http://schemas.openxmlformats.org/drawingml/2006/main">
              <a:ext uri="{FF2B5EF4-FFF2-40B4-BE49-F238E27FC236}">
                <a16:creationId xmlns:a16="http://schemas.microsoft.com/office/drawing/2014/main" id="{46BEFB9F-3CE7-4B0F-B11B-8442C71F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3336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unveiling-callout-head">
            <a:extLst xmlns:a="http://schemas.openxmlformats.org/drawingml/2006/main">
              <a:ext uri="{FF2B5EF4-FFF2-40B4-BE49-F238E27FC236}">
                <a16:creationId xmlns:a16="http://schemas.microsoft.com/office/drawing/2014/main" id="{F66C261D-099D-4A04-A8D3-9BB759A6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70A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170AA"/>
                </a:solidFill>
                <a:latin typeface="Calibri"/>
                <a:ea typeface="Calibri"/>
                <a:cs typeface="Calibri"/>
              </a:rPr>
              <a:t>Mortgage net positions</a:t>
            </a:r>
          </a:p>
        </p:txBody>
      </p:sp>
      <p:sp>
        <p:nvSpPr>
          <p:cNvPr id="8" name="unveiling-top1">
            <a:extLst xmlns:a="http://schemas.openxmlformats.org/drawingml/2006/main">
              <a:ext uri="{FF2B5EF4-FFF2-40B4-BE49-F238E27FC236}">
                <a16:creationId xmlns:a16="http://schemas.microsoft.com/office/drawing/2014/main" id="{1E2D59D0-34FC-4666-9356-6AC891D9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+8.69 pp</a:t>
            </a:r>
          </a:p>
        </p:txBody>
      </p:sp>
      <p:sp>
        <p:nvSpPr>
          <p:cNvPr id="9" name="unveiling-top1-label">
            <a:extLst xmlns:a="http://schemas.openxmlformats.org/drawingml/2006/main">
              <a:ext uri="{FF2B5EF4-FFF2-40B4-BE49-F238E27FC236}">
                <a16:creationId xmlns:a16="http://schemas.microsoft.com/office/drawing/2014/main" id="{6E6C2350-D9B3-4A9E-AD6E-63D64137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384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Top 1%</a:t>
            </a:r>
          </a:p>
        </p:txBody>
      </p:sp>
      <p:sp>
        <p:nvSpPr>
          <p:cNvPr id="10" name="unveiling-next40">
            <a:extLst xmlns:a="http://schemas.openxmlformats.org/drawingml/2006/main">
              <a:ext uri="{FF2B5EF4-FFF2-40B4-BE49-F238E27FC236}">
                <a16:creationId xmlns:a16="http://schemas.microsoft.com/office/drawing/2014/main" id="{A59386EE-960A-49E3-B63F-D6D6A00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9567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−19.02 pp</a:t>
            </a:r>
          </a:p>
        </p:txBody>
      </p:sp>
      <p:sp>
        <p:nvSpPr>
          <p:cNvPr id="11" name="unveiling-next40-label">
            <a:extLst xmlns:a="http://schemas.openxmlformats.org/drawingml/2006/main">
              <a:ext uri="{FF2B5EF4-FFF2-40B4-BE49-F238E27FC236}">
                <a16:creationId xmlns:a16="http://schemas.microsoft.com/office/drawing/2014/main" id="{F774C9D0-7893-4A1F-A5E2-A5D98AF7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43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Next 40%</a:t>
            </a:r>
          </a:p>
        </p:txBody>
      </p:sp>
      <p:sp>
        <p:nvSpPr>
          <p:cNvPr id="12" name="implication-band-4">
            <a:extLst xmlns:a="http://schemas.openxmlformats.org/drawingml/2006/main">
              <a:ext uri="{FF2B5EF4-FFF2-40B4-BE49-F238E27FC236}">
                <a16:creationId xmlns:a16="http://schemas.microsoft.com/office/drawing/2014/main" id="{F99C7C96-A626-4ED9-AA36-1DFFFFE0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plication-4">
            <a:extLst xmlns:a="http://schemas.openxmlformats.org/drawingml/2006/main">
              <a:ext uri="{FF2B5EF4-FFF2-40B4-BE49-F238E27FC236}">
                <a16:creationId xmlns:a16="http://schemas.microsoft.com/office/drawing/2014/main" id="{7927E323-74AF-4077-B4ED-E330091C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The same mortgage expansion creates a widening lender–borrower split once banks, funds, insurers, and GSE chains are unveiled.</a:t>
            </a:r>
          </a:p>
        </p:txBody>
      </p:sp>
      <p:sp>
        <p:nvSpPr>
          <p:cNvPr id="14" name="source-4">
            <a:extLst xmlns:a="http://schemas.openxmlformats.org/drawingml/2006/main">
              <a:ext uri="{FF2B5EF4-FFF2-40B4-BE49-F238E27FC236}">
                <a16:creationId xmlns:a16="http://schemas.microsoft.com/office/drawing/2014/main" id="{537BBD31-6288-48F6-9A86-03C97EDB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Source: 2021 direct cells + full Leontief solve; positive net position means ultimate assets exceed debt owed.</a:t>
            </a:r>
          </a:p>
        </p:txBody>
      </p:sp>
    </p:spTree>
    <p:extLst>
      <p:ext uri="{BB962C8B-B14F-4D97-AF65-F5344CB8AC3E}">
        <p14:creationId xmlns:p14="http://schemas.microsoft.com/office/powerpoint/2010/main" val="6670144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4">
            <a:extLst xmlns:a="http://schemas.openxmlformats.org/drawingml/2006/main">
              <a:ext uri="{FF2B5EF4-FFF2-40B4-BE49-F238E27FC236}">
                <a16:creationId xmlns:a16="http://schemas.microsoft.com/office/drawing/2014/main" id="{04D27481-2D51-4FDC-A458-E50B46BA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RESEARCH EXTENSION  ·  PRELIMINARY EVIDENCE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3FBCA310-3DE7-4459-A68A-7A732111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13C7AD41-C051-4BE1-B3DF-9419811B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Similar wealth carries much lower saving after 1982</a:t>
            </a:r>
          </a:p>
        </p:txBody>
      </p:sp>
      <p:sp>
        <p:nvSpPr>
          <p:cNvPr id="4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B937DE71-60F9-4EA0-8DBE-8BD10841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unveiling-callout">
            <a:extLst xmlns:a="http://schemas.openxmlformats.org/drawingml/2006/main">
              <a:ext uri="{FF2B5EF4-FFF2-40B4-BE49-F238E27FC236}">
                <a16:creationId xmlns:a16="http://schemas.microsoft.com/office/drawing/2014/main" id="{46BEFB9F-3CE7-4B0F-B11B-8442C71F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3336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unveiling-callout-head">
            <a:extLst xmlns:a="http://schemas.openxmlformats.org/drawingml/2006/main">
              <a:ext uri="{FF2B5EF4-FFF2-40B4-BE49-F238E27FC236}">
                <a16:creationId xmlns:a16="http://schemas.microsoft.com/office/drawing/2014/main" id="{F66C261D-099D-4A04-A8D3-9BB759A6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70A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170AA"/>
                </a:solidFill>
                <a:latin typeface="Calibri"/>
                <a:ea typeface="Calibri"/>
                <a:cs typeface="Calibri"/>
              </a:rPr>
              <a:t>Comparable mean wealth</a:t>
            </a:r>
          </a:p>
        </p:txBody>
      </p:sp>
      <p:sp>
        <p:nvSpPr>
          <p:cNvPr id="8" name="unveiling-top1">
            <a:extLst xmlns:a="http://schemas.openxmlformats.org/drawingml/2006/main">
              <a:ext uri="{FF2B5EF4-FFF2-40B4-BE49-F238E27FC236}">
                <a16:creationId xmlns:a16="http://schemas.microsoft.com/office/drawing/2014/main" id="{1E2D59D0-34FC-4666-9356-6AC891D9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$303k · 31.5%</a:t>
            </a:r>
          </a:p>
        </p:txBody>
      </p:sp>
      <p:sp>
        <p:nvSpPr>
          <p:cNvPr id="9" name="unveiling-top1-label">
            <a:extLst xmlns:a="http://schemas.openxmlformats.org/drawingml/2006/main">
              <a:ext uri="{FF2B5EF4-FFF2-40B4-BE49-F238E27FC236}">
                <a16:creationId xmlns:a16="http://schemas.microsoft.com/office/drawing/2014/main" id="{6E6C2350-D9B3-4A9E-AD6E-63D64137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384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Pre: 90th pct.</a:t>
            </a:r>
          </a:p>
        </p:txBody>
      </p:sp>
      <p:sp>
        <p:nvSpPr>
          <p:cNvPr id="10" name="unveiling-next40">
            <a:extLst xmlns:a="http://schemas.openxmlformats.org/drawingml/2006/main">
              <a:ext uri="{FF2B5EF4-FFF2-40B4-BE49-F238E27FC236}">
                <a16:creationId xmlns:a16="http://schemas.microsoft.com/office/drawing/2014/main" id="{A59386EE-960A-49E3-B63F-D6D6A00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9567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$286k · 7.4%</a:t>
            </a:r>
          </a:p>
        </p:txBody>
      </p:sp>
      <p:sp>
        <p:nvSpPr>
          <p:cNvPr id="11" name="unveiling-next40-label">
            <a:extLst xmlns:a="http://schemas.openxmlformats.org/drawingml/2006/main">
              <a:ext uri="{FF2B5EF4-FFF2-40B4-BE49-F238E27FC236}">
                <a16:creationId xmlns:a16="http://schemas.microsoft.com/office/drawing/2014/main" id="{F774C9D0-7893-4A1F-A5E2-A5D98AF7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43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Post: 80th pct.</a:t>
            </a:r>
          </a:p>
        </p:txBody>
      </p:sp>
      <p:sp>
        <p:nvSpPr>
          <p:cNvPr id="12" name="implication-band-4">
            <a:extLst xmlns:a="http://schemas.openxmlformats.org/drawingml/2006/main">
              <a:ext uri="{FF2B5EF4-FFF2-40B4-BE49-F238E27FC236}">
                <a16:creationId xmlns:a16="http://schemas.microsoft.com/office/drawing/2014/main" id="{F99C7C96-A626-4ED9-AA36-1DFFFFE0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plication-4">
            <a:extLst xmlns:a="http://schemas.openxmlformats.org/drawingml/2006/main">
              <a:ext uri="{FF2B5EF4-FFF2-40B4-BE49-F238E27FC236}">
                <a16:creationId xmlns:a16="http://schemas.microsoft.com/office/drawing/2014/main" id="{7927E323-74AF-4077-B4ED-E330091C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The saving-rate decline is not only a change in percentile labels: similarly wealthy cohorts save much less in the later period.</a:t>
            </a:r>
          </a:p>
        </p:txBody>
      </p:sp>
      <p:sp>
        <p:nvSpPr>
          <p:cNvPr id="14" name="source-4">
            <a:extLst xmlns:a="http://schemas.openxmlformats.org/drawingml/2006/main">
              <a:ext uri="{FF2B5EF4-FFF2-40B4-BE49-F238E27FC236}">
                <a16:creationId xmlns:a16="http://schemas.microsoft.com/office/drawing/2014/main" id="{537BBD31-6288-48F6-9A86-03C97EDB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Source: Figure 6 exact-method reconstruction; cohort means in 2018 dollars, not fixed-dollar bins.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d3a6fac5e41ca"/>
          <a:stretch xmlns:a="http://schemas.openxmlformats.org/drawingml/2006/main"/>
        </p:blipFill>
        <p:spPr>
          <a:xfrm xmlns:a="http://schemas.openxmlformats.org/drawingml/2006/main">
            <a:off x="1465580" y="1504950"/>
            <a:ext cx="661289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014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4">
            <a:extLst xmlns:a="http://schemas.openxmlformats.org/drawingml/2006/main">
              <a:ext uri="{FF2B5EF4-FFF2-40B4-BE49-F238E27FC236}">
                <a16:creationId xmlns:a16="http://schemas.microsoft.com/office/drawing/2014/main" id="{04D27481-2D51-4FDC-A458-E50B46BA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RESEARCH EXTENSION  ·  PRELIMINARY EVIDENCE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3FBCA310-3DE7-4459-A68A-7A732111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13C7AD41-C051-4BE1-B3DF-9419811B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Upper-middle saving falls; the top 1% stays volatile</a:t>
            </a:r>
          </a:p>
        </p:txBody>
      </p:sp>
      <p:sp>
        <p:nvSpPr>
          <p:cNvPr id="4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B937DE71-60F9-4EA0-8DBE-8BD10841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unveiling-callout">
            <a:extLst xmlns:a="http://schemas.openxmlformats.org/drawingml/2006/main">
              <a:ext uri="{FF2B5EF4-FFF2-40B4-BE49-F238E27FC236}">
                <a16:creationId xmlns:a16="http://schemas.microsoft.com/office/drawing/2014/main" id="{46BEFB9F-3CE7-4B0F-B11B-8442C71F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3336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unveiling-callout-head">
            <a:extLst xmlns:a="http://schemas.openxmlformats.org/drawingml/2006/main">
              <a:ext uri="{FF2B5EF4-FFF2-40B4-BE49-F238E27FC236}">
                <a16:creationId xmlns:a16="http://schemas.microsoft.com/office/drawing/2014/main" id="{F66C261D-099D-4A04-A8D3-9BB759A6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70A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170AA"/>
                </a:solidFill>
                <a:latin typeface="Calibri"/>
                <a:ea typeface="Calibri"/>
                <a:cs typeface="Calibri"/>
              </a:rPr>
              <a:t>Five-year rates</a:t>
            </a:r>
          </a:p>
        </p:txBody>
      </p:sp>
      <p:sp>
        <p:nvSpPr>
          <p:cNvPr id="8" name="unveiling-top1">
            <a:extLst xmlns:a="http://schemas.openxmlformats.org/drawingml/2006/main">
              <a:ext uri="{FF2B5EF4-FFF2-40B4-BE49-F238E27FC236}">
                <a16:creationId xmlns:a16="http://schemas.microsoft.com/office/drawing/2014/main" id="{1E2D59D0-34FC-4666-9356-6AC891D9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20.1% → 6.1%</a:t>
            </a:r>
          </a:p>
        </p:txBody>
      </p:sp>
      <p:sp>
        <p:nvSpPr>
          <p:cNvPr id="9" name="unveiling-top1-label">
            <a:extLst xmlns:a="http://schemas.openxmlformats.org/drawingml/2006/main">
              <a:ext uri="{FF2B5EF4-FFF2-40B4-BE49-F238E27FC236}">
                <a16:creationId xmlns:a16="http://schemas.microsoft.com/office/drawing/2014/main" id="{6E6C2350-D9B3-4A9E-AD6E-63D64137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384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80th pct.: 1982 → 2016</a:t>
            </a:r>
          </a:p>
        </p:txBody>
      </p:sp>
      <p:sp>
        <p:nvSpPr>
          <p:cNvPr id="10" name="unveiling-next40">
            <a:extLst xmlns:a="http://schemas.openxmlformats.org/drawingml/2006/main">
              <a:ext uri="{FF2B5EF4-FFF2-40B4-BE49-F238E27FC236}">
                <a16:creationId xmlns:a16="http://schemas.microsoft.com/office/drawing/2014/main" id="{A59386EE-960A-49E3-B63F-D6D6A00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9567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68.5% peak</a:t>
            </a:r>
          </a:p>
        </p:txBody>
      </p:sp>
      <p:sp>
        <p:nvSpPr>
          <p:cNvPr id="11" name="unveiling-next40-label">
            <a:extLst xmlns:a="http://schemas.openxmlformats.org/drawingml/2006/main">
              <a:ext uri="{FF2B5EF4-FFF2-40B4-BE49-F238E27FC236}">
                <a16:creationId xmlns:a16="http://schemas.microsoft.com/office/drawing/2014/main" id="{F774C9D0-7893-4A1F-A5E2-A5D98AF7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43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Top 1% · 2008 window</a:t>
            </a:r>
          </a:p>
        </p:txBody>
      </p:sp>
      <p:sp>
        <p:nvSpPr>
          <p:cNvPr id="12" name="implication-band-4">
            <a:extLst xmlns:a="http://schemas.openxmlformats.org/drawingml/2006/main">
              <a:ext uri="{FF2B5EF4-FFF2-40B4-BE49-F238E27FC236}">
                <a16:creationId xmlns:a16="http://schemas.microsoft.com/office/drawing/2014/main" id="{F99C7C96-A626-4ED9-AA36-1DFFFFE0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plication-4">
            <a:extLst xmlns:a="http://schemas.openxmlformats.org/drawingml/2006/main">
              <a:ext uri="{FF2B5EF4-FFF2-40B4-BE49-F238E27FC236}">
                <a16:creationId xmlns:a16="http://schemas.microsoft.com/office/drawing/2014/main" id="{7927E323-74AF-4077-B4ED-E330091C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The paper’s two periods compress heterogeneous dynamics: upper-middle rates trend down while the top 1% remains highly volatile.</a:t>
            </a:r>
          </a:p>
        </p:txBody>
      </p:sp>
      <p:sp>
        <p:nvSpPr>
          <p:cNvPr id="14" name="source-4">
            <a:extLst xmlns:a="http://schemas.openxmlformats.org/drawingml/2006/main">
              <a:ext uri="{FF2B5EF4-FFF2-40B4-BE49-F238E27FC236}">
                <a16:creationId xmlns:a16="http://schemas.microsoft.com/office/drawing/2014/main" id="{537BBD31-6288-48F6-9A86-03C97EDB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Source: trailing five-year means of the same annual Figure 6 net saving rate; vertical line marks 1982.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834e4f9704d6c"/>
          <a:stretch xmlns:a="http://schemas.openxmlformats.org/drawingml/2006/main"/>
        </p:blipFill>
        <p:spPr>
          <a:xfrm xmlns:a="http://schemas.openxmlformats.org/drawingml/2006/main">
            <a:off x="1599474" y="1504950"/>
            <a:ext cx="6345101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014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5">
            <a:extLst xmlns:a="http://schemas.openxmlformats.org/drawingml/2006/main">
              <a:ext uri="{FF2B5EF4-FFF2-40B4-BE49-F238E27FC236}">
                <a16:creationId xmlns:a16="http://schemas.microsoft.com/office/drawing/2014/main" id="{B7E82457-90C6-4314-BA41-630C35AF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RESEARCH EXTENSION  ·  PRELIMINARY EVIDENCE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632A8695-AB68-4847-9051-1E65BC22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F73F20B1-6BB7-4DE3-8A9E-914540C3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12304A"/>
                </a:solidFill>
                <a:latin typeface="Calibri Light"/>
                <a:ea typeface="Calibri Light"/>
                <a:cs typeface="Calibri Light"/>
              </a:rPr>
              <a:t>The next step is a causal mortgage-credit test</a:t>
            </a:r>
          </a:p>
        </p:txBody>
      </p:sp>
      <p:sp>
        <p:nvSpPr>
          <p:cNvPr id="4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09313067-A78D-4785-8D98-6614C864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8FB10CAA-71A6-49C4-BFB9-CA29FD46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step-1-head">
            <a:extLst xmlns:a="http://schemas.openxmlformats.org/drawingml/2006/main">
              <a:ext uri="{FF2B5EF4-FFF2-40B4-BE49-F238E27FC236}">
                <a16:creationId xmlns:a16="http://schemas.microsoft.com/office/drawing/2014/main" id="{EF971A34-727D-4B2C-8746-C499C641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145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Established here</a:t>
            </a:r>
          </a:p>
        </p:txBody>
      </p:sp>
      <p:sp>
        <p:nvSpPr>
          <p:cNvPr id="7" name="step-1-body">
            <a:extLst xmlns:a="http://schemas.openxmlformats.org/drawingml/2006/main">
              <a:ext uri="{FF2B5EF4-FFF2-40B4-BE49-F238E27FC236}">
                <a16:creationId xmlns:a16="http://schemas.microsoft.com/office/drawing/2014/main" id="{FA8DF4DE-7A69-4B5C-9D9B-FCAD37DF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81225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Mortgages dominate the pre-2008 debt build-up and saving drag for the next 40% and bottom 50%; the top 1% becomes a net ultimate lender.</a:t>
            </a:r>
          </a:p>
        </p:txBody>
      </p:sp>
      <p:sp>
        <p:nvSpPr>
          <p:cNvPr id="8" name="step-divider-1">
            <a:extLst xmlns:a="http://schemas.openxmlformats.org/drawingml/2006/main">
              <a:ext uri="{FF2B5EF4-FFF2-40B4-BE49-F238E27FC236}">
                <a16:creationId xmlns:a16="http://schemas.microsoft.com/office/drawing/2014/main" id="{3BC8E3FF-32CD-48DC-94A5-E765EE8B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FFF652BA-D86E-4D6B-969A-B95AC625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step-2-head">
            <a:extLst xmlns:a="http://schemas.openxmlformats.org/drawingml/2006/main">
              <a:ext uri="{FF2B5EF4-FFF2-40B4-BE49-F238E27FC236}">
                <a16:creationId xmlns:a16="http://schemas.microsoft.com/office/drawing/2014/main" id="{EBB7E9BE-54D0-4E6F-9EE0-39C20388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145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Not identified</a:t>
            </a:r>
          </a:p>
        </p:txBody>
      </p:sp>
      <p:sp>
        <p:nvSpPr>
          <p:cNvPr id="11" name="step-2-body">
            <a:extLst xmlns:a="http://schemas.openxmlformats.org/drawingml/2006/main">
              <a:ext uri="{FF2B5EF4-FFF2-40B4-BE49-F238E27FC236}">
                <a16:creationId xmlns:a16="http://schemas.microsoft.com/office/drawing/2014/main" id="{997759A6-9FCF-439B-B2EA-28BBC7F3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81225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These accounts do not establish that credit supply caused house-price growth or lower saving. Age, homeownership, income, and housing supply remain confounders.</a:t>
            </a:r>
          </a:p>
        </p:txBody>
      </p:sp>
      <p:sp>
        <p:nvSpPr>
          <p:cNvPr id="12" name="step-divider-2">
            <a:extLst xmlns:a="http://schemas.openxmlformats.org/drawingml/2006/main">
              <a:ext uri="{FF2B5EF4-FFF2-40B4-BE49-F238E27FC236}">
                <a16:creationId xmlns:a16="http://schemas.microsoft.com/office/drawing/2014/main" id="{CA301640-F5D5-4878-B686-7158D469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9545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9C44DBC7-6085-4717-880B-33BDBCE1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145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C852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C8520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4" name="step-3-head">
            <a:extLst xmlns:a="http://schemas.openxmlformats.org/drawingml/2006/main">
              <a:ext uri="{FF2B5EF4-FFF2-40B4-BE49-F238E27FC236}">
                <a16:creationId xmlns:a16="http://schemas.microsoft.com/office/drawing/2014/main" id="{29F8083F-6092-47F2-B3A2-C81CE37B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14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Proposed test</a:t>
            </a:r>
          </a:p>
        </p:txBody>
      </p:sp>
      <p:sp>
        <p:nvSpPr>
          <p:cNvPr id="15" name="step-3-body">
            <a:extLst xmlns:a="http://schemas.openxmlformats.org/drawingml/2006/main">
              <a:ext uri="{FF2B5EF4-FFF2-40B4-BE49-F238E27FC236}">
                <a16:creationId xmlns:a16="http://schemas.microsoft.com/office/drawing/2014/main" id="{99DD7F76-F1FE-46B2-A561-066DE5B7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81225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Combine SCF or DFA borrower detail with ultimate owners; then exploit mortgage-policy or credit-supply shocks.</a:t>
            </a:r>
          </a:p>
        </p:txBody>
      </p:sp>
      <p:sp>
        <p:nvSpPr>
          <p:cNvPr id="16" name="implication-band-5">
            <a:extLst xmlns:a="http://schemas.openxmlformats.org/drawingml/2006/main">
              <a:ext uri="{FF2B5EF4-FFF2-40B4-BE49-F238E27FC236}">
                <a16:creationId xmlns:a16="http://schemas.microsoft.com/office/drawing/2014/main" id="{FF43F8FC-059A-45E2-A79E-8C68E525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mplication-5">
            <a:extLst xmlns:a="http://schemas.openxmlformats.org/drawingml/2006/main">
              <a:ext uri="{FF2B5EF4-FFF2-40B4-BE49-F238E27FC236}">
                <a16:creationId xmlns:a16="http://schemas.microsoft.com/office/drawing/2014/main" id="{1A84FA6F-F6A6-46C1-9FE7-2943F4F6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2304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2304A"/>
                </a:solidFill>
                <a:latin typeface="Calibri"/>
                <a:ea typeface="Calibri"/>
                <a:cs typeface="Calibri"/>
              </a:rPr>
              <a:t>Research question: did expanded mortgage credit transmit top-wealth saving into house prices and lower measured saving below the top?</a:t>
            </a:r>
          </a:p>
        </p:txBody>
      </p:sp>
      <p:sp>
        <p:nvSpPr>
          <p:cNvPr id="18" name="source-5">
            <a:extLst xmlns:a="http://schemas.openxmlformats.org/drawingml/2006/main">
              <a:ext uri="{FF2B5EF4-FFF2-40B4-BE49-F238E27FC236}">
                <a16:creationId xmlns:a16="http://schemas.microsoft.com/office/drawing/2014/main" id="{C2617E52-9F6B-4B0B-AC65-8EF069A2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16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16E"/>
                </a:solidFill>
                <a:latin typeface="Calibri"/>
                <a:ea typeface="Calibri"/>
                <a:cs typeface="Calibri"/>
              </a:rPr>
              <a:t>Next data: SCF/DFA borrower composition; causal design must separate credit supply from demand and wealth-rank mechanics.</a:t>
            </a:r>
          </a:p>
        </p:txBody>
      </p:sp>
    </p:spTree>
    <p:extLst>
      <p:ext uri="{BB962C8B-B14F-4D97-AF65-F5344CB8AC3E}">
        <p14:creationId xmlns:p14="http://schemas.microsoft.com/office/powerpoint/2010/main" val="88619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2026-08-16T09:59:54.7030000Z</dcterms:created>
  <dcterms:modified xsi:type="dcterms:W3CDTF">2026-08-16T09:59:54.7040000Z</dcterms:modified>
</coreProperties>
</file>
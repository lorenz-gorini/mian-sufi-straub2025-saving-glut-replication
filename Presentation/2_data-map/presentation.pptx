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06030591724dcc" /><Relationship Type="http://schemas.openxmlformats.org/officeDocument/2006/relationships/extended-properties" Target="/docProps/app.xml" Id="Rc3e5017ce426449d" /><Relationship Type="http://schemas.openxmlformats.org/officeDocument/2006/relationships/officeDocument" Target="/ppt/presentation.xml" Id="R9965dee7d11a49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22e4c006504368"/>
  </p:sldMasterIdLst>
  <p:notesMasterIdLst>
    <p:notesMasterId xmlns:r="http://schemas.openxmlformats.org/officeDocument/2006/relationships" r:id="Ree8d598bdebc436e"/>
  </p:notesMasterIdLst>
  <p:sldIdLst>
    <p:sldId xmlns:r="http://schemas.openxmlformats.org/officeDocument/2006/relationships" id="256" r:id="Rdff74d38fccb4c29"/>
    <p:sldId xmlns:r="http://schemas.openxmlformats.org/officeDocument/2006/relationships" id="257" r:id="Rebfbbaf057e24d9c"/>
    <p:sldId xmlns:r="http://schemas.openxmlformats.org/officeDocument/2006/relationships" id="258" r:id="R6d36a04972084e0d"/>
    <p:sldId xmlns:r="http://schemas.openxmlformats.org/officeDocument/2006/relationships" id="259" r:id="Rf2134bee21374c34"/>
    <p:sldId xmlns:r="http://schemas.openxmlformats.org/officeDocument/2006/relationships" id="260" r:id="R401d9f1e8cc04f7f"/>
    <p:sldId xmlns:r="http://schemas.openxmlformats.org/officeDocument/2006/relationships" id="261" r:id="Ra8960c6ab44f4436"/>
    <p:sldId xmlns:r="http://schemas.openxmlformats.org/officeDocument/2006/relationships" id="262" r:id="R910566d8897d47a5"/>
    <p:sldId xmlns:r="http://schemas.openxmlformats.org/officeDocument/2006/relationships" id="263" r:id="R198d726218b04213"/>
    <p:sldId xmlns:r="http://schemas.openxmlformats.org/officeDocument/2006/relationships" id="264" r:id="R20f3c9c211fa48da"/>
    <p:sldId xmlns:r="http://schemas.openxmlformats.org/officeDocument/2006/relationships" id="265" r:id="R276f601ea9ec4bd2"/>
    <p:sldId xmlns:r="http://schemas.openxmlformats.org/officeDocument/2006/relationships" id="266" r:id="R83c9ed31edc44d70"/>
    <p:sldId xmlns:r="http://schemas.openxmlformats.org/officeDocument/2006/relationships" id="267" r:id="Rd041580a4b2e41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86113fe6a94cc4" /><Relationship Type="http://schemas.openxmlformats.org/officeDocument/2006/relationships/slideMaster" Target="/ppt/slideMasters/slideMaster1.xml" Id="R2922e4c006504368" /><Relationship Type="http://schemas.openxmlformats.org/officeDocument/2006/relationships/notesMaster" Target="/ppt/notesMasters/notesMaster1.xml" Id="Ree8d598bdebc436e" /><Relationship Type="http://schemas.openxmlformats.org/officeDocument/2006/relationships/presProps" Target="/ppt/presProps.xml" Id="Rd627c174e4ee4fb1" /><Relationship Type="http://schemas.openxmlformats.org/officeDocument/2006/relationships/tableStyles" Target="/ppt/tableStyles.xml" Id="R335e19aa44f94568" /><Relationship Type="http://schemas.openxmlformats.org/officeDocument/2006/relationships/slide" Target="/ppt/slides/slide1.xml" Id="Rdff74d38fccb4c29" /><Relationship Type="http://schemas.openxmlformats.org/officeDocument/2006/relationships/slide" Target="/ppt/slides/slide2.xml" Id="Rebfbbaf057e24d9c" /><Relationship Type="http://schemas.openxmlformats.org/officeDocument/2006/relationships/slide" Target="/ppt/slides/slide3.xml" Id="R6d36a04972084e0d" /><Relationship Type="http://schemas.openxmlformats.org/officeDocument/2006/relationships/slide" Target="/ppt/slides/slide4.xml" Id="Rf2134bee21374c34" /><Relationship Type="http://schemas.openxmlformats.org/officeDocument/2006/relationships/slide" Target="/ppt/slides/slide5.xml" Id="R401d9f1e8cc04f7f" /><Relationship Type="http://schemas.openxmlformats.org/officeDocument/2006/relationships/slide" Target="/ppt/slides/slide6.xml" Id="Ra8960c6ab44f4436" /><Relationship Type="http://schemas.openxmlformats.org/officeDocument/2006/relationships/slide" Target="/ppt/slides/slide7.xml" Id="R910566d8897d47a5" /><Relationship Type="http://schemas.openxmlformats.org/officeDocument/2006/relationships/slide" Target="/ppt/slides/slide8.xml" Id="R198d726218b04213" /><Relationship Type="http://schemas.openxmlformats.org/officeDocument/2006/relationships/slide" Target="/ppt/slides/slide9.xml" Id="R20f3c9c211fa48da" /><Relationship Type="http://schemas.openxmlformats.org/officeDocument/2006/relationships/slide" Target="/ppt/slides/slide10.xml" Id="R276f601ea9ec4bd2" /><Relationship Type="http://schemas.openxmlformats.org/officeDocument/2006/relationships/slide" Target="/ppt/slides/slide11.xml" Id="R83c9ed31edc44d70" /><Relationship Type="http://schemas.openxmlformats.org/officeDocument/2006/relationships/slide" Target="/ppt/slides/slide12.xml" Id="Rd041580a4b2e41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6b0d60ff5c47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822f3583384f44" /><Relationship Type="http://schemas.openxmlformats.org/officeDocument/2006/relationships/notesMaster" Target="/ppt/notesMasters/notesMaster1.xml" Id="R8713a2624bc143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bd95a543324264" /><Relationship Type="http://schemas.openxmlformats.org/officeDocument/2006/relationships/notesMaster" Target="/ppt/notesMasters/notesMaster1.xml" Id="R1a0ef406d4ed4b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a0a11614df4ba1" /><Relationship Type="http://schemas.openxmlformats.org/officeDocument/2006/relationships/notesMaster" Target="/ppt/notesMasters/notesMaster1.xml" Id="R26fb4a48702246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0ae5e56cc24564" /><Relationship Type="http://schemas.openxmlformats.org/officeDocument/2006/relationships/notesMaster" Target="/ppt/notesMasters/notesMaster1.xml" Id="R4bbcf3e10dd049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865dcedf75488f" /><Relationship Type="http://schemas.openxmlformats.org/officeDocument/2006/relationships/notesMaster" Target="/ppt/notesMasters/notesMaster1.xml" Id="R0d38d764e3a849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da5efefe524199" /><Relationship Type="http://schemas.openxmlformats.org/officeDocument/2006/relationships/notesMaster" Target="/ppt/notesMasters/notesMaster1.xml" Id="R7665b501c0aa48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900893634948cb" /><Relationship Type="http://schemas.openxmlformats.org/officeDocument/2006/relationships/notesMaster" Target="/ppt/notesMasters/notesMaster1.xml" Id="R59f0defeffae44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7ba747922d466b" /><Relationship Type="http://schemas.openxmlformats.org/officeDocument/2006/relationships/notesMaster" Target="/ppt/notesMasters/notesMaster1.xml" Id="Re52d2e3bec324d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2fd0ad32d94425" /><Relationship Type="http://schemas.openxmlformats.org/officeDocument/2006/relationships/notesMaster" Target="/ppt/notesMasters/notesMaster1.xml" Id="Rc8d7b6d1c4c54c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69cc10b54e43ca" /><Relationship Type="http://schemas.openxmlformats.org/officeDocument/2006/relationships/notesMaster" Target="/ppt/notesMasters/notesMaster1.xml" Id="R08190a9f8d724f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66b87c25474689" /><Relationship Type="http://schemas.openxmlformats.org/officeDocument/2006/relationships/notesMaster" Target="/ppt/notesMasters/notesMaster1.xml" Id="Rc244f4711ce242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0dcb01fdb24cdf" /><Relationship Type="http://schemas.openxmlformats.org/officeDocument/2006/relationships/notesMaster" Target="/ppt/notesMasters/notesMaster1.xml" Id="R8d0416bffed442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distinguish source roles before showing any merge or formula.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Replication/docs/data/author-kit-data-map.md.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Data appendix and methodology.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Stocks, counterparties, household groups, and flows are distinct dimensions that must be combined explicitly.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Replication/docs/data/author-kit-data-map.md.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data appendix.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ownership network begins with instrument-specific dollar matrices—not with DINA household microdata.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Equation (4) and data appendix.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Replication/docs/data/author-kit-data-map.md.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DINA allocates household totals across groups; it does not reveal an unobserved sector-to-sector counterparty cell.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data appendix.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Replication/docs/data/author-kit-data-map.md.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Normalization changes units from dollars to funding shares while preserving each issuer's composition.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Equation (4).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DINA supplies distributional shares by household group and asset class—not the financial-network counterparty structure.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data appendix and household-group allocation.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Replication/docs/data/author-kit-data-map.md.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Household heterogeneity is appended without changing aggregate sector totals or ownership mass.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ownership augmentation.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Replication/docs/data/author-kit-data-map.md.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change in wealth is not saving unless capital gains, write-downs, and other valuation effects are removed.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saving methodology and Figure 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figures share distributional inputs, but each one requires a different economic object and transformation chain.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Figures 1, 5, and 8.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Replication/docs/project/tasks/result-selection.md.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authors' kit is a valid benchmark for its own vintage, but it cannot silently stand in for the revised 2025 specification.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Replication/MSS2021Febreplicationkit/mss_savingglut_master.do.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Replication/docs/reference/author-kit-map.md.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Reproduce the authors' vintage first; only then interpret newer public data as robustness rather than replication.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Replication/AGENTS.md.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Replication/docs/data/data-guide.md.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final number should retain its source, unit, aggregation rule, and accounting invariant.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Replication/docs/data/author-kit-data-map.md.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Replication/docs/data/data-guide.md.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498f949914d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96541b590f4725" /><Relationship Type="http://schemas.openxmlformats.org/officeDocument/2006/relationships/slideLayout" Target="/ppt/slideLayouts/slideLayout1.xml" Id="R1486f2ece7214f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86f2ece7214f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d071c000a4a6f" /><Relationship Type="http://schemas.openxmlformats.org/officeDocument/2006/relationships/notesSlide" Target="/ppt/notesSlides/notesSlide1.xml" Id="R79842b67835244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5af817586410e" /><Relationship Type="http://schemas.openxmlformats.org/officeDocument/2006/relationships/image" Target="/ppt/media/image.png" Id="Rc2fc7ea64f304060" /><Relationship Type="http://schemas.openxmlformats.org/officeDocument/2006/relationships/image" Target="/ppt/media/image2.png" Id="R38ecdbc43e7941a0" /><Relationship Type="http://schemas.openxmlformats.org/officeDocument/2006/relationships/notesSlide" Target="/ppt/notesSlides/notesSlide2.xml" Id="R05ca43a0f8ac42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0ed67a057424b" /><Relationship Type="http://schemas.openxmlformats.org/officeDocument/2006/relationships/image" Target="/ppt/media/image.png" Id="R08b3d406dd2f407a" /><Relationship Type="http://schemas.openxmlformats.org/officeDocument/2006/relationships/image" Target="/ppt/media/image2.png" Id="Rce6f9c316f114956" /><Relationship Type="http://schemas.openxmlformats.org/officeDocument/2006/relationships/image" Target="/ppt/media/image3.png" Id="R320060a327a34e3f" /><Relationship Type="http://schemas.openxmlformats.org/officeDocument/2006/relationships/image" Target="/ppt/media/image.svg" Id="R80c3d80b5fc44c14" /><Relationship Type="http://schemas.openxmlformats.org/officeDocument/2006/relationships/image" Target="/ppt/media/image4.png" Id="R8943cc1c03774ced" /><Relationship Type="http://schemas.openxmlformats.org/officeDocument/2006/relationships/image" Target="/ppt/media/image2.svg" Id="Rbd37be961a7b4ab5" /><Relationship Type="http://schemas.openxmlformats.org/officeDocument/2006/relationships/notesSlide" Target="/ppt/notesSlides/notesSlide3.xml" Id="R08421d5f97b54f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df21a31ca4d54" /><Relationship Type="http://schemas.openxmlformats.org/officeDocument/2006/relationships/image" Target="/ppt/media/image.png" Id="R21ba9606eea24abe" /><Relationship Type="http://schemas.openxmlformats.org/officeDocument/2006/relationships/image" Target="/ppt/media/image2.png" Id="R0aaf12465e57494d" /><Relationship Type="http://schemas.openxmlformats.org/officeDocument/2006/relationships/image" Target="/ppt/media/image5.png" Id="Rdc6c2d83baee444a" /><Relationship Type="http://schemas.openxmlformats.org/officeDocument/2006/relationships/image" Target="/ppt/media/image3.svg" Id="R377bf5c8262240af" /><Relationship Type="http://schemas.openxmlformats.org/officeDocument/2006/relationships/notesSlide" Target="/ppt/notesSlides/notesSlide4.xml" Id="R9bfd7765d5694e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8ab04b93e4989" /><Relationship Type="http://schemas.openxmlformats.org/officeDocument/2006/relationships/image" Target="/ppt/media/image.png" Id="Rc90e96a96fbf4468" /><Relationship Type="http://schemas.openxmlformats.org/officeDocument/2006/relationships/image" Target="/ppt/media/image2.png" Id="R37d15bdbf1c948bb" /><Relationship Type="http://schemas.openxmlformats.org/officeDocument/2006/relationships/image" Target="/ppt/media/image6.png" Id="Ra9c018d04ac44bb6" /><Relationship Type="http://schemas.openxmlformats.org/officeDocument/2006/relationships/image" Target="/ppt/media/image4.svg" Id="R364b57727fba47fe" /><Relationship Type="http://schemas.openxmlformats.org/officeDocument/2006/relationships/image" Target="/ppt/media/image7.png" Id="R65f67ee8555743aa" /><Relationship Type="http://schemas.openxmlformats.org/officeDocument/2006/relationships/image" Target="/ppt/media/image5.svg" Id="Rcf4b901324af4757" /><Relationship Type="http://schemas.openxmlformats.org/officeDocument/2006/relationships/notesSlide" Target="/ppt/notesSlides/notesSlide5.xml" Id="Rec092d633ac247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66da95c174a3f" /><Relationship Type="http://schemas.openxmlformats.org/officeDocument/2006/relationships/image" Target="/ppt/media/image.png" Id="R55244a07e4d945cd" /><Relationship Type="http://schemas.openxmlformats.org/officeDocument/2006/relationships/image" Target="/ppt/media/image2.png" Id="R50f49daff7c541cd" /><Relationship Type="http://schemas.openxmlformats.org/officeDocument/2006/relationships/image" Target="/ppt/media/image8.png" Id="R5ca77a8213c04339" /><Relationship Type="http://schemas.openxmlformats.org/officeDocument/2006/relationships/image" Target="/ppt/media/image6.svg" Id="R85afded9c2994c72" /><Relationship Type="http://schemas.openxmlformats.org/officeDocument/2006/relationships/image" Target="/ppt/media/image9.png" Id="R324cbd51d015447a" /><Relationship Type="http://schemas.openxmlformats.org/officeDocument/2006/relationships/image" Target="/ppt/media/image7.svg" Id="R8a61a1c2bf354a85" /><Relationship Type="http://schemas.openxmlformats.org/officeDocument/2006/relationships/notesSlide" Target="/ppt/notesSlides/notesSlide6.xml" Id="R393ad03899aa48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de4a008924480" /><Relationship Type="http://schemas.openxmlformats.org/officeDocument/2006/relationships/image" Target="/ppt/media/image.png" Id="Re77d04afa95a4ec5" /><Relationship Type="http://schemas.openxmlformats.org/officeDocument/2006/relationships/image" Target="/ppt/media/image2.png" Id="R499e0d765c0c4e96" /><Relationship Type="http://schemas.openxmlformats.org/officeDocument/2006/relationships/image" Target="/ppt/media/image10.png" Id="R17a715eb47724f7f" /><Relationship Type="http://schemas.openxmlformats.org/officeDocument/2006/relationships/image" Target="/ppt/media/image8.svg" Id="Rbb976538058b4ffc" /><Relationship Type="http://schemas.openxmlformats.org/officeDocument/2006/relationships/image" Target="/ppt/media/image11.png" Id="Reafc5e7987624dc5" /><Relationship Type="http://schemas.openxmlformats.org/officeDocument/2006/relationships/image" Target="/ppt/media/image9.svg" Id="Ra80abd065019422b" /><Relationship Type="http://schemas.openxmlformats.org/officeDocument/2006/relationships/notesSlide" Target="/ppt/notesSlides/notesSlide7.xml" Id="R0337fbe29df946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dd0a267f04f29" /><Relationship Type="http://schemas.openxmlformats.org/officeDocument/2006/relationships/image" Target="/ppt/media/image.png" Id="Rd4ef5e0a7feb487e" /><Relationship Type="http://schemas.openxmlformats.org/officeDocument/2006/relationships/image" Target="/ppt/media/image2.png" Id="R666078c94bad436d" /><Relationship Type="http://schemas.openxmlformats.org/officeDocument/2006/relationships/image" Target="/ppt/media/image12.png" Id="R38aa1c17252b42e0" /><Relationship Type="http://schemas.openxmlformats.org/officeDocument/2006/relationships/image" Target="/ppt/media/image10.svg" Id="Rc13bf06a113b4381" /><Relationship Type="http://schemas.openxmlformats.org/officeDocument/2006/relationships/notesSlide" Target="/ppt/notesSlides/notesSlide8.xml" Id="R39da2eb611e04a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cab5114ee4ea0" /><Relationship Type="http://schemas.openxmlformats.org/officeDocument/2006/relationships/image" Target="/ppt/media/image.png" Id="R619aec5a96ef4d94" /><Relationship Type="http://schemas.openxmlformats.org/officeDocument/2006/relationships/image" Target="/ppt/media/image2.png" Id="R98073dbfed734f49" /><Relationship Type="http://schemas.openxmlformats.org/officeDocument/2006/relationships/notesSlide" Target="/ppt/notesSlides/notesSlide9.xml" Id="Rebcde0a479cf4b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f4a9c6d9b4c87" /><Relationship Type="http://schemas.openxmlformats.org/officeDocument/2006/relationships/image" Target="/ppt/media/image.png" Id="Rf2f5ead92382455a" /><Relationship Type="http://schemas.openxmlformats.org/officeDocument/2006/relationships/image" Target="/ppt/media/image2.png" Id="Rcda26e98a43240fe" /><Relationship Type="http://schemas.openxmlformats.org/officeDocument/2006/relationships/image" Target="/ppt/media/image13.png" Id="R7ebbf9dc7ce44407" /><Relationship Type="http://schemas.openxmlformats.org/officeDocument/2006/relationships/image" Target="/ppt/media/image11.svg" Id="R7e267b62b305468c" /><Relationship Type="http://schemas.openxmlformats.org/officeDocument/2006/relationships/image" Target="/ppt/media/image14.png" Id="Rbe0632021df54586" /><Relationship Type="http://schemas.openxmlformats.org/officeDocument/2006/relationships/image" Target="/ppt/media/image12.svg" Id="R8373ad46f51e41c9" /><Relationship Type="http://schemas.openxmlformats.org/officeDocument/2006/relationships/notesSlide" Target="/ppt/notesSlides/notesSlide10.xml" Id="R4dcb2a7c2b454b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bf23a832d47ed" /><Relationship Type="http://schemas.openxmlformats.org/officeDocument/2006/relationships/image" Target="/ppt/media/image.png" Id="Rf2f703b331cb471b" /><Relationship Type="http://schemas.openxmlformats.org/officeDocument/2006/relationships/image" Target="/ppt/media/image2.png" Id="R665a648b207443d0" /><Relationship Type="http://schemas.openxmlformats.org/officeDocument/2006/relationships/notesSlide" Target="/ppt/notesSlides/notesSlide11.xml" Id="Rfa69e76f58514b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fa30f90d04097" /><Relationship Type="http://schemas.openxmlformats.org/officeDocument/2006/relationships/image" Target="/ppt/media/image.png" Id="R5cc8a1a39ddd4aa0" /><Relationship Type="http://schemas.openxmlformats.org/officeDocument/2006/relationships/image" Target="/ppt/media/image2.png" Id="Re50f52cc93d941bb" /><Relationship Type="http://schemas.openxmlformats.org/officeDocument/2006/relationships/notesSlide" Target="/ppt/notesSlides/notesSlide12.xml" Id="Rc7b62813b4d545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7F5DCFB2-BF08-455D-96FE-93F1FEF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6530E1E-131F-4FAB-A866-E26950C4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DATA ARCHITECTURE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975D2B-40BB-435A-9F95-129A2C01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From Source Data to Paper Objects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547238B-E8E6-4372-94B0-EE2539B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Which dataset identifies each layer of the ownership, saving, and debt analysis</a:t>
            </a:r>
          </a:p>
        </p:txBody>
      </p:sp>
      <p:sp>
        <p:nvSpPr>
          <p:cNvPr id="5" name="legend-2021">
            <a:extLst xmlns:a="http://schemas.openxmlformats.org/drawingml/2006/main">
              <a:ext uri="{FF2B5EF4-FFF2-40B4-BE49-F238E27FC236}">
                <a16:creationId xmlns:a16="http://schemas.microsoft.com/office/drawing/2014/main" id="{E5188C8E-DE47-4DC0-8840-A490B08D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legend-2021-text">
            <a:extLst xmlns:a="http://schemas.openxmlformats.org/drawingml/2006/main">
              <a:ext uri="{FF2B5EF4-FFF2-40B4-BE49-F238E27FC236}">
                <a16:creationId xmlns:a16="http://schemas.microsoft.com/office/drawing/2014/main" id="{7E666218-8D53-4587-8EB2-5B6E3FA4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/>
            </a:r>
          </a:p>
        </p:txBody>
      </p:sp>
      <p:sp>
        <p:nvSpPr>
          <p:cNvPr id="7" name="legend-2025">
            <a:extLst xmlns:a="http://schemas.openxmlformats.org/drawingml/2006/main">
              <a:ext uri="{FF2B5EF4-FFF2-40B4-BE49-F238E27FC236}">
                <a16:creationId xmlns:a16="http://schemas.microsoft.com/office/drawing/2014/main" id="{990CB6C5-46A3-4978-AD21-426AE14C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legend-2025-text">
            <a:extLst xmlns:a="http://schemas.openxmlformats.org/drawingml/2006/main">
              <a:ext uri="{FF2B5EF4-FFF2-40B4-BE49-F238E27FC236}">
                <a16:creationId xmlns:a16="http://schemas.microsoft.com/office/drawing/2014/main" id="{D6FD146E-A114-464C-AC7C-4816C06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/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1ABC4866-2AB1-49DB-A3A1-9A64A08C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Prepared 10 August 2026</a:t>
            </a:r>
          </a:p>
        </p:txBody>
      </p:sp>
      <p:sp>
        <p:nvSpPr>
          <p:cNvPr id="11" name="cover-rule">
            <a:extLst xmlns:a="http://schemas.openxmlformats.org/drawingml/2006/main">
              <a:ext uri="{FF2B5EF4-FFF2-40B4-BE49-F238E27FC236}">
                <a16:creationId xmlns:a16="http://schemas.microsoft.com/office/drawing/2014/main" id="{A82EE972-FDDA-4F29-89DD-F1F93AB7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8"/>
            </a:solidFill>
            <a:prstDash val="solid"/>
          </a:ln>
        </p:spPr>
      </p:sp>
      <p:sp>
        <p:nvSpPr>
          <p:cNvPr id="12" name="cover-thesis-label">
            <a:extLst xmlns:a="http://schemas.openxmlformats.org/drawingml/2006/main">
              <a:ext uri="{FF2B5EF4-FFF2-40B4-BE49-F238E27FC236}">
                <a16:creationId xmlns:a16="http://schemas.microsoft.com/office/drawing/2014/main" id="{4DEB2DA0-1E72-4A81-B5D9-B81B766E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CORE QUESTION</a:t>
            </a:r>
          </a:p>
        </p:txBody>
      </p:sp>
      <p:sp>
        <p:nvSpPr>
          <p:cNvPr id="13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326C9853-7911-4A64-8056-FFE9EF4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No single source contains stocks, counterparties, household groups, and valuation changes.</a:t>
            </a:r>
          </a:p>
        </p:txBody>
      </p:sp>
    </p:spTree>
    <p:extLst>
      <p:ext uri="{BB962C8B-B14F-4D97-AF65-F5344CB8AC3E}">
        <p14:creationId xmlns:p14="http://schemas.microsoft.com/office/powerpoint/2010/main" val="51713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IDENTIFICATION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No dataset identifies the entire object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NETWORK STOCKS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GROUP ALLOCATION AND FLOWS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c7ea64f304060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cdbc43e7941a0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Stocks, counterparties, household groups, and flows are distinct dimensions that must be combined explicitly.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paper data appendix; project author-kit data map.</a:t>
            </a:r>
          </a:p>
        </p:txBody>
      </p:sp>
      <p:sp>
        <p:nvSpPr>
          <p:cNvPr id="19" name="fwtw-b-badge">
            <a:extLst xmlns:a="http://schemas.openxmlformats.org/drawingml/2006/main">
              <a:ext uri="{FF2B5EF4-FFF2-40B4-BE49-F238E27FC236}">
                <a16:creationId xmlns:a16="http://schemas.microsoft.com/office/drawing/2014/main" id="{758D5FF3-0A3E-4E25-8415-961F3056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6192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E5B88"/>
          </a:solidFill>
          <a:ln xmlns:a="http://schemas.openxmlformats.org/drawingml/2006/main" w="9525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 / FWTW</a:t>
            </a:r>
          </a:p>
        </p:txBody>
      </p:sp>
      <p:sp>
        <p:nvSpPr>
          <p:cNvPr id="20" name="fwtw-copy">
            <a:extLst xmlns:a="http://schemas.openxmlformats.org/drawingml/2006/main">
              <a:ext uri="{FF2B5EF4-FFF2-40B4-BE49-F238E27FC236}">
                <a16:creationId xmlns:a16="http://schemas.microsoft.com/office/drawing/2014/main" id="{BE8F55DB-7963-4E0C-A778-5FCC84E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Sector-by-sector financial stocks and instrument-level bilateral positions.</a:t>
            </a:r>
          </a:p>
        </p:txBody>
      </p:sp>
      <p:sp>
        <p:nvSpPr>
          <p:cNvPr id="21" name="fwtw-q">
            <a:extLst xmlns:a="http://schemas.openxmlformats.org/drawingml/2006/main">
              <a:ext uri="{FF2B5EF4-FFF2-40B4-BE49-F238E27FC236}">
                <a16:creationId xmlns:a16="http://schemas.microsoft.com/office/drawing/2014/main" id="{0657E351-364D-4654-A7F4-0B1753A7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Who holds whose liability?</a:t>
            </a:r>
          </a:p>
        </p:txBody>
      </p:sp>
      <p:sp>
        <p:nvSpPr>
          <p:cNvPr id="22" name="dina-b-badge">
            <a:extLst xmlns:a="http://schemas.openxmlformats.org/drawingml/2006/main">
              <a:ext uri="{FF2B5EF4-FFF2-40B4-BE49-F238E27FC236}">
                <a16:creationId xmlns:a16="http://schemas.microsoft.com/office/drawing/2014/main" id="{23A2DF4A-E591-44CD-AF5C-18724E3D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11430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DINA</a:t>
            </a:r>
          </a:p>
        </p:txBody>
      </p:sp>
      <p:sp>
        <p:nvSpPr>
          <p:cNvPr id="23" name="dina-copy">
            <a:extLst xmlns:a="http://schemas.openxmlformats.org/drawingml/2006/main">
              <a:ext uri="{FF2B5EF4-FFF2-40B4-BE49-F238E27FC236}">
                <a16:creationId xmlns:a16="http://schemas.microsoft.com/office/drawing/2014/main" id="{BBF2F8D9-9A28-460F-84BC-680FB70F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Household assets and liabilities distributed across income or wealth groups.</a:t>
            </a:r>
          </a:p>
        </p:txBody>
      </p:sp>
      <p:sp>
        <p:nvSpPr>
          <p:cNvPr id="24" name="nipa-divider">
            <a:extLst xmlns:a="http://schemas.openxmlformats.org/drawingml/2006/main">
              <a:ext uri="{FF2B5EF4-FFF2-40B4-BE49-F238E27FC236}">
                <a16:creationId xmlns:a16="http://schemas.microsoft.com/office/drawing/2014/main" id="{5D2946F2-0A8E-43C0-AB0D-F857C6F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nipa-b-badge">
            <a:extLst xmlns:a="http://schemas.openxmlformats.org/drawingml/2006/main">
              <a:ext uri="{FF2B5EF4-FFF2-40B4-BE49-F238E27FC236}">
                <a16:creationId xmlns:a16="http://schemas.microsoft.com/office/drawing/2014/main" id="{AF7575F9-7EA4-4F32-8110-D2973114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11430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A7F7F"/>
          </a:solidFill>
          <a:ln xmlns:a="http://schemas.openxmlformats.org/drawingml/2006/main" w="9525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NIPA</a:t>
            </a:r>
          </a:p>
        </p:txBody>
      </p:sp>
      <p:sp>
        <p:nvSpPr>
          <p:cNvPr id="26" name="nipa-copy">
            <a:extLst xmlns:a="http://schemas.openxmlformats.org/drawingml/2006/main">
              <a:ext uri="{FF2B5EF4-FFF2-40B4-BE49-F238E27FC236}">
                <a16:creationId xmlns:a16="http://schemas.microsoft.com/office/drawing/2014/main" id="{9CB4D4B0-4908-4721-8E4A-153BB973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43325"/>
            <a:ext cx="442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Aggregate income, saving, and national-account closure—not bilateral ownership.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NETWORK FOUNDATION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FWTW provides one matrix per financial instrument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BILATERAL DOLLAR CLAIMS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DIMENSIONS BEFORE AGGREGATION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3d406dd2f407a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f9c316f114956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ownership network begins with instrument-specific dollar matrices—not with DINA household microdata.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paper Equation (4) construction; Financial Accounts/FWTW documentation.</a:t>
            </a:r>
          </a:p>
        </p:txBody>
      </p:sp>
      <p:sp>
        <p:nvSpPr>
          <p:cNvPr id="19" name="xh-surface">
            <a:extLst xmlns:a="http://schemas.openxmlformats.org/drawingml/2006/main">
              <a:ext uri="{FF2B5EF4-FFF2-40B4-BE49-F238E27FC236}">
                <a16:creationId xmlns:a16="http://schemas.microsoft.com/office/drawing/2014/main" id="{A2C8F919-8B14-4EC0-955D-D2AD948D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648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060a327a34e3f">
            <a:extLst>
              <a:ext uri="{96DAC541-7B7A-43D3-8B79-37D633B846F1}">
                <asvg:svgBlip xmlns:asvg="http://schemas.microsoft.com/office/drawing/2016/SVG/main" r:embed="R80c3d80b5fc44c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2420815"/>
            <a:ext cx="4267200" cy="168520"/>
          </a:xfrm>
          <a:prstGeom xmlns:a="http://schemas.openxmlformats.org/drawingml/2006/main" prst="rect">
            <a:avLst/>
          </a:prstGeom>
        </p:spPr>
      </p:pic>
      <p:sp>
        <p:nvSpPr>
          <p:cNvPr id="21" name="xh-reads">
            <a:extLst xmlns:a="http://schemas.openxmlformats.org/drawingml/2006/main">
              <a:ext uri="{FF2B5EF4-FFF2-40B4-BE49-F238E27FC236}">
                <a16:creationId xmlns:a16="http://schemas.microsoft.com/office/drawing/2014/main" id="{E2377104-0BB7-49EE-BEF7-E2D6569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4333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Row i identifies the issuer / borrower.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Column j identifies the holder / lender.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Each cell is a stock measured in dollars.</a:t>
            </a:r>
          </a:p>
        </p:txBody>
      </p:sp>
      <p:sp>
        <p:nvSpPr>
          <p:cNvPr id="22" name="dims-surface">
            <a:extLst xmlns:a="http://schemas.openxmlformats.org/drawingml/2006/main">
              <a:ext uri="{FF2B5EF4-FFF2-40B4-BE49-F238E27FC236}">
                <a16:creationId xmlns:a16="http://schemas.microsoft.com/office/drawing/2014/main" id="{ECBB0622-A386-4934-8D02-E00EB800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3810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dims">
            <a:extLst xmlns:a="http://schemas.openxmlformats.org/drawingml/2006/main">
              <a:ext uri="{FF2B5EF4-FFF2-40B4-BE49-F238E27FC236}">
                <a16:creationId xmlns:a16="http://schemas.microsoft.com/office/drawing/2014/main" id="{8AD349F4-3741-4B9F-8ED5-84DC03EB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34 instruments × years</a:t>
            </a:r>
          </a:p>
        </p:txBody>
      </p:sp>
      <p:sp>
        <p:nvSpPr>
          <p:cNvPr id="24" name="sectors-surface">
            <a:extLst xmlns:a="http://schemas.openxmlformats.org/drawingml/2006/main">
              <a:ext uri="{FF2B5EF4-FFF2-40B4-BE49-F238E27FC236}">
                <a16:creationId xmlns:a16="http://schemas.microsoft.com/office/drawing/2014/main" id="{770901C1-BD24-4282-9E63-1B7531A9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429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sectors">
            <a:extLst xmlns:a="http://schemas.openxmlformats.org/drawingml/2006/main">
              <a:ext uri="{FF2B5EF4-FFF2-40B4-BE49-F238E27FC236}">
                <a16:creationId xmlns:a16="http://schemas.microsoft.com/office/drawing/2014/main" id="{86D2B9F1-3427-4075-8D5F-2C7824B8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28925"/>
            <a:ext cx="416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23 intermediaries + 4 owners</a:t>
            </a:r>
          </a:p>
        </p:txBody>
      </p:sp>
      <p:sp>
        <p:nvSpPr>
          <p:cNvPr id="26" name="matrix-dim-surface">
            <a:extLst xmlns:a="http://schemas.openxmlformats.org/drawingml/2006/main">
              <a:ext uri="{FF2B5EF4-FFF2-40B4-BE49-F238E27FC236}">
                <a16:creationId xmlns:a16="http://schemas.microsoft.com/office/drawing/2014/main" id="{EBAFE585-7F55-40B7-9DE4-C220A341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19500"/>
            <a:ext cx="3476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3cc1c03774ced">
            <a:extLst>
              <a:ext uri="{96DAC541-7B7A-43D3-8B79-37D633B846F1}">
                <asvg:svgBlip xmlns:asvg="http://schemas.microsoft.com/office/drawing/2016/SVG/main" r:embed="Rbd37be961a7b4a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3074" y="3733800"/>
            <a:ext cx="2677978" cy="400050"/>
          </a:xfrm>
          <a:prstGeom xmlns:a="http://schemas.openxmlformats.org/drawingml/2006/main" prst="rect">
            <a:avLst/>
          </a:prstGeom>
        </p:spPr>
      </p:pic>
      <p:sp>
        <p:nvSpPr>
          <p:cNvPr id="28" name="dims-note">
            <a:extLst xmlns:a="http://schemas.openxmlformats.org/drawingml/2006/main">
              <a:ext uri="{FF2B5EF4-FFF2-40B4-BE49-F238E27FC236}">
                <a16:creationId xmlns:a16="http://schemas.microsoft.com/office/drawing/2014/main" id="{101D7C24-1451-456B-95FF-C61E357B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The matrices are combined only after their dollar cells are defined.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BILATERAL BALANCING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Missing bilateral cells are balanced—not inferred by DINA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WHEN ONE CELL IS MISSING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WHEN THE SYSTEM IS UNDERDETERMINED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a9606eea24abe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f12465e57494d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DINA allocates household totals across groups; it does not reveal an unobserved sector-to-sector counterparty cell.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paper data appendix; project data-lineage audit.</a:t>
            </a:r>
          </a:p>
        </p:txBody>
      </p:sp>
      <p:sp>
        <p:nvSpPr>
          <p:cNvPr id="19" name="residual-surface">
            <a:extLst xmlns:a="http://schemas.openxmlformats.org/drawingml/2006/main">
              <a:ext uri="{FF2B5EF4-FFF2-40B4-BE49-F238E27FC236}">
                <a16:creationId xmlns:a16="http://schemas.microsoft.com/office/drawing/2014/main" id="{E88BBF10-21F8-4229-9748-CD3B9FFF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686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c2d83baee444a">
            <a:extLst>
              <a:ext uri="{96DAC541-7B7A-43D3-8B79-37D633B846F1}">
                <asvg:svgBlip xmlns:asvg="http://schemas.microsoft.com/office/drawing/2016/SVG/main" r:embed="R377bf5c8262240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32586" y="2114550"/>
            <a:ext cx="2459428" cy="609600"/>
          </a:xfrm>
          <a:prstGeom xmlns:a="http://schemas.openxmlformats.org/drawingml/2006/main" prst="rect">
            <a:avLst/>
          </a:prstGeom>
        </p:spPr>
      </p:pic>
      <p:sp>
        <p:nvSpPr>
          <p:cNvPr id="21" name="residual-copy">
            <a:extLst xmlns:a="http://schemas.openxmlformats.org/drawingml/2006/main">
              <a:ext uri="{FF2B5EF4-FFF2-40B4-BE49-F238E27FC236}">
                <a16:creationId xmlns:a16="http://schemas.microsoft.com/office/drawing/2014/main" id="{DBD61D78-0E98-4C2D-AC7A-06DD9E2B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 residual is exact only when margins are authoritative and exactly one component is unknown.</a:t>
            </a:r>
          </a:p>
        </p:txBody>
      </p:sp>
      <p:sp>
        <p:nvSpPr>
          <p:cNvPr id="22" name="one-cell">
            <a:extLst xmlns:a="http://schemas.openxmlformats.org/drawingml/2006/main">
              <a:ext uri="{FF2B5EF4-FFF2-40B4-BE49-F238E27FC236}">
                <a16:creationId xmlns:a16="http://schemas.microsoft.com/office/drawing/2014/main" id="{9E0CB8B6-738D-4C72-A0DA-9B7004ED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005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A7F7F"/>
          </a:solidFill>
          <a:ln xmlns:a="http://schemas.openxmlformats.org/drawingml/2006/main" w="9525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ACCOUNTING IDENTITY</a:t>
            </a:r>
          </a:p>
        </p:txBody>
      </p:sp>
      <p:sp>
        <p:nvSpPr>
          <p:cNvPr id="23" name="balance1-surface">
            <a:extLst xmlns:a="http://schemas.openxmlformats.org/drawingml/2006/main">
              <a:ext uri="{FF2B5EF4-FFF2-40B4-BE49-F238E27FC236}">
                <a16:creationId xmlns:a16="http://schemas.microsoft.com/office/drawing/2014/main" id="{00A949E5-4C76-449C-AEB6-19FE3CD1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429125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balance1-number">
            <a:extLst xmlns:a="http://schemas.openxmlformats.org/drawingml/2006/main">
              <a:ext uri="{FF2B5EF4-FFF2-40B4-BE49-F238E27FC236}">
                <a16:creationId xmlns:a16="http://schemas.microsoft.com/office/drawing/2014/main" id="{C2C20121-0111-4803-93B7-D60A4CDF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5" name="balance1-title">
            <a:extLst xmlns:a="http://schemas.openxmlformats.org/drawingml/2006/main">
              <a:ext uri="{FF2B5EF4-FFF2-40B4-BE49-F238E27FC236}">
                <a16:creationId xmlns:a16="http://schemas.microsoft.com/office/drawing/2014/main" id="{B17285E8-C47E-479C-A8B4-844F2CB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Apply documented exclusions</a:t>
            </a:r>
          </a:p>
        </p:txBody>
      </p:sp>
      <p:sp>
        <p:nvSpPr>
          <p:cNvPr id="26" name="balance1-detail">
            <a:extLst xmlns:a="http://schemas.openxmlformats.org/drawingml/2006/main">
              <a:ext uri="{FF2B5EF4-FFF2-40B4-BE49-F238E27FC236}">
                <a16:creationId xmlns:a16="http://schemas.microsoft.com/office/drawing/2014/main" id="{B13F40F9-A798-4A92-A01D-C65C3E32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24075"/>
            <a:ext cx="3629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Remove cells ruled out institutionally.</a:t>
            </a:r>
          </a:p>
        </p:txBody>
      </p:sp>
      <p:sp>
        <p:nvSpPr>
          <p:cNvPr id="27" name="balance2-surface">
            <a:extLst xmlns:a="http://schemas.openxmlformats.org/drawingml/2006/main">
              <a:ext uri="{FF2B5EF4-FFF2-40B4-BE49-F238E27FC236}">
                <a16:creationId xmlns:a16="http://schemas.microsoft.com/office/drawing/2014/main" id="{6DDF9074-334E-4FCE-8748-01010DFA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4429125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8" name="balance2-number">
            <a:extLst xmlns:a="http://schemas.openxmlformats.org/drawingml/2006/main">
              <a:ext uri="{FF2B5EF4-FFF2-40B4-BE49-F238E27FC236}">
                <a16:creationId xmlns:a16="http://schemas.microsoft.com/office/drawing/2014/main" id="{BA0C64AD-FA91-44F3-9F2E-327C00A6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9" name="balance2-title">
            <a:extLst xmlns:a="http://schemas.openxmlformats.org/drawingml/2006/main">
              <a:ext uri="{FF2B5EF4-FFF2-40B4-BE49-F238E27FC236}">
                <a16:creationId xmlns:a16="http://schemas.microsoft.com/office/drawing/2014/main" id="{67B8E3EC-5252-463F-B1E4-E70081BF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3845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Use explicit proportionality</a:t>
            </a:r>
          </a:p>
        </p:txBody>
      </p:sp>
      <p:sp>
        <p:nvSpPr>
          <p:cNvPr id="30" name="balance2-detail">
            <a:extLst xmlns:a="http://schemas.openxmlformats.org/drawingml/2006/main">
              <a:ext uri="{FF2B5EF4-FFF2-40B4-BE49-F238E27FC236}">
                <a16:creationId xmlns:a16="http://schemas.microsoft.com/office/drawing/2014/main" id="{B7CF8888-581F-40CF-AB80-7D0352AC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33725"/>
            <a:ext cx="3629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Only where the source construction justifies it.</a:t>
            </a:r>
          </a:p>
        </p:txBody>
      </p:sp>
      <p:sp>
        <p:nvSpPr>
          <p:cNvPr id="31" name="balance3-surface">
            <a:extLst xmlns:a="http://schemas.openxmlformats.org/drawingml/2006/main">
              <a:ext uri="{FF2B5EF4-FFF2-40B4-BE49-F238E27FC236}">
                <a16:creationId xmlns:a16="http://schemas.microsoft.com/office/drawing/2014/main" id="{16406E17-83EB-49AB-8E7A-68EC7DD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429125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2" name="balance3-number">
            <a:extLst xmlns:a="http://schemas.openxmlformats.org/drawingml/2006/main">
              <a:ext uri="{FF2B5EF4-FFF2-40B4-BE49-F238E27FC236}">
                <a16:creationId xmlns:a16="http://schemas.microsoft.com/office/drawing/2014/main" id="{F7901503-EA98-4F16-8F96-E5CFDAFB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6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3" name="balance3-title">
            <a:extLst xmlns:a="http://schemas.openxmlformats.org/drawingml/2006/main">
              <a:ext uri="{FF2B5EF4-FFF2-40B4-BE49-F238E27FC236}">
                <a16:creationId xmlns:a16="http://schemas.microsoft.com/office/drawing/2014/main" id="{6F73C336-7082-43ED-8FB8-A19A47D1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Balance to margins</a:t>
            </a:r>
          </a:p>
        </p:txBody>
      </p:sp>
      <p:sp>
        <p:nvSpPr>
          <p:cNvPr id="34" name="balance3-detail">
            <a:extLst xmlns:a="http://schemas.openxmlformats.org/drawingml/2006/main">
              <a:ext uri="{FF2B5EF4-FFF2-40B4-BE49-F238E27FC236}">
                <a16:creationId xmlns:a16="http://schemas.microsoft.com/office/drawing/2014/main" id="{A37B9960-07F2-4829-AD5B-D8857421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43375"/>
            <a:ext cx="3629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Preserve issuer and holder totals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DIRECT OWNERSHIP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Row normalization converts dollars into direct ownership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PAPER EQUATION (4)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BOUNDARY CONTRACT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e96a96fbf4468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15bdbf1c948bb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Normalization changes units from dollars to funding shares while preserving each issuer's composition.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Equation (4).</a:t>
            </a:r>
          </a:p>
        </p:txBody>
      </p:sp>
      <p:sp>
        <p:nvSpPr>
          <p:cNvPr id="19" name="row-norm-surface">
            <a:extLst xmlns:a="http://schemas.openxmlformats.org/drawingml/2006/main">
              <a:ext uri="{FF2B5EF4-FFF2-40B4-BE49-F238E27FC236}">
                <a16:creationId xmlns:a16="http://schemas.microsoft.com/office/drawing/2014/main" id="{566D4A11-AEB1-4BE8-A6D6-1F43AFBC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4476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018d04ac44bb6">
            <a:extLst>
              <a:ext uri="{96DAC541-7B7A-43D3-8B79-37D633B846F1}">
                <asvg:svgBlip xmlns:asvg="http://schemas.microsoft.com/office/drawing/2016/SVG/main" r:embed="R364b57727fba47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8588" y="2209800"/>
            <a:ext cx="3769324" cy="647700"/>
          </a:xfrm>
          <a:prstGeom xmlns:a="http://schemas.openxmlformats.org/drawingml/2006/main" prst="rect">
            <a:avLst/>
          </a:prstGeom>
        </p:spPr>
      </p:pic>
      <p:sp>
        <p:nvSpPr>
          <p:cNvPr id="21" name="dollar-arrow">
            <a:extLst xmlns:a="http://schemas.openxmlformats.org/drawingml/2006/main">
              <a:ext uri="{FF2B5EF4-FFF2-40B4-BE49-F238E27FC236}">
                <a16:creationId xmlns:a16="http://schemas.microsoft.com/office/drawing/2014/main" id="{1229F607-E286-4226-A1C6-445D26F7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dollar positions  →  unit-free shares</a:t>
            </a:r>
          </a:p>
        </p:txBody>
      </p:sp>
      <p:sp>
        <p:nvSpPr>
          <p:cNvPr id="22" name="row-invariant-surface">
            <a:extLst xmlns:a="http://schemas.openxmlformats.org/drawingml/2006/main">
              <a:ext uri="{FF2B5EF4-FFF2-40B4-BE49-F238E27FC236}">
                <a16:creationId xmlns:a16="http://schemas.microsoft.com/office/drawing/2014/main" id="{A1840338-1CC4-448B-8F7F-7365FDD5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7195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67ee8555743aa">
            <a:extLst>
              <a:ext uri="{96DAC541-7B7A-43D3-8B79-37D633B846F1}">
                <asvg:svgBlip xmlns:asvg="http://schemas.microsoft.com/office/drawing/2016/SVG/main" r:embed="Rcf4b901324af47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83077" y="4286250"/>
            <a:ext cx="2120346" cy="323850"/>
          </a:xfrm>
          <a:prstGeom xmlns:a="http://schemas.openxmlformats.org/drawingml/2006/main" prst="rect">
            <a:avLst/>
          </a:prstGeom>
        </p:spPr>
      </p:pic>
      <p:sp>
        <p:nvSpPr>
          <p:cNvPr id="24" name="norm-contract">
            <a:extLst xmlns:a="http://schemas.openxmlformats.org/drawingml/2006/main">
              <a:ext uri="{FF2B5EF4-FFF2-40B4-BE49-F238E27FC236}">
                <a16:creationId xmlns:a16="http://schemas.microsoft.com/office/drawing/2014/main" id="{E42FDE02-7E8F-416A-8F48-9A603C10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4286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Input: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complete bilateral dollar matrices.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Denominator: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issuer's own total liabilities.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Output: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one direct-ownership matrix per year.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Invariant: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complete issuer rows sum to one.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HOUSEHOLD HETEROGENEITY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DINA allocates household totals across cohorts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WHAT DINA CONTRIBUTES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WHAT DINA DOES NOT CONTRIBUTE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44a07e4d945cd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49daff7c541cd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DINA supplies distributional shares by household group and asset class—not the financial-network counterparty structure.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Distributional National Accounts and paper data appendix.</a:t>
            </a:r>
          </a:p>
        </p:txBody>
      </p:sp>
      <p:sp>
        <p:nvSpPr>
          <p:cNvPr id="19" name="dina-share-surface">
            <a:extLst xmlns:a="http://schemas.openxmlformats.org/drawingml/2006/main">
              <a:ext uri="{FF2B5EF4-FFF2-40B4-BE49-F238E27FC236}">
                <a16:creationId xmlns:a16="http://schemas.microsoft.com/office/drawing/2014/main" id="{947788C2-3BB7-428F-A183-C9597177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4714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77a8213c04339">
            <a:extLst>
              <a:ext uri="{96DAC541-7B7A-43D3-8B79-37D633B846F1}">
                <asvg:svgBlip xmlns:asvg="http://schemas.microsoft.com/office/drawing/2016/SVG/main" r:embed="R85afded9c2994c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0125" y="2111400"/>
            <a:ext cx="4333875" cy="492075"/>
          </a:xfrm>
          <a:prstGeom xmlns:a="http://schemas.openxmlformats.org/drawingml/2006/main" prst="rect">
            <a:avLst/>
          </a:prstGeom>
        </p:spPr>
      </p:pic>
      <p:sp>
        <p:nvSpPr>
          <p:cNvPr id="21" name="dina-alloc-surface">
            <a:extLst xmlns:a="http://schemas.openxmlformats.org/drawingml/2006/main">
              <a:ext uri="{FF2B5EF4-FFF2-40B4-BE49-F238E27FC236}">
                <a16:creationId xmlns:a16="http://schemas.microsoft.com/office/drawing/2014/main" id="{48E71A44-B4B3-42DD-AF6D-49046DB6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143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cbd51d015447a">
            <a:extLst>
              <a:ext uri="{96DAC541-7B7A-43D3-8B79-37D633B846F1}">
                <asvg:svgBlip xmlns:asvg="http://schemas.microsoft.com/office/drawing/2016/SVG/main" r:embed="R8a61a1c2bf354a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34432" y="3400425"/>
            <a:ext cx="2865260" cy="514350"/>
          </a:xfrm>
          <a:prstGeom xmlns:a="http://schemas.openxmlformats.org/drawingml/2006/main" prst="rect">
            <a:avLst/>
          </a:prstGeom>
        </p:spPr>
      </p:pic>
      <p:sp>
        <p:nvSpPr>
          <p:cNvPr id="23" name="dina-groups">
            <a:extLst xmlns:a="http://schemas.openxmlformats.org/drawingml/2006/main">
              <a:ext uri="{FF2B5EF4-FFF2-40B4-BE49-F238E27FC236}">
                <a16:creationId xmlns:a16="http://schemas.microsoft.com/office/drawing/2014/main" id="{E6152F85-1B99-4998-B5E3-566817FE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groups g: income or wealth cohorts</a:t>
            </a:r>
          </a:p>
        </p:txBody>
      </p:sp>
      <p:sp>
        <p:nvSpPr>
          <p:cNvPr id="24" name="not-bilateral-badge">
            <a:extLst xmlns:a="http://schemas.openxmlformats.org/drawingml/2006/main">
              <a:ext uri="{FF2B5EF4-FFF2-40B4-BE49-F238E27FC236}">
                <a16:creationId xmlns:a16="http://schemas.microsoft.com/office/drawing/2014/main" id="{1EBA2923-602C-4AAF-94E4-0847E0F2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20002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33A3A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 BILATERAL DATA</a:t>
            </a:r>
          </a:p>
        </p:txBody>
      </p:sp>
      <p:sp>
        <p:nvSpPr>
          <p:cNvPr id="25" name="not-bilateral-list">
            <a:extLst xmlns:a="http://schemas.openxmlformats.org/drawingml/2006/main">
              <a:ext uri="{FF2B5EF4-FFF2-40B4-BE49-F238E27FC236}">
                <a16:creationId xmlns:a16="http://schemas.microsoft.com/office/drawing/2014/main" id="{0C7CC8F6-9336-4970-80D8-F44066C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238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No issuer–holder cell for each financial sector.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No complete instrument-by-counterparty matrix.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No reason to use it as a residual allocator.</a:t>
            </a:r>
          </a:p>
        </p:txBody>
      </p:sp>
      <p:sp>
        <p:nvSpPr>
          <p:cNvPr id="26" name="dina-role">
            <a:extLst xmlns:a="http://schemas.openxmlformats.org/drawingml/2006/main">
              <a:ext uri="{FF2B5EF4-FFF2-40B4-BE49-F238E27FC236}">
                <a16:creationId xmlns:a16="http://schemas.microsoft.com/office/drawing/2014/main" id="{544A2FC0-0C5A-47C3-9418-AEC4E5AB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71950"/>
            <a:ext cx="3952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Role: split the household column after the network is built.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AUGMENTED OWNERSHIP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The cohort split preserves every household dollar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SPLIT THE HOUSEHOLD COLUMN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CONSERVATION CHECK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d04afa95a4ec5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e0d765c0c4e96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Household heterogeneity is appended without changing aggregate sector totals or ownership mass.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paper household augmentation; project data architecture.</a:t>
            </a:r>
          </a:p>
        </p:txBody>
      </p:sp>
      <p:sp>
        <p:nvSpPr>
          <p:cNvPr id="19" name="aug-surface">
            <a:extLst xmlns:a="http://schemas.openxmlformats.org/drawingml/2006/main">
              <a:ext uri="{FF2B5EF4-FFF2-40B4-BE49-F238E27FC236}">
                <a16:creationId xmlns:a16="http://schemas.microsoft.com/office/drawing/2014/main" id="{3F30A677-9547-4EAF-9710-CF1C4B39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857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715eb47724f7f">
            <a:extLst>
              <a:ext uri="{96DAC541-7B7A-43D3-8B79-37D633B846F1}">
                <asvg:svgBlip xmlns:asvg="http://schemas.microsoft.com/office/drawing/2016/SVG/main" r:embed="Rbb976538058b4f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" y="2160037"/>
            <a:ext cx="4476750" cy="537675"/>
          </a:xfrm>
          <a:prstGeom xmlns:a="http://schemas.openxmlformats.org/drawingml/2006/main" prst="rect">
            <a:avLst/>
          </a:prstGeom>
        </p:spPr>
      </p:pic>
      <p:sp>
        <p:nvSpPr>
          <p:cNvPr id="21" name="aug-copy">
            <a:extLst xmlns:a="http://schemas.openxmlformats.org/drawingml/2006/main">
              <a:ext uri="{FF2B5EF4-FFF2-40B4-BE49-F238E27FC236}">
                <a16:creationId xmlns:a16="http://schemas.microsoft.com/office/drawing/2014/main" id="{E1090716-A6D9-4437-9E5F-D1D1E5F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Each instrument/asset category uses the matching DINA household share vector.</a:t>
            </a:r>
          </a:p>
        </p:txBody>
      </p:sp>
      <p:sp>
        <p:nvSpPr>
          <p:cNvPr id="22" name="aug-order">
            <a:extLst xmlns:a="http://schemas.openxmlformats.org/drawingml/2006/main">
              <a:ext uri="{FF2B5EF4-FFF2-40B4-BE49-F238E27FC236}">
                <a16:creationId xmlns:a16="http://schemas.microsoft.com/office/drawing/2014/main" id="{005ED9A8-23B6-48F7-85C1-6FAF690B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network first  →  group split second</a:t>
            </a:r>
          </a:p>
        </p:txBody>
      </p:sp>
      <p:sp>
        <p:nvSpPr>
          <p:cNvPr id="23" name="aug-inv-surface">
            <a:extLst xmlns:a="http://schemas.openxmlformats.org/drawingml/2006/main">
              <a:ext uri="{FF2B5EF4-FFF2-40B4-BE49-F238E27FC236}">
                <a16:creationId xmlns:a16="http://schemas.microsoft.com/office/drawing/2014/main" id="{A5333303-4B12-49E6-B7A9-B173E521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76450"/>
            <a:ext cx="4333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c5e7987624dc5">
            <a:extLst>
              <a:ext uri="{96DAC541-7B7A-43D3-8B79-37D633B846F1}">
                <asvg:svgBlip xmlns:asvg="http://schemas.microsoft.com/office/drawing/2016/SVG/main" r:embed="Ra80abd06501942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19506" y="2190750"/>
            <a:ext cx="2925112" cy="628650"/>
          </a:xfrm>
          <a:prstGeom xmlns:a="http://schemas.openxmlformats.org/drawingml/2006/main" prst="rect">
            <a:avLst/>
          </a:prstGeom>
        </p:spPr>
      </p:pic>
      <p:sp>
        <p:nvSpPr>
          <p:cNvPr id="25" name="aug-inv-copy">
            <a:extLst xmlns:a="http://schemas.openxmlformats.org/drawingml/2006/main">
              <a:ext uri="{FF2B5EF4-FFF2-40B4-BE49-F238E27FC236}">
                <a16:creationId xmlns:a16="http://schemas.microsoft.com/office/drawing/2014/main" id="{3D39D461-4B1A-45E2-9D0C-87B09667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3762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3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Summing over household cohorts recovers the original household column exactly.</a:t>
            </a:r>
          </a:p>
        </p:txBody>
      </p:sp>
      <p:sp>
        <p:nvSpPr>
          <p:cNvPr id="26" name="aug-pass">
            <a:extLst xmlns:a="http://schemas.openxmlformats.org/drawingml/2006/main">
              <a:ext uri="{FF2B5EF4-FFF2-40B4-BE49-F238E27FC236}">
                <a16:creationId xmlns:a16="http://schemas.microsoft.com/office/drawing/2014/main" id="{5D00B049-C375-4E0D-A87E-BECDBDDD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00550"/>
            <a:ext cx="3048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A7F7F"/>
          </a:solidFill>
          <a:ln xmlns:a="http://schemas.openxmlformats.org/drawingml/2006/main" w="9525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ACCOUNTING TOTAL PRESERVED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SAVING VS. VALUATION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Valuation data separate saving from capital gains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GROUP SAVING EQUATION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DATA ROLES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f5e0a7feb487e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078c94bad436d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 change in wealth is not saving unless capital gains, write-downs, and other valuation effects are removed.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paper saving methodology and data appendix; Figure 5 baseline is wealth-ranked.</a:t>
            </a:r>
          </a:p>
        </p:txBody>
      </p:sp>
      <p:sp>
        <p:nvSpPr>
          <p:cNvPr id="19" name="saving-surface">
            <a:extLst xmlns:a="http://schemas.openxmlformats.org/drawingml/2006/main">
              <a:ext uri="{FF2B5EF4-FFF2-40B4-BE49-F238E27FC236}">
                <a16:creationId xmlns:a16="http://schemas.microsoft.com/office/drawing/2014/main" id="{C22DE885-2561-4B90-86C6-0731DF10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93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a1c17252b42e0">
            <a:extLst>
              <a:ext uri="{96DAC541-7B7A-43D3-8B79-37D633B846F1}">
                <asvg:svgBlip xmlns:asvg="http://schemas.microsoft.com/office/drawing/2016/SVG/main" r:embed="Rc13bf06a113b43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105963"/>
            <a:ext cx="4552950" cy="626774"/>
          </a:xfrm>
          <a:prstGeom xmlns:a="http://schemas.openxmlformats.org/drawingml/2006/main" prst="rect">
            <a:avLst/>
          </a:prstGeom>
        </p:spPr>
      </p:pic>
      <p:sp>
        <p:nvSpPr>
          <p:cNvPr id="21" name="saving-def">
            <a:extLst xmlns:a="http://schemas.openxmlformats.org/drawingml/2006/main">
              <a:ext uri="{FF2B5EF4-FFF2-40B4-BE49-F238E27FC236}">
                <a16:creationId xmlns:a16="http://schemas.microsoft.com/office/drawing/2014/main" id="{4596C7A5-997E-40C4-B07F-83D1591C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4429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Δ wealth: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observed change in asset holdings.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πᵃ_tWᵃ_g,t−1: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passive valuation gain.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Θ_g,t: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active saving flow.</a:t>
            </a:r>
          </a:p>
        </p:txBody>
      </p:sp>
      <p:sp>
        <p:nvSpPr>
          <p:cNvPr id="22" name="valuation-data">
            <a:extLst xmlns:a="http://schemas.openxmlformats.org/drawingml/2006/main">
              <a:ext uri="{FF2B5EF4-FFF2-40B4-BE49-F238E27FC236}">
                <a16:creationId xmlns:a16="http://schemas.microsoft.com/office/drawing/2014/main" id="{BA91113A-0D0C-4EBF-8E95-03D008AD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429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DINA × B101: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wealth levels by group and asset.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JST / FA: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market returns and balance-sheet values.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Write-down data: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credit losses and defaults.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NIPA: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aggregate saving/income closure.</a:t>
            </a:r>
          </a:p>
        </p:txBody>
      </p:sp>
      <p:sp>
        <p:nvSpPr>
          <p:cNvPr id="23" name="wealth-rank">
            <a:extLst xmlns:a="http://schemas.openxmlformats.org/drawingml/2006/main">
              <a:ext uri="{FF2B5EF4-FFF2-40B4-BE49-F238E27FC236}">
                <a16:creationId xmlns:a16="http://schemas.microsoft.com/office/drawing/2014/main" id="{B96F0D30-6A1C-46A4-A24F-EA8FFBBB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Figure 5 baseline: groups ranked by wealth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FIGURE LINEAGE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Figures 1, 5, and 8 use different data branches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NETWORK AND SAVING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DEBT DISTRIBUTION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aec5a96ef4d94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73dbfed734f49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figures share distributional inputs, but each one requires a different economic object and transformation chain.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July 2025 paper methods and project figure-lineage records.</a:t>
            </a:r>
          </a:p>
        </p:txBody>
      </p:sp>
      <p:sp>
        <p:nvSpPr>
          <p:cNvPr id="19" name="fig1-surface">
            <a:extLst xmlns:a="http://schemas.openxmlformats.org/drawingml/2006/main">
              <a:ext uri="{FF2B5EF4-FFF2-40B4-BE49-F238E27FC236}">
                <a16:creationId xmlns:a16="http://schemas.microsoft.com/office/drawing/2014/main" id="{CC4A62F3-960C-4A72-B5AE-4AF90E5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857750" cy="1143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0" name="fig1-number">
            <a:extLst xmlns:a="http://schemas.openxmlformats.org/drawingml/2006/main">
              <a:ext uri="{FF2B5EF4-FFF2-40B4-BE49-F238E27FC236}">
                <a16:creationId xmlns:a16="http://schemas.microsoft.com/office/drawing/2014/main" id="{1E4984C9-8432-4699-89D6-2B7B9A0E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fig1-title">
            <a:extLst xmlns:a="http://schemas.openxmlformats.org/drawingml/2006/main">
              <a:ext uri="{FF2B5EF4-FFF2-40B4-BE49-F238E27FC236}">
                <a16:creationId xmlns:a16="http://schemas.microsoft.com/office/drawing/2014/main" id="{801A444E-C815-435D-8C71-7EBB2CD9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Figure 1 · indirect ownership</a:t>
            </a:r>
          </a:p>
        </p:txBody>
      </p:sp>
      <p:sp>
        <p:nvSpPr>
          <p:cNvPr id="22" name="fig1-detail">
            <a:extLst xmlns:a="http://schemas.openxmlformats.org/drawingml/2006/main">
              <a:ext uri="{FF2B5EF4-FFF2-40B4-BE49-F238E27FC236}">
                <a16:creationId xmlns:a16="http://schemas.microsoft.com/office/drawing/2014/main" id="{A78F95EE-DCA4-45F8-B1CC-1C291EA0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43125"/>
            <a:ext cx="405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FA/FWTW matrices → normalize → unveil.</a:t>
            </a:r>
          </a:p>
        </p:txBody>
      </p:sp>
      <p:sp>
        <p:nvSpPr>
          <p:cNvPr id="23" name="fig5-surface">
            <a:extLst xmlns:a="http://schemas.openxmlformats.org/drawingml/2006/main">
              <a:ext uri="{FF2B5EF4-FFF2-40B4-BE49-F238E27FC236}">
                <a16:creationId xmlns:a16="http://schemas.microsoft.com/office/drawing/2014/main" id="{36385974-C805-4315-830E-320C4545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857750" cy="1143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fig5-number">
            <a:extLst xmlns:a="http://schemas.openxmlformats.org/drawingml/2006/main">
              <a:ext uri="{FF2B5EF4-FFF2-40B4-BE49-F238E27FC236}">
                <a16:creationId xmlns:a16="http://schemas.microsoft.com/office/drawing/2014/main" id="{DE14F88B-4290-469F-8058-F2EFD62E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fig5-title">
            <a:extLst xmlns:a="http://schemas.openxmlformats.org/drawingml/2006/main">
              <a:ext uri="{FF2B5EF4-FFF2-40B4-BE49-F238E27FC236}">
                <a16:creationId xmlns:a16="http://schemas.microsoft.com/office/drawing/2014/main" id="{C752629A-087D-4929-B554-246443FB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7660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Figure 5 · saving glut</a:t>
            </a:r>
          </a:p>
        </p:txBody>
      </p:sp>
      <p:sp>
        <p:nvSpPr>
          <p:cNvPr id="26" name="fig5-detail">
            <a:extLst xmlns:a="http://schemas.openxmlformats.org/drawingml/2006/main">
              <a:ext uri="{FF2B5EF4-FFF2-40B4-BE49-F238E27FC236}">
                <a16:creationId xmlns:a16="http://schemas.microsoft.com/office/drawing/2014/main" id="{DC919614-88FE-4EB4-904F-98B722F3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71875"/>
            <a:ext cx="405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DINA × B101 + valuations + NIPA closure.</a:t>
            </a:r>
          </a:p>
        </p:txBody>
      </p:sp>
      <p:sp>
        <p:nvSpPr>
          <p:cNvPr id="27" name="fig8-surface">
            <a:extLst xmlns:a="http://schemas.openxmlformats.org/drawingml/2006/main">
              <a:ext uri="{FF2B5EF4-FFF2-40B4-BE49-F238E27FC236}">
                <a16:creationId xmlns:a16="http://schemas.microsoft.com/office/drawing/2014/main" id="{E49DB955-50E3-434E-B1AA-F134DCFA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429125" cy="13335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8" name="fig8-number">
            <a:extLst xmlns:a="http://schemas.openxmlformats.org/drawingml/2006/main">
              <a:ext uri="{FF2B5EF4-FFF2-40B4-BE49-F238E27FC236}">
                <a16:creationId xmlns:a16="http://schemas.microsoft.com/office/drawing/2014/main" id="{09E476C5-BBF1-4C22-B3E7-6B5D53E4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9" name="fig8-title">
            <a:extLst xmlns:a="http://schemas.openxmlformats.org/drawingml/2006/main">
              <a:ext uri="{FF2B5EF4-FFF2-40B4-BE49-F238E27FC236}">
                <a16:creationId xmlns:a16="http://schemas.microsoft.com/office/drawing/2014/main" id="{3EB2AB8A-0F48-4626-816E-3E17A994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2410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Figure 8 · net household debt</a:t>
            </a:r>
          </a:p>
        </p:txBody>
      </p:sp>
      <p:sp>
        <p:nvSpPr>
          <p:cNvPr id="30" name="fig8-detail">
            <a:extLst xmlns:a="http://schemas.openxmlformats.org/drawingml/2006/main">
              <a:ext uri="{FF2B5EF4-FFF2-40B4-BE49-F238E27FC236}">
                <a16:creationId xmlns:a16="http://schemas.microsoft.com/office/drawing/2014/main" id="{4F3F5DE1-292A-48A8-B052-2F4E980C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19375"/>
            <a:ext cx="3629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Augmented ownership matrix + DINA liabilities.</a:t>
            </a:r>
          </a:p>
        </p:txBody>
      </p:sp>
      <p:sp>
        <p:nvSpPr>
          <p:cNvPr id="31" name="fig8-copy">
            <a:extLst xmlns:a="http://schemas.openxmlformats.org/drawingml/2006/main">
              <a:ext uri="{FF2B5EF4-FFF2-40B4-BE49-F238E27FC236}">
                <a16:creationId xmlns:a16="http://schemas.microsoft.com/office/drawing/2014/main" id="{D871D0CB-3322-4518-8C61-24FE3D8B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57625"/>
            <a:ext cx="3952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This branch needs both the financial-network allocation and group-specific balance-sheet liabilities.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VERSION BOUNDARY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The 2021 builders do not implement the full 2025 method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FEBRUARY 2021 PACKAGE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JULY 2025 TARGET PAPER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5ead92382455a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26e98a43240fe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authors' kit is a valid benchmark for its own vintage, but it cannot silently stand in for the revised 2025 specification.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replication-kit master/code audit and July 2025 paper.</a:t>
            </a:r>
          </a:p>
        </p:txBody>
      </p:sp>
      <p:sp>
        <p:nvSpPr>
          <p:cNvPr id="19" name="kit-year">
            <a:extLst xmlns:a="http://schemas.openxmlformats.org/drawingml/2006/main">
              <a:ext uri="{FF2B5EF4-FFF2-40B4-BE49-F238E27FC236}">
                <a16:creationId xmlns:a16="http://schemas.microsoft.com/office/drawing/2014/main" id="{556810C3-7477-4838-AEDD-B42633D5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238125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627D98"/>
          </a:solidFill>
          <a:ln xmlns:a="http://schemas.openxmlformats.org/drawingml/2006/main" w="9525">
            <a:solidFill>
              <a:srgbClr val="627D98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THROUGH 2016</a:t>
            </a:r>
          </a:p>
        </p:txBody>
      </p:sp>
      <p:sp>
        <p:nvSpPr>
          <p:cNvPr id="20" name="kit-list">
            <a:extLst xmlns:a="http://schemas.openxmlformats.org/drawingml/2006/main">
              <a:ext uri="{FF2B5EF4-FFF2-40B4-BE49-F238E27FC236}">
                <a16:creationId xmlns:a16="http://schemas.microsoft.com/office/drawing/2014/main" id="{B8A737FD-144F-4BDC-963A-A13200E8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Earlier draft and exhibit definitions.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Round-by-round unveiling for seven rounds.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Prepared intermediate files and older graph code.</a:t>
            </a:r>
          </a:p>
        </p:txBody>
      </p:sp>
      <p:sp>
        <p:nvSpPr>
          <p:cNvPr id="21" name="kit-round-surface">
            <a:extLst xmlns:a="http://schemas.openxmlformats.org/drawingml/2006/main">
              <a:ext uri="{FF2B5EF4-FFF2-40B4-BE49-F238E27FC236}">
                <a16:creationId xmlns:a16="http://schemas.microsoft.com/office/drawing/2014/main" id="{4294AB3C-9BDB-42D5-9F33-6041D7AA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333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bf9dc7ce44407">
            <a:extLst>
              <a:ext uri="{96DAC541-7B7A-43D3-8B79-37D633B846F1}">
                <asvg:svgBlip xmlns:asvg="http://schemas.microsoft.com/office/drawing/2016/SVG/main" r:embed="R7e267b62b30546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96830" y="4305300"/>
            <a:ext cx="797590" cy="323850"/>
          </a:xfrm>
          <a:prstGeom xmlns:a="http://schemas.openxmlformats.org/drawingml/2006/main" prst="rect">
            <a:avLst/>
          </a:prstGeom>
        </p:spPr>
      </p:pic>
      <p:sp>
        <p:nvSpPr>
          <p:cNvPr id="23" name="paper-year">
            <a:extLst xmlns:a="http://schemas.openxmlformats.org/drawingml/2006/main">
              <a:ext uri="{FF2B5EF4-FFF2-40B4-BE49-F238E27FC236}">
                <a16:creationId xmlns:a16="http://schemas.microsoft.com/office/drawing/2014/main" id="{B031D266-6B85-4571-8E0C-76E123B2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238125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THROUGH 2019</a:t>
            </a:r>
          </a:p>
        </p:txBody>
      </p:sp>
      <p:sp>
        <p:nvSpPr>
          <p:cNvPr id="24" name="paper-list">
            <a:extLst xmlns:a="http://schemas.openxmlformats.org/drawingml/2006/main">
              <a:ext uri="{FF2B5EF4-FFF2-40B4-BE49-F238E27FC236}">
                <a16:creationId xmlns:a16="http://schemas.microsoft.com/office/drawing/2014/main" id="{B7359031-F3B6-4A9A-BE56-B15526E0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429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Heavily revised paper and exhibit numbering.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Leontief-style closed-form unveiling.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Expanded distributional and valuation treatment.</a:t>
            </a:r>
          </a:p>
        </p:txBody>
      </p:sp>
      <p:sp>
        <p:nvSpPr>
          <p:cNvPr id="25" name="paper-inv-surface">
            <a:extLst xmlns:a="http://schemas.openxmlformats.org/drawingml/2006/main">
              <a:ext uri="{FF2B5EF4-FFF2-40B4-BE49-F238E27FC236}">
                <a16:creationId xmlns:a16="http://schemas.microsoft.com/office/drawing/2014/main" id="{6E1854AB-8240-430F-8F32-AFBDCDD1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333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632021df54586">
            <a:extLst>
              <a:ext uri="{96DAC541-7B7A-43D3-8B79-37D633B846F1}">
                <asvg:svgBlip xmlns:asvg="http://schemas.microsoft.com/office/drawing/2016/SVG/main" r:embed="R8373ad46f51e41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12856" y="4305300"/>
            <a:ext cx="2490788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REPLICATION STRATEGY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Old-input replication must precede new-data robustness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THREE EVIDENCE LAYERS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STORAGE POLICY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703b331cb471b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a648b207443d0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Reproduce the authors' vintage first; only then interpret newer public data as robustness rather than replication.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replication protocol and data guide.</a:t>
            </a:r>
          </a:p>
        </p:txBody>
      </p:sp>
      <p:sp>
        <p:nvSpPr>
          <p:cNvPr id="19" name="layer1-surface">
            <a:extLst xmlns:a="http://schemas.openxmlformats.org/drawingml/2006/main">
              <a:ext uri="{FF2B5EF4-FFF2-40B4-BE49-F238E27FC236}">
                <a16:creationId xmlns:a16="http://schemas.microsoft.com/office/drawing/2014/main" id="{BA57D17F-E44A-49B6-9DAF-4598488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85775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0" name="layer1-number">
            <a:extLst xmlns:a="http://schemas.openxmlformats.org/drawingml/2006/main">
              <a:ext uri="{FF2B5EF4-FFF2-40B4-BE49-F238E27FC236}">
                <a16:creationId xmlns:a16="http://schemas.microsoft.com/office/drawing/2014/main" id="{A8ADF87B-988A-4262-837D-196D3828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layer1-title">
            <a:extLst xmlns:a="http://schemas.openxmlformats.org/drawingml/2006/main">
              <a:ext uri="{FF2B5EF4-FFF2-40B4-BE49-F238E27FC236}">
                <a16:creationId xmlns:a16="http://schemas.microsoft.com/office/drawing/2014/main" id="{6C6F53A0-E299-4A88-A374-4000D19E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9070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Benchmark</a:t>
            </a:r>
          </a:p>
        </p:txBody>
      </p:sp>
      <p:sp>
        <p:nvSpPr>
          <p:cNvPr id="22" name="layer1-detail">
            <a:extLst xmlns:a="http://schemas.openxmlformats.org/drawingml/2006/main">
              <a:ext uri="{FF2B5EF4-FFF2-40B4-BE49-F238E27FC236}">
                <a16:creationId xmlns:a16="http://schemas.microsoft.com/office/drawing/2014/main" id="{D2CAFCFF-51E3-418E-9F2E-FFBC7E5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859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Regenerate authors' supplied final files.</a:t>
            </a:r>
          </a:p>
        </p:txBody>
      </p:sp>
      <p:sp>
        <p:nvSpPr>
          <p:cNvPr id="23" name="layer2-surface">
            <a:extLst xmlns:a="http://schemas.openxmlformats.org/drawingml/2006/main">
              <a:ext uri="{FF2B5EF4-FFF2-40B4-BE49-F238E27FC236}">
                <a16:creationId xmlns:a16="http://schemas.microsoft.com/office/drawing/2014/main" id="{D33A75BB-AC53-46CB-A836-42B2C2C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485775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layer2-number">
            <a:extLst xmlns:a="http://schemas.openxmlformats.org/drawingml/2006/main">
              <a:ext uri="{FF2B5EF4-FFF2-40B4-BE49-F238E27FC236}">
                <a16:creationId xmlns:a16="http://schemas.microsoft.com/office/drawing/2014/main" id="{81DA5561-0D65-4639-9099-8429F0D4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5" name="layer2-title">
            <a:extLst xmlns:a="http://schemas.openxmlformats.org/drawingml/2006/main">
              <a:ext uri="{FF2B5EF4-FFF2-40B4-BE49-F238E27FC236}">
                <a16:creationId xmlns:a16="http://schemas.microsoft.com/office/drawing/2014/main" id="{0A8C9545-7BDB-4E3B-9FB8-D039237B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Reconstruction</a:t>
            </a:r>
          </a:p>
        </p:txBody>
      </p:sp>
      <p:sp>
        <p:nvSpPr>
          <p:cNvPr id="26" name="layer2-detail">
            <a:extLst xmlns:a="http://schemas.openxmlformats.org/drawingml/2006/main">
              <a:ext uri="{FF2B5EF4-FFF2-40B4-BE49-F238E27FC236}">
                <a16:creationId xmlns:a16="http://schemas.microsoft.com/office/drawing/2014/main" id="{976A2DC8-0015-4F11-B9F7-E4D5CA29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Rebuild from the earliest feasible supplied inputs.</a:t>
            </a:r>
          </a:p>
        </p:txBody>
      </p:sp>
      <p:sp>
        <p:nvSpPr>
          <p:cNvPr id="27" name="layer3-surface">
            <a:extLst xmlns:a="http://schemas.openxmlformats.org/drawingml/2006/main">
              <a:ext uri="{FF2B5EF4-FFF2-40B4-BE49-F238E27FC236}">
                <a16:creationId xmlns:a16="http://schemas.microsoft.com/office/drawing/2014/main" id="{21489112-9F9B-463D-A853-A94C5C83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85775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8" name="layer3-number">
            <a:extLst xmlns:a="http://schemas.openxmlformats.org/drawingml/2006/main">
              <a:ext uri="{FF2B5EF4-FFF2-40B4-BE49-F238E27FC236}">
                <a16:creationId xmlns:a16="http://schemas.microsoft.com/office/drawing/2014/main" id="{61CE2F72-C904-4258-BD1C-4B69D5BA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9" name="layer3-title">
            <a:extLst xmlns:a="http://schemas.openxmlformats.org/drawingml/2006/main">
              <a:ext uri="{FF2B5EF4-FFF2-40B4-BE49-F238E27FC236}">
                <a16:creationId xmlns:a16="http://schemas.microsoft.com/office/drawing/2014/main" id="{FEDD66DC-D7FD-403C-B34B-110BFD63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909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Robustness</a:t>
            </a:r>
          </a:p>
        </p:txBody>
      </p:sp>
      <p:sp>
        <p:nvSpPr>
          <p:cNvPr id="30" name="layer3-detail">
            <a:extLst xmlns:a="http://schemas.openxmlformats.org/drawingml/2006/main">
              <a:ext uri="{FF2B5EF4-FFF2-40B4-BE49-F238E27FC236}">
                <a16:creationId xmlns:a16="http://schemas.microsoft.com/office/drawing/2014/main" id="{1E1CD187-EE9F-44D3-821B-3A6E57B9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622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Repeat with newer public vintages and label it clearly.</a:t>
            </a:r>
          </a:p>
        </p:txBody>
      </p:sp>
      <p:sp>
        <p:nvSpPr>
          <p:cNvPr id="31" name="raw-immutable-badge">
            <a:extLst xmlns:a="http://schemas.openxmlformats.org/drawingml/2006/main">
              <a:ext uri="{FF2B5EF4-FFF2-40B4-BE49-F238E27FC236}">
                <a16:creationId xmlns:a16="http://schemas.microsoft.com/office/drawing/2014/main" id="{0B0A0500-0C36-44BC-8962-F09A636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20002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RAW STAYS IMMUTABLE</a:t>
            </a:r>
          </a:p>
        </p:txBody>
      </p:sp>
      <p:sp>
        <p:nvSpPr>
          <p:cNvPr id="32" name="storage-list">
            <a:extLst xmlns:a="http://schemas.openxmlformats.org/drawingml/2006/main">
              <a:ext uri="{FF2B5EF4-FFF2-40B4-BE49-F238E27FC236}">
                <a16:creationId xmlns:a16="http://schemas.microsoft.com/office/drawing/2014/main" id="{8D1E82F5-4CAD-4A1A-B5E6-F4AD3A90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429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Symlink the authors' raw-data location if needed.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Do not duplicate large raw sources.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Save only documented interim data that materially speeds reruns.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Always retain compact final matrices, figures, and diagnostics.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TAKEAWAY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The architecture keeps every transformation auditable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SOURCE → OBJECT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OBJECT → EXHIBIT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8a1a39ddd4aa0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f52cc93d941bb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Every final number should retain its source, unit, aggregation rule, and accounting invariant.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synthesis of paper methodology and project data documentation.</a:t>
            </a:r>
          </a:p>
        </p:txBody>
      </p:sp>
      <p:sp>
        <p:nvSpPr>
          <p:cNvPr id="19" name="chain1-surface">
            <a:extLst xmlns:a="http://schemas.openxmlformats.org/drawingml/2006/main">
              <a:ext uri="{FF2B5EF4-FFF2-40B4-BE49-F238E27FC236}">
                <a16:creationId xmlns:a16="http://schemas.microsoft.com/office/drawing/2014/main" id="{36AFB536-83F6-4163-BE77-B73198C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85775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0" name="chain1-number">
            <a:extLst xmlns:a="http://schemas.openxmlformats.org/drawingml/2006/main">
              <a:ext uri="{FF2B5EF4-FFF2-40B4-BE49-F238E27FC236}">
                <a16:creationId xmlns:a16="http://schemas.microsoft.com/office/drawing/2014/main" id="{81CB238A-44C0-493F-9DA7-E315A7B0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chain1-title">
            <a:extLst xmlns:a="http://schemas.openxmlformats.org/drawingml/2006/main">
              <a:ext uri="{FF2B5EF4-FFF2-40B4-BE49-F238E27FC236}">
                <a16:creationId xmlns:a16="http://schemas.microsoft.com/office/drawing/2014/main" id="{03CA0B56-10EF-42BE-8B71-677D6ECE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97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Bilateral stocks</a:t>
            </a:r>
          </a:p>
        </p:txBody>
      </p:sp>
      <p:sp>
        <p:nvSpPr>
          <p:cNvPr id="22" name="chain1-detail">
            <a:extLst xmlns:a="http://schemas.openxmlformats.org/drawingml/2006/main">
              <a:ext uri="{FF2B5EF4-FFF2-40B4-BE49-F238E27FC236}">
                <a16:creationId xmlns:a16="http://schemas.microsoft.com/office/drawing/2014/main" id="{933C28C5-8809-4DF4-B1BB-81303C6A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0502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FA / FWTW instrument matrices in dollars.</a:t>
            </a:r>
          </a:p>
        </p:txBody>
      </p:sp>
      <p:sp>
        <p:nvSpPr>
          <p:cNvPr id="23" name="chain2-surface">
            <a:extLst xmlns:a="http://schemas.openxmlformats.org/drawingml/2006/main">
              <a:ext uri="{FF2B5EF4-FFF2-40B4-BE49-F238E27FC236}">
                <a16:creationId xmlns:a16="http://schemas.microsoft.com/office/drawing/2014/main" id="{50DEB0E4-91BC-4313-B140-95CC3E8A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85775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chain2-number">
            <a:extLst xmlns:a="http://schemas.openxmlformats.org/drawingml/2006/main">
              <a:ext uri="{FF2B5EF4-FFF2-40B4-BE49-F238E27FC236}">
                <a16:creationId xmlns:a16="http://schemas.microsoft.com/office/drawing/2014/main" id="{C73E0337-80A5-4B94-B771-70C0B334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5" name="chain2-title">
            <a:extLst xmlns:a="http://schemas.openxmlformats.org/drawingml/2006/main">
              <a:ext uri="{FF2B5EF4-FFF2-40B4-BE49-F238E27FC236}">
                <a16:creationId xmlns:a16="http://schemas.microsoft.com/office/drawing/2014/main" id="{7DE4D70E-A8DE-49DE-991D-30180DB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03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Direct shares</a:t>
            </a:r>
          </a:p>
        </p:txBody>
      </p:sp>
      <p:sp>
        <p:nvSpPr>
          <p:cNvPr id="26" name="chain2-detail">
            <a:extLst xmlns:a="http://schemas.openxmlformats.org/drawingml/2006/main">
              <a:ext uri="{FF2B5EF4-FFF2-40B4-BE49-F238E27FC236}">
                <a16:creationId xmlns:a16="http://schemas.microsoft.com/office/drawing/2014/main" id="{7394F462-3B0F-47D3-85C8-36323FB7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9562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Balance cells and row-normalize by issuer.</a:t>
            </a:r>
          </a:p>
        </p:txBody>
      </p:sp>
      <p:sp>
        <p:nvSpPr>
          <p:cNvPr id="27" name="chain3-surface">
            <a:extLst xmlns:a="http://schemas.openxmlformats.org/drawingml/2006/main">
              <a:ext uri="{FF2B5EF4-FFF2-40B4-BE49-F238E27FC236}">
                <a16:creationId xmlns:a16="http://schemas.microsoft.com/office/drawing/2014/main" id="{900FA293-2F76-44AC-AE6E-A3C8ABE6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85775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8" name="chain3-number">
            <a:extLst xmlns:a="http://schemas.openxmlformats.org/drawingml/2006/main">
              <a:ext uri="{FF2B5EF4-FFF2-40B4-BE49-F238E27FC236}">
                <a16:creationId xmlns:a16="http://schemas.microsoft.com/office/drawing/2014/main" id="{FE41CF9B-CD86-492C-9BF6-E9B8EC94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9" name="chain3-title">
            <a:extLst xmlns:a="http://schemas.openxmlformats.org/drawingml/2006/main">
              <a:ext uri="{FF2B5EF4-FFF2-40B4-BE49-F238E27FC236}">
                <a16:creationId xmlns:a16="http://schemas.microsoft.com/office/drawing/2014/main" id="{F5BCD9C5-DAB3-4E7E-968A-CB4D975A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909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Ultimate ownership</a:t>
            </a:r>
          </a:p>
        </p:txBody>
      </p:sp>
      <p:sp>
        <p:nvSpPr>
          <p:cNvPr id="30" name="chain3-detail">
            <a:extLst xmlns:a="http://schemas.openxmlformats.org/drawingml/2006/main">
              <a:ext uri="{FF2B5EF4-FFF2-40B4-BE49-F238E27FC236}">
                <a16:creationId xmlns:a16="http://schemas.microsoft.com/office/drawing/2014/main" id="{5D84456C-2F09-4F9B-89ED-56E6B012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622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Apply the Leontief solve and cohort split.</a:t>
            </a:r>
          </a:p>
        </p:txBody>
      </p:sp>
      <p:sp>
        <p:nvSpPr>
          <p:cNvPr id="31" name="chain4-surface">
            <a:extLst xmlns:a="http://schemas.openxmlformats.org/drawingml/2006/main">
              <a:ext uri="{FF2B5EF4-FFF2-40B4-BE49-F238E27FC236}">
                <a16:creationId xmlns:a16="http://schemas.microsoft.com/office/drawing/2014/main" id="{D6604C4C-14D6-4211-9C61-88016E3B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429125" cy="100965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2" name="chain4-number">
            <a:extLst xmlns:a="http://schemas.openxmlformats.org/drawingml/2006/main">
              <a:ext uri="{FF2B5EF4-FFF2-40B4-BE49-F238E27FC236}">
                <a16:creationId xmlns:a16="http://schemas.microsoft.com/office/drawing/2014/main" id="{FC630E95-E41A-409F-90F2-649202A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33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3" name="chain4-title">
            <a:extLst xmlns:a="http://schemas.openxmlformats.org/drawingml/2006/main">
              <a:ext uri="{FF2B5EF4-FFF2-40B4-BE49-F238E27FC236}">
                <a16:creationId xmlns:a16="http://schemas.microsoft.com/office/drawing/2014/main" id="{B558B459-098A-4B7F-92C9-18166393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Figure objects</a:t>
            </a:r>
          </a:p>
        </p:txBody>
      </p:sp>
      <p:sp>
        <p:nvSpPr>
          <p:cNvPr id="34" name="chain4-detail">
            <a:extLst xmlns:a="http://schemas.openxmlformats.org/drawingml/2006/main">
              <a:ext uri="{FF2B5EF4-FFF2-40B4-BE49-F238E27FC236}">
                <a16:creationId xmlns:a16="http://schemas.microsoft.com/office/drawing/2014/main" id="{C8E9E89F-1B55-40F8-9A10-83D382B6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9825"/>
            <a:ext cx="3629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Indirect ownership, saving flows, and net debt.</a:t>
            </a:r>
          </a:p>
        </p:txBody>
      </p:sp>
      <p:sp>
        <p:nvSpPr>
          <p:cNvPr id="35" name="audit-list">
            <a:extLst xmlns:a="http://schemas.openxmlformats.org/drawingml/2006/main">
              <a:ext uri="{FF2B5EF4-FFF2-40B4-BE49-F238E27FC236}">
                <a16:creationId xmlns:a16="http://schemas.microsoft.com/office/drawing/2014/main" id="{6CA7B49F-F874-4B46-931E-A8281931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4143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Units: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dollars, shares, or flows.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Keys: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year × instrument × issuer × holder × group.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Invariants: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margins, row sums, and conservation.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theme/theme1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2026-08-10T10:51:35.5020000Z</dcterms:created>
  <dcterms:modified xsi:type="dcterms:W3CDTF">2026-08-10T10:51:35.5020000Z</dcterms:modified>
</coreProperties>
</file>
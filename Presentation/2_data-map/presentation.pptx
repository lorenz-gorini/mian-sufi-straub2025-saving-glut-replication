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32f3572d38f45fb" /><Relationship Type="http://schemas.openxmlformats.org/officeDocument/2006/relationships/extended-properties" Target="/docProps/app.xml" Id="R2ccd5b1cb02f42aa" /><Relationship Type="http://schemas.openxmlformats.org/officeDocument/2006/relationships/officeDocument" Target="/ppt/presentation.xml" Id="R23128169d49f455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2b74dc2f35d490e"/>
  </p:sldMasterIdLst>
  <p:notesMasterIdLst>
    <p:notesMasterId xmlns:r="http://schemas.openxmlformats.org/officeDocument/2006/relationships" r:id="R58589af006a54bdd"/>
  </p:notesMasterIdLst>
  <p:sldIdLst>
    <p:sldId xmlns:r="http://schemas.openxmlformats.org/officeDocument/2006/relationships" id="256" r:id="R86445c17b1124338"/>
    <p:sldId xmlns:r="http://schemas.openxmlformats.org/officeDocument/2006/relationships" id="257" r:id="R6c95f1dd5e1b44e9"/>
    <p:sldId xmlns:r="http://schemas.openxmlformats.org/officeDocument/2006/relationships" id="258" r:id="R5c1a612f6a8e4c5b"/>
    <p:sldId xmlns:r="http://schemas.openxmlformats.org/officeDocument/2006/relationships" id="259" r:id="Rffe0a51f511e4d4c"/>
    <p:sldId xmlns:r="http://schemas.openxmlformats.org/officeDocument/2006/relationships" id="260" r:id="R00aa5c5c1c744888"/>
    <p:sldId xmlns:r="http://schemas.openxmlformats.org/officeDocument/2006/relationships" id="261" r:id="R63e246cdb8184abb"/>
    <p:sldId xmlns:r="http://schemas.openxmlformats.org/officeDocument/2006/relationships" id="262" r:id="Rd4208e985a7f4c1d"/>
    <p:sldId xmlns:r="http://schemas.openxmlformats.org/officeDocument/2006/relationships" id="263" r:id="R8ee7d6b6c1c745a5"/>
    <p:sldId xmlns:r="http://schemas.openxmlformats.org/officeDocument/2006/relationships" id="264" r:id="R51df32d6f8c040d1"/>
    <p:sldId xmlns:r="http://schemas.openxmlformats.org/officeDocument/2006/relationships" id="265" r:id="R44e39625840a4007"/>
    <p:sldId xmlns:r="http://schemas.openxmlformats.org/officeDocument/2006/relationships" id="266" r:id="R9ade6eed200d45bb"/>
    <p:sldId xmlns:r="http://schemas.openxmlformats.org/officeDocument/2006/relationships" id="267" r:id="R8fd9f519a3764067"/>
    <p:sldId xmlns:r="http://schemas.openxmlformats.org/officeDocument/2006/relationships" id="268" r:id="R4c6224cb2697478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2eabb98ba3a4b24" /><Relationship Type="http://schemas.openxmlformats.org/officeDocument/2006/relationships/slideMaster" Target="/ppt/slideMasters/slideMaster1.xml" Id="R22b74dc2f35d490e" /><Relationship Type="http://schemas.openxmlformats.org/officeDocument/2006/relationships/notesMaster" Target="/ppt/notesMasters/notesMaster1.xml" Id="R58589af006a54bdd" /><Relationship Type="http://schemas.openxmlformats.org/officeDocument/2006/relationships/presProps" Target="/ppt/presProps.xml" Id="R9baef43dce7f45f0" /><Relationship Type="http://schemas.openxmlformats.org/officeDocument/2006/relationships/viewProps" Target="/ppt/viewProps.xml" Id="R0f52e162f5c743d2" /><Relationship Type="http://schemas.openxmlformats.org/officeDocument/2006/relationships/tableStyles" Target="/ppt/tableStyles.xml" Id="R6999ce165bc342b3" /><Relationship Type="http://schemas.openxmlformats.org/officeDocument/2006/relationships/slide" Target="/ppt/slides/slide1.xml" Id="R86445c17b1124338" /><Relationship Type="http://schemas.openxmlformats.org/officeDocument/2006/relationships/slide" Target="/ppt/slides/slide2.xml" Id="R6c95f1dd5e1b44e9" /><Relationship Type="http://schemas.openxmlformats.org/officeDocument/2006/relationships/slide" Target="/ppt/slides/slide3.xml" Id="R5c1a612f6a8e4c5b" /><Relationship Type="http://schemas.openxmlformats.org/officeDocument/2006/relationships/slide" Target="/ppt/slides/slide4.xml" Id="Rffe0a51f511e4d4c" /><Relationship Type="http://schemas.openxmlformats.org/officeDocument/2006/relationships/slide" Target="/ppt/slides/slide5.xml" Id="R00aa5c5c1c744888" /><Relationship Type="http://schemas.openxmlformats.org/officeDocument/2006/relationships/slide" Target="/ppt/slides/slide6.xml" Id="R63e246cdb8184abb" /><Relationship Type="http://schemas.openxmlformats.org/officeDocument/2006/relationships/slide" Target="/ppt/slides/slide7.xml" Id="Rd4208e985a7f4c1d" /><Relationship Type="http://schemas.openxmlformats.org/officeDocument/2006/relationships/slide" Target="/ppt/slides/slide8.xml" Id="R8ee7d6b6c1c745a5" /><Relationship Type="http://schemas.openxmlformats.org/officeDocument/2006/relationships/slide" Target="/ppt/slides/slide9.xml" Id="R51df32d6f8c040d1" /><Relationship Type="http://schemas.openxmlformats.org/officeDocument/2006/relationships/slide" Target="/ppt/slides/slide10.xml" Id="R44e39625840a4007" /><Relationship Type="http://schemas.openxmlformats.org/officeDocument/2006/relationships/slide" Target="/ppt/slides/slide11.xml" Id="R9ade6eed200d45bb" /><Relationship Type="http://schemas.openxmlformats.org/officeDocument/2006/relationships/slide" Target="/ppt/slides/slide12.xml" Id="R8fd9f519a3764067" /><Relationship Type="http://schemas.openxmlformats.org/officeDocument/2006/relationships/slide" Target="/ppt/slides/slide13.xml" Id="R4c6224cb2697478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1d0af9fc04f412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Replication validation">
      <a:dk1>
        <a:srgbClr val="000000"/>
      </a:dk1>
      <a:lt1>
        <a:srgbClr val="FFFFFF"/>
      </a:lt1>
      <a:dk2>
        <a:srgbClr val="102A43"/>
      </a:dk2>
      <a:lt2>
        <a:srgbClr val="D8E1E8"/>
      </a:lt2>
      <a:accent1>
        <a:srgbClr val="2E5B88"/>
      </a:accent1>
      <a:accent2>
        <a:srgbClr val="C65D16"/>
      </a:accent2>
      <a:accent3>
        <a:srgbClr val="2F855A"/>
      </a:accent3>
      <a:accent4>
        <a:srgbClr val="B83232"/>
      </a:accent4>
      <a:accent5>
        <a:srgbClr val="B7791F"/>
      </a:accent5>
      <a:accent6>
        <a:srgbClr val="627D98"/>
      </a:accent6>
      <a:hlink>
        <a:srgbClr val="2E5B88"/>
      </a:hlink>
      <a:folHlink>
        <a:srgbClr val="C65D16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Replication validati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38321ab433742d0" /><Relationship Type="http://schemas.openxmlformats.org/officeDocument/2006/relationships/notesMaster" Target="/ppt/notesMasters/notesMaster1.xml" Id="Rb54f0276e202493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2b440e917904fa3" /><Relationship Type="http://schemas.openxmlformats.org/officeDocument/2006/relationships/notesMaster" Target="/ppt/notesMasters/notesMaster1.xml" Id="Ra2fd079f235b490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c57d453f133434d" /><Relationship Type="http://schemas.openxmlformats.org/officeDocument/2006/relationships/notesMaster" Target="/ppt/notesMasters/notesMaster1.xml" Id="R1117ebc7df2542c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201a4afc32e43d0" /><Relationship Type="http://schemas.openxmlformats.org/officeDocument/2006/relationships/notesMaster" Target="/ppt/notesMasters/notesMaster1.xml" Id="Rcc92eb464ef4406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8dca48e3a1e472a" /><Relationship Type="http://schemas.openxmlformats.org/officeDocument/2006/relationships/notesMaster" Target="/ppt/notesMasters/notesMaster1.xml" Id="R425197f94d8b4a0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76a729499ba468c" /><Relationship Type="http://schemas.openxmlformats.org/officeDocument/2006/relationships/notesMaster" Target="/ppt/notesMasters/notesMaster1.xml" Id="Re72e2501cf4c479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25d2a312a204bc5" /><Relationship Type="http://schemas.openxmlformats.org/officeDocument/2006/relationships/notesMaster" Target="/ppt/notesMasters/notesMaster1.xml" Id="Rad64deb05ed14ee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e682c7f879c440f" /><Relationship Type="http://schemas.openxmlformats.org/officeDocument/2006/relationships/notesMaster" Target="/ppt/notesMasters/notesMaster1.xml" Id="R0f777834003044c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880b54a398b4c39" /><Relationship Type="http://schemas.openxmlformats.org/officeDocument/2006/relationships/notesMaster" Target="/ppt/notesMasters/notesMaster1.xml" Id="Rf633462dd9fb472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4b00865261e4b42" /><Relationship Type="http://schemas.openxmlformats.org/officeDocument/2006/relationships/notesMaster" Target="/ppt/notesMasters/notesMaster1.xml" Id="R676c2db56b70412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78458fad5044b51" /><Relationship Type="http://schemas.openxmlformats.org/officeDocument/2006/relationships/notesMaster" Target="/ppt/notesMasters/notesMaster1.xml" Id="R27db07763cc944a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5bd76dea8ac47d5" /><Relationship Type="http://schemas.openxmlformats.org/officeDocument/2006/relationships/notesMaster" Target="/ppt/notesMasters/notesMaster1.xml" Id="R8e87117d816745b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6165321408b4078" /><Relationship Type="http://schemas.openxmlformats.org/officeDocument/2006/relationships/notesMaster" Target="/ppt/notesMasters/notesMaster1.xml" Id="Rbbfcb15df8b2468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Opening: distinguish source roles before showing any merge or formula.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/Users/lorenzogorini/Library/CloudStorage/OneDrive-UniversitàCommercialeLuigiBocconi/PhD/Courses/Macro 3 - Favero/Paper Replication/docs/data/author-kit-data-map.md.</a:t>
            </a:r>
          </a:p>
          <a:p xmlns:a="http://schemas.openxmlformats.org/drawingml/2006/main">
            <a:r>
              <a:t>- /Users/lorenzogorini/Library/CloudStorage/OneDrive-UniversitàCommercialeLuigiBocconi/PhD/research-wiki/papers/inequality/mian-2025-saving-glut-rich/full.md, Data appendix and methodology.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Stocks, counterparties, household groups, and flows are distinct dimensions that must be combined explicitly.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/Users/lorenzogorini/Library/CloudStorage/OneDrive-UniversitàCommercialeLuigiBocconi/PhD/Courses/Macro 3 - Favero/Paper Replication/docs/data/author-kit-data-map.md.</a:t>
            </a:r>
          </a:p>
          <a:p xmlns:a="http://schemas.openxmlformats.org/drawingml/2006/main">
            <a:r>
              <a:t>- /Users/lorenzogorini/Library/CloudStorage/OneDrive-UniversitàCommercialeLuigiBocconi/PhD/research-wiki/papers/inequality/mian-2025-saving-glut-rich/full.md, data appendix.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Section 2.2 and Equation (4), physical PDF pages 8–10</a:t>
            </a:r>
          </a:p>
          <a:p xmlns:a="http://schemas.openxmlformats.org/drawingml/2006/main">
            <a:r>
              <a:t>- https://www.federalreserve.gov/releases/efa/fwtw.htm</a:t>
            </a:r>
          </a:p>
          <a:p xmlns:a="http://schemas.openxmlformats.org/drawingml/2006/main">
            <a:r>
              <a:t>- docs/reference/author-kit-map.md, Financial Accounts and FWTW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Section 2.2, physical PDF page 9</a:t>
            </a:r>
          </a:p>
          <a:p xmlns:a="http://schemas.openxmlformats.org/drawingml/2006/main">
            <a:r>
              <a:t>- https://www.federalreserve.gov/econres/notes/feds-notes/from-whom-to-whom-relationships-in-the-financial-accounts-of-the-united-states-20230324.html</a:t>
            </a:r>
          </a:p>
          <a:p xmlns:a="http://schemas.openxmlformats.org/drawingml/2006/main">
            <a:r>
              <a:t>- https://www.federalreserve.gov/releases/efa/fwtw.htm</a:t>
            </a:r>
          </a:p>
          <a:p xmlns:a="http://schemas.openxmlformats.org/drawingml/2006/main">
            <a:r>
              <a:t>- docs/reference/author-kit-map.md, Financial Accounts and FWTW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Normalization changes units from dollars to funding shares while preserving each issuer's composition.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/Users/lorenzogorini/Library/CloudStorage/OneDrive-UniversitàCommercialeLuigiBocconi/PhD/research-wiki/papers/inequality/mian-2025-saving-glut-rich/full.md, Equation (4).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DINA supplies distributional shares by household group and asset class—not the financial-network counterparty structure.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/Users/lorenzogorini/Library/CloudStorage/OneDrive-UniversitàCommercialeLuigiBocconi/PhD/research-wiki/papers/inequality/mian-2025-saving-glut-rich/full.md, data appendix and household-group allocation.</a:t>
            </a:r>
          </a:p>
          <a:p xmlns:a="http://schemas.openxmlformats.org/drawingml/2006/main">
            <a:r>
              <a:t>- /Users/lorenzogorini/Library/CloudStorage/OneDrive-UniversitàCommercialeLuigiBocconi/PhD/Courses/Macro 3 - Favero/Paper Replication/docs/data/author-kit-data-map.md.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Household heterogeneity is appended without changing aggregate sector totals or ownership mass.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/Users/lorenzogorini/Library/CloudStorage/OneDrive-UniversitàCommercialeLuigiBocconi/PhD/research-wiki/papers/inequality/mian-2025-saving-glut-rich/full.md, ownership augmentation.</a:t>
            </a:r>
          </a:p>
          <a:p xmlns:a="http://schemas.openxmlformats.org/drawingml/2006/main">
            <a:r>
              <a:t>- /Users/lorenzogorini/Library/CloudStorage/OneDrive-UniversitàCommercialeLuigiBocconi/PhD/Courses/Macro 3 - Favero/Paper Replication/docs/data/author-kit-data-map.md.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change in wealth is not saving unless capital gains, write-downs, and other valuation effects are removed.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/Users/lorenzogorini/Library/CloudStorage/OneDrive-UniversitàCommercialeLuigiBocconi/PhD/research-wiki/papers/inequality/mian-2025-saving-glut-rich/full.md, saving methodology and Figure 5.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figures share distributional inputs, but each one requires a different economic object and transformation chain.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/Users/lorenzogorini/Library/CloudStorage/OneDrive-UniversitàCommercialeLuigiBocconi/PhD/research-wiki/papers/inequality/mian-2025-saving-glut-rich/full.md, Figures 1, 5, and 8.</a:t>
            </a:r>
          </a:p>
          <a:p xmlns:a="http://schemas.openxmlformats.org/drawingml/2006/main">
            <a:r>
              <a:t>- /Users/lorenzogorini/Library/CloudStorage/OneDrive-UniversitàCommercialeLuigiBocconi/PhD/Courses/Macro 3 - Favero/Paper Replication/docs/project/tasks/result-selection.md.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MSS2021Febreplicationkit/code/build_fa_unveiling_data.do</a:t>
            </a:r>
          </a:p>
          <a:p xmlns:a="http://schemas.openxmlformats.org/drawingml/2006/main">
            <a:r>
              <a:t>- MSS2021Febreplicationkit/code/mss_analysis.do</a:t>
            </a:r>
          </a:p>
          <a:p xmlns:a="http://schemas.openxmlformats.org/drawingml/2006/main">
            <a:r>
              <a:t>- MSS_SGR_July242025.pdf, Sections 2.3 and 4.1</a:t>
            </a:r>
          </a:p>
          <a:p xmlns:a="http://schemas.openxmlformats.org/drawingml/2006/main">
            <a:r>
              <a:t>- docs/methods/leontief-unveiling.md, version crosswalk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Sections 2.2 and 4.1</a:t>
            </a:r>
          </a:p>
          <a:p xmlns:a="http://schemas.openxmlformats.org/drawingml/2006/main">
            <a:r>
              <a:t>- https://www.federalreserve.gov/releases/efa/fwtw.htm</a:t>
            </a:r>
          </a:p>
          <a:p xmlns:a="http://schemas.openxmlformats.org/drawingml/2006/main">
            <a:r>
              <a:t>- https://www.federalreserve.gov/releases/efa/fwtw_announcements.htm</a:t>
            </a:r>
          </a:p>
          <a:p xmlns:a="http://schemas.openxmlformats.org/drawingml/2006/main">
            <a:r>
              <a:t>- Data/raw/fwtw/fwtw_data_2026-06-18.csv</a:t>
            </a:r>
          </a:p>
          <a:p xmlns:a="http://schemas.openxmlformats.org/drawingml/2006/main">
            <a:r>
              <a:t>- docs/data/figure1-data.md</a:t>
            </a:r>
          </a:p>
          <a:p xmlns:a="http://schemas.openxmlformats.org/drawingml/2006/main">
            <a:r>
              <a:t>- docs/project/tasks/figure8-replication.md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AGENTS.md, independent-replication layers</a:t>
            </a:r>
          </a:p>
          <a:p xmlns:a="http://schemas.openxmlformats.org/drawingml/2006/main">
            <a:r>
              <a:t>- docs/data/data-guide.md</a:t>
            </a:r>
          </a:p>
          <a:p xmlns:a="http://schemas.openxmlformats.org/drawingml/2006/main">
            <a:r>
              <a:t>- docs/data/figure1-data.md</a:t>
            </a:r>
          </a:p>
          <a:p xmlns:a="http://schemas.openxmlformats.org/drawingml/2006/main">
            <a:r>
              <a:t>- docs/data/figure8-data.md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Every final number should retain its source, unit, aggregation rule, and accounting invariant.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/Users/lorenzogorini/Library/CloudStorage/OneDrive-UniversitàCommercialeLuigiBocconi/PhD/Courses/Macro 3 - Favero/Paper Replication/docs/data/author-kit-data-map.md.</a:t>
            </a:r>
          </a:p>
          <a:p xmlns:a="http://schemas.openxmlformats.org/drawingml/2006/main">
            <a:r>
              <a:t>- /Users/lorenzogorini/Library/CloudStorage/OneDrive-UniversitàCommercialeLuigiBocconi/PhD/Courses/Macro 3 - Favero/Paper Replication/docs/data/data-guide.md.</a:t>
            </a:r>
          </a:p>
          <a:p xmlns:a="http://schemas.openxmlformats.org/drawingml/2006/main">
            <a:r>
              <a:t>- /Users/lorenzogorini/Library/CloudStorage/OneDrive-UniversitàCommercialeLuigiBocconi/PhD/research-wiki/papers/inequality/mian-2025-saving-glut-rich/full.md.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843c9d5c5b4c8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6e284d71c3543d9" /><Relationship Type="http://schemas.openxmlformats.org/officeDocument/2006/relationships/slideLayout" Target="/ppt/slideLayouts/slideLayout1.xml" Id="R1538770ea5c04c5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38770ea5c04c5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Replication validation">
      <a:dk1>
        <a:srgbClr val="000000"/>
      </a:dk1>
      <a:lt1>
        <a:srgbClr val="FFFFFF"/>
      </a:lt1>
      <a:dk2>
        <a:srgbClr val="102A43"/>
      </a:dk2>
      <a:lt2>
        <a:srgbClr val="D8E1E8"/>
      </a:lt2>
      <a:accent1>
        <a:srgbClr val="2E5B88"/>
      </a:accent1>
      <a:accent2>
        <a:srgbClr val="C65D16"/>
      </a:accent2>
      <a:accent3>
        <a:srgbClr val="2F855A"/>
      </a:accent3>
      <a:accent4>
        <a:srgbClr val="B83232"/>
      </a:accent4>
      <a:accent5>
        <a:srgbClr val="B7791F"/>
      </a:accent5>
      <a:accent6>
        <a:srgbClr val="627D98"/>
      </a:accent6>
      <a:hlink>
        <a:srgbClr val="2E5B88"/>
      </a:hlink>
      <a:folHlink>
        <a:srgbClr val="C65D16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Replication validati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bdb5b48b4c4b99" /><Relationship Type="http://schemas.openxmlformats.org/officeDocument/2006/relationships/notesSlide" Target="/ppt/notesSlides/notesSlide1.xml" Id="R2d117b03b32b47a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e4abb4b602426e" /><Relationship Type="http://schemas.openxmlformats.org/officeDocument/2006/relationships/image" Target="/ppt/media/image.png" Id="R3d9e5997cdb441de" /><Relationship Type="http://schemas.openxmlformats.org/officeDocument/2006/relationships/notesSlide" Target="/ppt/notesSlides/notesSlide2.xml" Id="Rf9ce1c596db84fc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2ac1e35f5446af" /><Relationship Type="http://schemas.openxmlformats.org/officeDocument/2006/relationships/image" Target="/ppt/media/image.png" Id="Re0f772455a094e79" /><Relationship Type="http://schemas.openxmlformats.org/officeDocument/2006/relationships/image" Target="/ppt/media/image.svg" Id="R1d009538410043e8" /><Relationship Type="http://schemas.openxmlformats.org/officeDocument/2006/relationships/image" Target="/ppt/media/image2.png" Id="Rc2a4daa434324bbf" /><Relationship Type="http://schemas.openxmlformats.org/officeDocument/2006/relationships/image" Target="/ppt/media/image2.svg" Id="R761c402ecc704abd" /><Relationship Type="http://schemas.openxmlformats.org/officeDocument/2006/relationships/notesSlide" Target="/ppt/notesSlides/notesSlide3.xml" Id="R5c7dfe418aa94fa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755746b3ec4c4b" /><Relationship Type="http://schemas.openxmlformats.org/officeDocument/2006/relationships/image" Target="/ppt/media/image.png" Id="R287b007292d644b2" /><Relationship Type="http://schemas.openxmlformats.org/officeDocument/2006/relationships/image" Target="/ppt/media/image3.png" Id="R8fcf8b03a5f945b1" /><Relationship Type="http://schemas.openxmlformats.org/officeDocument/2006/relationships/image" Target="/ppt/media/image3.svg" Id="R7cd39a61c6714d49" /><Relationship Type="http://schemas.openxmlformats.org/officeDocument/2006/relationships/notesSlide" Target="/ppt/notesSlides/notesSlide4.xml" Id="Rc4c0f4b988354d6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f9f6448b854bc3" /><Relationship Type="http://schemas.openxmlformats.org/officeDocument/2006/relationships/image" Target="/ppt/media/image.png" Id="R4e6a0df2ed774eb8" /><Relationship Type="http://schemas.openxmlformats.org/officeDocument/2006/relationships/image" Target="/ppt/media/image4.png" Id="R88aa9c5bdcf342e6" /><Relationship Type="http://schemas.openxmlformats.org/officeDocument/2006/relationships/image" Target="/ppt/media/image4.svg" Id="R45b09ca8248d4e45" /><Relationship Type="http://schemas.openxmlformats.org/officeDocument/2006/relationships/image" Target="/ppt/media/image5.png" Id="Rf09801c4056f403a" /><Relationship Type="http://schemas.openxmlformats.org/officeDocument/2006/relationships/image" Target="/ppt/media/image5.svg" Id="R6088bc9538004fcd" /><Relationship Type="http://schemas.openxmlformats.org/officeDocument/2006/relationships/notesSlide" Target="/ppt/notesSlides/notesSlide5.xml" Id="R67266b2e24514a3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1073009d5f4143" /><Relationship Type="http://schemas.openxmlformats.org/officeDocument/2006/relationships/image" Target="/ppt/media/image.png" Id="R65ae165fe8834e78" /><Relationship Type="http://schemas.openxmlformats.org/officeDocument/2006/relationships/image" Target="/ppt/media/image6.png" Id="Reb02b77c42aa4127" /><Relationship Type="http://schemas.openxmlformats.org/officeDocument/2006/relationships/image" Target="/ppt/media/image6.svg" Id="R376d1a0ed4274c62" /><Relationship Type="http://schemas.openxmlformats.org/officeDocument/2006/relationships/image" Target="/ppt/media/image7.png" Id="Rf7fb9306787948ba" /><Relationship Type="http://schemas.openxmlformats.org/officeDocument/2006/relationships/image" Target="/ppt/media/image7.svg" Id="R7a8414e9069849c4" /><Relationship Type="http://schemas.openxmlformats.org/officeDocument/2006/relationships/notesSlide" Target="/ppt/notesSlides/notesSlide6.xml" Id="R8ce9620a13b1481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00245ceac24e7d" /><Relationship Type="http://schemas.openxmlformats.org/officeDocument/2006/relationships/image" Target="/ppt/media/image.png" Id="R4dadada2d68642af" /><Relationship Type="http://schemas.openxmlformats.org/officeDocument/2006/relationships/image" Target="/ppt/media/image8.png" Id="Re58f47d05b5142a7" /><Relationship Type="http://schemas.openxmlformats.org/officeDocument/2006/relationships/image" Target="/ppt/media/image8.svg" Id="Rdc057caeaabb49e7" /><Relationship Type="http://schemas.openxmlformats.org/officeDocument/2006/relationships/image" Target="/ppt/media/image9.png" Id="R953b183823d34f22" /><Relationship Type="http://schemas.openxmlformats.org/officeDocument/2006/relationships/image" Target="/ppt/media/image9.svg" Id="Rbab90a962ebf4cf0" /><Relationship Type="http://schemas.openxmlformats.org/officeDocument/2006/relationships/notesSlide" Target="/ppt/notesSlides/notesSlide7.xml" Id="R7a13938d27bf445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4fd63120c3427b" /><Relationship Type="http://schemas.openxmlformats.org/officeDocument/2006/relationships/image" Target="/ppt/media/image.png" Id="R824f17a916154937" /><Relationship Type="http://schemas.openxmlformats.org/officeDocument/2006/relationships/image" Target="/ppt/media/image10.png" Id="R8c51f829fe6346ec" /><Relationship Type="http://schemas.openxmlformats.org/officeDocument/2006/relationships/image" Target="/ppt/media/image10.svg" Id="R19cfa18e22c349d6" /><Relationship Type="http://schemas.openxmlformats.org/officeDocument/2006/relationships/notesSlide" Target="/ppt/notesSlides/notesSlide8.xml" Id="R1d59a440d174465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eb692907f04719" /><Relationship Type="http://schemas.openxmlformats.org/officeDocument/2006/relationships/image" Target="/ppt/media/image.png" Id="R0e251a83f2b744e4" /><Relationship Type="http://schemas.openxmlformats.org/officeDocument/2006/relationships/notesSlide" Target="/ppt/notesSlides/notesSlide9.xml" Id="Rf65c5c1d7ba547a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2e5b0d883e4d9d" /><Relationship Type="http://schemas.openxmlformats.org/officeDocument/2006/relationships/image" Target="/ppt/media/image.png" Id="Rd85cace3a76c443b" /><Relationship Type="http://schemas.openxmlformats.org/officeDocument/2006/relationships/image" Target="/ppt/media/image11.png" Id="R28d6733d8518459a" /><Relationship Type="http://schemas.openxmlformats.org/officeDocument/2006/relationships/image" Target="/ppt/media/image11.svg" Id="Rafff02578c864ed5" /><Relationship Type="http://schemas.openxmlformats.org/officeDocument/2006/relationships/notesSlide" Target="/ppt/notesSlides/notesSlide10.xml" Id="Re902944909104ec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16487209b44664" /><Relationship Type="http://schemas.openxmlformats.org/officeDocument/2006/relationships/image" Target="/ppt/media/image.png" Id="Rdcf8999f0b614976" /><Relationship Type="http://schemas.openxmlformats.org/officeDocument/2006/relationships/notesSlide" Target="/ppt/notesSlides/notesSlide11.xml" Id="R2be68a7cd72843d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c55c8be4ed4b22" /><Relationship Type="http://schemas.openxmlformats.org/officeDocument/2006/relationships/image" Target="/ppt/media/image.png" Id="R7e85b057fee946b8" /><Relationship Type="http://schemas.openxmlformats.org/officeDocument/2006/relationships/notesSlide" Target="/ppt/notesSlides/notesSlide12.xml" Id="R978274a9ddab476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e22247005b4dd8" /><Relationship Type="http://schemas.openxmlformats.org/officeDocument/2006/relationships/image" Target="/ppt/media/image.png" Id="R4efb920e0d9a4572" /><Relationship Type="http://schemas.openxmlformats.org/officeDocument/2006/relationships/notesSlide" Target="/ppt/notesSlides/notesSlide13.xml" Id="R7792e714c4b1453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eft-band">
            <a:extLst xmlns:a="http://schemas.openxmlformats.org/drawingml/2006/main">
              <a:ext uri="{FF2B5EF4-FFF2-40B4-BE49-F238E27FC236}">
                <a16:creationId xmlns:a16="http://schemas.microsoft.com/office/drawing/2014/main" id="{7F5DCFB2-BF08-455D-96FE-93F1FEF7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26530E1E-131F-4FAB-A866-E26950C4C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04875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65D16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C65D16"/>
                </a:solidFill>
                <a:latin typeface="Calibri"/>
                <a:ea typeface="Calibri"/>
                <a:cs typeface="Calibri"/>
              </a:rPr>
              <a:t>DATA ARCHITECTURE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975D2B-40BB-435A-9F95-129A2C014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02A43"/>
                </a:solidFill>
                <a:latin typeface="Calibri Light"/>
                <a:ea typeface="Calibri Light"/>
                <a:cs typeface="Calibri Light"/>
              </a:defRPr>
            </a:pPr>
            <a:r>
              <a:rPr sz="4050" b="1">
                <a:solidFill>
                  <a:srgbClr val="102A43"/>
                </a:solidFill>
                <a:latin typeface="Calibri Light"/>
                <a:ea typeface="Calibri Light"/>
                <a:cs typeface="Calibri Light"/>
              </a:rPr>
              <a:t>From Source Data to Paper Objects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6547238B-E8E6-4372-94B0-EE2539BF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52750"/>
            <a:ext cx="876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Which dataset identifies each layer of the ownership, saving, and debt analysis</a:t>
            </a:r>
          </a:p>
        </p:txBody>
      </p:sp>
      <p:sp>
        <p:nvSpPr>
          <p:cNvPr id="5" name="legend-2021">
            <a:extLst xmlns:a="http://schemas.openxmlformats.org/drawingml/2006/main">
              <a:ext uri="{FF2B5EF4-FFF2-40B4-BE49-F238E27FC236}">
                <a16:creationId xmlns:a16="http://schemas.microsoft.com/office/drawing/2014/main" id="{E5188C8E-DE47-4DC0-8840-A490B08D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66675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legend-2021-text">
            <a:extLst xmlns:a="http://schemas.openxmlformats.org/drawingml/2006/main">
              <a:ext uri="{FF2B5EF4-FFF2-40B4-BE49-F238E27FC236}">
                <a16:creationId xmlns:a16="http://schemas.microsoft.com/office/drawing/2014/main" id="{7E666218-8D53-4587-8EB2-5B6E3FA46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66675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25000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endParaRPr/>
          </a:p>
        </p:txBody>
      </p:sp>
      <p:sp>
        <p:nvSpPr>
          <p:cNvPr id="7" name="legend-2025">
            <a:extLst xmlns:a="http://schemas.openxmlformats.org/drawingml/2006/main">
              <a:ext uri="{FF2B5EF4-FFF2-40B4-BE49-F238E27FC236}">
                <a16:creationId xmlns:a16="http://schemas.microsoft.com/office/drawing/2014/main" id="{990CB6C5-46A3-4978-AD21-426AE14C5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66675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legend-2025-text">
            <a:extLst xmlns:a="http://schemas.openxmlformats.org/drawingml/2006/main">
              <a:ext uri="{FF2B5EF4-FFF2-40B4-BE49-F238E27FC236}">
                <a16:creationId xmlns:a16="http://schemas.microsoft.com/office/drawing/2014/main" id="{D6FD146E-A114-464C-AC7C-4816C0635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66675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25000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endParaRPr/>
          </a:p>
        </p:txBody>
      </p:sp>
      <p:sp>
        <p:nvSpPr>
          <p:cNvPr id="9" name="date">
            <a:extLst xmlns:a="http://schemas.openxmlformats.org/drawingml/2006/main">
              <a:ext uri="{FF2B5EF4-FFF2-40B4-BE49-F238E27FC236}">
                <a16:creationId xmlns:a16="http://schemas.microsoft.com/office/drawing/2014/main" id="{1ABC4866-2AB1-49DB-A3A1-9A64A08CF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912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Prepared 10 August 2026</a:t>
            </a:r>
          </a:p>
        </p:txBody>
      </p:sp>
      <p:sp>
        <p:nvSpPr>
          <p:cNvPr id="11" name="cover-rule">
            <a:extLst xmlns:a="http://schemas.openxmlformats.org/drawingml/2006/main">
              <a:ext uri="{FF2B5EF4-FFF2-40B4-BE49-F238E27FC236}">
                <a16:creationId xmlns:a16="http://schemas.microsoft.com/office/drawing/2014/main" id="{A82EE972-FDDA-4F29-89DD-F1F93AB7E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95800"/>
            <a:ext cx="438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cover-thesis-label">
            <a:extLst xmlns:a="http://schemas.openxmlformats.org/drawingml/2006/main">
              <a:ext uri="{FF2B5EF4-FFF2-40B4-BE49-F238E27FC236}">
                <a16:creationId xmlns:a16="http://schemas.microsoft.com/office/drawing/2014/main" id="{4DEB2DA0-1E72-4A81-B5D9-B81B766EB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24400"/>
            <a:ext cx="209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C65D16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C65D16"/>
                </a:solidFill>
                <a:latin typeface="Calibri"/>
                <a:ea typeface="Calibri"/>
                <a:cs typeface="Calibri"/>
              </a:rPr>
              <a:t>CORE QUESTION</a:t>
            </a:r>
          </a:p>
        </p:txBody>
      </p:sp>
      <p:sp>
        <p:nvSpPr>
          <p:cNvPr id="13" name="cover-thesis">
            <a:extLst xmlns:a="http://schemas.openxmlformats.org/drawingml/2006/main">
              <a:ext uri="{FF2B5EF4-FFF2-40B4-BE49-F238E27FC236}">
                <a16:creationId xmlns:a16="http://schemas.microsoft.com/office/drawing/2014/main" id="{326C9853-7911-4A64-8056-FFE9EF419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1015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No single source contains stocks, counterparties, household groups, and valuation changes.</a:t>
            </a:r>
          </a:p>
        </p:txBody>
      </p:sp>
    </p:spTree>
    <p:extLst>
      <p:ext uri="{BB962C8B-B14F-4D97-AF65-F5344CB8AC3E}">
        <p14:creationId xmlns:p14="http://schemas.microsoft.com/office/powerpoint/2010/main" val="517131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21B0EF0-DF12-49E0-8282-A5EB5B11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C65D16"/>
                </a:solidFill>
                <a:latin typeface="Calibri"/>
                <a:ea typeface="Calibri"/>
                <a:cs typeface="Calibri"/>
              </a:rPr>
              <a:t>IDENTIFICATION MAP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80D81F7-DD28-469F-9690-DA4664C9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  <a:latin typeface="Calibri Light"/>
                <a:ea typeface="Calibri Light"/>
                <a:cs typeface="Calibri Light"/>
              </a:defRPr>
            </a:pPr>
            <a:r>
              <a:rPr sz="2700" b="1">
                <a:solidFill>
                  <a:srgbClr val="102A43"/>
                </a:solidFill>
                <a:latin typeface="Calibri Light"/>
                <a:ea typeface="Calibri Light"/>
                <a:cs typeface="Calibri Light"/>
              </a:rPr>
              <a:t>No dataset identifies the entire object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4CDCC845-0954-47BE-99D9-ACC92C7E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40E37CD-502F-44AD-863C-998C0D34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571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7D68AFC4-C9F0-4906-8B90-9F78159C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04900"/>
            <a:ext cx="541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E5B8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2E5B88"/>
                </a:solidFill>
                <a:latin typeface="Calibri"/>
                <a:ea typeface="Calibri"/>
                <a:cs typeface="Calibri"/>
              </a:rPr>
              <a:t>NETWORK STOCKS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169CDC6F-7B71-4F41-AC26-C991BF45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04900"/>
            <a:ext cx="541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E5B8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2E5B88"/>
                </a:solidFill>
                <a:latin typeface="Calibri"/>
                <a:ea typeface="Calibri"/>
                <a:cs typeface="Calibri"/>
              </a:rPr>
              <a:t>GROUP ALLOCATION AND FLOWS</a:t>
            </a:r>
          </a:p>
        </p:txBody>
      </p:sp>
      <p:sp>
        <p:nvSpPr>
          <p:cNvPr id="7" name="Regenerated 2021 saving-glut figure-frame">
            <a:extLst xmlns:a="http://schemas.openxmlformats.org/drawingml/2006/main">
              <a:ext uri="{FF2B5EF4-FFF2-40B4-BE49-F238E27FC236}">
                <a16:creationId xmlns:a16="http://schemas.microsoft.com/office/drawing/2014/main" id="{F41A9B74-0FDD-4969-A588-536A7E714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476625"/>
          </a:xfrm>
          <a:prstGeom xmlns:a="http://schemas.openxmlformats.org/drawingml/2006/main" prst="roundRect">
            <a:avLst>
              <a:gd name="adj" fmla="val 2192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36" name="Picture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9e5997cdb441de"/>
          <a:stretch xmlns:a="http://schemas.openxmlformats.org/drawingml/2006/main"/>
        </p:blipFill>
        <p:spPr>
          <a:xfrm xmlns:a="http://schemas.openxmlformats.org/drawingml/2006/main">
            <a:off x="11715750" y="676275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9" name="2025 Figure 5 saving by wealth group-frame">
            <a:extLst xmlns:a="http://schemas.openxmlformats.org/drawingml/2006/main">
              <a:ext uri="{FF2B5EF4-FFF2-40B4-BE49-F238E27FC236}">
                <a16:creationId xmlns:a16="http://schemas.microsoft.com/office/drawing/2014/main" id="{CECC33D5-8AA8-489D-A8CE-CF41FD19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476625"/>
          </a:xfrm>
          <a:prstGeom xmlns:a="http://schemas.openxmlformats.org/drawingml/2006/main" prst="roundRect">
            <a:avLst>
              <a:gd name="adj" fmla="val 2192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38" name="Picture 3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9e5997cdb441de"/>
          <a:stretch xmlns:a="http://schemas.openxmlformats.org/drawingml/2006/main"/>
        </p:blipFill>
        <p:spPr>
          <a:xfrm xmlns:a="http://schemas.openxmlformats.org/drawingml/2006/main">
            <a:off x="11715750" y="676275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661CFCE0-D157-4A4A-A3D4-5070BEB38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95875"/>
            <a:ext cx="112776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DF2F6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16808DF2-B678-483C-92D7-325DE584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4C8931D4-85C6-4FA0-9526-7745475E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2428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65D16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C65D16"/>
                </a:solidFill>
                <a:latin typeface="Calibri"/>
                <a:ea typeface="Calibri"/>
                <a:cs typeface="Calibri"/>
              </a:rPr>
              <a:t>WHY IT MATTERS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00A0EF70-9C45-4DDE-A376-FB6C73A8E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1970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38100" rIns="38100" bIns="3810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Stocks, counterparties, household groups, and flows are distinct dimensions that must be combined explicitly.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A4A3628C-1F59-4962-A00B-08C286CC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825" b="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Source: paper data appendix; project author-kit data map.</a:t>
            </a:r>
          </a:p>
        </p:txBody>
      </p:sp>
      <p:sp>
        <p:nvSpPr>
          <p:cNvPr id="19" name="fwtw-b-badge">
            <a:extLst xmlns:a="http://schemas.openxmlformats.org/drawingml/2006/main">
              <a:ext uri="{FF2B5EF4-FFF2-40B4-BE49-F238E27FC236}">
                <a16:creationId xmlns:a16="http://schemas.microsoft.com/office/drawing/2014/main" id="{758D5FF3-0A3E-4E25-8415-961F30560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33550"/>
            <a:ext cx="1619250" cy="257175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2E5B88"/>
          </a:solidFill>
          <a:ln xmlns:a="http://schemas.openxmlformats.org/drawingml/2006/main" w="9525">
            <a:solidFill>
              <a:srgbClr val="2E5B88"/>
            </a:solidFill>
            <a:prstDash val="solid"/>
          </a:ln>
        </p:spPr>
        <p:txBody>
          <a:bodyPr xmlns:a="http://schemas.openxmlformats.org/drawingml/2006/main" wrap="square" lIns="38100" tIns="9525" rIns="3810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 / FWTW</a:t>
            </a:r>
          </a:p>
        </p:txBody>
      </p:sp>
      <p:sp>
        <p:nvSpPr>
          <p:cNvPr id="20" name="fwtw-copy">
            <a:extLst xmlns:a="http://schemas.openxmlformats.org/drawingml/2006/main">
              <a:ext uri="{FF2B5EF4-FFF2-40B4-BE49-F238E27FC236}">
                <a16:creationId xmlns:a16="http://schemas.microsoft.com/office/drawing/2014/main" id="{BE8F55DB-7963-4E0C-A778-5FCC84E02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38375"/>
            <a:ext cx="447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Sector-by-sector financial stocks and instrument-level bilateral positions.</a:t>
            </a:r>
          </a:p>
        </p:txBody>
      </p:sp>
      <p:sp>
        <p:nvSpPr>
          <p:cNvPr id="21" name="fwtw-q">
            <a:extLst xmlns:a="http://schemas.openxmlformats.org/drawingml/2006/main">
              <a:ext uri="{FF2B5EF4-FFF2-40B4-BE49-F238E27FC236}">
                <a16:creationId xmlns:a16="http://schemas.microsoft.com/office/drawing/2014/main" id="{0657E351-364D-4654-A7F4-0B1753A7D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4330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2E5B88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2E5B88"/>
                </a:solidFill>
                <a:latin typeface="Calibri"/>
                <a:ea typeface="Calibri"/>
                <a:cs typeface="Calibri"/>
              </a:rPr>
              <a:t>Who holds whose liability?</a:t>
            </a:r>
          </a:p>
        </p:txBody>
      </p:sp>
      <p:sp>
        <p:nvSpPr>
          <p:cNvPr id="22" name="dina-b-badge">
            <a:extLst xmlns:a="http://schemas.openxmlformats.org/drawingml/2006/main">
              <a:ext uri="{FF2B5EF4-FFF2-40B4-BE49-F238E27FC236}">
                <a16:creationId xmlns:a16="http://schemas.microsoft.com/office/drawing/2014/main" id="{23A2DF4A-E591-44CD-AF5C-18724E3D5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33550"/>
            <a:ext cx="1143000" cy="257175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C65D16"/>
          </a:solidFill>
          <a:ln xmlns:a="http://schemas.openxmlformats.org/drawingml/2006/main" w="9525">
            <a:solidFill>
              <a:srgbClr val="C65D16"/>
            </a:solidFill>
            <a:prstDash val="solid"/>
          </a:ln>
        </p:spPr>
        <p:txBody>
          <a:bodyPr xmlns:a="http://schemas.openxmlformats.org/drawingml/2006/main" wrap="square" lIns="38100" tIns="9525" rIns="3810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DINA</a:t>
            </a:r>
          </a:p>
        </p:txBody>
      </p:sp>
      <p:sp>
        <p:nvSpPr>
          <p:cNvPr id="23" name="dina-copy">
            <a:extLst xmlns:a="http://schemas.openxmlformats.org/drawingml/2006/main">
              <a:ext uri="{FF2B5EF4-FFF2-40B4-BE49-F238E27FC236}">
                <a16:creationId xmlns:a16="http://schemas.microsoft.com/office/drawing/2014/main" id="{BBF2F8D9-9A28-460F-84BC-680FB70FA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43125"/>
            <a:ext cx="44291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Household assets and liabilities distributed across income or wealth groups.</a:t>
            </a:r>
          </a:p>
        </p:txBody>
      </p:sp>
      <p:sp>
        <p:nvSpPr>
          <p:cNvPr id="24" name="nipa-divider">
            <a:extLst xmlns:a="http://schemas.openxmlformats.org/drawingml/2006/main">
              <a:ext uri="{FF2B5EF4-FFF2-40B4-BE49-F238E27FC236}">
                <a16:creationId xmlns:a16="http://schemas.microsoft.com/office/drawing/2014/main" id="{5D2946F2-0A8E-43C0-AB0D-F857C6F25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14675"/>
            <a:ext cx="42386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nipa-b-badge">
            <a:extLst xmlns:a="http://schemas.openxmlformats.org/drawingml/2006/main">
              <a:ext uri="{FF2B5EF4-FFF2-40B4-BE49-F238E27FC236}">
                <a16:creationId xmlns:a16="http://schemas.microsoft.com/office/drawing/2014/main" id="{AF7575F9-7EA4-4F32-8110-D2973114F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1143000" cy="257175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2A7F7F"/>
          </a:solidFill>
          <a:ln xmlns:a="http://schemas.openxmlformats.org/drawingml/2006/main" w="9525">
            <a:solidFill>
              <a:srgbClr val="2A7F7F"/>
            </a:solidFill>
            <a:prstDash val="solid"/>
          </a:ln>
        </p:spPr>
        <p:txBody>
          <a:bodyPr xmlns:a="http://schemas.openxmlformats.org/drawingml/2006/main" wrap="square" lIns="38100" tIns="9525" rIns="3810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NIPA</a:t>
            </a:r>
          </a:p>
        </p:txBody>
      </p:sp>
      <p:sp>
        <p:nvSpPr>
          <p:cNvPr id="26" name="nipa-copy">
            <a:extLst xmlns:a="http://schemas.openxmlformats.org/drawingml/2006/main">
              <a:ext uri="{FF2B5EF4-FFF2-40B4-BE49-F238E27FC236}">
                <a16:creationId xmlns:a16="http://schemas.microsoft.com/office/drawing/2014/main" id="{9CB4D4B0-4908-4721-8E4A-153BB973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43325"/>
            <a:ext cx="44291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Aggregate income, saving, and national-account closure—not bilateral ownership.</a:t>
            </a:r>
          </a:p>
        </p:txBody>
      </p:sp>
    </p:spTree>
    <p:extLst>
      <p:ext uri="{BB962C8B-B14F-4D97-AF65-F5344CB8AC3E}">
        <p14:creationId xmlns:p14="http://schemas.microsoft.com/office/powerpoint/2010/main" val="165843873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21B0EF0-DF12-49E0-8282-A5EB5B11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C65D16"/>
                </a:solidFill>
                <a:latin typeface="Calibri"/>
                <a:ea typeface="Calibri"/>
                <a:cs typeface="Calibri"/>
              </a:rPr>
              <a:t>NETWORK FOUNDATION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80D81F7-DD28-469F-9690-DA4664C9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  <a:latin typeface="Calibri Light"/>
                <a:ea typeface="Calibri Light"/>
                <a:cs typeface="Calibri Light"/>
              </a:defRPr>
            </a:pPr>
            <a:r>
              <a:rPr sz="2700" b="1">
                <a:solidFill>
                  <a:srgbClr val="102A43"/>
                </a:solidFill>
                <a:latin typeface="Calibri Light"/>
                <a:ea typeface="Calibri Light"/>
                <a:cs typeface="Calibri Light"/>
              </a:rPr>
              <a:t>The paper constructs one matrix per instrument and year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4CDCC845-0954-47BE-99D9-ACC92C7E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40E37CD-502F-44AD-863C-998C0D34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571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7D68AFC4-C9F0-4906-8B90-9F78159C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04900"/>
            <a:ext cx="541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E5B8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2E5B88"/>
                </a:solidFill>
                <a:latin typeface="Calibri"/>
                <a:ea typeface="Calibri"/>
                <a:cs typeface="Calibri"/>
              </a:rPr>
              <a:t>BILATERAL DOLLAR CLAIMS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169CDC6F-7B71-4F41-AC26-C991BF45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04900"/>
            <a:ext cx="541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E5B8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2E5B88"/>
                </a:solidFill>
                <a:latin typeface="Calibri"/>
                <a:ea typeface="Calibri"/>
                <a:cs typeface="Calibri"/>
              </a:rPr>
              <a:t>2025 TARGET DIMENSIONS</a:t>
            </a:r>
          </a:p>
        </p:txBody>
      </p:sp>
      <p:sp>
        <p:nvSpPr>
          <p:cNvPr id="7" name="Regenerated 2021 saving-glut figure-frame">
            <a:extLst xmlns:a="http://schemas.openxmlformats.org/drawingml/2006/main">
              <a:ext uri="{FF2B5EF4-FFF2-40B4-BE49-F238E27FC236}">
                <a16:creationId xmlns:a16="http://schemas.microsoft.com/office/drawing/2014/main" id="{F41A9B74-0FDD-4969-A588-536A7E714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476625"/>
          </a:xfrm>
          <a:prstGeom xmlns:a="http://schemas.openxmlformats.org/drawingml/2006/main" prst="roundRect">
            <a:avLst>
              <a:gd name="adj" fmla="val 2192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0" name="Picture 3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f772455a094e79"/>
          <a:stretch xmlns:a="http://schemas.openxmlformats.org/drawingml/2006/main"/>
        </p:blipFill>
        <p:spPr>
          <a:xfrm xmlns:a="http://schemas.openxmlformats.org/drawingml/2006/main">
            <a:off x="11715750" y="676275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9" name="2025 Figure 5 saving by wealth group-frame">
            <a:extLst xmlns:a="http://schemas.openxmlformats.org/drawingml/2006/main">
              <a:ext uri="{FF2B5EF4-FFF2-40B4-BE49-F238E27FC236}">
                <a16:creationId xmlns:a16="http://schemas.microsoft.com/office/drawing/2014/main" id="{CECC33D5-8AA8-489D-A8CE-CF41FD19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476625"/>
          </a:xfrm>
          <a:prstGeom xmlns:a="http://schemas.openxmlformats.org/drawingml/2006/main" prst="roundRect">
            <a:avLst>
              <a:gd name="adj" fmla="val 2192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2" name="Picture 3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f772455a094e79"/>
          <a:stretch xmlns:a="http://schemas.openxmlformats.org/drawingml/2006/main"/>
        </p:blipFill>
        <p:spPr>
          <a:xfrm xmlns:a="http://schemas.openxmlformats.org/drawingml/2006/main">
            <a:off x="11715750" y="676275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661CFCE0-D157-4A4A-A3D4-5070BEB38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95875"/>
            <a:ext cx="112776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DF2F6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16808DF2-B678-483C-92D7-325DE584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4C8931D4-85C6-4FA0-9526-7745475E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2428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65D16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C65D16"/>
                </a:solidFill>
                <a:latin typeface="Calibri"/>
                <a:ea typeface="Calibri"/>
                <a:cs typeface="Calibri"/>
              </a:rPr>
              <a:t>WHY IT MATTERS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00A0EF70-9C45-4DDE-A376-FB6C73A8E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1970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Each target matrix is an instrument-specific dollar table; the current public CSV represents the same object in long form, with a different taxonomy.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A4A3628C-1F59-4962-A00B-08C286CC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825" b="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Source: 2025 paper, Section 2.2 and Equation (4); Federal Reserve FWTW documentation.</a:t>
            </a:r>
          </a:p>
        </p:txBody>
      </p:sp>
      <p:sp>
        <p:nvSpPr>
          <p:cNvPr id="19" name="xh-surface">
            <a:extLst xmlns:a="http://schemas.openxmlformats.org/drawingml/2006/main">
              <a:ext uri="{FF2B5EF4-FFF2-40B4-BE49-F238E27FC236}">
                <a16:creationId xmlns:a16="http://schemas.microsoft.com/office/drawing/2014/main" id="{A2C8F919-8B14-4EC0-955D-D2AD948D0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52625"/>
            <a:ext cx="46482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9" name="Graphic 4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f772455a094e79">
            <a:extLst>
              <a:ext uri="{96DAC541-7B7A-43D3-8B79-37D633B846F1}">
                <asvg:svgBlip xmlns:asvg="http://schemas.microsoft.com/office/drawing/2016/SVG/main" r:embed="R1d009538410043e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28700" y="2420815"/>
            <a:ext cx="4267200" cy="168520"/>
          </a:xfrm>
          <a:prstGeom xmlns:a="http://schemas.openxmlformats.org/drawingml/2006/main" prst="rect">
            <a:avLst/>
          </a:prstGeom>
        </p:spPr>
      </p:pic>
      <p:sp>
        <p:nvSpPr>
          <p:cNvPr id="21" name="xh-reads">
            <a:extLst xmlns:a="http://schemas.openxmlformats.org/drawingml/2006/main">
              <a:ext uri="{FF2B5EF4-FFF2-40B4-BE49-F238E27FC236}">
                <a16:creationId xmlns:a16="http://schemas.microsoft.com/office/drawing/2014/main" id="{E2377104-0BB7-49EE-BEF7-E2D656992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33750"/>
            <a:ext cx="43338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38100" rIns="76200" bIns="38100" anchor="t">
            <a:normAutofit/>
          </a:bodyPr>
          <a:lstStyle xmlns:a="http://schemas.openxmlformats.org/drawingml/2006/main"/>
          <a:p xmlns:a="http://schemas.openxmlformats.org/drawingml/2006/main">
            <a:pPr marL="20" indent="-12">
              <a:spcAft>
                <a:spcPts val="9"/>
              </a:spcAft>
              <a:buChar char="•"/>
              <a:defRPr sz="142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Row i identifies the issuer / borrower.</a:t>
            </a:r>
          </a:p>
          <a:p xmlns:a="http://schemas.openxmlformats.org/drawingml/2006/main">
            <a:pPr marL="20" indent="-12">
              <a:spcAft>
                <a:spcPts val="9"/>
              </a:spcAft>
              <a:buChar char="•"/>
              <a:defRPr sz="142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Column j identifies the holder / lender.</a:t>
            </a:r>
          </a:p>
          <a:p xmlns:a="http://schemas.openxmlformats.org/drawingml/2006/main">
            <a:pPr marL="20" indent="-12">
              <a:spcAft>
                <a:spcPts val="9"/>
              </a:spcAft>
              <a:buChar char="•"/>
              <a:defRPr sz="142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Each cell is a stock measured in dollars.</a:t>
            </a:r>
          </a:p>
        </p:txBody>
      </p:sp>
      <p:sp>
        <p:nvSpPr>
          <p:cNvPr id="22" name="dims-surface">
            <a:extLst xmlns:a="http://schemas.openxmlformats.org/drawingml/2006/main">
              <a:ext uri="{FF2B5EF4-FFF2-40B4-BE49-F238E27FC236}">
                <a16:creationId xmlns:a16="http://schemas.microsoft.com/office/drawing/2014/main" id="{ECBB0622-A386-4934-8D02-E00EB8006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809750"/>
            <a:ext cx="38100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dims">
            <a:extLst xmlns:a="http://schemas.openxmlformats.org/drawingml/2006/main">
              <a:ext uri="{FF2B5EF4-FFF2-40B4-BE49-F238E27FC236}">
                <a16:creationId xmlns:a16="http://schemas.microsoft.com/office/drawing/2014/main" id="{8AD349F4-3741-4B9F-8ED5-84DC03EB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9240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0">
                <a:solidFill>
                  <a:srgbClr val="102A43"/>
                </a:solidFill>
                <a:latin typeface="Cambria Math"/>
                <a:ea typeface="Cambria Math"/>
                <a:cs typeface="Cambria Math"/>
              </a:defRPr>
            </a:pPr>
            <a:r>
              <a:rPr sz="1950" b="0">
                <a:solidFill>
                  <a:srgbClr val="102A43"/>
                </a:solidFill>
                <a:latin typeface="Cambria Math"/>
                <a:ea typeface="Cambria Math"/>
                <a:cs typeface="Cambria Math"/>
              </a:rPr>
              <a:t>34 instruments × years</a:t>
            </a:r>
          </a:p>
        </p:txBody>
      </p:sp>
      <p:sp>
        <p:nvSpPr>
          <p:cNvPr id="24" name="sectors-surface">
            <a:extLst xmlns:a="http://schemas.openxmlformats.org/drawingml/2006/main">
              <a:ext uri="{FF2B5EF4-FFF2-40B4-BE49-F238E27FC236}">
                <a16:creationId xmlns:a16="http://schemas.microsoft.com/office/drawing/2014/main" id="{770901C1-BD24-4282-9E63-1B7531A90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14625"/>
            <a:ext cx="442912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ectors">
            <a:extLst xmlns:a="http://schemas.openxmlformats.org/drawingml/2006/main">
              <a:ext uri="{FF2B5EF4-FFF2-40B4-BE49-F238E27FC236}">
                <a16:creationId xmlns:a16="http://schemas.microsoft.com/office/drawing/2014/main" id="{86D2B9F1-3427-4075-8D5F-2C7824B83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828925"/>
            <a:ext cx="41624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0">
                <a:solidFill>
                  <a:srgbClr val="102A43"/>
                </a:solidFill>
                <a:latin typeface="Cambria Math"/>
                <a:ea typeface="Cambria Math"/>
                <a:cs typeface="Cambria Math"/>
              </a:defRPr>
            </a:pPr>
            <a:r>
              <a:rPr sz="1950" b="0">
                <a:solidFill>
                  <a:srgbClr val="102A43"/>
                </a:solidFill>
                <a:latin typeface="Cambria Math"/>
                <a:ea typeface="Cambria Math"/>
                <a:cs typeface="Cambria Math"/>
              </a:rPr>
              <a:t>23 intermediaries + 4 owners</a:t>
            </a:r>
          </a:p>
        </p:txBody>
      </p:sp>
      <p:sp>
        <p:nvSpPr>
          <p:cNvPr id="26" name="matrix-dim-surface">
            <a:extLst xmlns:a="http://schemas.openxmlformats.org/drawingml/2006/main">
              <a:ext uri="{FF2B5EF4-FFF2-40B4-BE49-F238E27FC236}">
                <a16:creationId xmlns:a16="http://schemas.microsoft.com/office/drawing/2014/main" id="{EBAFE585-7F55-40B7-9DE4-C220A341F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19500"/>
            <a:ext cx="347662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65D1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56" name="Graphic 5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a4daa434324bbf">
            <a:extLst>
              <a:ext uri="{96DAC541-7B7A-43D3-8B79-37D633B846F1}">
                <asvg:svgBlip xmlns:asvg="http://schemas.microsoft.com/office/drawing/2016/SVG/main" r:embed="R761c402ecc704ab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543074" y="3733800"/>
            <a:ext cx="2677978" cy="400050"/>
          </a:xfrm>
          <a:prstGeom xmlns:a="http://schemas.openxmlformats.org/drawingml/2006/main" prst="rect">
            <a:avLst/>
          </a:prstGeom>
        </p:spPr>
      </p:pic>
      <p:sp>
        <p:nvSpPr>
          <p:cNvPr id="28" name="dims-note">
            <a:extLst xmlns:a="http://schemas.openxmlformats.org/drawingml/2006/main">
              <a:ext uri="{FF2B5EF4-FFF2-40B4-BE49-F238E27FC236}">
                <a16:creationId xmlns:a16="http://schemas.microsoft.com/office/drawing/2014/main" id="{101D7C24-1451-456B-95FF-C61E357B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10075"/>
            <a:ext cx="4048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735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The matrices are combined only after their dollar cells are defined.</a:t>
            </a:r>
          </a:p>
        </p:txBody>
      </p:sp>
    </p:spTree>
    <p:extLst>
      <p:ext uri="{BB962C8B-B14F-4D97-AF65-F5344CB8AC3E}">
        <p14:creationId xmlns:p14="http://schemas.microsoft.com/office/powerpoint/2010/main" val="165843873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21B0EF0-DF12-49E0-8282-A5EB5B11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C65D16"/>
                </a:solidFill>
                <a:latin typeface="Calibri"/>
                <a:ea typeface="Calibri"/>
                <a:cs typeface="Calibri"/>
              </a:rPr>
              <a:t>BILATERAL BALANCING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80D81F7-DD28-469F-9690-DA4664C9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  <a:latin typeface="Calibri Light"/>
                <a:ea typeface="Calibri Light"/>
                <a:cs typeface="Calibri Light"/>
              </a:defRPr>
            </a:pPr>
            <a:r>
              <a:rPr sz="2700" b="1">
                <a:solidFill>
                  <a:srgbClr val="102A43"/>
                </a:solidFill>
                <a:latin typeface="Calibri Light"/>
                <a:ea typeface="Calibri Light"/>
                <a:cs typeface="Calibri Light"/>
              </a:rPr>
              <a:t>FWTW completes unidentified cells before DINA enters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4CDCC845-0954-47BE-99D9-ACC92C7E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40E37CD-502F-44AD-863C-998C0D34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571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7D68AFC4-C9F0-4906-8B90-9F78159C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04900"/>
            <a:ext cx="541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E5B8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2E5B88"/>
                </a:solidFill>
                <a:latin typeface="Calibri"/>
                <a:ea typeface="Calibri"/>
                <a:cs typeface="Calibri"/>
              </a:rPr>
              <a:t>WHEN ONE CELL REMAINS UNIDENTIFIED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169CDC6F-7B71-4F41-AC26-C991BF45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04900"/>
            <a:ext cx="541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E5B8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2E5B88"/>
                </a:solidFill>
                <a:latin typeface="Calibri"/>
                <a:ea typeface="Calibri"/>
                <a:cs typeface="Calibri"/>
              </a:rPr>
              <a:t>WHEN MANY CELLS REMAIN UNIDENTIFIED</a:t>
            </a:r>
          </a:p>
        </p:txBody>
      </p:sp>
      <p:sp>
        <p:nvSpPr>
          <p:cNvPr id="7" name="Regenerated 2021 saving-glut figure-frame">
            <a:extLst xmlns:a="http://schemas.openxmlformats.org/drawingml/2006/main">
              <a:ext uri="{FF2B5EF4-FFF2-40B4-BE49-F238E27FC236}">
                <a16:creationId xmlns:a16="http://schemas.microsoft.com/office/drawing/2014/main" id="{F41A9B74-0FDD-4969-A588-536A7E714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476625"/>
          </a:xfrm>
          <a:prstGeom xmlns:a="http://schemas.openxmlformats.org/drawingml/2006/main" prst="roundRect">
            <a:avLst>
              <a:gd name="adj" fmla="val 2192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5" name="Picture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7b007292d644b2"/>
          <a:stretch xmlns:a="http://schemas.openxmlformats.org/drawingml/2006/main"/>
        </p:blipFill>
        <p:spPr>
          <a:xfrm xmlns:a="http://schemas.openxmlformats.org/drawingml/2006/main">
            <a:off x="11715750" y="676275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9" name="2025 Figure 5 saving by wealth group-frame">
            <a:extLst xmlns:a="http://schemas.openxmlformats.org/drawingml/2006/main">
              <a:ext uri="{FF2B5EF4-FFF2-40B4-BE49-F238E27FC236}">
                <a16:creationId xmlns:a16="http://schemas.microsoft.com/office/drawing/2014/main" id="{CECC33D5-8AA8-489D-A8CE-CF41FD19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476625"/>
          </a:xfrm>
          <a:prstGeom xmlns:a="http://schemas.openxmlformats.org/drawingml/2006/main" prst="roundRect">
            <a:avLst>
              <a:gd name="adj" fmla="val 2192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7" name="Picture 4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7b007292d644b2"/>
          <a:stretch xmlns:a="http://schemas.openxmlformats.org/drawingml/2006/main"/>
        </p:blipFill>
        <p:spPr>
          <a:xfrm xmlns:a="http://schemas.openxmlformats.org/drawingml/2006/main">
            <a:off x="11715750" y="676275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661CFCE0-D157-4A4A-A3D4-5070BEB38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95875"/>
            <a:ext cx="112776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DF2F6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16808DF2-B678-483C-92D7-325DE584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4C8931D4-85C6-4FA0-9526-7745475E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2428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65D16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C65D16"/>
                </a:solidFill>
                <a:latin typeface="Calibri"/>
                <a:ea typeface="Calibri"/>
                <a:cs typeface="Calibri"/>
              </a:rPr>
              <a:t>WHY IT MATTERS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00A0EF70-9C45-4DDE-A376-FB6C73A8E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1970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The released public FWTW CSV already contains completed estimates; DINA later splits the household-holder column across wealth groups.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A4A3628C-1F59-4962-A00B-08C286CC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825" b="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Source: 2025 paper, Section 2.2; Batty et al. (2023); Federal Reserve FWTW templates.</a:t>
            </a:r>
          </a:p>
        </p:txBody>
      </p:sp>
      <p:sp>
        <p:nvSpPr>
          <p:cNvPr id="19" name="residual-surface">
            <a:extLst xmlns:a="http://schemas.openxmlformats.org/drawingml/2006/main">
              <a:ext uri="{FF2B5EF4-FFF2-40B4-BE49-F238E27FC236}">
                <a16:creationId xmlns:a16="http://schemas.microsoft.com/office/drawing/2014/main" id="{E88BBF10-21F8-4229-9748-CD3B9FFFB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00250"/>
            <a:ext cx="46863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65D1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54" name="Graphic 5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cf8b03a5f945b1">
            <a:extLst>
              <a:ext uri="{96DAC541-7B7A-43D3-8B79-37D633B846F1}">
                <asvg:svgBlip xmlns:asvg="http://schemas.microsoft.com/office/drawing/2016/SVG/main" r:embed="R7cd39a61c6714d4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932586" y="2114550"/>
            <a:ext cx="2459428" cy="609600"/>
          </a:xfrm>
          <a:prstGeom xmlns:a="http://schemas.openxmlformats.org/drawingml/2006/main" prst="rect">
            <a:avLst/>
          </a:prstGeom>
        </p:spPr>
      </p:pic>
      <p:sp>
        <p:nvSpPr>
          <p:cNvPr id="21" name="residual-copy">
            <a:extLst xmlns:a="http://schemas.openxmlformats.org/drawingml/2006/main">
              <a:ext uri="{FF2B5EF4-FFF2-40B4-BE49-F238E27FC236}">
                <a16:creationId xmlns:a16="http://schemas.microsoft.com/office/drawing/2014/main" id="{DBD61D78-0E98-4C2D-AC7A-06DD9E2BF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276600"/>
            <a:ext cx="4286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A residual is exact only when authoritative margins leave exactly one bilateral component unidentified.</a:t>
            </a:r>
          </a:p>
        </p:txBody>
      </p:sp>
      <p:sp>
        <p:nvSpPr>
          <p:cNvPr id="22" name="one-cell">
            <a:extLst xmlns:a="http://schemas.openxmlformats.org/drawingml/2006/main">
              <a:ext uri="{FF2B5EF4-FFF2-40B4-BE49-F238E27FC236}">
                <a16:creationId xmlns:a16="http://schemas.microsoft.com/office/drawing/2014/main" id="{9E0CB8B6-738D-4C72-A0DA-9B7004EDE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400550"/>
            <a:ext cx="26670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A7F7F"/>
          </a:solidFill>
          <a:ln xmlns:a="http://schemas.openxmlformats.org/drawingml/2006/main" w="9525">
            <a:solidFill>
              <a:srgbClr val="2A7F7F"/>
            </a:solidFill>
            <a:prstDash val="solid"/>
          </a:ln>
        </p:spPr>
        <p:txBody>
          <a:bodyPr xmlns:a="http://schemas.openxmlformats.org/drawingml/2006/main" wrap="square" lIns="38100" tIns="9525" rIns="3810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ACCOUNTING IDENTITY</a:t>
            </a:r>
          </a:p>
        </p:txBody>
      </p:sp>
      <p:sp>
        <p:nvSpPr>
          <p:cNvPr id="23" name="balance1-surface">
            <a:extLst xmlns:a="http://schemas.openxmlformats.org/drawingml/2006/main">
              <a:ext uri="{FF2B5EF4-FFF2-40B4-BE49-F238E27FC236}">
                <a16:creationId xmlns:a16="http://schemas.microsoft.com/office/drawing/2014/main" id="{00A949E5-4C76-449C-AEB6-19FE3CD1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95450"/>
            <a:ext cx="4429125" cy="838200"/>
          </a:xfrm>
          <a:prstGeom xmlns:a="http://schemas.openxmlformats.org/drawingml/2006/main" prst="roundRect">
            <a:avLst>
              <a:gd name="adj" fmla="val 102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balance1-number">
            <a:extLst xmlns:a="http://schemas.openxmlformats.org/drawingml/2006/main">
              <a:ext uri="{FF2B5EF4-FFF2-40B4-BE49-F238E27FC236}">
                <a16:creationId xmlns:a16="http://schemas.microsoft.com/office/drawing/2014/main" id="{C2C20121-0111-4803-93B7-D60A4CDF7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8478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solidFill>
              <a:srgbClr val="2E5B88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5" name="balance1-title">
            <a:extLst xmlns:a="http://schemas.openxmlformats.org/drawingml/2006/main">
              <a:ext uri="{FF2B5EF4-FFF2-40B4-BE49-F238E27FC236}">
                <a16:creationId xmlns:a16="http://schemas.microsoft.com/office/drawing/2014/main" id="{B17285E8-C47E-479C-A8B4-844F2CB7F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828800"/>
            <a:ext cx="3629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Keep known cells and exclusions</a:t>
            </a:r>
          </a:p>
        </p:txBody>
      </p:sp>
      <p:sp>
        <p:nvSpPr>
          <p:cNvPr id="26" name="balance1-detail">
            <a:extLst xmlns:a="http://schemas.openxmlformats.org/drawingml/2006/main">
              <a:ext uri="{FF2B5EF4-FFF2-40B4-BE49-F238E27FC236}">
                <a16:creationId xmlns:a16="http://schemas.microsoft.com/office/drawing/2014/main" id="{B13F40F9-A798-4A92-A01D-C65C3E32D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124075"/>
            <a:ext cx="36290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7897"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Use exact relationships and rule out impossible ones.</a:t>
            </a:r>
          </a:p>
        </p:txBody>
      </p:sp>
      <p:sp>
        <p:nvSpPr>
          <p:cNvPr id="27" name="balance2-surface">
            <a:extLst xmlns:a="http://schemas.openxmlformats.org/drawingml/2006/main">
              <a:ext uri="{FF2B5EF4-FFF2-40B4-BE49-F238E27FC236}">
                <a16:creationId xmlns:a16="http://schemas.microsoft.com/office/drawing/2014/main" id="{6DDF9074-334E-4FCE-8748-01010DFAB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05100"/>
            <a:ext cx="4429125" cy="838200"/>
          </a:xfrm>
          <a:prstGeom xmlns:a="http://schemas.openxmlformats.org/drawingml/2006/main" prst="roundRect">
            <a:avLst>
              <a:gd name="adj" fmla="val 102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balance2-number">
            <a:extLst xmlns:a="http://schemas.openxmlformats.org/drawingml/2006/main">
              <a:ext uri="{FF2B5EF4-FFF2-40B4-BE49-F238E27FC236}">
                <a16:creationId xmlns:a16="http://schemas.microsoft.com/office/drawing/2014/main" id="{BA0C64AD-FA91-44F3-9F2E-327C00A68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8575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solidFill>
              <a:srgbClr val="C65D16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9" name="balance2-title">
            <a:extLst xmlns:a="http://schemas.openxmlformats.org/drawingml/2006/main">
              <a:ext uri="{FF2B5EF4-FFF2-40B4-BE49-F238E27FC236}">
                <a16:creationId xmlns:a16="http://schemas.microsoft.com/office/drawing/2014/main" id="{67B8E3EC-5252-463F-B1E4-E70081BF0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38450"/>
            <a:ext cx="3629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Allocate remaining residuals</a:t>
            </a:r>
          </a:p>
        </p:txBody>
      </p:sp>
      <p:sp>
        <p:nvSpPr>
          <p:cNvPr id="30" name="balance2-detail">
            <a:extLst xmlns:a="http://schemas.openxmlformats.org/drawingml/2006/main">
              <a:ext uri="{FF2B5EF4-FFF2-40B4-BE49-F238E27FC236}">
                <a16:creationId xmlns:a16="http://schemas.microsoft.com/office/drawing/2014/main" id="{B7CF8888-581F-40CF-AB80-7D0352ACA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133725"/>
            <a:ext cx="36290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Apply documented proportionality assumptions.</a:t>
            </a:r>
          </a:p>
        </p:txBody>
      </p:sp>
      <p:sp>
        <p:nvSpPr>
          <p:cNvPr id="31" name="balance3-surface">
            <a:extLst xmlns:a="http://schemas.openxmlformats.org/drawingml/2006/main">
              <a:ext uri="{FF2B5EF4-FFF2-40B4-BE49-F238E27FC236}">
                <a16:creationId xmlns:a16="http://schemas.microsoft.com/office/drawing/2014/main" id="{16406E17-83EB-49AB-8E7A-68EC7DD7F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14750"/>
            <a:ext cx="4429125" cy="838200"/>
          </a:xfrm>
          <a:prstGeom xmlns:a="http://schemas.openxmlformats.org/drawingml/2006/main" prst="roundRect">
            <a:avLst>
              <a:gd name="adj" fmla="val 102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balance3-number">
            <a:extLst xmlns:a="http://schemas.openxmlformats.org/drawingml/2006/main">
              <a:ext uri="{FF2B5EF4-FFF2-40B4-BE49-F238E27FC236}">
                <a16:creationId xmlns:a16="http://schemas.microsoft.com/office/drawing/2014/main" id="{F7901503-EA98-4F16-8F96-E5CFDAFB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671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F7F"/>
          </a:solidFill>
          <a:ln xmlns:a="http://schemas.openxmlformats.org/drawingml/2006/main" w="0">
            <a:solidFill>
              <a:srgbClr val="2A7F7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33" name="balance3-title">
            <a:extLst xmlns:a="http://schemas.openxmlformats.org/drawingml/2006/main">
              <a:ext uri="{FF2B5EF4-FFF2-40B4-BE49-F238E27FC236}">
                <a16:creationId xmlns:a16="http://schemas.microsoft.com/office/drawing/2014/main" id="{6F73C336-7082-43ED-8FB8-A19A47D10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848100"/>
            <a:ext cx="3629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Iterate to both margins</a:t>
            </a:r>
          </a:p>
        </p:txBody>
      </p:sp>
      <p:sp>
        <p:nvSpPr>
          <p:cNvPr id="34" name="balance3-detail">
            <a:extLst xmlns:a="http://schemas.openxmlformats.org/drawingml/2006/main">
              <a:ext uri="{FF2B5EF4-FFF2-40B4-BE49-F238E27FC236}">
                <a16:creationId xmlns:a16="http://schemas.microsoft.com/office/drawing/2014/main" id="{A37B9960-07F2-4829-AD5B-D88574212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143375"/>
            <a:ext cx="36290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Preserve issuer and holder totals simultaneously.</a:t>
            </a:r>
          </a:p>
        </p:txBody>
      </p:sp>
    </p:spTree>
    <p:extLst>
      <p:ext uri="{BB962C8B-B14F-4D97-AF65-F5344CB8AC3E}">
        <p14:creationId xmlns:p14="http://schemas.microsoft.com/office/powerpoint/2010/main" val="16584387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21B0EF0-DF12-49E0-8282-A5EB5B11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C65D16"/>
                </a:solidFill>
                <a:latin typeface="Calibri"/>
                <a:ea typeface="Calibri"/>
                <a:cs typeface="Calibri"/>
              </a:rPr>
              <a:t>DIRECT OWNERSHIP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80D81F7-DD28-469F-9690-DA4664C9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  <a:latin typeface="Calibri Light"/>
                <a:ea typeface="Calibri Light"/>
                <a:cs typeface="Calibri Light"/>
              </a:defRPr>
            </a:pPr>
            <a:r>
              <a:rPr sz="2700" b="1">
                <a:solidFill>
                  <a:srgbClr val="102A43"/>
                </a:solidFill>
                <a:latin typeface="Calibri Light"/>
                <a:ea typeface="Calibri Light"/>
                <a:cs typeface="Calibri Light"/>
              </a:rPr>
              <a:t>Row normalization converts dollars into direct ownership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4CDCC845-0954-47BE-99D9-ACC92C7E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40E37CD-502F-44AD-863C-998C0D34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571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7D68AFC4-C9F0-4906-8B90-9F78159C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04900"/>
            <a:ext cx="541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E5B8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2E5B88"/>
                </a:solidFill>
                <a:latin typeface="Calibri"/>
                <a:ea typeface="Calibri"/>
                <a:cs typeface="Calibri"/>
              </a:rPr>
              <a:t>PAPER EQUATION (4)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169CDC6F-7B71-4F41-AC26-C991BF45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04900"/>
            <a:ext cx="541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E5B8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2E5B88"/>
                </a:solidFill>
                <a:latin typeface="Calibri"/>
                <a:ea typeface="Calibri"/>
                <a:cs typeface="Calibri"/>
              </a:rPr>
              <a:t>BOUNDARY CONTRACT</a:t>
            </a:r>
          </a:p>
        </p:txBody>
      </p:sp>
      <p:sp>
        <p:nvSpPr>
          <p:cNvPr id="7" name="Regenerated 2021 saving-glut figure-frame">
            <a:extLst xmlns:a="http://schemas.openxmlformats.org/drawingml/2006/main">
              <a:ext uri="{FF2B5EF4-FFF2-40B4-BE49-F238E27FC236}">
                <a16:creationId xmlns:a16="http://schemas.microsoft.com/office/drawing/2014/main" id="{F41A9B74-0FDD-4969-A588-536A7E714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476625"/>
          </a:xfrm>
          <a:prstGeom xmlns:a="http://schemas.openxmlformats.org/drawingml/2006/main" prst="roundRect">
            <a:avLst>
              <a:gd name="adj" fmla="val 2192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36" name="Picture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6a0df2ed774eb8"/>
          <a:stretch xmlns:a="http://schemas.openxmlformats.org/drawingml/2006/main"/>
        </p:blipFill>
        <p:spPr>
          <a:xfrm xmlns:a="http://schemas.openxmlformats.org/drawingml/2006/main">
            <a:off x="11715750" y="676275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9" name="2025 Figure 5 saving by wealth group-frame">
            <a:extLst xmlns:a="http://schemas.openxmlformats.org/drawingml/2006/main">
              <a:ext uri="{FF2B5EF4-FFF2-40B4-BE49-F238E27FC236}">
                <a16:creationId xmlns:a16="http://schemas.microsoft.com/office/drawing/2014/main" id="{CECC33D5-8AA8-489D-A8CE-CF41FD19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476625"/>
          </a:xfrm>
          <a:prstGeom xmlns:a="http://schemas.openxmlformats.org/drawingml/2006/main" prst="roundRect">
            <a:avLst>
              <a:gd name="adj" fmla="val 2192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38" name="Picture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6a0df2ed774eb8"/>
          <a:stretch xmlns:a="http://schemas.openxmlformats.org/drawingml/2006/main"/>
        </p:blipFill>
        <p:spPr>
          <a:xfrm xmlns:a="http://schemas.openxmlformats.org/drawingml/2006/main">
            <a:off x="11715750" y="676275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661CFCE0-D157-4A4A-A3D4-5070BEB38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95875"/>
            <a:ext cx="112776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DF2F6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16808DF2-B678-483C-92D7-325DE584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4C8931D4-85C6-4FA0-9526-7745475E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2428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65D16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C65D16"/>
                </a:solidFill>
                <a:latin typeface="Calibri"/>
                <a:ea typeface="Calibri"/>
                <a:cs typeface="Calibri"/>
              </a:rPr>
              <a:t>WHY IT MATTERS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00A0EF70-9C45-4DDE-A376-FB6C73A8E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1970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38100" rIns="38100" bIns="3810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Normalization changes units from dollars to funding shares while preserving each issuer's composition.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A4A3628C-1F59-4962-A00B-08C286CC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825" b="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Source: Mian, Straub, and Sufi (2025), Equation (4).</a:t>
            </a:r>
          </a:p>
        </p:txBody>
      </p:sp>
      <p:sp>
        <p:nvSpPr>
          <p:cNvPr id="19" name="row-norm-surface">
            <a:extLst xmlns:a="http://schemas.openxmlformats.org/drawingml/2006/main">
              <a:ext uri="{FF2B5EF4-FFF2-40B4-BE49-F238E27FC236}">
                <a16:creationId xmlns:a16="http://schemas.microsoft.com/office/drawing/2014/main" id="{566D4A11-AEB1-4BE8-A6D6-1F43AFBC7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4476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65D1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5" name="Graphic 4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aa9c5bdcf342e6">
            <a:extLst>
              <a:ext uri="{96DAC541-7B7A-43D3-8B79-37D633B846F1}">
                <asvg:svgBlip xmlns:asvg="http://schemas.microsoft.com/office/drawing/2016/SVG/main" r:embed="R45b09ca8248d4e4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258588" y="2209800"/>
            <a:ext cx="3769324" cy="647700"/>
          </a:xfrm>
          <a:prstGeom xmlns:a="http://schemas.openxmlformats.org/drawingml/2006/main" prst="rect">
            <a:avLst/>
          </a:prstGeom>
        </p:spPr>
      </p:pic>
      <p:sp>
        <p:nvSpPr>
          <p:cNvPr id="21" name="dollar-arrow">
            <a:extLst xmlns:a="http://schemas.openxmlformats.org/drawingml/2006/main">
              <a:ext uri="{FF2B5EF4-FFF2-40B4-BE49-F238E27FC236}">
                <a16:creationId xmlns:a16="http://schemas.microsoft.com/office/drawing/2014/main" id="{1229F607-E286-4226-A1C6-445D26F79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76625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dollar positions  →  unit-free shares</a:t>
            </a:r>
          </a:p>
        </p:txBody>
      </p:sp>
      <p:sp>
        <p:nvSpPr>
          <p:cNvPr id="22" name="row-invariant-surface">
            <a:extLst xmlns:a="http://schemas.openxmlformats.org/drawingml/2006/main">
              <a:ext uri="{FF2B5EF4-FFF2-40B4-BE49-F238E27FC236}">
                <a16:creationId xmlns:a16="http://schemas.microsoft.com/office/drawing/2014/main" id="{A1840338-1CC4-448B-8F7F-7365FDD5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171950"/>
            <a:ext cx="2952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F7FAF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8" name="Graphic 4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9801c4056f403a">
            <a:extLst>
              <a:ext uri="{96DAC541-7B7A-43D3-8B79-37D633B846F1}">
                <asvg:svgBlip xmlns:asvg="http://schemas.microsoft.com/office/drawing/2016/SVG/main" r:embed="R6088bc9538004fc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083077" y="4286250"/>
            <a:ext cx="2120346" cy="323850"/>
          </a:xfrm>
          <a:prstGeom xmlns:a="http://schemas.openxmlformats.org/drawingml/2006/main" prst="rect">
            <a:avLst/>
          </a:prstGeom>
        </p:spPr>
      </p:pic>
      <p:sp>
        <p:nvSpPr>
          <p:cNvPr id="24" name="norm-contract">
            <a:extLst xmlns:a="http://schemas.openxmlformats.org/drawingml/2006/main">
              <a:ext uri="{FF2B5EF4-FFF2-40B4-BE49-F238E27FC236}">
                <a16:creationId xmlns:a16="http://schemas.microsoft.com/office/drawing/2014/main" id="{E42FDE02-7E8F-416A-8F48-9A603C101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57375"/>
            <a:ext cx="42862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38100" rIns="76200" bIns="38100" anchor="t">
            <a:normAutofit/>
          </a:bodyPr>
          <a:lstStyle xmlns:a="http://schemas.openxmlformats.org/drawingml/2006/main"/>
          <a:p xmlns:a="http://schemas.openxmlformats.org/drawingml/2006/main">
            <a:pPr marL="20" indent="-12">
              <a:spcAft>
                <a:spcPts val="9"/>
              </a:spcAft>
              <a:buChar char="•"/>
              <a:defRPr sz="1500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Input:</a:t>
            </a:r>
            <a:r>
              <a:rPr sz="1500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 complete bilateral dollar matrices.</a:t>
            </a:r>
          </a:p>
          <a:p xmlns:a="http://schemas.openxmlformats.org/drawingml/2006/main">
            <a:pPr marL="20" indent="-12">
              <a:spcAft>
                <a:spcPts val="9"/>
              </a:spcAft>
              <a:buChar char="•"/>
              <a:defRPr sz="1500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Denominator:</a:t>
            </a:r>
            <a:r>
              <a:rPr sz="1500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 issuer's own total liabilities.</a:t>
            </a:r>
          </a:p>
          <a:p xmlns:a="http://schemas.openxmlformats.org/drawingml/2006/main">
            <a:pPr marL="20" indent="-12">
              <a:spcAft>
                <a:spcPts val="9"/>
              </a:spcAft>
              <a:buChar char="•"/>
              <a:defRPr sz="1500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Output:</a:t>
            </a:r>
            <a:r>
              <a:rPr sz="1500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 one direct-ownership matrix per year.</a:t>
            </a:r>
          </a:p>
          <a:p xmlns:a="http://schemas.openxmlformats.org/drawingml/2006/main">
            <a:pPr marL="20" indent="-12">
              <a:spcAft>
                <a:spcPts val="9"/>
              </a:spcAft>
              <a:buChar char="•"/>
              <a:defRPr sz="1500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Invariant:</a:t>
            </a:r>
            <a:r>
              <a:rPr sz="1500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 complete issuer rows sum to one.</a:t>
            </a:r>
          </a:p>
        </p:txBody>
      </p:sp>
    </p:spTree>
    <p:extLst>
      <p:ext uri="{BB962C8B-B14F-4D97-AF65-F5344CB8AC3E}">
        <p14:creationId xmlns:p14="http://schemas.microsoft.com/office/powerpoint/2010/main" val="165843873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21B0EF0-DF12-49E0-8282-A5EB5B11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C65D16"/>
                </a:solidFill>
                <a:latin typeface="Calibri"/>
                <a:ea typeface="Calibri"/>
                <a:cs typeface="Calibri"/>
              </a:rPr>
              <a:t>HOUSEHOLD HETEROGENEITY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80D81F7-DD28-469F-9690-DA4664C9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  <a:latin typeface="Calibri Light"/>
                <a:ea typeface="Calibri Light"/>
                <a:cs typeface="Calibri Light"/>
              </a:defRPr>
            </a:pPr>
            <a:r>
              <a:rPr sz="2700" b="1">
                <a:solidFill>
                  <a:srgbClr val="102A43"/>
                </a:solidFill>
                <a:latin typeface="Calibri Light"/>
                <a:ea typeface="Calibri Light"/>
                <a:cs typeface="Calibri Light"/>
              </a:rPr>
              <a:t>DINA allocates household totals across cohorts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4CDCC845-0954-47BE-99D9-ACC92C7E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40E37CD-502F-44AD-863C-998C0D34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571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7D68AFC4-C9F0-4906-8B90-9F78159C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04900"/>
            <a:ext cx="541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E5B8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2E5B88"/>
                </a:solidFill>
                <a:latin typeface="Calibri"/>
                <a:ea typeface="Calibri"/>
                <a:cs typeface="Calibri"/>
              </a:rPr>
              <a:t>WHAT DINA CONTRIBUTES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169CDC6F-7B71-4F41-AC26-C991BF45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04900"/>
            <a:ext cx="541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E5B8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2E5B88"/>
                </a:solidFill>
                <a:latin typeface="Calibri"/>
                <a:ea typeface="Calibri"/>
                <a:cs typeface="Calibri"/>
              </a:rPr>
              <a:t>WHAT DINA DOES NOT CONTRIBUTE</a:t>
            </a:r>
          </a:p>
        </p:txBody>
      </p:sp>
      <p:sp>
        <p:nvSpPr>
          <p:cNvPr id="7" name="Regenerated 2021 saving-glut figure-frame">
            <a:extLst xmlns:a="http://schemas.openxmlformats.org/drawingml/2006/main">
              <a:ext uri="{FF2B5EF4-FFF2-40B4-BE49-F238E27FC236}">
                <a16:creationId xmlns:a16="http://schemas.microsoft.com/office/drawing/2014/main" id="{F41A9B74-0FDD-4969-A588-536A7E714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476625"/>
          </a:xfrm>
          <a:prstGeom xmlns:a="http://schemas.openxmlformats.org/drawingml/2006/main" prst="roundRect">
            <a:avLst>
              <a:gd name="adj" fmla="val 2192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38" name="Picture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ae165fe8834e78"/>
          <a:stretch xmlns:a="http://schemas.openxmlformats.org/drawingml/2006/main"/>
        </p:blipFill>
        <p:spPr>
          <a:xfrm xmlns:a="http://schemas.openxmlformats.org/drawingml/2006/main">
            <a:off x="11715750" y="676275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9" name="2025 Figure 5 saving by wealth group-frame">
            <a:extLst xmlns:a="http://schemas.openxmlformats.org/drawingml/2006/main">
              <a:ext uri="{FF2B5EF4-FFF2-40B4-BE49-F238E27FC236}">
                <a16:creationId xmlns:a16="http://schemas.microsoft.com/office/drawing/2014/main" id="{CECC33D5-8AA8-489D-A8CE-CF41FD19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476625"/>
          </a:xfrm>
          <a:prstGeom xmlns:a="http://schemas.openxmlformats.org/drawingml/2006/main" prst="roundRect">
            <a:avLst>
              <a:gd name="adj" fmla="val 2192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0" name="Picture 3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ae165fe8834e78"/>
          <a:stretch xmlns:a="http://schemas.openxmlformats.org/drawingml/2006/main"/>
        </p:blipFill>
        <p:spPr>
          <a:xfrm xmlns:a="http://schemas.openxmlformats.org/drawingml/2006/main">
            <a:off x="11715750" y="676275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661CFCE0-D157-4A4A-A3D4-5070BEB38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95875"/>
            <a:ext cx="112776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DF2F6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16808DF2-B678-483C-92D7-325DE584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4C8931D4-85C6-4FA0-9526-7745475E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2428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65D16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C65D16"/>
                </a:solidFill>
                <a:latin typeface="Calibri"/>
                <a:ea typeface="Calibri"/>
                <a:cs typeface="Calibri"/>
              </a:rPr>
              <a:t>WHY IT MATTERS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00A0EF70-9C45-4DDE-A376-FB6C73A8E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1970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38100" rIns="38100" bIns="3810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DINA supplies distributional shares by household group and asset class—not the financial-network counterparty structure.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A4A3628C-1F59-4962-A00B-08C286CC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825" b="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Source: Distributional National Accounts and paper data appendix.</a:t>
            </a:r>
          </a:p>
        </p:txBody>
      </p:sp>
      <p:sp>
        <p:nvSpPr>
          <p:cNvPr id="19" name="dina-share-surface">
            <a:extLst xmlns:a="http://schemas.openxmlformats.org/drawingml/2006/main">
              <a:ext uri="{FF2B5EF4-FFF2-40B4-BE49-F238E27FC236}">
                <a16:creationId xmlns:a16="http://schemas.microsoft.com/office/drawing/2014/main" id="{947788C2-3BB7-428F-A183-C95971779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57375"/>
            <a:ext cx="4714875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7" name="Graphic 4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02b77c42aa4127">
            <a:extLst>
              <a:ext uri="{96DAC541-7B7A-43D3-8B79-37D633B846F1}">
                <asvg:svgBlip xmlns:asvg="http://schemas.microsoft.com/office/drawing/2016/SVG/main" r:embed="R376d1a0ed4274c6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00125" y="2111400"/>
            <a:ext cx="4333875" cy="492075"/>
          </a:xfrm>
          <a:prstGeom xmlns:a="http://schemas.openxmlformats.org/drawingml/2006/main" prst="rect">
            <a:avLst/>
          </a:prstGeom>
        </p:spPr>
      </p:pic>
      <p:sp>
        <p:nvSpPr>
          <p:cNvPr id="21" name="dina-alloc-surface">
            <a:extLst xmlns:a="http://schemas.openxmlformats.org/drawingml/2006/main">
              <a:ext uri="{FF2B5EF4-FFF2-40B4-BE49-F238E27FC236}">
                <a16:creationId xmlns:a16="http://schemas.microsoft.com/office/drawing/2014/main" id="{48E71A44-B4B3-42DD-AF6D-49046DB6D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3286125"/>
            <a:ext cx="414337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65D1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9" name="Graphic 4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fb9306787948ba">
            <a:extLst>
              <a:ext uri="{96DAC541-7B7A-43D3-8B79-37D633B846F1}">
                <asvg:svgBlip xmlns:asvg="http://schemas.microsoft.com/office/drawing/2016/SVG/main" r:embed="R7a8414e9069849c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734432" y="3400425"/>
            <a:ext cx="2865260" cy="514350"/>
          </a:xfrm>
          <a:prstGeom xmlns:a="http://schemas.openxmlformats.org/drawingml/2006/main" prst="rect">
            <a:avLst/>
          </a:prstGeom>
        </p:spPr>
      </p:pic>
      <p:sp>
        <p:nvSpPr>
          <p:cNvPr id="23" name="dina-groups">
            <a:extLst xmlns:a="http://schemas.openxmlformats.org/drawingml/2006/main">
              <a:ext uri="{FF2B5EF4-FFF2-40B4-BE49-F238E27FC236}">
                <a16:creationId xmlns:a16="http://schemas.microsoft.com/office/drawing/2014/main" id="{E6152F85-1B99-4998-B5E3-566817FE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62450"/>
            <a:ext cx="3857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groups g: income or wealth cohorts</a:t>
            </a:r>
          </a:p>
        </p:txBody>
      </p:sp>
      <p:sp>
        <p:nvSpPr>
          <p:cNvPr id="24" name="not-bilateral-badge">
            <a:extLst xmlns:a="http://schemas.openxmlformats.org/drawingml/2006/main">
              <a:ext uri="{FF2B5EF4-FFF2-40B4-BE49-F238E27FC236}">
                <a16:creationId xmlns:a16="http://schemas.microsoft.com/office/drawing/2014/main" id="{1EBA2923-602C-4AAF-94E4-0847E0F2C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62125"/>
            <a:ext cx="2000250" cy="257175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B33A3A"/>
          </a:solidFill>
          <a:ln xmlns:a="http://schemas.openxmlformats.org/drawingml/2006/main" w="9525">
            <a:solidFill>
              <a:srgbClr val="B33A3A"/>
            </a:solidFill>
            <a:prstDash val="solid"/>
          </a:ln>
        </p:spPr>
        <p:txBody>
          <a:bodyPr xmlns:a="http://schemas.openxmlformats.org/drawingml/2006/main" wrap="square" lIns="38100" tIns="9525" rIns="3810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NOT BILATERAL DATA</a:t>
            </a:r>
          </a:p>
        </p:txBody>
      </p:sp>
      <p:sp>
        <p:nvSpPr>
          <p:cNvPr id="25" name="not-bilateral-list">
            <a:extLst xmlns:a="http://schemas.openxmlformats.org/drawingml/2006/main">
              <a:ext uri="{FF2B5EF4-FFF2-40B4-BE49-F238E27FC236}">
                <a16:creationId xmlns:a16="http://schemas.microsoft.com/office/drawing/2014/main" id="{0C7CC8F6-9336-4970-80D8-F44066CC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86000"/>
            <a:ext cx="42386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38100" rIns="76200" bIns="38100" anchor="t">
            <a:normAutofit/>
          </a:bodyPr>
          <a:lstStyle xmlns:a="http://schemas.openxmlformats.org/drawingml/2006/main"/>
          <a:p xmlns:a="http://schemas.openxmlformats.org/drawingml/2006/main">
            <a:pPr marL="20" indent="-12">
              <a:spcAft>
                <a:spcPts val="9"/>
              </a:spcAft>
              <a:buChar char="•"/>
              <a:defRPr sz="1500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No issuer–holder cell for each financial sector.</a:t>
            </a:r>
          </a:p>
          <a:p xmlns:a="http://schemas.openxmlformats.org/drawingml/2006/main">
            <a:pPr marL="20" indent="-12">
              <a:spcAft>
                <a:spcPts val="9"/>
              </a:spcAft>
              <a:buChar char="•"/>
              <a:defRPr sz="1500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No complete instrument-by-counterparty matrix.</a:t>
            </a:r>
          </a:p>
          <a:p xmlns:a="http://schemas.openxmlformats.org/drawingml/2006/main">
            <a:pPr marL="20" indent="-12">
              <a:spcAft>
                <a:spcPts val="9"/>
              </a:spcAft>
              <a:buChar char="•"/>
              <a:defRPr sz="1500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No reason to use it as a residual allocator.</a:t>
            </a:r>
          </a:p>
        </p:txBody>
      </p:sp>
      <p:sp>
        <p:nvSpPr>
          <p:cNvPr id="26" name="dina-role">
            <a:extLst xmlns:a="http://schemas.openxmlformats.org/drawingml/2006/main">
              <a:ext uri="{FF2B5EF4-FFF2-40B4-BE49-F238E27FC236}">
                <a16:creationId xmlns:a16="http://schemas.microsoft.com/office/drawing/2014/main" id="{544A2FC0-0C5A-47C3-9418-AEC4E5AB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171950"/>
            <a:ext cx="3952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65D16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C65D16"/>
                </a:solidFill>
                <a:latin typeface="Calibri"/>
                <a:ea typeface="Calibri"/>
                <a:cs typeface="Calibri"/>
              </a:rPr>
              <a:t>Role: split the household column after the network is built.</a:t>
            </a:r>
          </a:p>
        </p:txBody>
      </p:sp>
    </p:spTree>
    <p:extLst>
      <p:ext uri="{BB962C8B-B14F-4D97-AF65-F5344CB8AC3E}">
        <p14:creationId xmlns:p14="http://schemas.microsoft.com/office/powerpoint/2010/main" val="165843873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21B0EF0-DF12-49E0-8282-A5EB5B11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C65D16"/>
                </a:solidFill>
                <a:latin typeface="Calibri"/>
                <a:ea typeface="Calibri"/>
                <a:cs typeface="Calibri"/>
              </a:rPr>
              <a:t>AUGMENTED OWNERSHIP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80D81F7-DD28-469F-9690-DA4664C9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  <a:latin typeface="Calibri Light"/>
                <a:ea typeface="Calibri Light"/>
                <a:cs typeface="Calibri Light"/>
              </a:defRPr>
            </a:pPr>
            <a:r>
              <a:rPr sz="2700" b="1">
                <a:solidFill>
                  <a:srgbClr val="102A43"/>
                </a:solidFill>
                <a:latin typeface="Calibri Light"/>
                <a:ea typeface="Calibri Light"/>
                <a:cs typeface="Calibri Light"/>
              </a:rPr>
              <a:t>The cohort split preserves every household dollar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4CDCC845-0954-47BE-99D9-ACC92C7E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40E37CD-502F-44AD-863C-998C0D34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571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7D68AFC4-C9F0-4906-8B90-9F78159C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04900"/>
            <a:ext cx="541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E5B8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2E5B88"/>
                </a:solidFill>
                <a:latin typeface="Calibri"/>
                <a:ea typeface="Calibri"/>
                <a:cs typeface="Calibri"/>
              </a:rPr>
              <a:t>SPLIT THE HOUSEHOLD COLUMN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169CDC6F-7B71-4F41-AC26-C991BF45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04900"/>
            <a:ext cx="541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E5B8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2E5B88"/>
                </a:solidFill>
                <a:latin typeface="Calibri"/>
                <a:ea typeface="Calibri"/>
                <a:cs typeface="Calibri"/>
              </a:rPr>
              <a:t>CONSERVATION CHECK</a:t>
            </a:r>
          </a:p>
        </p:txBody>
      </p:sp>
      <p:sp>
        <p:nvSpPr>
          <p:cNvPr id="7" name="Regenerated 2021 saving-glut figure-frame">
            <a:extLst xmlns:a="http://schemas.openxmlformats.org/drawingml/2006/main">
              <a:ext uri="{FF2B5EF4-FFF2-40B4-BE49-F238E27FC236}">
                <a16:creationId xmlns:a16="http://schemas.microsoft.com/office/drawing/2014/main" id="{F41A9B74-0FDD-4969-A588-536A7E714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476625"/>
          </a:xfrm>
          <a:prstGeom xmlns:a="http://schemas.openxmlformats.org/drawingml/2006/main" prst="roundRect">
            <a:avLst>
              <a:gd name="adj" fmla="val 2192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38" name="Picture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adada2d68642af"/>
          <a:stretch xmlns:a="http://schemas.openxmlformats.org/drawingml/2006/main"/>
        </p:blipFill>
        <p:spPr>
          <a:xfrm xmlns:a="http://schemas.openxmlformats.org/drawingml/2006/main">
            <a:off x="11715750" y="676275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9" name="2025 Figure 5 saving by wealth group-frame">
            <a:extLst xmlns:a="http://schemas.openxmlformats.org/drawingml/2006/main">
              <a:ext uri="{FF2B5EF4-FFF2-40B4-BE49-F238E27FC236}">
                <a16:creationId xmlns:a16="http://schemas.microsoft.com/office/drawing/2014/main" id="{CECC33D5-8AA8-489D-A8CE-CF41FD19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476625"/>
          </a:xfrm>
          <a:prstGeom xmlns:a="http://schemas.openxmlformats.org/drawingml/2006/main" prst="roundRect">
            <a:avLst>
              <a:gd name="adj" fmla="val 2192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0" name="Picture 3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adada2d68642af"/>
          <a:stretch xmlns:a="http://schemas.openxmlformats.org/drawingml/2006/main"/>
        </p:blipFill>
        <p:spPr>
          <a:xfrm xmlns:a="http://schemas.openxmlformats.org/drawingml/2006/main">
            <a:off x="11715750" y="676275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661CFCE0-D157-4A4A-A3D4-5070BEB38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95875"/>
            <a:ext cx="112776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DF2F6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16808DF2-B678-483C-92D7-325DE584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4C8931D4-85C6-4FA0-9526-7745475E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2428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65D16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C65D16"/>
                </a:solidFill>
                <a:latin typeface="Calibri"/>
                <a:ea typeface="Calibri"/>
                <a:cs typeface="Calibri"/>
              </a:rPr>
              <a:t>WHY IT MATTERS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00A0EF70-9C45-4DDE-A376-FB6C73A8E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1970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38100" rIns="38100" bIns="3810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Household heterogeneity is appended without changing aggregate sector totals or ownership mass.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A4A3628C-1F59-4962-A00B-08C286CC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825" b="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Source: paper household augmentation; project data architecture.</a:t>
            </a:r>
          </a:p>
        </p:txBody>
      </p:sp>
      <p:sp>
        <p:nvSpPr>
          <p:cNvPr id="19" name="aug-surface">
            <a:extLst xmlns:a="http://schemas.openxmlformats.org/drawingml/2006/main">
              <a:ext uri="{FF2B5EF4-FFF2-40B4-BE49-F238E27FC236}">
                <a16:creationId xmlns:a16="http://schemas.microsoft.com/office/drawing/2014/main" id="{3F30A677-9547-4EAF-9710-CF1C4B391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48577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65D1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7" name="Graphic 4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8f47d05b5142a7">
            <a:extLst>
              <a:ext uri="{96DAC541-7B7A-43D3-8B79-37D633B846F1}">
                <asvg:svgBlip xmlns:asvg="http://schemas.microsoft.com/office/drawing/2016/SVG/main" r:embed="Rdc057caeaabb49e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3450" y="2160037"/>
            <a:ext cx="4476750" cy="537675"/>
          </a:xfrm>
          <a:prstGeom xmlns:a="http://schemas.openxmlformats.org/drawingml/2006/main" prst="rect">
            <a:avLst/>
          </a:prstGeom>
        </p:spPr>
      </p:pic>
      <p:sp>
        <p:nvSpPr>
          <p:cNvPr id="21" name="aug-copy">
            <a:extLst xmlns:a="http://schemas.openxmlformats.org/drawingml/2006/main">
              <a:ext uri="{FF2B5EF4-FFF2-40B4-BE49-F238E27FC236}">
                <a16:creationId xmlns:a16="http://schemas.microsoft.com/office/drawing/2014/main" id="{E1090716-A6D9-4437-9E5F-D1D1E5F9D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238500"/>
            <a:ext cx="428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Each instrument/asset category uses the matching DINA household share vector.</a:t>
            </a:r>
          </a:p>
        </p:txBody>
      </p:sp>
      <p:sp>
        <p:nvSpPr>
          <p:cNvPr id="22" name="aug-order">
            <a:extLst xmlns:a="http://schemas.openxmlformats.org/drawingml/2006/main">
              <a:ext uri="{FF2B5EF4-FFF2-40B4-BE49-F238E27FC236}">
                <a16:creationId xmlns:a16="http://schemas.microsoft.com/office/drawing/2014/main" id="{005ED9A8-23B6-48F7-85C1-6FAF690BD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324350"/>
            <a:ext cx="390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network first  →  group split second</a:t>
            </a:r>
          </a:p>
        </p:txBody>
      </p:sp>
      <p:sp>
        <p:nvSpPr>
          <p:cNvPr id="23" name="aug-inv-surface">
            <a:extLst xmlns:a="http://schemas.openxmlformats.org/drawingml/2006/main">
              <a:ext uri="{FF2B5EF4-FFF2-40B4-BE49-F238E27FC236}">
                <a16:creationId xmlns:a16="http://schemas.microsoft.com/office/drawing/2014/main" id="{A5333303-4B12-49E6-B7A9-B173E5217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076450"/>
            <a:ext cx="4333875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51" name="Graphic 4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3b183823d34f22">
            <a:extLst>
              <a:ext uri="{96DAC541-7B7A-43D3-8B79-37D633B846F1}">
                <asvg:svgBlip xmlns:asvg="http://schemas.microsoft.com/office/drawing/2016/SVG/main" r:embed="Rbab90a962ebf4cf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19506" y="2190750"/>
            <a:ext cx="2925112" cy="628650"/>
          </a:xfrm>
          <a:prstGeom xmlns:a="http://schemas.openxmlformats.org/drawingml/2006/main" prst="rect">
            <a:avLst/>
          </a:prstGeom>
        </p:spPr>
      </p:pic>
      <p:sp>
        <p:nvSpPr>
          <p:cNvPr id="25" name="aug-inv-copy">
            <a:extLst xmlns:a="http://schemas.openxmlformats.org/drawingml/2006/main">
              <a:ext uri="{FF2B5EF4-FFF2-40B4-BE49-F238E27FC236}">
                <a16:creationId xmlns:a16="http://schemas.microsoft.com/office/drawing/2014/main" id="{3D39D461-4B1A-45E2-9D0C-87B09667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333750"/>
            <a:ext cx="3762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43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Summing over household cohorts recovers the original household column exactly.</a:t>
            </a:r>
          </a:p>
        </p:txBody>
      </p:sp>
      <p:sp>
        <p:nvSpPr>
          <p:cNvPr id="26" name="aug-pass">
            <a:extLst xmlns:a="http://schemas.openxmlformats.org/drawingml/2006/main">
              <a:ext uri="{FF2B5EF4-FFF2-40B4-BE49-F238E27FC236}">
                <a16:creationId xmlns:a16="http://schemas.microsoft.com/office/drawing/2014/main" id="{5D00B049-C375-4E0D-A87E-BECDBDDDB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400550"/>
            <a:ext cx="304800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2A7F7F"/>
          </a:solidFill>
          <a:ln xmlns:a="http://schemas.openxmlformats.org/drawingml/2006/main" w="9525">
            <a:solidFill>
              <a:srgbClr val="2A7F7F"/>
            </a:solidFill>
            <a:prstDash val="solid"/>
          </a:ln>
        </p:spPr>
        <p:txBody>
          <a:bodyPr xmlns:a="http://schemas.openxmlformats.org/drawingml/2006/main" wrap="square" lIns="38100" tIns="9525" rIns="3810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ACCOUNTING TOTAL PRESERVED</a:t>
            </a:r>
          </a:p>
        </p:txBody>
      </p:sp>
    </p:spTree>
    <p:extLst>
      <p:ext uri="{BB962C8B-B14F-4D97-AF65-F5344CB8AC3E}">
        <p14:creationId xmlns:p14="http://schemas.microsoft.com/office/powerpoint/2010/main" val="165843873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21B0EF0-DF12-49E0-8282-A5EB5B11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C65D16"/>
                </a:solidFill>
                <a:latin typeface="Calibri"/>
                <a:ea typeface="Calibri"/>
                <a:cs typeface="Calibri"/>
              </a:rPr>
              <a:t>SAVING VS. VALUATION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80D81F7-DD28-469F-9690-DA4664C9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  <a:latin typeface="Calibri Light"/>
                <a:ea typeface="Calibri Light"/>
                <a:cs typeface="Calibri Light"/>
              </a:defRPr>
            </a:pPr>
            <a:r>
              <a:rPr sz="2700" b="1">
                <a:solidFill>
                  <a:srgbClr val="102A43"/>
                </a:solidFill>
                <a:latin typeface="Calibri Light"/>
                <a:ea typeface="Calibri Light"/>
                <a:cs typeface="Calibri Light"/>
              </a:rPr>
              <a:t>Valuation data separate saving from capital gains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4CDCC845-0954-47BE-99D9-ACC92C7E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40E37CD-502F-44AD-863C-998C0D34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571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7D68AFC4-C9F0-4906-8B90-9F78159C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04900"/>
            <a:ext cx="541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E5B8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2E5B88"/>
                </a:solidFill>
                <a:latin typeface="Calibri"/>
                <a:ea typeface="Calibri"/>
                <a:cs typeface="Calibri"/>
              </a:rPr>
              <a:t>GROUP SAVING EQUATION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169CDC6F-7B71-4F41-AC26-C991BF45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04900"/>
            <a:ext cx="541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E5B8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2E5B88"/>
                </a:solidFill>
                <a:latin typeface="Calibri"/>
                <a:ea typeface="Calibri"/>
                <a:cs typeface="Calibri"/>
              </a:rPr>
              <a:t>DATA ROLES</a:t>
            </a:r>
          </a:p>
        </p:txBody>
      </p:sp>
      <p:sp>
        <p:nvSpPr>
          <p:cNvPr id="7" name="Regenerated 2021 saving-glut figure-frame">
            <a:extLst xmlns:a="http://schemas.openxmlformats.org/drawingml/2006/main">
              <a:ext uri="{FF2B5EF4-FFF2-40B4-BE49-F238E27FC236}">
                <a16:creationId xmlns:a16="http://schemas.microsoft.com/office/drawing/2014/main" id="{F41A9B74-0FDD-4969-A588-536A7E714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476625"/>
          </a:xfrm>
          <a:prstGeom xmlns:a="http://schemas.openxmlformats.org/drawingml/2006/main" prst="roundRect">
            <a:avLst>
              <a:gd name="adj" fmla="val 2192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34" name="Picture 3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4f17a916154937"/>
          <a:stretch xmlns:a="http://schemas.openxmlformats.org/drawingml/2006/main"/>
        </p:blipFill>
        <p:spPr>
          <a:xfrm xmlns:a="http://schemas.openxmlformats.org/drawingml/2006/main">
            <a:off x="11715750" y="676275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9" name="2025 Figure 5 saving by wealth group-frame">
            <a:extLst xmlns:a="http://schemas.openxmlformats.org/drawingml/2006/main">
              <a:ext uri="{FF2B5EF4-FFF2-40B4-BE49-F238E27FC236}">
                <a16:creationId xmlns:a16="http://schemas.microsoft.com/office/drawing/2014/main" id="{CECC33D5-8AA8-489D-A8CE-CF41FD19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476625"/>
          </a:xfrm>
          <a:prstGeom xmlns:a="http://schemas.openxmlformats.org/drawingml/2006/main" prst="roundRect">
            <a:avLst>
              <a:gd name="adj" fmla="val 2192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36" name="Picture 3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4f17a916154937"/>
          <a:stretch xmlns:a="http://schemas.openxmlformats.org/drawingml/2006/main"/>
        </p:blipFill>
        <p:spPr>
          <a:xfrm xmlns:a="http://schemas.openxmlformats.org/drawingml/2006/main">
            <a:off x="11715750" y="676275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661CFCE0-D157-4A4A-A3D4-5070BEB38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95875"/>
            <a:ext cx="112776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DF2F6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16808DF2-B678-483C-92D7-325DE584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4C8931D4-85C6-4FA0-9526-7745475E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2428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65D16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C65D16"/>
                </a:solidFill>
                <a:latin typeface="Calibri"/>
                <a:ea typeface="Calibri"/>
                <a:cs typeface="Calibri"/>
              </a:rPr>
              <a:t>WHY IT MATTERS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00A0EF70-9C45-4DDE-A376-FB6C73A8E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1970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38100" rIns="38100" bIns="3810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A change in wealth is not saving unless capital gains, write-downs, and other valuation effects are removed.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A4A3628C-1F59-4962-A00B-08C286CC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825" b="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Source: paper saving methodology and data appendix; Figure 5 baseline is wealth-ranked.</a:t>
            </a:r>
          </a:p>
        </p:txBody>
      </p:sp>
      <p:sp>
        <p:nvSpPr>
          <p:cNvPr id="19" name="saving-surface">
            <a:extLst xmlns:a="http://schemas.openxmlformats.org/drawingml/2006/main">
              <a:ext uri="{FF2B5EF4-FFF2-40B4-BE49-F238E27FC236}">
                <a16:creationId xmlns:a16="http://schemas.microsoft.com/office/drawing/2014/main" id="{C22DE885-2561-4B90-86C6-0731DF10E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49339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65D1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3" name="Graphic 3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51f829fe6346ec">
            <a:extLst>
              <a:ext uri="{96DAC541-7B7A-43D3-8B79-37D633B846F1}">
                <asvg:svgBlip xmlns:asvg="http://schemas.microsoft.com/office/drawing/2016/SVG/main" r:embed="R19cfa18e22c349d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95350" y="2105963"/>
            <a:ext cx="4552950" cy="626774"/>
          </a:xfrm>
          <a:prstGeom xmlns:a="http://schemas.openxmlformats.org/drawingml/2006/main" prst="rect">
            <a:avLst/>
          </a:prstGeom>
        </p:spPr>
      </p:pic>
      <p:sp>
        <p:nvSpPr>
          <p:cNvPr id="21" name="saving-def">
            <a:extLst xmlns:a="http://schemas.openxmlformats.org/drawingml/2006/main">
              <a:ext uri="{FF2B5EF4-FFF2-40B4-BE49-F238E27FC236}">
                <a16:creationId xmlns:a16="http://schemas.microsoft.com/office/drawing/2014/main" id="{4596C7A5-997E-40C4-B07F-83D1591CB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286125"/>
            <a:ext cx="44291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38100" rIns="76200" bIns="38100" anchor="t">
            <a:normAutofit/>
          </a:bodyPr>
          <a:lstStyle xmlns:a="http://schemas.openxmlformats.org/drawingml/2006/main"/>
          <a:p xmlns:a="http://schemas.openxmlformats.org/drawingml/2006/main">
            <a:pPr marL="20" indent="-12">
              <a:spcAft>
                <a:spcPts val="9"/>
              </a:spcAft>
              <a:buChar char="•"/>
              <a:defRPr sz="142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1425" b="1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 wealth:</a:t>
            </a:r>
            <a:r>
              <a:rPr sz="142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 observed change in asset holdings.</a:t>
            </a:r>
          </a:p>
          <a:p xmlns:a="http://schemas.openxmlformats.org/drawingml/2006/main">
            <a:pPr marL="20" indent="-12">
              <a:spcAft>
                <a:spcPts val="9"/>
              </a:spcAft>
              <a:buChar char="•"/>
              <a:defRPr sz="142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πᵃ_tWᵃ_g,t−1:</a:t>
            </a:r>
            <a:r>
              <a:rPr sz="142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 passive valuation gain.</a:t>
            </a:r>
          </a:p>
          <a:p xmlns:a="http://schemas.openxmlformats.org/drawingml/2006/main">
            <a:pPr marL="20" indent="-12">
              <a:spcAft>
                <a:spcPts val="9"/>
              </a:spcAft>
              <a:buChar char="•"/>
              <a:defRPr sz="142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Θ_g,t</a:t>
            </a:r>
            <a:r>
              <a:rPr sz="1425" b="1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:</a:t>
            </a:r>
            <a:r>
              <a:rPr sz="142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 active saving flow.</a:t>
            </a:r>
          </a:p>
        </p:txBody>
      </p:sp>
      <p:sp>
        <p:nvSpPr>
          <p:cNvPr id="22" name="valuation-data">
            <a:extLst xmlns:a="http://schemas.openxmlformats.org/drawingml/2006/main">
              <a:ext uri="{FF2B5EF4-FFF2-40B4-BE49-F238E27FC236}">
                <a16:creationId xmlns:a16="http://schemas.microsoft.com/office/drawing/2014/main" id="{BA91113A-0D0C-4EBF-8E95-03D008ADB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90700"/>
            <a:ext cx="4429125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38100" rIns="76200" bIns="38100" anchor="t">
            <a:normAutofit/>
          </a:bodyPr>
          <a:lstStyle xmlns:a="http://schemas.openxmlformats.org/drawingml/2006/main"/>
          <a:p xmlns:a="http://schemas.openxmlformats.org/drawingml/2006/main">
            <a:pPr marL="20" indent="-12">
              <a:spcAft>
                <a:spcPts val="9"/>
              </a:spcAft>
              <a:buChar char="•"/>
              <a:defRPr sz="142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DINA × B101:</a:t>
            </a:r>
            <a:r>
              <a:rPr sz="142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 wealth levels by group and asset.</a:t>
            </a:r>
          </a:p>
          <a:p xmlns:a="http://schemas.openxmlformats.org/drawingml/2006/main">
            <a:pPr marL="20" indent="-12">
              <a:spcAft>
                <a:spcPts val="9"/>
              </a:spcAft>
              <a:buChar char="•"/>
              <a:defRPr sz="142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JST / FA:</a:t>
            </a:r>
            <a:r>
              <a:rPr sz="142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 market returns and balance-sheet values.</a:t>
            </a:r>
          </a:p>
          <a:p xmlns:a="http://schemas.openxmlformats.org/drawingml/2006/main">
            <a:pPr marL="20" indent="-12">
              <a:spcAft>
                <a:spcPts val="9"/>
              </a:spcAft>
              <a:buChar char="•"/>
              <a:defRPr sz="142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Write-down data:</a:t>
            </a:r>
            <a:r>
              <a:rPr sz="142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 credit losses and defaults.</a:t>
            </a:r>
          </a:p>
          <a:p xmlns:a="http://schemas.openxmlformats.org/drawingml/2006/main">
            <a:pPr marL="20" indent="-12">
              <a:spcAft>
                <a:spcPts val="9"/>
              </a:spcAft>
              <a:buChar char="•"/>
              <a:defRPr sz="142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NIPA:</a:t>
            </a:r>
            <a:r>
              <a:rPr sz="142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 aggregate saving/income closure.</a:t>
            </a:r>
          </a:p>
        </p:txBody>
      </p:sp>
      <p:sp>
        <p:nvSpPr>
          <p:cNvPr id="23" name="wealth-rank">
            <a:extLst xmlns:a="http://schemas.openxmlformats.org/drawingml/2006/main">
              <a:ext uri="{FF2B5EF4-FFF2-40B4-BE49-F238E27FC236}">
                <a16:creationId xmlns:a16="http://schemas.microsoft.com/office/drawing/2014/main" id="{B96F0D30-6A1C-46A4-A24F-EA8FFBBB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324350"/>
            <a:ext cx="3857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C65D16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C65D16"/>
                </a:solidFill>
                <a:latin typeface="Calibri"/>
                <a:ea typeface="Calibri"/>
                <a:cs typeface="Calibri"/>
              </a:rPr>
              <a:t>Figure 5 baseline: groups ranked by wealth</a:t>
            </a:r>
          </a:p>
        </p:txBody>
      </p:sp>
    </p:spTree>
    <p:extLst>
      <p:ext uri="{BB962C8B-B14F-4D97-AF65-F5344CB8AC3E}">
        <p14:creationId xmlns:p14="http://schemas.microsoft.com/office/powerpoint/2010/main" val="165843873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21B0EF0-DF12-49E0-8282-A5EB5B11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C65D16"/>
                </a:solidFill>
                <a:latin typeface="Calibri"/>
                <a:ea typeface="Calibri"/>
                <a:cs typeface="Calibri"/>
              </a:rPr>
              <a:t>FIGURE LINEAGE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80D81F7-DD28-469F-9690-DA4664C9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  <a:latin typeface="Calibri Light"/>
                <a:ea typeface="Calibri Light"/>
                <a:cs typeface="Calibri Light"/>
              </a:defRPr>
            </a:pPr>
            <a:r>
              <a:rPr sz="2700" b="1">
                <a:solidFill>
                  <a:srgbClr val="102A43"/>
                </a:solidFill>
                <a:latin typeface="Calibri Light"/>
                <a:ea typeface="Calibri Light"/>
                <a:cs typeface="Calibri Light"/>
              </a:rPr>
              <a:t>Figures 1, 5, and 8 use different data branches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4CDCC845-0954-47BE-99D9-ACC92C7E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40E37CD-502F-44AD-863C-998C0D34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571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7D68AFC4-C9F0-4906-8B90-9F78159C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04900"/>
            <a:ext cx="541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E5B8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2E5B88"/>
                </a:solidFill>
                <a:latin typeface="Calibri"/>
                <a:ea typeface="Calibri"/>
                <a:cs typeface="Calibri"/>
              </a:rPr>
              <a:t>NETWORK AND SAVING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169CDC6F-7B71-4F41-AC26-C991BF45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04900"/>
            <a:ext cx="541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E5B8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2E5B88"/>
                </a:solidFill>
                <a:latin typeface="Calibri"/>
                <a:ea typeface="Calibri"/>
                <a:cs typeface="Calibri"/>
              </a:rPr>
              <a:t>DEBT DISTRIBUTION</a:t>
            </a:r>
          </a:p>
        </p:txBody>
      </p:sp>
      <p:sp>
        <p:nvSpPr>
          <p:cNvPr id="7" name="Regenerated 2021 saving-glut figure-frame">
            <a:extLst xmlns:a="http://schemas.openxmlformats.org/drawingml/2006/main">
              <a:ext uri="{FF2B5EF4-FFF2-40B4-BE49-F238E27FC236}">
                <a16:creationId xmlns:a16="http://schemas.microsoft.com/office/drawing/2014/main" id="{F41A9B74-0FDD-4969-A588-536A7E714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476625"/>
          </a:xfrm>
          <a:prstGeom xmlns:a="http://schemas.openxmlformats.org/drawingml/2006/main" prst="roundRect">
            <a:avLst>
              <a:gd name="adj" fmla="val 2192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1" name="Picture 3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251a83f2b744e4"/>
          <a:stretch xmlns:a="http://schemas.openxmlformats.org/drawingml/2006/main"/>
        </p:blipFill>
        <p:spPr>
          <a:xfrm xmlns:a="http://schemas.openxmlformats.org/drawingml/2006/main">
            <a:off x="11715750" y="676275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9" name="2025 Figure 5 saving by wealth group-frame">
            <a:extLst xmlns:a="http://schemas.openxmlformats.org/drawingml/2006/main">
              <a:ext uri="{FF2B5EF4-FFF2-40B4-BE49-F238E27FC236}">
                <a16:creationId xmlns:a16="http://schemas.microsoft.com/office/drawing/2014/main" id="{CECC33D5-8AA8-489D-A8CE-CF41FD19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476625"/>
          </a:xfrm>
          <a:prstGeom xmlns:a="http://schemas.openxmlformats.org/drawingml/2006/main" prst="roundRect">
            <a:avLst>
              <a:gd name="adj" fmla="val 2192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3" name="Picture 4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251a83f2b744e4"/>
          <a:stretch xmlns:a="http://schemas.openxmlformats.org/drawingml/2006/main"/>
        </p:blipFill>
        <p:spPr>
          <a:xfrm xmlns:a="http://schemas.openxmlformats.org/drawingml/2006/main">
            <a:off x="11715750" y="676275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661CFCE0-D157-4A4A-A3D4-5070BEB38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95875"/>
            <a:ext cx="112776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DF2F6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16808DF2-B678-483C-92D7-325DE584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4C8931D4-85C6-4FA0-9526-7745475E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2428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65D16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C65D16"/>
                </a:solidFill>
                <a:latin typeface="Calibri"/>
                <a:ea typeface="Calibri"/>
                <a:cs typeface="Calibri"/>
              </a:rPr>
              <a:t>WHY IT MATTERS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00A0EF70-9C45-4DDE-A376-FB6C73A8E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1970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38100" rIns="38100" bIns="3810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The figures share distributional inputs, but each one requires a different economic object and transformation chain.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A4A3628C-1F59-4962-A00B-08C286CC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825" b="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Source: July 2025 paper methods and project figure-lineage records.</a:t>
            </a:r>
          </a:p>
        </p:txBody>
      </p:sp>
      <p:sp>
        <p:nvSpPr>
          <p:cNvPr id="19" name="fig1-surface">
            <a:extLst xmlns:a="http://schemas.openxmlformats.org/drawingml/2006/main">
              <a:ext uri="{FF2B5EF4-FFF2-40B4-BE49-F238E27FC236}">
                <a16:creationId xmlns:a16="http://schemas.microsoft.com/office/drawing/2014/main" id="{CC4A62F3-960C-4A72-B5AE-4AF90E57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14500"/>
            <a:ext cx="4857750" cy="1143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fig1-number">
            <a:extLst xmlns:a="http://schemas.openxmlformats.org/drawingml/2006/main">
              <a:ext uri="{FF2B5EF4-FFF2-40B4-BE49-F238E27FC236}">
                <a16:creationId xmlns:a16="http://schemas.microsoft.com/office/drawing/2014/main" id="{1E4984C9-8432-4699-89D6-2B7B9A0E0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669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solidFill>
              <a:srgbClr val="2E5B88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1" name="fig1-title">
            <a:extLst xmlns:a="http://schemas.openxmlformats.org/drawingml/2006/main">
              <a:ext uri="{FF2B5EF4-FFF2-40B4-BE49-F238E27FC236}">
                <a16:creationId xmlns:a16="http://schemas.microsoft.com/office/drawing/2014/main" id="{801A444E-C815-435D-8C71-7EBB2CD9F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47850"/>
            <a:ext cx="40576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Figure 1 · indirect ownership</a:t>
            </a:r>
          </a:p>
        </p:txBody>
      </p:sp>
      <p:sp>
        <p:nvSpPr>
          <p:cNvPr id="22" name="fig1-detail">
            <a:extLst xmlns:a="http://schemas.openxmlformats.org/drawingml/2006/main">
              <a:ext uri="{FF2B5EF4-FFF2-40B4-BE49-F238E27FC236}">
                <a16:creationId xmlns:a16="http://schemas.microsoft.com/office/drawing/2014/main" id="{A78F95EE-DCA4-45F8-B1CC-1C291EA03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143125"/>
            <a:ext cx="40576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FA/FWTW matrices → normalize → unveil.</a:t>
            </a:r>
          </a:p>
        </p:txBody>
      </p:sp>
      <p:sp>
        <p:nvSpPr>
          <p:cNvPr id="23" name="fig5-surface">
            <a:extLst xmlns:a="http://schemas.openxmlformats.org/drawingml/2006/main">
              <a:ext uri="{FF2B5EF4-FFF2-40B4-BE49-F238E27FC236}">
                <a16:creationId xmlns:a16="http://schemas.microsoft.com/office/drawing/2014/main" id="{36385974-C805-4315-830E-320C45458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43250"/>
            <a:ext cx="4857750" cy="1143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fig5-number">
            <a:extLst xmlns:a="http://schemas.openxmlformats.org/drawingml/2006/main">
              <a:ext uri="{FF2B5EF4-FFF2-40B4-BE49-F238E27FC236}">
                <a16:creationId xmlns:a16="http://schemas.microsoft.com/office/drawing/2014/main" id="{DE14F88B-4290-469F-8058-F2EFD62E7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956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solidFill>
              <a:srgbClr val="C65D16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5" name="fig5-title">
            <a:extLst xmlns:a="http://schemas.openxmlformats.org/drawingml/2006/main">
              <a:ext uri="{FF2B5EF4-FFF2-40B4-BE49-F238E27FC236}">
                <a16:creationId xmlns:a16="http://schemas.microsoft.com/office/drawing/2014/main" id="{C752629A-087D-4929-B554-246443FBD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76600"/>
            <a:ext cx="40576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Figure 5 · saving glut</a:t>
            </a:r>
          </a:p>
        </p:txBody>
      </p:sp>
      <p:sp>
        <p:nvSpPr>
          <p:cNvPr id="26" name="fig5-detail">
            <a:extLst xmlns:a="http://schemas.openxmlformats.org/drawingml/2006/main">
              <a:ext uri="{FF2B5EF4-FFF2-40B4-BE49-F238E27FC236}">
                <a16:creationId xmlns:a16="http://schemas.microsoft.com/office/drawing/2014/main" id="{DC919614-88FE-4EB4-904F-98B722F39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71875"/>
            <a:ext cx="40576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DINA × B101 + valuations + NIPA closure.</a:t>
            </a:r>
          </a:p>
        </p:txBody>
      </p:sp>
      <p:sp>
        <p:nvSpPr>
          <p:cNvPr id="27" name="fig8-surface">
            <a:extLst xmlns:a="http://schemas.openxmlformats.org/drawingml/2006/main">
              <a:ext uri="{FF2B5EF4-FFF2-40B4-BE49-F238E27FC236}">
                <a16:creationId xmlns:a16="http://schemas.microsoft.com/office/drawing/2014/main" id="{E49DB955-50E3-434E-B1AA-F134DCFAE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90750"/>
            <a:ext cx="4429125" cy="1333500"/>
          </a:xfrm>
          <a:prstGeom xmlns:a="http://schemas.openxmlformats.org/drawingml/2006/main" prst="roundRect">
            <a:avLst>
              <a:gd name="adj" fmla="val 6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fig8-number">
            <a:extLst xmlns:a="http://schemas.openxmlformats.org/drawingml/2006/main">
              <a:ext uri="{FF2B5EF4-FFF2-40B4-BE49-F238E27FC236}">
                <a16:creationId xmlns:a16="http://schemas.microsoft.com/office/drawing/2014/main" id="{09E476C5-BBF1-4C22-B3E7-6B5D53E4A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431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F7F"/>
          </a:solidFill>
          <a:ln xmlns:a="http://schemas.openxmlformats.org/drawingml/2006/main" w="0">
            <a:solidFill>
              <a:srgbClr val="2A7F7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29" name="fig8-title">
            <a:extLst xmlns:a="http://schemas.openxmlformats.org/drawingml/2006/main">
              <a:ext uri="{FF2B5EF4-FFF2-40B4-BE49-F238E27FC236}">
                <a16:creationId xmlns:a16="http://schemas.microsoft.com/office/drawing/2014/main" id="{3EB2AB8A-0F48-4626-816E-3E17A9941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324100"/>
            <a:ext cx="3629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Figure 8 · net household debt</a:t>
            </a:r>
          </a:p>
        </p:txBody>
      </p:sp>
      <p:sp>
        <p:nvSpPr>
          <p:cNvPr id="30" name="fig8-detail">
            <a:extLst xmlns:a="http://schemas.openxmlformats.org/drawingml/2006/main">
              <a:ext uri="{FF2B5EF4-FFF2-40B4-BE49-F238E27FC236}">
                <a16:creationId xmlns:a16="http://schemas.microsoft.com/office/drawing/2014/main" id="{4F3F5DE1-292A-48A8-B052-2F4E980C7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19375"/>
            <a:ext cx="36290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Augmented ownership matrix + DINA liabilities.</a:t>
            </a:r>
          </a:p>
        </p:txBody>
      </p:sp>
      <p:sp>
        <p:nvSpPr>
          <p:cNvPr id="31" name="fig8-copy">
            <a:extLst xmlns:a="http://schemas.openxmlformats.org/drawingml/2006/main">
              <a:ext uri="{FF2B5EF4-FFF2-40B4-BE49-F238E27FC236}">
                <a16:creationId xmlns:a16="http://schemas.microsoft.com/office/drawing/2014/main" id="{D871D0CB-3322-4518-8C61-24FE3D8B1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857625"/>
            <a:ext cx="3952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This branch needs both the financial-network allocation and group-specific balance-sheet liabilities.</a:t>
            </a:r>
          </a:p>
        </p:txBody>
      </p:sp>
    </p:spTree>
    <p:extLst>
      <p:ext uri="{BB962C8B-B14F-4D97-AF65-F5344CB8AC3E}">
        <p14:creationId xmlns:p14="http://schemas.microsoft.com/office/powerpoint/2010/main" val="165843873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Regenerated 2021 saving-glut figure-frame">
            <a:extLst xmlns:a="http://schemas.openxmlformats.org/drawingml/2006/main">
              <a:ext uri="{FF2B5EF4-FFF2-40B4-BE49-F238E27FC236}">
                <a16:creationId xmlns:a16="http://schemas.microsoft.com/office/drawing/2014/main" id="{F41A9B74-0FDD-4969-A588-536A7E714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476625"/>
          </a:xfrm>
          <a:prstGeom xmlns:a="http://schemas.openxmlformats.org/drawingml/2006/main" prst="roundRect">
            <a:avLst>
              <a:gd name="adj" fmla="val 2192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kit-round-surface">
            <a:extLst xmlns:a="http://schemas.openxmlformats.org/drawingml/2006/main">
              <a:ext uri="{FF2B5EF4-FFF2-40B4-BE49-F238E27FC236}">
                <a16:creationId xmlns:a16="http://schemas.microsoft.com/office/drawing/2014/main" id="{4294AB3C-9BDB-42D5-9F33-6041D7AA0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857" y="3742660"/>
            <a:ext cx="2664785" cy="1000790"/>
          </a:xfrm>
          <a:prstGeom xmlns:a="http://schemas.openxmlformats.org/drawingml/2006/main" prst="roundRect">
            <a:avLst>
              <a:gd name="adj" fmla="val 32718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324D"/>
                </a:solidFill>
              </a:defRPr>
            </a:pPr>
            <a:r>
              <a:rPr sz="1500" b="1">
                <a:solidFill>
                  <a:srgbClr val="17324D"/>
                </a:solidFill>
              </a:rPr>
              <a:t>SEVEN STAGE-SPECIFIC ROUTING STEPS</a:t>
            </a:r>
            <a:endParaRPr/>
          </a:p>
          <a:p xmlns:a="http://schemas.openxmlformats.org/drawingml/2006/main">
            <a:pPr algn="ctr">
              <a:defRPr sz="1500" b="1">
                <a:solidFill>
                  <a:srgbClr val="17324D"/>
                </a:solidFill>
              </a:defRPr>
            </a:pPr>
            <a:r>
              <a:rPr sz="1500" b="1">
                <a:solidFill>
                  <a:srgbClr val="17324D"/>
                </a:solidFill>
              </a:rPr>
              <a:t>not a fixed-Q truncation</a:t>
            </a:r>
            <a:endParaRPr/>
          </a:p>
        </p:txBody>
      </p:sp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21B0EF0-DF12-49E0-8282-A5EB5B11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C65D16"/>
                </a:solidFill>
                <a:latin typeface="Calibri"/>
                <a:ea typeface="Calibri"/>
                <a:cs typeface="Calibri"/>
              </a:rPr>
              <a:t>VERSION BOUNDARY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80D81F7-DD28-469F-9690-DA4664C9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  <a:latin typeface="Calibri Light"/>
                <a:ea typeface="Calibri Light"/>
                <a:cs typeface="Calibri Light"/>
              </a:defRPr>
            </a:pPr>
            <a:r>
              <a:rPr sz="2700" b="1">
                <a:solidFill>
                  <a:srgbClr val="102A43"/>
                </a:solidFill>
                <a:latin typeface="Calibri Light"/>
                <a:ea typeface="Calibri Light"/>
                <a:cs typeface="Calibri Light"/>
              </a:rPr>
              <a:t>The 2021 code and 2025 paper use different unveiling operators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4CDCC845-0954-47BE-99D9-ACC92C7E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40E37CD-502F-44AD-863C-998C0D34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571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7D68AFC4-C9F0-4906-8B90-9F78159C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04900"/>
            <a:ext cx="541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E5B8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2E5B88"/>
                </a:solidFill>
                <a:latin typeface="Calibri"/>
                <a:ea typeface="Calibri"/>
                <a:cs typeface="Calibri"/>
              </a:rPr>
              <a:t>FEBRUARY 2021 PACKAGE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169CDC6F-7B71-4F41-AC26-C991BF45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04900"/>
            <a:ext cx="541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E5B8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2E5B88"/>
                </a:solidFill>
                <a:latin typeface="Calibri"/>
                <a:ea typeface="Calibri"/>
                <a:cs typeface="Calibri"/>
              </a:rPr>
              <a:t>JULY 2025 TARGET PAPER</a:t>
            </a:r>
          </a:p>
        </p:txBody>
      </p:sp>
      <p:pic>
        <p:nvPicPr>
          <p:cNvPr id="38" name="Picture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5cace3a76c443b"/>
          <a:stretch xmlns:a="http://schemas.openxmlformats.org/drawingml/2006/main"/>
        </p:blipFill>
        <p:spPr>
          <a:xfrm xmlns:a="http://schemas.openxmlformats.org/drawingml/2006/main">
            <a:off x="11715750" y="676275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9" name="2025 Figure 5 saving by wealth group-frame">
            <a:extLst xmlns:a="http://schemas.openxmlformats.org/drawingml/2006/main">
              <a:ext uri="{FF2B5EF4-FFF2-40B4-BE49-F238E27FC236}">
                <a16:creationId xmlns:a16="http://schemas.microsoft.com/office/drawing/2014/main" id="{CECC33D5-8AA8-489D-A8CE-CF41FD19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476625"/>
          </a:xfrm>
          <a:prstGeom xmlns:a="http://schemas.openxmlformats.org/drawingml/2006/main" prst="roundRect">
            <a:avLst>
              <a:gd name="adj" fmla="val 2192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0" name="Picture 3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5cace3a76c443b"/>
          <a:stretch xmlns:a="http://schemas.openxmlformats.org/drawingml/2006/main"/>
        </p:blipFill>
        <p:spPr>
          <a:xfrm xmlns:a="http://schemas.openxmlformats.org/drawingml/2006/main">
            <a:off x="11715750" y="676275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661CFCE0-D157-4A4A-A3D4-5070BEB38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95875"/>
            <a:ext cx="112776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DF2F6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16808DF2-B678-483C-92D7-325DE584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4C8931D4-85C6-4FA0-9526-7745475E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2428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65D16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C65D16"/>
                </a:solidFill>
                <a:latin typeface="Calibri"/>
                <a:ea typeface="Calibri"/>
                <a:cs typeface="Calibri"/>
              </a:rPr>
              <a:t>WHY IT MATTERS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00A0EF70-9C45-4DDE-A376-FB6C73A8E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1970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The old-stage output is a valid vintage benchmark or proxy—not an algebraic truncation of the 2025 Leontief inverse.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A4A3628C-1F59-4962-A00B-08C286CC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825" b="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Source: February 2021 Stata builders; July 2025 paper, Sections 2.3 and 4.1.</a:t>
            </a:r>
          </a:p>
        </p:txBody>
      </p:sp>
      <p:sp>
        <p:nvSpPr>
          <p:cNvPr id="19" name="kit-year">
            <a:extLst xmlns:a="http://schemas.openxmlformats.org/drawingml/2006/main">
              <a:ext uri="{FF2B5EF4-FFF2-40B4-BE49-F238E27FC236}">
                <a16:creationId xmlns:a16="http://schemas.microsoft.com/office/drawing/2014/main" id="{556810C3-7477-4838-AEDD-B42633D54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790700"/>
            <a:ext cx="2381250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627D98"/>
          </a:solidFill>
          <a:ln xmlns:a="http://schemas.openxmlformats.org/drawingml/2006/main" w="9525">
            <a:solidFill>
              <a:srgbClr val="627D98"/>
            </a:solidFill>
            <a:prstDash val="solid"/>
          </a:ln>
        </p:spPr>
        <p:txBody>
          <a:bodyPr xmlns:a="http://schemas.openxmlformats.org/drawingml/2006/main" wrap="square" lIns="38100" tIns="9525" rIns="3810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 THROUGH 2016</a:t>
            </a:r>
          </a:p>
        </p:txBody>
      </p:sp>
      <p:sp>
        <p:nvSpPr>
          <p:cNvPr id="20" name="kit-list">
            <a:extLst xmlns:a="http://schemas.openxmlformats.org/drawingml/2006/main">
              <a:ext uri="{FF2B5EF4-FFF2-40B4-BE49-F238E27FC236}">
                <a16:creationId xmlns:a16="http://schemas.microsoft.com/office/drawing/2014/main" id="{B8A737FD-144F-4BDC-963A-A13200E82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81250"/>
            <a:ext cx="4476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38100" rIns="762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marL="20" indent="-12">
              <a:spcAft>
                <a:spcPts val="9"/>
              </a:spcAft>
              <a:buChar char="•"/>
              <a:defRPr sz="157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Earlier draft and exhibit definitions.</a:t>
            </a:r>
          </a:p>
          <a:p xmlns:a="http://schemas.openxmlformats.org/drawingml/2006/main">
            <a:pPr marL="20" indent="-12">
              <a:spcAft>
                <a:spcPts val="9"/>
              </a:spcAft>
              <a:buChar char="•"/>
              <a:defRPr sz="157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Seven hand-coded debt-routing stages.</a:t>
            </a:r>
          </a:p>
          <a:p xmlns:a="http://schemas.openxmlformats.org/drawingml/2006/main">
            <a:pPr marL="20" indent="-12">
              <a:spcAft>
                <a:spcPts val="9"/>
              </a:spcAft>
              <a:buChar char="•"/>
              <a:defRPr sz="157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Stage-specific instruments and residual rules.</a:t>
            </a:r>
          </a:p>
        </p:txBody>
      </p:sp>
      <p:sp>
        <p:nvSpPr>
          <p:cNvPr id="23" name="paper-year">
            <a:extLst xmlns:a="http://schemas.openxmlformats.org/drawingml/2006/main">
              <a:ext uri="{FF2B5EF4-FFF2-40B4-BE49-F238E27FC236}">
                <a16:creationId xmlns:a16="http://schemas.microsoft.com/office/drawing/2014/main" id="{B031D266-6B85-4571-8E0C-76E123B22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790700"/>
            <a:ext cx="2381250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C65D16"/>
          </a:solidFill>
          <a:ln xmlns:a="http://schemas.openxmlformats.org/drawingml/2006/main" w="9525">
            <a:solidFill>
              <a:srgbClr val="C65D16"/>
            </a:solidFill>
            <a:prstDash val="solid"/>
          </a:ln>
        </p:spPr>
        <p:txBody>
          <a:bodyPr xmlns:a="http://schemas.openxmlformats.org/drawingml/2006/main" wrap="square" lIns="38100" tIns="9525" rIns="3810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 THROUGH 2019</a:t>
            </a:r>
          </a:p>
        </p:txBody>
      </p:sp>
      <p:sp>
        <p:nvSpPr>
          <p:cNvPr id="24" name="paper-list">
            <a:extLst xmlns:a="http://schemas.openxmlformats.org/drawingml/2006/main">
              <a:ext uri="{FF2B5EF4-FFF2-40B4-BE49-F238E27FC236}">
                <a16:creationId xmlns:a16="http://schemas.microsoft.com/office/drawing/2014/main" id="{B7359031-F3B6-4A9A-BE56-B15526E0C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429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38100" rIns="76200" bIns="38100" anchor="t">
            <a:normAutofit/>
          </a:bodyPr>
          <a:lstStyle xmlns:a="http://schemas.openxmlformats.org/drawingml/2006/main"/>
          <a:p xmlns:a="http://schemas.openxmlformats.org/drawingml/2006/main">
            <a:pPr marL="20" indent="-12">
              <a:spcAft>
                <a:spcPts val="9"/>
              </a:spcAft>
              <a:buChar char="•"/>
              <a:defRPr sz="157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Heavily revised paper and exhibit numbering.</a:t>
            </a:r>
          </a:p>
          <a:p xmlns:a="http://schemas.openxmlformats.org/drawingml/2006/main">
            <a:pPr marL="20" indent="-12">
              <a:spcAft>
                <a:spcPts val="9"/>
              </a:spcAft>
              <a:buChar char="•"/>
              <a:defRPr sz="157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Leontief-style closed-form unveiling.</a:t>
            </a:r>
          </a:p>
          <a:p xmlns:a="http://schemas.openxmlformats.org/drawingml/2006/main">
            <a:pPr marL="20" indent="-12">
              <a:spcAft>
                <a:spcPts val="9"/>
              </a:spcAft>
              <a:buChar char="•"/>
              <a:defRPr sz="157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Expanded distributional and valuation treatment.</a:t>
            </a:r>
          </a:p>
        </p:txBody>
      </p:sp>
      <p:sp>
        <p:nvSpPr>
          <p:cNvPr id="25" name="paper-inv-surface">
            <a:extLst xmlns:a="http://schemas.openxmlformats.org/drawingml/2006/main">
              <a:ext uri="{FF2B5EF4-FFF2-40B4-BE49-F238E27FC236}">
                <a16:creationId xmlns:a16="http://schemas.microsoft.com/office/drawing/2014/main" id="{6E1854AB-8240-430F-8F32-AFBDCDD1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191000"/>
            <a:ext cx="3333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C65D1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51" name="Graphic 4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6733d8518459a">
            <a:extLst>
              <a:ext uri="{96DAC541-7B7A-43D3-8B79-37D633B846F1}">
                <asvg:svgBlip xmlns:asvg="http://schemas.microsoft.com/office/drawing/2016/SVG/main" r:embed="Rafff02578c864ed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612856" y="4305300"/>
            <a:ext cx="2490788" cy="3238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843873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21B0EF0-DF12-49E0-8282-A5EB5B11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C65D16"/>
                </a:solidFill>
                <a:latin typeface="Calibri"/>
                <a:ea typeface="Calibri"/>
                <a:cs typeface="Calibri"/>
              </a:rPr>
              <a:t>DATA-VINTAGE BOUNDARY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80D81F7-DD28-469F-9690-DA4664C9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  <a:latin typeface="Calibri Light"/>
                <a:ea typeface="Calibri Light"/>
                <a:cs typeface="Calibri Light"/>
              </a:defRPr>
            </a:pPr>
            <a:r>
              <a:rPr sz="2700" b="1">
                <a:solidFill>
                  <a:srgbClr val="102A43"/>
                </a:solidFill>
                <a:latin typeface="Calibri Light"/>
                <a:ea typeface="Calibri Light"/>
                <a:cs typeface="Calibri Light"/>
              </a:rPr>
              <a:t>Three vintages expose different network objects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4CDCC845-0954-47BE-99D9-ACC92C7E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40E37CD-502F-44AD-863C-998C0D34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571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7D68AFC4-C9F0-4906-8B90-9F78159C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04900"/>
            <a:ext cx="541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E5B8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2E5B88"/>
                </a:solidFill>
                <a:latin typeface="Calibri"/>
                <a:ea typeface="Calibri"/>
                <a:cs typeface="Calibri"/>
              </a:rPr>
              <a:t>INPUT INVENTORY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169CDC6F-7B71-4F41-AC26-C991BF45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04900"/>
            <a:ext cx="541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E5B8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2E5B88"/>
                </a:solidFill>
                <a:latin typeface="Calibri"/>
                <a:ea typeface="Calibri"/>
                <a:cs typeface="Calibri"/>
              </a:rPr>
              <a:t>WHAT WE CAN CLAIM</a:t>
            </a:r>
          </a:p>
        </p:txBody>
      </p:sp>
      <p:sp>
        <p:nvSpPr>
          <p:cNvPr id="7" name="Regenerated 2021 saving-glut figure-frame">
            <a:extLst xmlns:a="http://schemas.openxmlformats.org/drawingml/2006/main">
              <a:ext uri="{FF2B5EF4-FFF2-40B4-BE49-F238E27FC236}">
                <a16:creationId xmlns:a16="http://schemas.microsoft.com/office/drawing/2014/main" id="{F41A9B74-0FDD-4969-A588-536A7E714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476625"/>
          </a:xfrm>
          <a:prstGeom xmlns:a="http://schemas.openxmlformats.org/drawingml/2006/main" prst="roundRect">
            <a:avLst>
              <a:gd name="adj" fmla="val 2192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2" name="Picture 3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f8999f0b614976"/>
          <a:stretch xmlns:a="http://schemas.openxmlformats.org/drawingml/2006/main"/>
        </p:blipFill>
        <p:spPr>
          <a:xfrm xmlns:a="http://schemas.openxmlformats.org/drawingml/2006/main">
            <a:off x="11715750" y="676275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9" name="2025 Figure 5 saving by wealth group-frame">
            <a:extLst xmlns:a="http://schemas.openxmlformats.org/drawingml/2006/main">
              <a:ext uri="{FF2B5EF4-FFF2-40B4-BE49-F238E27FC236}">
                <a16:creationId xmlns:a16="http://schemas.microsoft.com/office/drawing/2014/main" id="{CECC33D5-8AA8-489D-A8CE-CF41FD19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476625"/>
          </a:xfrm>
          <a:prstGeom xmlns:a="http://schemas.openxmlformats.org/drawingml/2006/main" prst="roundRect">
            <a:avLst>
              <a:gd name="adj" fmla="val 2192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4" name="Picture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f8999f0b614976"/>
          <a:stretch xmlns:a="http://schemas.openxmlformats.org/drawingml/2006/main"/>
        </p:blipFill>
        <p:spPr>
          <a:xfrm xmlns:a="http://schemas.openxmlformats.org/drawingml/2006/main">
            <a:off x="11715750" y="676275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661CFCE0-D157-4A4A-A3D4-5070BEB38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95875"/>
            <a:ext cx="112776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DF2F6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16808DF2-B678-483C-92D7-325DE584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4C8931D4-85C6-4FA0-9526-7745475E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2428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65D16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C65D16"/>
                </a:solidFill>
                <a:latin typeface="Calibri"/>
                <a:ea typeface="Calibri"/>
                <a:cs typeface="Calibri"/>
              </a:rPr>
              <a:t>WHY IT MATTERS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00A0EF70-9C45-4DDE-A376-FB6C73A8E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1970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The feasible rerun is mixed-source: current public network plus 2021 distributional inputs. It tests the 2025 method, not the authors’ exact values.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A4A3628C-1F59-4962-A00B-08C286CC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825" b="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Source: 2025 paper; Federal Reserve FWTW release and announcements; 2021-kit audit.</a:t>
            </a:r>
          </a:p>
        </p:txBody>
      </p:sp>
      <p:sp>
        <p:nvSpPr>
          <p:cNvPr id="19" name="layer1-surface">
            <a:extLst xmlns:a="http://schemas.openxmlformats.org/drawingml/2006/main">
              <a:ext uri="{FF2B5EF4-FFF2-40B4-BE49-F238E27FC236}">
                <a16:creationId xmlns:a16="http://schemas.microsoft.com/office/drawing/2014/main" id="{BA57D17F-E44A-49B6-9DAF-4598488A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4857750" cy="876300"/>
          </a:xfrm>
          <a:prstGeom xmlns:a="http://schemas.openxmlformats.org/drawingml/2006/main" prst="roundRect">
            <a:avLst>
              <a:gd name="adj" fmla="val 97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layer1-number">
            <a:extLst xmlns:a="http://schemas.openxmlformats.org/drawingml/2006/main">
              <a:ext uri="{FF2B5EF4-FFF2-40B4-BE49-F238E27FC236}">
                <a16:creationId xmlns:a16="http://schemas.microsoft.com/office/drawing/2014/main" id="{A8ADF87B-988A-4262-837D-196D38285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097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solidFill>
              <a:srgbClr val="2E5B88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1" name="layer1-title">
            <a:extLst xmlns:a="http://schemas.openxmlformats.org/drawingml/2006/main">
              <a:ext uri="{FF2B5EF4-FFF2-40B4-BE49-F238E27FC236}">
                <a16:creationId xmlns:a16="http://schemas.microsoft.com/office/drawing/2014/main" id="{6C6F53A0-E299-4A88-A374-4000D19E7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790700"/>
            <a:ext cx="40576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2021 package</a:t>
            </a:r>
          </a:p>
        </p:txBody>
      </p:sp>
      <p:sp>
        <p:nvSpPr>
          <p:cNvPr id="22" name="layer1-detail">
            <a:extLst xmlns:a="http://schemas.openxmlformats.org/drawingml/2006/main">
              <a:ext uri="{FF2B5EF4-FFF2-40B4-BE49-F238E27FC236}">
                <a16:creationId xmlns:a16="http://schemas.microsoft.com/office/drawing/2014/main" id="{D2CAFCFF-51E3-418E-9F2E-FFBC7E5AC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085975"/>
            <a:ext cx="4057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5938"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DINA/NIPA and old FA preparation to 2016; seven-stage routing; no Batty completion.</a:t>
            </a:r>
          </a:p>
        </p:txBody>
      </p:sp>
      <p:sp>
        <p:nvSpPr>
          <p:cNvPr id="23" name="layer2-surface">
            <a:extLst xmlns:a="http://schemas.openxmlformats.org/drawingml/2006/main">
              <a:ext uri="{FF2B5EF4-FFF2-40B4-BE49-F238E27FC236}">
                <a16:creationId xmlns:a16="http://schemas.microsoft.com/office/drawing/2014/main" id="{D33A75BB-AC53-46CB-A836-42B2C2CC3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57475"/>
            <a:ext cx="4857750" cy="876300"/>
          </a:xfrm>
          <a:prstGeom xmlns:a="http://schemas.openxmlformats.org/drawingml/2006/main" prst="roundRect">
            <a:avLst>
              <a:gd name="adj" fmla="val 97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layer2-number">
            <a:extLst xmlns:a="http://schemas.openxmlformats.org/drawingml/2006/main">
              <a:ext uri="{FF2B5EF4-FFF2-40B4-BE49-F238E27FC236}">
                <a16:creationId xmlns:a16="http://schemas.microsoft.com/office/drawing/2014/main" id="{81DA5561-0D65-4639-9099-8429F0D45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0987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solidFill>
              <a:srgbClr val="C65D16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5" name="layer2-title">
            <a:extLst xmlns:a="http://schemas.openxmlformats.org/drawingml/2006/main">
              <a:ext uri="{FF2B5EF4-FFF2-40B4-BE49-F238E27FC236}">
                <a16:creationId xmlns:a16="http://schemas.microsoft.com/office/drawing/2014/main" id="{0A8C9545-7BDB-4E3B-9FB8-D039237B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90825"/>
            <a:ext cx="40576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2025 target</a:t>
            </a:r>
          </a:p>
        </p:txBody>
      </p:sp>
      <p:sp>
        <p:nvSpPr>
          <p:cNvPr id="26" name="layer2-detail">
            <a:extLst xmlns:a="http://schemas.openxmlformats.org/drawingml/2006/main">
              <a:ext uri="{FF2B5EF4-FFF2-40B4-BE49-F238E27FC236}">
                <a16:creationId xmlns:a16="http://schemas.microsoft.com/office/drawing/2014/main" id="{976A2DC8-0015-4F11-B9F7-E4D5CA29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86100"/>
            <a:ext cx="4057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5938"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34 instruments; 23 intermediaries + 4 owners; authors’ Batty-based equity extension; to 2019.</a:t>
            </a:r>
          </a:p>
        </p:txBody>
      </p:sp>
      <p:sp>
        <p:nvSpPr>
          <p:cNvPr id="27" name="layer3-surface">
            <a:extLst xmlns:a="http://schemas.openxmlformats.org/drawingml/2006/main">
              <a:ext uri="{FF2B5EF4-FFF2-40B4-BE49-F238E27FC236}">
                <a16:creationId xmlns:a16="http://schemas.microsoft.com/office/drawing/2014/main" id="{21489112-9F9B-463D-A853-A94C5C839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57600"/>
            <a:ext cx="4857750" cy="876300"/>
          </a:xfrm>
          <a:prstGeom xmlns:a="http://schemas.openxmlformats.org/drawingml/2006/main" prst="roundRect">
            <a:avLst>
              <a:gd name="adj" fmla="val 97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layer3-number">
            <a:extLst xmlns:a="http://schemas.openxmlformats.org/drawingml/2006/main">
              <a:ext uri="{FF2B5EF4-FFF2-40B4-BE49-F238E27FC236}">
                <a16:creationId xmlns:a16="http://schemas.microsoft.com/office/drawing/2014/main" id="{61CE2F72-C904-4258-BD1C-4B69D5BAE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F7F"/>
          </a:solidFill>
          <a:ln xmlns:a="http://schemas.openxmlformats.org/drawingml/2006/main" w="0">
            <a:solidFill>
              <a:srgbClr val="2A7F7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9" name="layer3-title">
            <a:extLst xmlns:a="http://schemas.openxmlformats.org/drawingml/2006/main">
              <a:ext uri="{FF2B5EF4-FFF2-40B4-BE49-F238E27FC236}">
                <a16:creationId xmlns:a16="http://schemas.microsoft.com/office/drawing/2014/main" id="{FEDD66DC-D7FD-403C-B34B-110BFD630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790950"/>
            <a:ext cx="40576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Feasible public rerun</a:t>
            </a:r>
          </a:p>
        </p:txBody>
      </p:sp>
      <p:sp>
        <p:nvSpPr>
          <p:cNvPr id="30" name="layer3-detail">
            <a:extLst xmlns:a="http://schemas.openxmlformats.org/drawingml/2006/main">
              <a:ext uri="{FF2B5EF4-FFF2-40B4-BE49-F238E27FC236}">
                <a16:creationId xmlns:a16="http://schemas.microsoft.com/office/drawing/2014/main" id="{1E1CD187-EE9F-44D3-821B-3A6E57B98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086225"/>
            <a:ext cx="4057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5938"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Current completed FWTW: 31 instruments and 25 substantive sectors; pair with 2021 DINA/NIPA.</a:t>
            </a:r>
          </a:p>
        </p:txBody>
      </p:sp>
      <p:sp>
        <p:nvSpPr>
          <p:cNvPr id="31" name="raw-immutable-badge">
            <a:extLst xmlns:a="http://schemas.openxmlformats.org/drawingml/2006/main">
              <a:ext uri="{FF2B5EF4-FFF2-40B4-BE49-F238E27FC236}">
                <a16:creationId xmlns:a16="http://schemas.microsoft.com/office/drawing/2014/main" id="{0B0A0500-0C36-44BC-8962-F09A6363D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33550"/>
            <a:ext cx="2000250" cy="257175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102A43"/>
            </a:solidFill>
            <a:prstDash val="solid"/>
          </a:ln>
        </p:spPr>
        <p:txBody>
          <a:bodyPr xmlns:a="http://schemas.openxmlformats.org/drawingml/2006/main" wrap="square" lIns="38100" tIns="9525" rIns="381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METHOD REPLICATION</a:t>
            </a:r>
          </a:p>
        </p:txBody>
      </p:sp>
      <p:sp>
        <p:nvSpPr>
          <p:cNvPr id="32" name="storage-list">
            <a:extLst xmlns:a="http://schemas.openxmlformats.org/drawingml/2006/main">
              <a:ext uri="{FF2B5EF4-FFF2-40B4-BE49-F238E27FC236}">
                <a16:creationId xmlns:a16="http://schemas.microsoft.com/office/drawing/2014/main" id="{8D1E82F5-4CAD-4A1A-B5E6-F4AD3A901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66950"/>
            <a:ext cx="4429125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38100" rIns="762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marL="20" indent="-12">
              <a:spcAft>
                <a:spcPts val="9"/>
              </a:spcAft>
              <a:buChar char="•"/>
              <a:defRPr sz="142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• Complete instrument-level dollar matrices.</a:t>
            </a:r>
          </a:p>
          <a:p xmlns:a="http://schemas.openxmlformats.org/drawingml/2006/main">
            <a:pPr marL="20" indent="-12">
              <a:spcAft>
                <a:spcPts val="9"/>
              </a:spcAft>
              <a:buChar char="•"/>
              <a:defRPr sz="142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• Row-normalize direct ownership.</a:t>
            </a:r>
          </a:p>
          <a:p xmlns:a="http://schemas.openxmlformats.org/drawingml/2006/main">
            <a:pPr marL="20" indent="-12">
              <a:spcAft>
                <a:spcPts val="9"/>
              </a:spcAft>
              <a:buChar char="•"/>
              <a:defRPr sz="142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• Add DINA wealth-group columns.</a:t>
            </a:r>
          </a:p>
          <a:p xmlns:a="http://schemas.openxmlformats.org/drawingml/2006/main">
            <a:pPr marL="20" indent="-12">
              <a:spcAft>
                <a:spcPts val="9"/>
              </a:spcAft>
              <a:buChar char="•"/>
              <a:defRPr sz="142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• Apply the full Leontief solve.</a:t>
            </a:r>
          </a:p>
          <a:p xmlns:a="http://schemas.openxmlformats.org/drawingml/2006/main">
            <a:pPr marL="20" indent="-12">
              <a:spcAft>
                <a:spcPts val="9"/>
              </a:spcAft>
              <a:buChar char="•"/>
              <a:defRPr sz="142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• Report taxonomy and end-year gaps.</a:t>
            </a:r>
          </a:p>
        </p:txBody>
      </p:sp>
    </p:spTree>
    <p:extLst>
      <p:ext uri="{BB962C8B-B14F-4D97-AF65-F5344CB8AC3E}">
        <p14:creationId xmlns:p14="http://schemas.microsoft.com/office/powerpoint/2010/main" val="165843873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21B0EF0-DF12-49E0-8282-A5EB5B11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C65D16"/>
                </a:solidFill>
                <a:latin typeface="Calibri"/>
                <a:ea typeface="Calibri"/>
                <a:cs typeface="Calibri"/>
              </a:rPr>
              <a:t>REPLICATION STRATEGY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80D81F7-DD28-469F-9690-DA4664C9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  <a:latin typeface="Calibri Light"/>
                <a:ea typeface="Calibri Light"/>
                <a:cs typeface="Calibri Light"/>
              </a:defRPr>
            </a:pPr>
            <a:r>
              <a:rPr sz="2700" b="1">
                <a:solidFill>
                  <a:srgbClr val="102A43"/>
                </a:solidFill>
                <a:latin typeface="Calibri Light"/>
                <a:ea typeface="Calibri Light"/>
                <a:cs typeface="Calibri Light"/>
              </a:rPr>
              <a:t>Use the earliest source that identifies each object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4CDCC845-0954-47BE-99D9-ACC92C7E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40E37CD-502F-44AD-863C-998C0D34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571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7D68AFC4-C9F0-4906-8B90-9F78159C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04900"/>
            <a:ext cx="541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E5B8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2E5B88"/>
                </a:solidFill>
                <a:latin typeface="Calibri"/>
                <a:ea typeface="Calibri"/>
                <a:cs typeface="Calibri"/>
              </a:rPr>
              <a:t>THREE EVIDENCE LAYERS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169CDC6F-7B71-4F41-AC26-C991BF45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04900"/>
            <a:ext cx="541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E5B8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2E5B88"/>
                </a:solidFill>
                <a:latin typeface="Calibri"/>
                <a:ea typeface="Calibri"/>
                <a:cs typeface="Calibri"/>
              </a:rPr>
              <a:t>STORAGE POLICY</a:t>
            </a:r>
          </a:p>
        </p:txBody>
      </p:sp>
      <p:sp>
        <p:nvSpPr>
          <p:cNvPr id="7" name="Regenerated 2021 saving-glut figure-frame">
            <a:extLst xmlns:a="http://schemas.openxmlformats.org/drawingml/2006/main">
              <a:ext uri="{FF2B5EF4-FFF2-40B4-BE49-F238E27FC236}">
                <a16:creationId xmlns:a16="http://schemas.microsoft.com/office/drawing/2014/main" id="{F41A9B74-0FDD-4969-A588-536A7E714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476625"/>
          </a:xfrm>
          <a:prstGeom xmlns:a="http://schemas.openxmlformats.org/drawingml/2006/main" prst="roundRect">
            <a:avLst>
              <a:gd name="adj" fmla="val 2192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2" name="Picture 3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85b057fee946b8"/>
          <a:stretch xmlns:a="http://schemas.openxmlformats.org/drawingml/2006/main"/>
        </p:blipFill>
        <p:spPr>
          <a:xfrm xmlns:a="http://schemas.openxmlformats.org/drawingml/2006/main">
            <a:off x="11715750" y="676275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9" name="2025 Figure 5 saving by wealth group-frame">
            <a:extLst xmlns:a="http://schemas.openxmlformats.org/drawingml/2006/main">
              <a:ext uri="{FF2B5EF4-FFF2-40B4-BE49-F238E27FC236}">
                <a16:creationId xmlns:a16="http://schemas.microsoft.com/office/drawing/2014/main" id="{CECC33D5-8AA8-489D-A8CE-CF41FD19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476625"/>
          </a:xfrm>
          <a:prstGeom xmlns:a="http://schemas.openxmlformats.org/drawingml/2006/main" prst="roundRect">
            <a:avLst>
              <a:gd name="adj" fmla="val 2192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4" name="Picture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85b057fee946b8"/>
          <a:stretch xmlns:a="http://schemas.openxmlformats.org/drawingml/2006/main"/>
        </p:blipFill>
        <p:spPr>
          <a:xfrm xmlns:a="http://schemas.openxmlformats.org/drawingml/2006/main">
            <a:off x="11715750" y="676275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661CFCE0-D157-4A4A-A3D4-5070BEB38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95875"/>
            <a:ext cx="112776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DF2F6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16808DF2-B678-483C-92D7-325DE584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4C8931D4-85C6-4FA0-9526-7745475E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2428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65D16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C65D16"/>
                </a:solidFill>
                <a:latin typeface="Calibri"/>
                <a:ea typeface="Calibri"/>
                <a:cs typeface="Calibri"/>
              </a:rPr>
              <a:t>WHY IT MATTERS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00A0EF70-9C45-4DDE-A376-FB6C73A8E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1970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Old-kit-only reconstruction is preferred when identified; the FWTW network requires a documented public-data supplement.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A4A3628C-1F59-4962-A00B-08C286CC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825" b="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Source: project replication protocol; Figure 1 and Figure 8 data contracts.</a:t>
            </a:r>
          </a:p>
        </p:txBody>
      </p:sp>
      <p:sp>
        <p:nvSpPr>
          <p:cNvPr id="19" name="layer1-surface">
            <a:extLst xmlns:a="http://schemas.openxmlformats.org/drawingml/2006/main">
              <a:ext uri="{FF2B5EF4-FFF2-40B4-BE49-F238E27FC236}">
                <a16:creationId xmlns:a16="http://schemas.microsoft.com/office/drawing/2014/main" id="{BA57D17F-E44A-49B6-9DAF-4598488A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4857750" cy="876300"/>
          </a:xfrm>
          <a:prstGeom xmlns:a="http://schemas.openxmlformats.org/drawingml/2006/main" prst="roundRect">
            <a:avLst>
              <a:gd name="adj" fmla="val 97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layer1-number">
            <a:extLst xmlns:a="http://schemas.openxmlformats.org/drawingml/2006/main">
              <a:ext uri="{FF2B5EF4-FFF2-40B4-BE49-F238E27FC236}">
                <a16:creationId xmlns:a16="http://schemas.microsoft.com/office/drawing/2014/main" id="{A8ADF87B-988A-4262-837D-196D38285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097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solidFill>
              <a:srgbClr val="2E5B88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1" name="layer1-title">
            <a:extLst xmlns:a="http://schemas.openxmlformats.org/drawingml/2006/main">
              <a:ext uri="{FF2B5EF4-FFF2-40B4-BE49-F238E27FC236}">
                <a16:creationId xmlns:a16="http://schemas.microsoft.com/office/drawing/2014/main" id="{6C6F53A0-E299-4A88-A374-4000D19E7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790700"/>
            <a:ext cx="40576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Benchmark</a:t>
            </a:r>
          </a:p>
        </p:txBody>
      </p:sp>
      <p:sp>
        <p:nvSpPr>
          <p:cNvPr id="22" name="layer1-detail">
            <a:extLst xmlns:a="http://schemas.openxmlformats.org/drawingml/2006/main">
              <a:ext uri="{FF2B5EF4-FFF2-40B4-BE49-F238E27FC236}">
                <a16:creationId xmlns:a16="http://schemas.microsoft.com/office/drawing/2014/main" id="{D2CAFCFF-51E3-418E-9F2E-FFBC7E5AC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085975"/>
            <a:ext cx="4057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Regenerate authors’ output for its own vintage.</a:t>
            </a:r>
          </a:p>
        </p:txBody>
      </p:sp>
      <p:sp>
        <p:nvSpPr>
          <p:cNvPr id="23" name="layer2-surface">
            <a:extLst xmlns:a="http://schemas.openxmlformats.org/drawingml/2006/main">
              <a:ext uri="{FF2B5EF4-FFF2-40B4-BE49-F238E27FC236}">
                <a16:creationId xmlns:a16="http://schemas.microsoft.com/office/drawing/2014/main" id="{D33A75BB-AC53-46CB-A836-42B2C2CC3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57475"/>
            <a:ext cx="4857750" cy="876300"/>
          </a:xfrm>
          <a:prstGeom xmlns:a="http://schemas.openxmlformats.org/drawingml/2006/main" prst="roundRect">
            <a:avLst>
              <a:gd name="adj" fmla="val 97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layer2-number">
            <a:extLst xmlns:a="http://schemas.openxmlformats.org/drawingml/2006/main">
              <a:ext uri="{FF2B5EF4-FFF2-40B4-BE49-F238E27FC236}">
                <a16:creationId xmlns:a16="http://schemas.microsoft.com/office/drawing/2014/main" id="{81DA5561-0D65-4639-9099-8429F0D45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0987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solidFill>
              <a:srgbClr val="C65D16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5" name="layer2-title">
            <a:extLst xmlns:a="http://schemas.openxmlformats.org/drawingml/2006/main">
              <a:ext uri="{FF2B5EF4-FFF2-40B4-BE49-F238E27FC236}">
                <a16:creationId xmlns:a16="http://schemas.microsoft.com/office/drawing/2014/main" id="{0A8C9545-7BDB-4E3B-9FB8-D039237B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90825"/>
            <a:ext cx="40576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Reconstruction</a:t>
            </a:r>
          </a:p>
        </p:txBody>
      </p:sp>
      <p:sp>
        <p:nvSpPr>
          <p:cNvPr id="26" name="layer2-detail">
            <a:extLst xmlns:a="http://schemas.openxmlformats.org/drawingml/2006/main">
              <a:ext uri="{FF2B5EF4-FFF2-40B4-BE49-F238E27FC236}">
                <a16:creationId xmlns:a16="http://schemas.microsoft.com/office/drawing/2014/main" id="{976A2DC8-0015-4F11-B9F7-E4D5CA29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86100"/>
            <a:ext cx="4057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Use the earliest input that identifies the target object.</a:t>
            </a:r>
          </a:p>
        </p:txBody>
      </p:sp>
      <p:sp>
        <p:nvSpPr>
          <p:cNvPr id="27" name="layer3-surface">
            <a:extLst xmlns:a="http://schemas.openxmlformats.org/drawingml/2006/main">
              <a:ext uri="{FF2B5EF4-FFF2-40B4-BE49-F238E27FC236}">
                <a16:creationId xmlns:a16="http://schemas.microsoft.com/office/drawing/2014/main" id="{21489112-9F9B-463D-A853-A94C5C839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57600"/>
            <a:ext cx="4857750" cy="876300"/>
          </a:xfrm>
          <a:prstGeom xmlns:a="http://schemas.openxmlformats.org/drawingml/2006/main" prst="roundRect">
            <a:avLst>
              <a:gd name="adj" fmla="val 97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layer3-number">
            <a:extLst xmlns:a="http://schemas.openxmlformats.org/drawingml/2006/main">
              <a:ext uri="{FF2B5EF4-FFF2-40B4-BE49-F238E27FC236}">
                <a16:creationId xmlns:a16="http://schemas.microsoft.com/office/drawing/2014/main" id="{61CE2F72-C904-4258-BD1C-4B69D5BAE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F7F"/>
          </a:solidFill>
          <a:ln xmlns:a="http://schemas.openxmlformats.org/drawingml/2006/main" w="0">
            <a:solidFill>
              <a:srgbClr val="2A7F7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9" name="layer3-title">
            <a:extLst xmlns:a="http://schemas.openxmlformats.org/drawingml/2006/main">
              <a:ext uri="{FF2B5EF4-FFF2-40B4-BE49-F238E27FC236}">
                <a16:creationId xmlns:a16="http://schemas.microsoft.com/office/drawing/2014/main" id="{FEDD66DC-D7FD-403C-B34B-110BFD630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790950"/>
            <a:ext cx="40576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Robustness</a:t>
            </a:r>
          </a:p>
        </p:txBody>
      </p:sp>
      <p:sp>
        <p:nvSpPr>
          <p:cNvPr id="30" name="layer3-detail">
            <a:extLst xmlns:a="http://schemas.openxmlformats.org/drawingml/2006/main">
              <a:ext uri="{FF2B5EF4-FFF2-40B4-BE49-F238E27FC236}">
                <a16:creationId xmlns:a16="http://schemas.microsoft.com/office/drawing/2014/main" id="{1E1CD187-EE9F-44D3-821B-3A6E57B98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086225"/>
            <a:ext cx="4057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Change vintage or taxonomy only with an explicit label.</a:t>
            </a:r>
          </a:p>
        </p:txBody>
      </p:sp>
      <p:sp>
        <p:nvSpPr>
          <p:cNvPr id="31" name="raw-immutable-badge">
            <a:extLst xmlns:a="http://schemas.openxmlformats.org/drawingml/2006/main">
              <a:ext uri="{FF2B5EF4-FFF2-40B4-BE49-F238E27FC236}">
                <a16:creationId xmlns:a16="http://schemas.microsoft.com/office/drawing/2014/main" id="{0B0A0500-0C36-44BC-8962-F09A6363D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33550"/>
            <a:ext cx="2000250" cy="257175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102A43"/>
            </a:solidFill>
            <a:prstDash val="solid"/>
          </a:ln>
        </p:spPr>
        <p:txBody>
          <a:bodyPr xmlns:a="http://schemas.openxmlformats.org/drawingml/2006/main" wrap="square" lIns="38100" tIns="9525" rIns="3810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RAW STAYS IMMUTABLE</a:t>
            </a:r>
          </a:p>
        </p:txBody>
      </p:sp>
      <p:sp>
        <p:nvSpPr>
          <p:cNvPr id="32" name="storage-list">
            <a:extLst xmlns:a="http://schemas.openxmlformats.org/drawingml/2006/main">
              <a:ext uri="{FF2B5EF4-FFF2-40B4-BE49-F238E27FC236}">
                <a16:creationId xmlns:a16="http://schemas.microsoft.com/office/drawing/2014/main" id="{8D1E82F5-4CAD-4A1A-B5E6-F4AD3A901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66950"/>
            <a:ext cx="4429125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38100" rIns="76200" bIns="38100" anchor="t">
            <a:normAutofit/>
          </a:bodyPr>
          <a:lstStyle xmlns:a="http://schemas.openxmlformats.org/drawingml/2006/main"/>
          <a:p xmlns:a="http://schemas.openxmlformats.org/drawingml/2006/main">
            <a:pPr marL="20" indent="-12">
              <a:spcAft>
                <a:spcPts val="9"/>
              </a:spcAft>
              <a:buChar char="•"/>
              <a:defRPr sz="142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Symlink the authors' raw-data location if needed.</a:t>
            </a:r>
          </a:p>
          <a:p xmlns:a="http://schemas.openxmlformats.org/drawingml/2006/main">
            <a:pPr marL="20" indent="-12">
              <a:spcAft>
                <a:spcPts val="9"/>
              </a:spcAft>
              <a:buChar char="•"/>
              <a:defRPr sz="142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Do not duplicate large raw sources.</a:t>
            </a:r>
          </a:p>
          <a:p xmlns:a="http://schemas.openxmlformats.org/drawingml/2006/main">
            <a:pPr marL="20" indent="-12">
              <a:spcAft>
                <a:spcPts val="9"/>
              </a:spcAft>
              <a:buChar char="•"/>
              <a:defRPr sz="142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Save only documented interim data that materially speeds reruns.</a:t>
            </a:r>
          </a:p>
          <a:p xmlns:a="http://schemas.openxmlformats.org/drawingml/2006/main">
            <a:pPr marL="20" indent="-12">
              <a:spcAft>
                <a:spcPts val="9"/>
              </a:spcAft>
              <a:buChar char="•"/>
              <a:defRPr sz="142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Always retain compact final matrices, figures, and diagnostics.</a:t>
            </a:r>
          </a:p>
        </p:txBody>
      </p:sp>
    </p:spTree>
    <p:extLst>
      <p:ext uri="{BB962C8B-B14F-4D97-AF65-F5344CB8AC3E}">
        <p14:creationId xmlns:p14="http://schemas.microsoft.com/office/powerpoint/2010/main" val="165843873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21B0EF0-DF12-49E0-8282-A5EB5B11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C65D16"/>
                </a:solidFill>
                <a:latin typeface="Calibri"/>
                <a:ea typeface="Calibri"/>
                <a:cs typeface="Calibri"/>
              </a:rPr>
              <a:t>TAKEAWAY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80D81F7-DD28-469F-9690-DA4664C9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  <a:latin typeface="Calibri Light"/>
                <a:ea typeface="Calibri Light"/>
                <a:cs typeface="Calibri Light"/>
              </a:defRPr>
            </a:pPr>
            <a:r>
              <a:rPr sz="2700" b="1">
                <a:solidFill>
                  <a:srgbClr val="102A43"/>
                </a:solidFill>
                <a:latin typeface="Calibri Light"/>
                <a:ea typeface="Calibri Light"/>
                <a:cs typeface="Calibri Light"/>
              </a:rPr>
              <a:t>The architecture keeps every transformation auditable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4CDCC845-0954-47BE-99D9-ACC92C7E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40E37CD-502F-44AD-863C-998C0D34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571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7D68AFC4-C9F0-4906-8B90-9F78159C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04900"/>
            <a:ext cx="541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E5B8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2E5B88"/>
                </a:solidFill>
                <a:latin typeface="Calibri"/>
                <a:ea typeface="Calibri"/>
                <a:cs typeface="Calibri"/>
              </a:rPr>
              <a:t>SOURCE → OBJECT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169CDC6F-7B71-4F41-AC26-C991BF45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04900"/>
            <a:ext cx="541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E5B8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2E5B88"/>
                </a:solidFill>
                <a:latin typeface="Calibri"/>
                <a:ea typeface="Calibri"/>
                <a:cs typeface="Calibri"/>
              </a:rPr>
              <a:t>OBJECT → EXHIBIT</a:t>
            </a:r>
          </a:p>
        </p:txBody>
      </p:sp>
      <p:sp>
        <p:nvSpPr>
          <p:cNvPr id="7" name="Regenerated 2021 saving-glut figure-frame">
            <a:extLst xmlns:a="http://schemas.openxmlformats.org/drawingml/2006/main">
              <a:ext uri="{FF2B5EF4-FFF2-40B4-BE49-F238E27FC236}">
                <a16:creationId xmlns:a16="http://schemas.microsoft.com/office/drawing/2014/main" id="{F41A9B74-0FDD-4969-A588-536A7E714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476625"/>
          </a:xfrm>
          <a:prstGeom xmlns:a="http://schemas.openxmlformats.org/drawingml/2006/main" prst="roundRect">
            <a:avLst>
              <a:gd name="adj" fmla="val 2192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5" name="Picture 4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fb920e0d9a4572"/>
          <a:stretch xmlns:a="http://schemas.openxmlformats.org/drawingml/2006/main"/>
        </p:blipFill>
        <p:spPr>
          <a:xfrm xmlns:a="http://schemas.openxmlformats.org/drawingml/2006/main">
            <a:off x="11715750" y="676275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9" name="2025 Figure 5 saving by wealth group-frame">
            <a:extLst xmlns:a="http://schemas.openxmlformats.org/drawingml/2006/main">
              <a:ext uri="{FF2B5EF4-FFF2-40B4-BE49-F238E27FC236}">
                <a16:creationId xmlns:a16="http://schemas.microsoft.com/office/drawing/2014/main" id="{CECC33D5-8AA8-489D-A8CE-CF41FD19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476625"/>
          </a:xfrm>
          <a:prstGeom xmlns:a="http://schemas.openxmlformats.org/drawingml/2006/main" prst="roundRect">
            <a:avLst>
              <a:gd name="adj" fmla="val 2192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7" name="Picture 4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fb920e0d9a4572"/>
          <a:stretch xmlns:a="http://schemas.openxmlformats.org/drawingml/2006/main"/>
        </p:blipFill>
        <p:spPr>
          <a:xfrm xmlns:a="http://schemas.openxmlformats.org/drawingml/2006/main">
            <a:off x="11715750" y="676275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661CFCE0-D157-4A4A-A3D4-5070BEB38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95875"/>
            <a:ext cx="112776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DF2F6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16808DF2-B678-483C-92D7-325DE584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4C8931D4-85C6-4FA0-9526-7745475E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2428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65D16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C65D16"/>
                </a:solidFill>
                <a:latin typeface="Calibri"/>
                <a:ea typeface="Calibri"/>
                <a:cs typeface="Calibri"/>
              </a:rPr>
              <a:t>WHY IT MATTERS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00A0EF70-9C45-4DDE-A376-FB6C73A8E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1970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38100" rIns="38100" bIns="3810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Every final number should retain its source, unit, aggregation rule, and accounting invariant.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A4A3628C-1F59-4962-A00B-08C286CC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825" b="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Source: synthesis of paper methodology and project data documentation.</a:t>
            </a:r>
          </a:p>
        </p:txBody>
      </p:sp>
      <p:sp>
        <p:nvSpPr>
          <p:cNvPr id="19" name="chain1-surface">
            <a:extLst xmlns:a="http://schemas.openxmlformats.org/drawingml/2006/main">
              <a:ext uri="{FF2B5EF4-FFF2-40B4-BE49-F238E27FC236}">
                <a16:creationId xmlns:a16="http://schemas.microsoft.com/office/drawing/2014/main" id="{36AFB536-83F6-4163-BE77-B73198CA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76400"/>
            <a:ext cx="4857750" cy="857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chain1-number">
            <a:extLst xmlns:a="http://schemas.openxmlformats.org/drawingml/2006/main">
              <a:ext uri="{FF2B5EF4-FFF2-40B4-BE49-F238E27FC236}">
                <a16:creationId xmlns:a16="http://schemas.microsoft.com/office/drawing/2014/main" id="{81CB238A-44C0-493F-9DA7-E315A7B07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28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solidFill>
              <a:srgbClr val="2E5B88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1" name="chain1-title">
            <a:extLst xmlns:a="http://schemas.openxmlformats.org/drawingml/2006/main">
              <a:ext uri="{FF2B5EF4-FFF2-40B4-BE49-F238E27FC236}">
                <a16:creationId xmlns:a16="http://schemas.microsoft.com/office/drawing/2014/main" id="{03CA0B56-10EF-42BE-8B71-677D6ECE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09750"/>
            <a:ext cx="40576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Bilateral stocks</a:t>
            </a:r>
          </a:p>
        </p:txBody>
      </p:sp>
      <p:sp>
        <p:nvSpPr>
          <p:cNvPr id="22" name="chain1-detail">
            <a:extLst xmlns:a="http://schemas.openxmlformats.org/drawingml/2006/main">
              <a:ext uri="{FF2B5EF4-FFF2-40B4-BE49-F238E27FC236}">
                <a16:creationId xmlns:a16="http://schemas.microsoft.com/office/drawing/2014/main" id="{933C28C5-8809-4DF4-B1BB-81303C6A8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105025"/>
            <a:ext cx="4057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FA / FWTW instrument matrices in dollars.</a:t>
            </a:r>
          </a:p>
        </p:txBody>
      </p:sp>
      <p:sp>
        <p:nvSpPr>
          <p:cNvPr id="23" name="chain2-surface">
            <a:extLst xmlns:a="http://schemas.openxmlformats.org/drawingml/2006/main">
              <a:ext uri="{FF2B5EF4-FFF2-40B4-BE49-F238E27FC236}">
                <a16:creationId xmlns:a16="http://schemas.microsoft.com/office/drawing/2014/main" id="{50DEB0E4-91BC-4313-B140-95CC3E8A3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67000"/>
            <a:ext cx="4857750" cy="857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chain2-number">
            <a:extLst xmlns:a="http://schemas.openxmlformats.org/drawingml/2006/main">
              <a:ext uri="{FF2B5EF4-FFF2-40B4-BE49-F238E27FC236}">
                <a16:creationId xmlns:a16="http://schemas.microsoft.com/office/drawing/2014/main" id="{C73E0337-80A5-4B94-B771-70C0B3347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19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solidFill>
              <a:srgbClr val="C65D16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5" name="chain2-title">
            <a:extLst xmlns:a="http://schemas.openxmlformats.org/drawingml/2006/main">
              <a:ext uri="{FF2B5EF4-FFF2-40B4-BE49-F238E27FC236}">
                <a16:creationId xmlns:a16="http://schemas.microsoft.com/office/drawing/2014/main" id="{7DE4D70E-A8DE-49DE-991D-30180DB6F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800350"/>
            <a:ext cx="40576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Direct shares</a:t>
            </a:r>
          </a:p>
        </p:txBody>
      </p:sp>
      <p:sp>
        <p:nvSpPr>
          <p:cNvPr id="26" name="chain2-detail">
            <a:extLst xmlns:a="http://schemas.openxmlformats.org/drawingml/2006/main">
              <a:ext uri="{FF2B5EF4-FFF2-40B4-BE49-F238E27FC236}">
                <a16:creationId xmlns:a16="http://schemas.microsoft.com/office/drawing/2014/main" id="{7394F462-3B0F-47D3-85C8-36323FB73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95625"/>
            <a:ext cx="4057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Balance cells and row-normalize by issuer.</a:t>
            </a:r>
          </a:p>
        </p:txBody>
      </p:sp>
      <p:sp>
        <p:nvSpPr>
          <p:cNvPr id="27" name="chain3-surface">
            <a:extLst xmlns:a="http://schemas.openxmlformats.org/drawingml/2006/main">
              <a:ext uri="{FF2B5EF4-FFF2-40B4-BE49-F238E27FC236}">
                <a16:creationId xmlns:a16="http://schemas.microsoft.com/office/drawing/2014/main" id="{900FA293-2F76-44AC-AE6E-A3C8ABE6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57600"/>
            <a:ext cx="4857750" cy="857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chain3-number">
            <a:extLst xmlns:a="http://schemas.openxmlformats.org/drawingml/2006/main">
              <a:ext uri="{FF2B5EF4-FFF2-40B4-BE49-F238E27FC236}">
                <a16:creationId xmlns:a16="http://schemas.microsoft.com/office/drawing/2014/main" id="{FE41CF9B-CD86-492C-9BF6-E9B8EC94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F7F"/>
          </a:solidFill>
          <a:ln xmlns:a="http://schemas.openxmlformats.org/drawingml/2006/main" w="0">
            <a:solidFill>
              <a:srgbClr val="2A7F7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9" name="chain3-title">
            <a:extLst xmlns:a="http://schemas.openxmlformats.org/drawingml/2006/main">
              <a:ext uri="{FF2B5EF4-FFF2-40B4-BE49-F238E27FC236}">
                <a16:creationId xmlns:a16="http://schemas.microsoft.com/office/drawing/2014/main" id="{F5BCD9C5-DAB3-4E7E-968A-CB4D975A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790950"/>
            <a:ext cx="40576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Ultimate ownership</a:t>
            </a:r>
          </a:p>
        </p:txBody>
      </p:sp>
      <p:sp>
        <p:nvSpPr>
          <p:cNvPr id="30" name="chain3-detail">
            <a:extLst xmlns:a="http://schemas.openxmlformats.org/drawingml/2006/main">
              <a:ext uri="{FF2B5EF4-FFF2-40B4-BE49-F238E27FC236}">
                <a16:creationId xmlns:a16="http://schemas.microsoft.com/office/drawing/2014/main" id="{5D84456C-2F09-4F9B-89ED-56E6B0128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086225"/>
            <a:ext cx="4057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Apply the Leontief solve and cohort split.</a:t>
            </a:r>
          </a:p>
        </p:txBody>
      </p:sp>
      <p:sp>
        <p:nvSpPr>
          <p:cNvPr id="31" name="chain4-surface">
            <a:extLst xmlns:a="http://schemas.openxmlformats.org/drawingml/2006/main">
              <a:ext uri="{FF2B5EF4-FFF2-40B4-BE49-F238E27FC236}">
                <a16:creationId xmlns:a16="http://schemas.microsoft.com/office/drawing/2014/main" id="{D6604C4C-14D6-4211-9C61-88016E3B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81200"/>
            <a:ext cx="4429125" cy="1009650"/>
          </a:xfrm>
          <a:prstGeom xmlns:a="http://schemas.openxmlformats.org/drawingml/2006/main" prst="roundRect">
            <a:avLst>
              <a:gd name="adj" fmla="val 84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chain4-number">
            <a:extLst xmlns:a="http://schemas.openxmlformats.org/drawingml/2006/main">
              <a:ext uri="{FF2B5EF4-FFF2-40B4-BE49-F238E27FC236}">
                <a16:creationId xmlns:a16="http://schemas.microsoft.com/office/drawing/2014/main" id="{FC630E95-E41A-409F-90F2-649202A97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133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33" name="chain4-title">
            <a:extLst xmlns:a="http://schemas.openxmlformats.org/drawingml/2006/main">
              <a:ext uri="{FF2B5EF4-FFF2-40B4-BE49-F238E27FC236}">
                <a16:creationId xmlns:a16="http://schemas.microsoft.com/office/drawing/2014/main" id="{B558B459-098A-4B7F-92C9-181663933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114550"/>
            <a:ext cx="3629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02A4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02A43"/>
                </a:solidFill>
                <a:latin typeface="Calibri"/>
                <a:ea typeface="Calibri"/>
                <a:cs typeface="Calibri"/>
              </a:rPr>
              <a:t>Figure objects</a:t>
            </a:r>
          </a:p>
        </p:txBody>
      </p:sp>
      <p:sp>
        <p:nvSpPr>
          <p:cNvPr id="34" name="chain4-detail">
            <a:extLst xmlns:a="http://schemas.openxmlformats.org/drawingml/2006/main">
              <a:ext uri="{FF2B5EF4-FFF2-40B4-BE49-F238E27FC236}">
                <a16:creationId xmlns:a16="http://schemas.microsoft.com/office/drawing/2014/main" id="{C8E9E89F-1B55-40F8-9A10-83D382B67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409825"/>
            <a:ext cx="36290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627D98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627D98"/>
                </a:solidFill>
                <a:latin typeface="Calibri"/>
                <a:ea typeface="Calibri"/>
                <a:cs typeface="Calibri"/>
              </a:rPr>
              <a:t>Indirect ownership, saving flows, and net debt.</a:t>
            </a:r>
          </a:p>
        </p:txBody>
      </p:sp>
      <p:sp>
        <p:nvSpPr>
          <p:cNvPr id="35" name="audit-list">
            <a:extLst xmlns:a="http://schemas.openxmlformats.org/drawingml/2006/main">
              <a:ext uri="{FF2B5EF4-FFF2-40B4-BE49-F238E27FC236}">
                <a16:creationId xmlns:a16="http://schemas.microsoft.com/office/drawing/2014/main" id="{6CA7B49F-F874-4B46-931E-A82819319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333750"/>
            <a:ext cx="41433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38100" rIns="76200" bIns="38100" anchor="t">
            <a:normAutofit/>
          </a:bodyPr>
          <a:lstStyle xmlns:a="http://schemas.openxmlformats.org/drawingml/2006/main"/>
          <a:p xmlns:a="http://schemas.openxmlformats.org/drawingml/2006/main">
            <a:pPr marL="20" indent="-12">
              <a:spcAft>
                <a:spcPts val="9"/>
              </a:spcAft>
              <a:buChar char="•"/>
              <a:defRPr sz="142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Units:</a:t>
            </a:r>
            <a:r>
              <a:rPr sz="142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 dollars, shares, or flows.</a:t>
            </a:r>
          </a:p>
          <a:p xmlns:a="http://schemas.openxmlformats.org/drawingml/2006/main">
            <a:pPr marL="20" indent="-12">
              <a:spcAft>
                <a:spcPts val="9"/>
              </a:spcAft>
              <a:buChar char="•"/>
              <a:defRPr sz="142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Keys:</a:t>
            </a:r>
            <a:r>
              <a:rPr sz="142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 year × instrument × issuer × holder × group.</a:t>
            </a:r>
          </a:p>
          <a:p xmlns:a="http://schemas.openxmlformats.org/drawingml/2006/main">
            <a:pPr marL="20" indent="-12">
              <a:spcAft>
                <a:spcPts val="9"/>
              </a:spcAft>
              <a:buChar char="•"/>
              <a:defRPr sz="1425">
                <a:solidFill>
                  <a:srgbClr val="1F2933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Invariants:</a:t>
            </a:r>
            <a:r>
              <a:rPr sz="1425">
                <a:solidFill>
                  <a:srgbClr val="1F2933"/>
                </a:solidFill>
                <a:latin typeface="Calibri"/>
                <a:ea typeface="Calibri"/>
                <a:cs typeface="Calibri"/>
              </a:rPr>
              <a:t> margins, row sums, and conservation.</a:t>
            </a:r>
          </a:p>
        </p:txBody>
      </p:sp>
    </p:spTree>
    <p:extLst>
      <p:ext uri="{BB962C8B-B14F-4D97-AF65-F5344CB8AC3E}">
        <p14:creationId xmlns:p14="http://schemas.microsoft.com/office/powerpoint/2010/main" val="1658438733"/>
      </p:ext>
    </p:extLst>
  </p:cSld>
</p:sld>
</file>

<file path=ppt/theme/theme1.xml><?xml version="1.0" encoding="utf-8"?>
<a:theme xmlns:a="http://schemas.openxmlformats.org/drawingml/2006/main" name="ChatGPT">
  <a:themeElements>
    <a:clrScheme name="Replication validation">
      <a:dk1>
        <a:srgbClr val="000000"/>
      </a:dk1>
      <a:lt1>
        <a:srgbClr val="FFFFFF"/>
      </a:lt1>
      <a:dk2>
        <a:srgbClr val="102A43"/>
      </a:dk2>
      <a:lt2>
        <a:srgbClr val="D8E1E8"/>
      </a:lt2>
      <a:accent1>
        <a:srgbClr val="2E5B88"/>
      </a:accent1>
      <a:accent2>
        <a:srgbClr val="C65D16"/>
      </a:accent2>
      <a:accent3>
        <a:srgbClr val="2F855A"/>
      </a:accent3>
      <a:accent4>
        <a:srgbClr val="B83232"/>
      </a:accent4>
      <a:accent5>
        <a:srgbClr val="B7791F"/>
      </a:accent5>
      <a:accent6>
        <a:srgbClr val="627D98"/>
      </a:accent6>
      <a:hlink>
        <a:srgbClr val="2E5B88"/>
      </a:hlink>
      <a:folHlink>
        <a:srgbClr val="C65D16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Replication validati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2026-08-12T16:58:49.8670000Z</dcterms:created>
  <dcterms:modified xsi:type="dcterms:W3CDTF">2026-08-12T16:58:49.8670000Z</dcterms:modified>
</coreProperties>
</file>
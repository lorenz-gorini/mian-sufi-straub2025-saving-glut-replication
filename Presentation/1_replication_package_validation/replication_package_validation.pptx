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6703a87843430f" /><Relationship Type="http://schemas.openxmlformats.org/officeDocument/2006/relationships/extended-properties" Target="/docProps/app.xml" Id="R43a2debd06624dbc" /><Relationship Type="http://schemas.openxmlformats.org/officeDocument/2006/relationships/officeDocument" Target="/ppt/presentation.xml" Id="Ra7af4a8868414f61" /></Relationships>
</file>

<file path=ppt/presentation.xml><?xml version="1.0" encoding="utf-8"?>
<p:presentation xmlns:p="http://schemas.openxmlformats.org/presentationml/2006/main">
  <p:sldMasterIdLst>
    <p:sldMasterId xmlns:r="http://schemas.openxmlformats.org/officeDocument/2006/relationships" id="2147483648" r:id="Re6772ff960f94a9c"/>
  </p:sldMasterIdLst>
  <p:notesMasterIdLst>
    <p:notesMasterId xmlns:r="http://schemas.openxmlformats.org/officeDocument/2006/relationships" r:id="R6d1db1591b1a41c6"/>
  </p:notesMasterIdLst>
  <p:sldIdLst>
    <p:sldId xmlns:r="http://schemas.openxmlformats.org/officeDocument/2006/relationships" id="256" r:id="R548297970db34a68"/>
    <p:sldId xmlns:r="http://schemas.openxmlformats.org/officeDocument/2006/relationships" id="257" r:id="R72f33c004d0346ba"/>
    <p:sldId xmlns:r="http://schemas.openxmlformats.org/officeDocument/2006/relationships" id="258" r:id="Rfc3aac3918204212"/>
    <p:sldId xmlns:r="http://schemas.openxmlformats.org/officeDocument/2006/relationships" id="259" r:id="R889a17ca9bcc430e"/>
    <p:sldId xmlns:r="http://schemas.openxmlformats.org/officeDocument/2006/relationships" id="260" r:id="Re2a82d998bac4a55"/>
    <p:sldId xmlns:r="http://schemas.openxmlformats.org/officeDocument/2006/relationships" id="261" r:id="R82f8031f27e94143"/>
    <p:sldId xmlns:r="http://schemas.openxmlformats.org/officeDocument/2006/relationships" id="262" r:id="Re7ff1d8edc6c49eb"/>
    <p:sldId xmlns:r="http://schemas.openxmlformats.org/officeDocument/2006/relationships" id="263" r:id="R36fd5fafd1e24045"/>
    <p:sldId xmlns:r="http://schemas.openxmlformats.org/officeDocument/2006/relationships" id="264" r:id="Ra67db3128d734404"/>
    <p:sldId xmlns:r="http://schemas.openxmlformats.org/officeDocument/2006/relationships" id="265" r:id="Rc337bec3e56d41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47b85b2b274773" /><Relationship Type="http://schemas.openxmlformats.org/officeDocument/2006/relationships/slideMaster" Target="/ppt/slideMasters/slideMaster1.xml" Id="Re6772ff960f94a9c" /><Relationship Type="http://schemas.openxmlformats.org/officeDocument/2006/relationships/notesMaster" Target="/ppt/notesMasters/notesMaster1.xml" Id="R6d1db1591b1a41c6" /><Relationship Type="http://schemas.openxmlformats.org/officeDocument/2006/relationships/presProps" Target="/ppt/presProps.xml" Id="R2432a21344da4c94" /><Relationship Type="http://schemas.openxmlformats.org/officeDocument/2006/relationships/tableStyles" Target="/ppt/tableStyles.xml" Id="R5c1c3537543e41f8" /><Relationship Type="http://schemas.openxmlformats.org/officeDocument/2006/relationships/slide" Target="/ppt/slides/slide1.xml" Id="R548297970db34a68" /><Relationship Type="http://schemas.openxmlformats.org/officeDocument/2006/relationships/slide" Target="/ppt/slides/slide2.xml" Id="R72f33c004d0346ba" /><Relationship Type="http://schemas.openxmlformats.org/officeDocument/2006/relationships/slide" Target="/ppt/slides/slide3.xml" Id="Rfc3aac3918204212" /><Relationship Type="http://schemas.openxmlformats.org/officeDocument/2006/relationships/slide" Target="/ppt/slides/slide4.xml" Id="R889a17ca9bcc430e" /><Relationship Type="http://schemas.openxmlformats.org/officeDocument/2006/relationships/slide" Target="/ppt/slides/slide5.xml" Id="Re2a82d998bac4a55" /><Relationship Type="http://schemas.openxmlformats.org/officeDocument/2006/relationships/slide" Target="/ppt/slides/slide6.xml" Id="R82f8031f27e94143" /><Relationship Type="http://schemas.openxmlformats.org/officeDocument/2006/relationships/slide" Target="/ppt/slides/slide7.xml" Id="Re7ff1d8edc6c49eb" /><Relationship Type="http://schemas.openxmlformats.org/officeDocument/2006/relationships/slide" Target="/ppt/slides/slide8.xml" Id="R36fd5fafd1e24045" /><Relationship Type="http://schemas.openxmlformats.org/officeDocument/2006/relationships/slide" Target="/ppt/slides/slide9.xml" Id="Ra67db3128d734404" /><Relationship Type="http://schemas.openxmlformats.org/officeDocument/2006/relationships/slide" Target="/ppt/slides/slide10.xml" Id="Rc337bec3e56d41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45476852cb4a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eplication validation">
      <a:dk1>
        <a:srgbClr val="000000"/>
      </a:dk1>
      <a:lt1>
        <a:srgbClr val="FFFFFF"/>
      </a:lt1>
      <a:dk2>
        <a:srgbClr val="102A43"/>
      </a:dk2>
      <a:lt2>
        <a:srgbClr val="D8E1E8"/>
      </a:lt2>
      <a:accent1>
        <a:srgbClr val="2E5B88"/>
      </a:accent1>
      <a:accent2>
        <a:srgbClr val="C65D16"/>
      </a:accent2>
      <a:accent3>
        <a:srgbClr val="2F855A"/>
      </a:accent3>
      <a:accent4>
        <a:srgbClr val="B83232"/>
      </a:accent4>
      <a:accent5>
        <a:srgbClr val="B7791F"/>
      </a:accent5>
      <a:accent6>
        <a:srgbClr val="627D98"/>
      </a:accent6>
      <a:hlink>
        <a:srgbClr val="2E5B88"/>
      </a:hlink>
      <a:folHlink>
        <a:srgbClr val="C65D16"/>
      </a:folHlink>
    </a:clrScheme>
    <a:fontScheme name="Office">
      <a:majorFont>
        <a:latin typeface="Calibri Light"/>
        <a:ea typeface="Calibri Light"/>
        <a:cs typeface="Calibri Light"/>
      </a:majorFont>
      <a:minorFont>
        <a:latin typeface="Calibri"/>
        <a:ea typeface="Calibri"/>
        <a:cs typeface="Calibri"/>
      </a:minorFont>
    </a:fontScheme>
    <a:fmtScheme name="Replication valid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cc115effb04bb8" /><Relationship Type="http://schemas.openxmlformats.org/officeDocument/2006/relationships/notesMaster" Target="/ppt/notesMasters/notesMaster1.xml" Id="R24ffc1964e1e44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daafde563243e5" /><Relationship Type="http://schemas.openxmlformats.org/officeDocument/2006/relationships/notesMaster" Target="/ppt/notesMasters/notesMaster1.xml" Id="Reba573dcebcd43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bb3345b5bb4ca8" /><Relationship Type="http://schemas.openxmlformats.org/officeDocument/2006/relationships/notesMaster" Target="/ppt/notesMasters/notesMaster1.xml" Id="R01f0cfa92cb345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1c31cd4c0c45cd" /><Relationship Type="http://schemas.openxmlformats.org/officeDocument/2006/relationships/notesMaster" Target="/ppt/notesMasters/notesMaster1.xml" Id="R924135662ff546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26b7d046594608" /><Relationship Type="http://schemas.openxmlformats.org/officeDocument/2006/relationships/notesMaster" Target="/ppt/notesMasters/notesMaster1.xml" Id="Rf089f5873ebf4e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4144c42de74824" /><Relationship Type="http://schemas.openxmlformats.org/officeDocument/2006/relationships/notesMaster" Target="/ppt/notesMasters/notesMaster1.xml" Id="R8ab7bf68a22543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64e5bd7d7b466b" /><Relationship Type="http://schemas.openxmlformats.org/officeDocument/2006/relationships/notesMaster" Target="/ppt/notesMasters/notesMaster1.xml" Id="Rfec16c72635c41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0ff8dac1004ab5" /><Relationship Type="http://schemas.openxmlformats.org/officeDocument/2006/relationships/notesMaster" Target="/ppt/notesMasters/notesMaster1.xml" Id="R986a031bfed046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f29dc096fb476b" /><Relationship Type="http://schemas.openxmlformats.org/officeDocument/2006/relationships/notesMaster" Target="/ppt/notesMasters/notesMaster1.xml" Id="Rcf6b66f3939b4a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e296e0f93a47bb" /><Relationship Type="http://schemas.openxmlformats.org/officeDocument/2006/relationships/notesMaster" Target="/ppt/notesMasters/notesMaster1.xml" Id="Rae7f20113f5f49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MSS2021Febreplicationkit/mss_savingglut_master.do and regenerated output directory.</a:t>
            </a:r>
          </a:p>
          <a:p xmlns:a="http://schemas.openxmlformats.org/drawingml/2006/main">
            <a:r>
              <a:t>- Mian, Straub, and Sufi, Saving Glut of the Rich, July 25, 2025 draft (MSS_SGR_July242025.pdf).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MSS2021Febreplicationkit/readme.pdf and mss_savingglut_master.do.</a:t>
            </a:r>
          </a:p>
          <a:p xmlns:a="http://schemas.openxmlformats.org/drawingml/2006/main">
            <a:r>
              <a:t>- MSS_SGR_July242025.pdf, especially Sections 2–4 and Figures 1, 5, 8–11.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Presentation reformat generated by Code/stata/format_2021_benchmark_figures.do from the authors' YinequalityFAanalysis.dta; statistical logic matches code/mss_analysis.do:774–800.</a:t>
            </a:r>
          </a:p>
          <a:p xmlns:a="http://schemas.openxmlformats.org/drawingml/2006/main">
            <a:r>
              <a:t>- MSS_SGR_July242025.pdf, Figure 8, PDF p. 29 (paper p. 28).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Presentation reformat generated by Code/stata/format_2021_benchmark_figures.do from the authors' YinequalityFAanalysis.dta; statistical logic matches code/mss_analysis.do:865–896.</a:t>
            </a:r>
          </a:p>
          <a:p xmlns:a="http://schemas.openxmlformats.org/drawingml/2006/main">
            <a:r>
              <a:t>- MSS_SGR_July242025.pdf, Figure 10, PDF p. 32 (paper p. 31).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Deck-structure decision requested by the user on 2026-08-10: keep only the net-debt and safe-asset comparisons in the main sequence.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Regenerated MSS2021Febreplicationkit/output/fig_glut.eps; produced by code/mss_analysis.do:153–184.</a:t>
            </a:r>
          </a:p>
          <a:p xmlns:a="http://schemas.openxmlformats.org/drawingml/2006/main">
            <a:r>
              <a:t>- MSS_SGR_July242025.pdf, Figure 5, PDF p. 22 (paper p. 21).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MSS2021Febreplicationkit/output/tab_nhhd_.tex; produced by code/mss_analysis.do:745–769. Displayed values are Theta^NHHD multiplied by 100.</a:t>
            </a:r>
          </a:p>
          <a:p xmlns:a="http://schemas.openxmlformats.org/drawingml/2006/main">
            <a:r>
              <a:t>- MSS_SGR_July242025.pdf, Figure 9, PDF p. 31 (paper p. 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Regenerated MSS2021Febreplicationkit/output/fig_owndet.eps; produced by code/mss_analysis.do:587–678.</a:t>
            </a:r>
          </a:p>
          <a:p xmlns:a="http://schemas.openxmlformats.org/drawingml/2006/main">
            <a:r>
              <a:t>- MSS_SGR_July242025.pdf, Figure 1, PDF p. 11 (paper p. 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Regenerated MSS2021Febreplicationkit/output/fig_bottomline.eps; produced by code/mss_analysis.do:400–438.</a:t>
            </a:r>
          </a:p>
          <a:p xmlns:a="http://schemas.openxmlformats.org/drawingml/2006/main">
            <a:r>
              <a:t>- MSS_SGR_July242025.pdf, Figure 11, PDF p. 33 (paper p. 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docs/reference/author-output-crosswalk.md.</a:t>
            </a:r>
          </a:p>
          <a:p xmlns:a="http://schemas.openxmlformats.org/drawingml/2006/main">
            <a:r>
              <a:t>- MSS2021Febreplicationkit/output/ regenerated by the full Stata master run.</a:t>
            </a:r>
          </a:p>
          <a:p xmlns:a="http://schemas.openxmlformats.org/drawingml/2006/main">
            <a:r>
              <a:t>- MSS_SGR_July242025.pdf, Figures 1, 5, and 8–11.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7540562b7649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ea8e2c95c546bd" /><Relationship Type="http://schemas.openxmlformats.org/officeDocument/2006/relationships/slideLayout" Target="/ppt/slideLayouts/slideLayout1.xml" Id="Rf7f22ecc370749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f22ecc370749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eplication validation">
      <a:dk1>
        <a:srgbClr val="000000"/>
      </a:dk1>
      <a:lt1>
        <a:srgbClr val="FFFFFF"/>
      </a:lt1>
      <a:dk2>
        <a:srgbClr val="102A43"/>
      </a:dk2>
      <a:lt2>
        <a:srgbClr val="D8E1E8"/>
      </a:lt2>
      <a:accent1>
        <a:srgbClr val="2E5B88"/>
      </a:accent1>
      <a:accent2>
        <a:srgbClr val="C65D16"/>
      </a:accent2>
      <a:accent3>
        <a:srgbClr val="2F855A"/>
      </a:accent3>
      <a:accent4>
        <a:srgbClr val="B83232"/>
      </a:accent4>
      <a:accent5>
        <a:srgbClr val="B7791F"/>
      </a:accent5>
      <a:accent6>
        <a:srgbClr val="627D98"/>
      </a:accent6>
      <a:hlink>
        <a:srgbClr val="2E5B88"/>
      </a:hlink>
      <a:folHlink>
        <a:srgbClr val="C65D16"/>
      </a:folHlink>
    </a:clrScheme>
    <a:fontScheme name="Office">
      <a:majorFont>
        <a:latin typeface="Calibri Light"/>
        <a:ea typeface="Calibri Light"/>
        <a:cs typeface="Calibri Light"/>
      </a:majorFont>
      <a:minorFont>
        <a:latin typeface="Calibri"/>
        <a:ea typeface="Calibri"/>
        <a:cs typeface="Calibri"/>
      </a:minorFont>
    </a:fontScheme>
    <a:fmtScheme name="Replication valid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1c3737715845e1" /><Relationship Type="http://schemas.openxmlformats.org/officeDocument/2006/relationships/notesSlide" Target="/ppt/notesSlides/notesSlide1.xml" Id="R1e6b63fac0dc47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b1fa17aa724c0a" /><Relationship Type="http://schemas.openxmlformats.org/officeDocument/2006/relationships/notesSlide" Target="/ppt/notesSlides/notesSlide2.xml" Id="R50127d81d2f54b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928adbec1b409d" /><Relationship Type="http://schemas.openxmlformats.org/officeDocument/2006/relationships/image" Target="/ppt/media/image.png" Id="R46362b639f3343aa" /><Relationship Type="http://schemas.openxmlformats.org/officeDocument/2006/relationships/image" Target="/ppt/media/image2.png" Id="Rac852929d0ff4f86" /><Relationship Type="http://schemas.openxmlformats.org/officeDocument/2006/relationships/notesSlide" Target="/ppt/notesSlides/notesSlide3.xml" Id="R74f76fbf942149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28920d5ce04594" /><Relationship Type="http://schemas.openxmlformats.org/officeDocument/2006/relationships/image" Target="/ppt/media/image3.png" Id="Rddd360d69dc34d1a" /><Relationship Type="http://schemas.openxmlformats.org/officeDocument/2006/relationships/image" Target="/ppt/media/image4.png" Id="R60bc53c9d00d457a" /><Relationship Type="http://schemas.openxmlformats.org/officeDocument/2006/relationships/notesSlide" Target="/ppt/notesSlides/notesSlide4.xml" Id="Rf71f88f57bf749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15beea64df4773" /><Relationship Type="http://schemas.openxmlformats.org/officeDocument/2006/relationships/notesSlide" Target="/ppt/notesSlides/notesSlide5.xml" Id="R625cdea5474a4a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bb9c22c97d4923" /><Relationship Type="http://schemas.openxmlformats.org/officeDocument/2006/relationships/image" Target="/ppt/media/image5.png" Id="R7a1caf51e35d4af0" /><Relationship Type="http://schemas.openxmlformats.org/officeDocument/2006/relationships/image" Target="/ppt/media/image6.png" Id="R12b09955df6549ca" /><Relationship Type="http://schemas.openxmlformats.org/officeDocument/2006/relationships/notesSlide" Target="/ppt/notesSlides/notesSlide6.xml" Id="R8d10dc324df243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269f0d70e04191" /><Relationship Type="http://schemas.openxmlformats.org/officeDocument/2006/relationships/image" Target="/ppt/media/image7.png" Id="Re74b8560e224442a" /><Relationship Type="http://schemas.openxmlformats.org/officeDocument/2006/relationships/notesSlide" Target="/ppt/notesSlides/notesSlide7.xml" Id="Rde06431fc9b549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24e6a3985d44b5" /><Relationship Type="http://schemas.openxmlformats.org/officeDocument/2006/relationships/image" Target="/ppt/media/image8.png" Id="R47aa37af8bb14bc3" /><Relationship Type="http://schemas.openxmlformats.org/officeDocument/2006/relationships/image" Target="/ppt/media/image9.png" Id="R0b93d2e5587d4ffc" /><Relationship Type="http://schemas.openxmlformats.org/officeDocument/2006/relationships/notesSlide" Target="/ppt/notesSlides/notesSlide8.xml" Id="R7669085a017e44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84e23e1c6a4778" /><Relationship Type="http://schemas.openxmlformats.org/officeDocument/2006/relationships/image" Target="/ppt/media/image10.png" Id="R5fd07b234b094261" /><Relationship Type="http://schemas.openxmlformats.org/officeDocument/2006/relationships/image" Target="/ppt/media/image11.png" Id="Rad4d68d092814c8d" /><Relationship Type="http://schemas.openxmlformats.org/officeDocument/2006/relationships/notesSlide" Target="/ppt/notesSlides/notesSlide9.xml" Id="R34fc82810ca643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db0f7b064342ed" /><Relationship Type="http://schemas.openxmlformats.org/officeDocument/2006/relationships/notesSlide" Target="/ppt/notesSlides/notesSlide10.xml" Id="Rc9862baaecdb4db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ft-band">
            <a:extLst xmlns:a="http://schemas.openxmlformats.org/drawingml/2006/main">
              <a:ext uri="{FF2B5EF4-FFF2-40B4-BE49-F238E27FC236}">
                <a16:creationId xmlns:a16="http://schemas.microsoft.com/office/drawing/2014/main" id="{69941DB9-9128-4CC6-96D4-76F2DED61E5D}"/>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0E7C051A-E968-48D4-932F-BE04BBAA7A5B}"/>
              </a:ext>
            </a:extLst>
          </p:cNvPr>
          <p:cNvSpPr>
            <a:spLocks xmlns:a="http://schemas.openxmlformats.org/drawingml/2006/main" noGrp="1"/>
          </p:cNvSpPr>
          <p:nvPr/>
        </p:nvSpPr>
        <p:spPr>
          <a:xfrm xmlns:a="http://schemas.openxmlformats.org/drawingml/2006/main">
            <a:off x="781050" y="9048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C65D16"/>
                </a:solidFill>
              </a:defRPr>
            </a:pPr>
            <a:r>
              <a:rPr sz="1275" b="1">
                <a:solidFill>
                  <a:srgbClr val="C65D16"/>
                </a:solidFill>
              </a:rPr>
              <a:t>REPLICATION-PACKAGE VALIDATION</a:t>
            </a:r>
          </a:p>
        </p:txBody>
      </p:sp>
      <p:sp>
        <p:nvSpPr>
          <p:cNvPr id="3" name="title">
            <a:extLst xmlns:a="http://schemas.openxmlformats.org/drawingml/2006/main">
              <a:ext uri="{FF2B5EF4-FFF2-40B4-BE49-F238E27FC236}">
                <a16:creationId xmlns:a16="http://schemas.microsoft.com/office/drawing/2014/main" id="{D59C12F6-118A-41FC-9B31-6EE8D81DD79B}"/>
              </a:ext>
            </a:extLst>
          </p:cNvPr>
          <p:cNvSpPr>
            <a:spLocks xmlns:a="http://schemas.openxmlformats.org/drawingml/2006/main" noGrp="1"/>
          </p:cNvSpPr>
          <p:nvPr/>
        </p:nvSpPr>
        <p:spPr>
          <a:xfrm xmlns:a="http://schemas.openxmlformats.org/drawingml/2006/main">
            <a:off x="781050" y="1409700"/>
            <a:ext cx="10096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102A43"/>
                </a:solidFill>
              </a:defRPr>
            </a:pPr>
            <a:r>
              <a:rPr sz="3900" b="1">
                <a:solidFill>
                  <a:srgbClr val="102A43"/>
                </a:solidFill>
              </a:rPr>
              <a:t>Does the 2021 package still validate the 2025 paper?</a:t>
            </a:r>
          </a:p>
        </p:txBody>
      </p:sp>
      <p:sp>
        <p:nvSpPr>
          <p:cNvPr id="4" name="subtitle">
            <a:extLst xmlns:a="http://schemas.openxmlformats.org/drawingml/2006/main">
              <a:ext uri="{FF2B5EF4-FFF2-40B4-BE49-F238E27FC236}">
                <a16:creationId xmlns:a16="http://schemas.microsoft.com/office/drawing/2014/main" id="{369E33F4-CEE0-4100-92AF-B6E5F46AF16C}"/>
              </a:ext>
            </a:extLst>
          </p:cNvPr>
          <p:cNvSpPr>
            <a:spLocks xmlns:a="http://schemas.openxmlformats.org/drawingml/2006/main" noGrp="1"/>
          </p:cNvSpPr>
          <p:nvPr/>
        </p:nvSpPr>
        <p:spPr>
          <a:xfrm xmlns:a="http://schemas.openxmlformats.org/drawingml/2006/main">
            <a:off x="800100" y="3333750"/>
            <a:ext cx="876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243B53"/>
                </a:solidFill>
              </a:defRPr>
            </a:pPr>
            <a:r>
              <a:rPr sz="1875" b="0">
                <a:solidFill>
                  <a:srgbClr val="243B53"/>
                </a:solidFill>
              </a:rPr>
              <a:t>Side-by-side comparison of regenerated Stata outputs with the closest exhibits in the July 2025 paper</a:t>
            </a:r>
          </a:p>
        </p:txBody>
      </p:sp>
      <p:sp>
        <p:nvSpPr>
          <p:cNvPr id="5" name="legend-2021">
            <a:extLst xmlns:a="http://schemas.openxmlformats.org/drawingml/2006/main">
              <a:ext uri="{FF2B5EF4-FFF2-40B4-BE49-F238E27FC236}">
                <a16:creationId xmlns:a16="http://schemas.microsoft.com/office/drawing/2014/main" id="{04EB5C43-CA63-49BC-BC30-BC9BE88C891F}"/>
              </a:ext>
            </a:extLst>
          </p:cNvPr>
          <p:cNvSpPr>
            <a:spLocks xmlns:a="http://schemas.openxmlformats.org/drawingml/2006/main" noGrp="1"/>
          </p:cNvSpPr>
          <p:nvPr/>
        </p:nvSpPr>
        <p:spPr>
          <a:xfrm xmlns:a="http://schemas.openxmlformats.org/drawingml/2006/main">
            <a:off x="800100" y="4667250"/>
            <a:ext cx="171450" cy="171450"/>
          </a:xfrm>
          <a:prstGeom xmlns:a="http://schemas.openxmlformats.org/drawingml/2006/main" prst="rect">
            <a:avLst/>
          </a:prstGeom>
          <a:solidFill xmlns:a="http://schemas.openxmlformats.org/drawingml/2006/main">
            <a:srgbClr val="2E5B88"/>
          </a:solidFill>
          <a:ln xmlns:a="http://schemas.openxmlformats.org/drawingml/2006/main" w="0">
            <a:noFill/>
            <a:prstDash val="solid"/>
          </a:ln>
        </p:spPr>
      </p:sp>
      <p:sp>
        <p:nvSpPr>
          <p:cNvPr id="6" name="legend-2021-text">
            <a:extLst xmlns:a="http://schemas.openxmlformats.org/drawingml/2006/main">
              <a:ext uri="{FF2B5EF4-FFF2-40B4-BE49-F238E27FC236}">
                <a16:creationId xmlns:a16="http://schemas.microsoft.com/office/drawing/2014/main" id="{C9C3AB10-5751-4F82-8A86-8D819F264376}"/>
              </a:ext>
            </a:extLst>
          </p:cNvPr>
          <p:cNvSpPr>
            <a:spLocks xmlns:a="http://schemas.openxmlformats.org/drawingml/2006/main" noGrp="1"/>
          </p:cNvSpPr>
          <p:nvPr/>
        </p:nvSpPr>
        <p:spPr>
          <a:xfrm xmlns:a="http://schemas.openxmlformats.org/drawingml/2006/main">
            <a:off x="1104900" y="46101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Regenerated February 2021 package output</a:t>
            </a:r>
          </a:p>
        </p:txBody>
      </p:sp>
      <p:sp>
        <p:nvSpPr>
          <p:cNvPr id="7" name="legend-2025">
            <a:extLst xmlns:a="http://schemas.openxmlformats.org/drawingml/2006/main">
              <a:ext uri="{FF2B5EF4-FFF2-40B4-BE49-F238E27FC236}">
                <a16:creationId xmlns:a16="http://schemas.microsoft.com/office/drawing/2014/main" id="{B87B36AA-45A7-426E-9A02-DB03462E7254}"/>
              </a:ext>
            </a:extLst>
          </p:cNvPr>
          <p:cNvSpPr>
            <a:spLocks xmlns:a="http://schemas.openxmlformats.org/drawingml/2006/main" noGrp="1"/>
          </p:cNvSpPr>
          <p:nvPr/>
        </p:nvSpPr>
        <p:spPr>
          <a:xfrm xmlns:a="http://schemas.openxmlformats.org/drawingml/2006/main">
            <a:off x="800100" y="5095875"/>
            <a:ext cx="171450" cy="171450"/>
          </a:xfrm>
          <a:prstGeom xmlns:a="http://schemas.openxmlformats.org/drawingml/2006/main" prst="rect">
            <a:avLst/>
          </a:prstGeom>
          <a:solidFill xmlns:a="http://schemas.openxmlformats.org/drawingml/2006/main">
            <a:srgbClr val="C65D16"/>
          </a:solidFill>
          <a:ln xmlns:a="http://schemas.openxmlformats.org/drawingml/2006/main" w="0">
            <a:noFill/>
            <a:prstDash val="solid"/>
          </a:ln>
        </p:spPr>
      </p:sp>
      <p:sp>
        <p:nvSpPr>
          <p:cNvPr id="8" name="legend-2025-text">
            <a:extLst xmlns:a="http://schemas.openxmlformats.org/drawingml/2006/main">
              <a:ext uri="{FF2B5EF4-FFF2-40B4-BE49-F238E27FC236}">
                <a16:creationId xmlns:a16="http://schemas.microsoft.com/office/drawing/2014/main" id="{391AA843-EE9C-4B5B-9375-1CFEC09F56C4}"/>
              </a:ext>
            </a:extLst>
          </p:cNvPr>
          <p:cNvSpPr>
            <a:spLocks xmlns:a="http://schemas.openxmlformats.org/drawingml/2006/main" noGrp="1"/>
          </p:cNvSpPr>
          <p:nvPr/>
        </p:nvSpPr>
        <p:spPr>
          <a:xfrm xmlns:a="http://schemas.openxmlformats.org/drawingml/2006/main">
            <a:off x="1104900" y="50387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Authoritative July 2025 paper exhibit</a:t>
            </a:r>
          </a:p>
        </p:txBody>
      </p:sp>
      <p:sp>
        <p:nvSpPr>
          <p:cNvPr id="9" name="date">
            <a:extLst xmlns:a="http://schemas.openxmlformats.org/drawingml/2006/main">
              <a:ext uri="{FF2B5EF4-FFF2-40B4-BE49-F238E27FC236}">
                <a16:creationId xmlns:a16="http://schemas.microsoft.com/office/drawing/2014/main" id="{086423BF-9FA1-4716-82E0-A79C256346E4}"/>
              </a:ext>
            </a:extLst>
          </p:cNvPr>
          <p:cNvSpPr>
            <a:spLocks xmlns:a="http://schemas.openxmlformats.org/drawingml/2006/main" noGrp="1"/>
          </p:cNvSpPr>
          <p:nvPr/>
        </p:nvSpPr>
        <p:spPr>
          <a:xfrm xmlns:a="http://schemas.openxmlformats.org/drawingml/2006/main">
            <a:off x="800100" y="61912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27D98"/>
                </a:solidFill>
              </a:defRPr>
            </a:pPr>
            <a:r>
              <a:rPr sz="1125" b="0">
                <a:solidFill>
                  <a:srgbClr val="627D98"/>
                </a:solidFill>
              </a:rPr>
              <a:t>Revised 10 August 2026</a:t>
            </a:r>
          </a:p>
        </p:txBody>
      </p:sp>
    </p:spTree>
    <p:extLst>
      <p:ext uri="{BB962C8B-B14F-4D97-AF65-F5344CB8AC3E}">
        <p14:creationId xmlns:p14="http://schemas.microsoft.com/office/powerpoint/2010/main" val="17717655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kicker">
            <a:extLst xmlns:a="http://schemas.openxmlformats.org/drawingml/2006/main">
              <a:ext uri="{FF2B5EF4-FFF2-40B4-BE49-F238E27FC236}">
                <a16:creationId xmlns:a16="http://schemas.microsoft.com/office/drawing/2014/main" id="{4DBD74DF-ED28-4EE9-8535-9E366A67537D}"/>
              </a:ext>
            </a:extLst>
          </p:cNvPr>
          <p:cNvSpPr>
            <a:spLocks xmlns:a="http://schemas.openxmlformats.org/drawingml/2006/main" noGrp="1"/>
          </p:cNvSpPr>
          <p:nvPr/>
        </p:nvSpPr>
        <p:spPr>
          <a:xfrm xmlns:a="http://schemas.openxmlformats.org/drawingml/2006/main">
            <a:off x="4572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C65D16"/>
                </a:solidFill>
              </a:defRPr>
            </a:pPr>
            <a:r>
              <a:rPr sz="1050" b="1">
                <a:solidFill>
                  <a:srgbClr val="C65D16"/>
                </a:solidFill>
              </a:rPr>
              <a:t>HOW TO READ THE DECK</a:t>
            </a:r>
          </a:p>
        </p:txBody>
      </p:sp>
      <p:sp>
        <p:nvSpPr>
          <p:cNvPr id="2" name="title">
            <a:extLst xmlns:a="http://schemas.openxmlformats.org/drawingml/2006/main">
              <a:ext uri="{FF2B5EF4-FFF2-40B4-BE49-F238E27FC236}">
                <a16:creationId xmlns:a16="http://schemas.microsoft.com/office/drawing/2014/main" id="{25994307-319F-4EAA-8D7C-9E832F74B960}"/>
              </a:ext>
            </a:extLst>
          </p:cNvPr>
          <p:cNvSpPr>
            <a:spLocks xmlns:a="http://schemas.openxmlformats.org/drawingml/2006/main" noGrp="1"/>
          </p:cNvSpPr>
          <p:nvPr/>
        </p:nvSpPr>
        <p:spPr>
          <a:xfrm xmlns:a="http://schemas.openxmlformats.org/drawingml/2006/main">
            <a:off x="457200" y="4572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2A43"/>
                </a:solidFill>
              </a:defRPr>
            </a:pPr>
            <a:r>
              <a:rPr sz="2700" b="1">
                <a:solidFill>
                  <a:srgbClr val="102A43"/>
                </a:solidFill>
              </a:rPr>
              <a:t>The comparison tests lineage—not exact 2025 reproducibility</a:t>
            </a:r>
          </a:p>
        </p:txBody>
      </p:sp>
      <p:sp>
        <p:nvSpPr>
          <p:cNvPr id="3" name="header-rule">
            <a:extLst xmlns:a="http://schemas.openxmlformats.org/drawingml/2006/main">
              <a:ext uri="{FF2B5EF4-FFF2-40B4-BE49-F238E27FC236}">
                <a16:creationId xmlns:a16="http://schemas.microsoft.com/office/drawing/2014/main" id="{9304C898-8A92-4A39-A7EB-64A100354E4A}"/>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E4772364-3993-46C7-BB6A-7696849F37B9}"/>
              </a:ext>
            </a:extLst>
          </p:cNvPr>
          <p:cNvSpPr>
            <a:spLocks xmlns:a="http://schemas.openxmlformats.org/drawingml/2006/main" noGrp="1"/>
          </p:cNvSpPr>
          <p:nvPr/>
        </p:nvSpPr>
        <p:spPr>
          <a:xfrm xmlns:a="http://schemas.openxmlformats.org/drawingml/2006/main">
            <a:off x="11334750" y="266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627D98"/>
                </a:solidFill>
              </a:defRPr>
            </a:pPr>
            <a:r>
              <a:rPr sz="1050" b="1">
                <a:solidFill>
                  <a:srgbClr val="627D98"/>
                </a:solidFill>
              </a:rPr>
              <a:t>02</a:t>
            </a:r>
          </a:p>
        </p:txBody>
      </p:sp>
      <p:sp>
        <p:nvSpPr>
          <p:cNvPr id="5" name="question">
            <a:extLst xmlns:a="http://schemas.openxmlformats.org/drawingml/2006/main">
              <a:ext uri="{FF2B5EF4-FFF2-40B4-BE49-F238E27FC236}">
                <a16:creationId xmlns:a16="http://schemas.microsoft.com/office/drawing/2014/main" id="{1C4CBB66-390B-40CA-9A94-F3B655FADD50}"/>
              </a:ext>
            </a:extLst>
          </p:cNvPr>
          <p:cNvSpPr>
            <a:spLocks xmlns:a="http://schemas.openxmlformats.org/drawingml/2006/main" noGrp="1"/>
          </p:cNvSpPr>
          <p:nvPr/>
        </p:nvSpPr>
        <p:spPr>
          <a:xfrm xmlns:a="http://schemas.openxmlformats.org/drawingml/2006/main">
            <a:off x="533400" y="1333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02A43"/>
                </a:solidFill>
              </a:defRPr>
            </a:pPr>
            <a:r>
              <a:rPr sz="1650" b="1">
                <a:solidFill>
                  <a:srgbClr val="102A43"/>
                </a:solidFill>
              </a:rPr>
              <a:t>Question</a:t>
            </a:r>
          </a:p>
        </p:txBody>
      </p:sp>
      <p:sp>
        <p:nvSpPr>
          <p:cNvPr id="6" name="question-body">
            <a:extLst xmlns:a="http://schemas.openxmlformats.org/drawingml/2006/main">
              <a:ext uri="{FF2B5EF4-FFF2-40B4-BE49-F238E27FC236}">
                <a16:creationId xmlns:a16="http://schemas.microsoft.com/office/drawing/2014/main" id="{C7924291-5CE5-45A7-9502-25780E8749E1}"/>
              </a:ext>
            </a:extLst>
          </p:cNvPr>
          <p:cNvSpPr>
            <a:spLocks xmlns:a="http://schemas.openxmlformats.org/drawingml/2006/main" noGrp="1"/>
          </p:cNvSpPr>
          <p:nvPr/>
        </p:nvSpPr>
        <p:spPr>
          <a:xfrm xmlns:a="http://schemas.openxmlformats.org/drawingml/2006/main">
            <a:off x="533400" y="1733550"/>
            <a:ext cx="4381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243B53"/>
                </a:solidFill>
              </a:defRPr>
            </a:pPr>
            <a:r>
              <a:rPr sz="1875" b="0">
                <a:solidFill>
                  <a:srgbClr val="243B53"/>
                </a:solidFill>
              </a:rPr>
              <a:t>Do the regenerated 2021 outputs recover the economic patterns and accounting objects used in the revised 2025 paper?</a:t>
            </a:r>
          </a:p>
        </p:txBody>
      </p:sp>
      <p:sp>
        <p:nvSpPr>
          <p:cNvPr id="7" name="divider">
            <a:extLst xmlns:a="http://schemas.openxmlformats.org/drawingml/2006/main">
              <a:ext uri="{FF2B5EF4-FFF2-40B4-BE49-F238E27FC236}">
                <a16:creationId xmlns:a16="http://schemas.microsoft.com/office/drawing/2014/main" id="{F04E65CB-1300-417C-A552-521BE00891D3}"/>
              </a:ext>
            </a:extLst>
          </p:cNvPr>
          <p:cNvSpPr>
            <a:spLocks xmlns:a="http://schemas.openxmlformats.org/drawingml/2006/main" noGrp="1"/>
          </p:cNvSpPr>
          <p:nvPr/>
        </p:nvSpPr>
        <p:spPr>
          <a:xfrm xmlns:a="http://schemas.openxmlformats.org/drawingml/2006/main">
            <a:off x="5391150" y="1285875"/>
            <a:ext cx="19050" cy="4381500"/>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8" name="Strong precursor-bar">
            <a:extLst xmlns:a="http://schemas.openxmlformats.org/drawingml/2006/main">
              <a:ext uri="{FF2B5EF4-FFF2-40B4-BE49-F238E27FC236}">
                <a16:creationId xmlns:a16="http://schemas.microsoft.com/office/drawing/2014/main" id="{80A9BBD5-0978-4A47-9DE6-A7D2756C4BC7}"/>
              </a:ext>
            </a:extLst>
          </p:cNvPr>
          <p:cNvSpPr>
            <a:spLocks xmlns:a="http://schemas.openxmlformats.org/drawingml/2006/main" noGrp="1"/>
          </p:cNvSpPr>
          <p:nvPr/>
        </p:nvSpPr>
        <p:spPr>
          <a:xfrm xmlns:a="http://schemas.openxmlformats.org/drawingml/2006/main">
            <a:off x="5905500" y="1333500"/>
            <a:ext cx="76200" cy="952500"/>
          </a:xfrm>
          <a:prstGeom xmlns:a="http://schemas.openxmlformats.org/drawingml/2006/main" prst="rect">
            <a:avLst/>
          </a:prstGeom>
          <a:solidFill xmlns:a="http://schemas.openxmlformats.org/drawingml/2006/main">
            <a:srgbClr val="2F855A"/>
          </a:solidFill>
          <a:ln xmlns:a="http://schemas.openxmlformats.org/drawingml/2006/main" w="0">
            <a:noFill/>
            <a:prstDash val="solid"/>
          </a:ln>
        </p:spPr>
      </p:sp>
      <p:sp>
        <p:nvSpPr>
          <p:cNvPr id="9" name="Strong precursor-label">
            <a:extLst xmlns:a="http://schemas.openxmlformats.org/drawingml/2006/main">
              <a:ext uri="{FF2B5EF4-FFF2-40B4-BE49-F238E27FC236}">
                <a16:creationId xmlns:a16="http://schemas.microsoft.com/office/drawing/2014/main" id="{51CC7C6F-9EBD-42A3-9CD8-DD0C6EE988A5}"/>
              </a:ext>
            </a:extLst>
          </p:cNvPr>
          <p:cNvSpPr>
            <a:spLocks xmlns:a="http://schemas.openxmlformats.org/drawingml/2006/main" noGrp="1"/>
          </p:cNvSpPr>
          <p:nvPr/>
        </p:nvSpPr>
        <p:spPr>
          <a:xfrm xmlns:a="http://schemas.openxmlformats.org/drawingml/2006/main">
            <a:off x="6191250" y="13716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F855A"/>
                </a:solidFill>
              </a:defRPr>
            </a:pPr>
            <a:r>
              <a:rPr sz="1725" b="1">
                <a:solidFill>
                  <a:srgbClr val="2F855A"/>
                </a:solidFill>
              </a:rPr>
              <a:t>Strong precursor</a:t>
            </a:r>
          </a:p>
        </p:txBody>
      </p:sp>
      <p:sp>
        <p:nvSpPr>
          <p:cNvPr id="10" name="Strong precursor-body">
            <a:extLst xmlns:a="http://schemas.openxmlformats.org/drawingml/2006/main">
              <a:ext uri="{FF2B5EF4-FFF2-40B4-BE49-F238E27FC236}">
                <a16:creationId xmlns:a16="http://schemas.microsoft.com/office/drawing/2014/main" id="{244FF233-0930-4770-ADF3-1B1A9250D6B7}"/>
              </a:ext>
            </a:extLst>
          </p:cNvPr>
          <p:cNvSpPr>
            <a:spLocks xmlns:a="http://schemas.openxmlformats.org/drawingml/2006/main" noGrp="1"/>
          </p:cNvSpPr>
          <p:nvPr/>
        </p:nvSpPr>
        <p:spPr>
          <a:xfrm xmlns:a="http://schemas.openxmlformats.org/drawingml/2006/main">
            <a:off x="6191250" y="170497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Same core object and very similar graphical claim; exact values need not match.</a:t>
            </a:r>
          </a:p>
        </p:txBody>
      </p:sp>
      <p:sp>
        <p:nvSpPr>
          <p:cNvPr id="11" name="Partial match-bar">
            <a:extLst xmlns:a="http://schemas.openxmlformats.org/drawingml/2006/main">
              <a:ext uri="{FF2B5EF4-FFF2-40B4-BE49-F238E27FC236}">
                <a16:creationId xmlns:a16="http://schemas.microsoft.com/office/drawing/2014/main" id="{F0181655-D030-45C0-A3E0-D81445F8830B}"/>
              </a:ext>
            </a:extLst>
          </p:cNvPr>
          <p:cNvSpPr>
            <a:spLocks xmlns:a="http://schemas.openxmlformats.org/drawingml/2006/main" noGrp="1"/>
          </p:cNvSpPr>
          <p:nvPr/>
        </p:nvSpPr>
        <p:spPr>
          <a:xfrm xmlns:a="http://schemas.openxmlformats.org/drawingml/2006/main">
            <a:off x="5905500" y="2609850"/>
            <a:ext cx="76200" cy="9525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12" name="Partial match-label">
            <a:extLst xmlns:a="http://schemas.openxmlformats.org/drawingml/2006/main">
              <a:ext uri="{FF2B5EF4-FFF2-40B4-BE49-F238E27FC236}">
                <a16:creationId xmlns:a16="http://schemas.microsoft.com/office/drawing/2014/main" id="{217D0269-3366-4106-A614-BFB2DD0B2ECF}"/>
              </a:ext>
            </a:extLst>
          </p:cNvPr>
          <p:cNvSpPr>
            <a:spLocks xmlns:a="http://schemas.openxmlformats.org/drawingml/2006/main" noGrp="1"/>
          </p:cNvSpPr>
          <p:nvPr/>
        </p:nvSpPr>
        <p:spPr>
          <a:xfrm xmlns:a="http://schemas.openxmlformats.org/drawingml/2006/main">
            <a:off x="6191250" y="26479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B7791F"/>
                </a:solidFill>
              </a:defRPr>
            </a:pPr>
            <a:r>
              <a:rPr sz="1725" b="1">
                <a:solidFill>
                  <a:srgbClr val="B7791F"/>
                </a:solidFill>
              </a:rPr>
              <a:t>Partial match</a:t>
            </a:r>
          </a:p>
        </p:txBody>
      </p:sp>
      <p:sp>
        <p:nvSpPr>
          <p:cNvPr id="13" name="Partial match-body">
            <a:extLst xmlns:a="http://schemas.openxmlformats.org/drawingml/2006/main">
              <a:ext uri="{FF2B5EF4-FFF2-40B4-BE49-F238E27FC236}">
                <a16:creationId xmlns:a16="http://schemas.microsoft.com/office/drawing/2014/main" id="{00ABC748-B2B5-4893-8CE6-FDE63773F6C0}"/>
              </a:ext>
            </a:extLst>
          </p:cNvPr>
          <p:cNvSpPr>
            <a:spLocks xmlns:a="http://schemas.openxmlformats.org/drawingml/2006/main" noGrp="1"/>
          </p:cNvSpPr>
          <p:nvPr/>
        </p:nvSpPr>
        <p:spPr>
          <a:xfrm xmlns:a="http://schemas.openxmlformats.org/drawingml/2006/main">
            <a:off x="6191250" y="298132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Same accounting lineage, but smoothing, groups, sample, or transformation changed.</a:t>
            </a:r>
          </a:p>
        </p:txBody>
      </p:sp>
      <p:sp>
        <p:nvSpPr>
          <p:cNvPr id="14" name="Context only-bar">
            <a:extLst xmlns:a="http://schemas.openxmlformats.org/drawingml/2006/main">
              <a:ext uri="{FF2B5EF4-FFF2-40B4-BE49-F238E27FC236}">
                <a16:creationId xmlns:a16="http://schemas.microsoft.com/office/drawing/2014/main" id="{A567A865-2022-41CE-BB30-AB58E2C2A04A}"/>
              </a:ext>
            </a:extLst>
          </p:cNvPr>
          <p:cNvSpPr>
            <a:spLocks xmlns:a="http://schemas.openxmlformats.org/drawingml/2006/main" noGrp="1"/>
          </p:cNvSpPr>
          <p:nvPr/>
        </p:nvSpPr>
        <p:spPr>
          <a:xfrm xmlns:a="http://schemas.openxmlformats.org/drawingml/2006/main">
            <a:off x="5905500" y="3886200"/>
            <a:ext cx="76200" cy="952500"/>
          </a:xfrm>
          <a:prstGeom xmlns:a="http://schemas.openxmlformats.org/drawingml/2006/main" prst="rect">
            <a:avLst/>
          </a:prstGeom>
          <a:solidFill xmlns:a="http://schemas.openxmlformats.org/drawingml/2006/main">
            <a:srgbClr val="B83232"/>
          </a:solidFill>
          <a:ln xmlns:a="http://schemas.openxmlformats.org/drawingml/2006/main" w="0">
            <a:noFill/>
            <a:prstDash val="solid"/>
          </a:ln>
        </p:spPr>
      </p:sp>
      <p:sp>
        <p:nvSpPr>
          <p:cNvPr id="15" name="Context only-label">
            <a:extLst xmlns:a="http://schemas.openxmlformats.org/drawingml/2006/main">
              <a:ext uri="{FF2B5EF4-FFF2-40B4-BE49-F238E27FC236}">
                <a16:creationId xmlns:a16="http://schemas.microsoft.com/office/drawing/2014/main" id="{58F96603-D508-40F6-A485-776B0AF5C4BD}"/>
              </a:ext>
            </a:extLst>
          </p:cNvPr>
          <p:cNvSpPr>
            <a:spLocks xmlns:a="http://schemas.openxmlformats.org/drawingml/2006/main" noGrp="1"/>
          </p:cNvSpPr>
          <p:nvPr/>
        </p:nvSpPr>
        <p:spPr>
          <a:xfrm xmlns:a="http://schemas.openxmlformats.org/drawingml/2006/main">
            <a:off x="6191250" y="39243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B83232"/>
                </a:solidFill>
              </a:defRPr>
            </a:pPr>
            <a:r>
              <a:rPr sz="1725" b="1">
                <a:solidFill>
                  <a:srgbClr val="B83232"/>
                </a:solidFill>
              </a:rPr>
              <a:t>Context only</a:t>
            </a:r>
          </a:p>
        </p:txBody>
      </p:sp>
      <p:sp>
        <p:nvSpPr>
          <p:cNvPr id="16" name="Context only-body">
            <a:extLst xmlns:a="http://schemas.openxmlformats.org/drawingml/2006/main">
              <a:ext uri="{FF2B5EF4-FFF2-40B4-BE49-F238E27FC236}">
                <a16:creationId xmlns:a16="http://schemas.microsoft.com/office/drawing/2014/main" id="{005F9EA7-5FC9-4084-B230-06E7E891E6B0}"/>
              </a:ext>
            </a:extLst>
          </p:cNvPr>
          <p:cNvSpPr>
            <a:spLocks xmlns:a="http://schemas.openxmlformats.org/drawingml/2006/main" noGrp="1"/>
          </p:cNvSpPr>
          <p:nvPr/>
        </p:nvSpPr>
        <p:spPr>
          <a:xfrm xmlns:a="http://schemas.openxmlformats.org/drawingml/2006/main">
            <a:off x="6191250" y="425767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Related motivation or input, but not the same 2025 outcome variable.</a:t>
            </a:r>
          </a:p>
        </p:txBody>
      </p:sp>
      <p:sp>
        <p:nvSpPr>
          <p:cNvPr id="17" name="boundary">
            <a:extLst xmlns:a="http://schemas.openxmlformats.org/drawingml/2006/main">
              <a:ext uri="{FF2B5EF4-FFF2-40B4-BE49-F238E27FC236}">
                <a16:creationId xmlns:a16="http://schemas.microsoft.com/office/drawing/2014/main" id="{79FA2934-1CA8-49CA-B94B-8B94B201C7B7}"/>
              </a:ext>
            </a:extLst>
          </p:cNvPr>
          <p:cNvSpPr>
            <a:spLocks xmlns:a="http://schemas.openxmlformats.org/drawingml/2006/main" noGrp="1"/>
          </p:cNvSpPr>
          <p:nvPr/>
        </p:nvSpPr>
        <p:spPr>
          <a:xfrm xmlns:a="http://schemas.openxmlformats.org/drawingml/2006/main">
            <a:off x="533400" y="3238500"/>
            <a:ext cx="4381500" cy="1809750"/>
          </a:xfrm>
          <a:prstGeom xmlns:a="http://schemas.openxmlformats.org/drawingml/2006/main" prst="roundRect">
            <a:avLst>
              <a:gd name="adj" fmla="val 2105"/>
            </a:avLst>
          </a:prstGeom>
          <a:solidFill xmlns:a="http://schemas.openxmlformats.org/drawingml/2006/main">
            <a:srgbClr val="F4F7FA"/>
          </a:solidFill>
          <a:ln xmlns:a="http://schemas.openxmlformats.org/drawingml/2006/main" w="0">
            <a:noFill/>
            <a:prstDash val="solid"/>
          </a:ln>
        </p:spPr>
      </p:sp>
      <p:sp>
        <p:nvSpPr>
          <p:cNvPr id="18" name="boundary-title">
            <a:extLst xmlns:a="http://schemas.openxmlformats.org/drawingml/2006/main">
              <a:ext uri="{FF2B5EF4-FFF2-40B4-BE49-F238E27FC236}">
                <a16:creationId xmlns:a16="http://schemas.microsoft.com/office/drawing/2014/main" id="{90F1D0FA-121D-4208-9F34-9DE0662DF16B}"/>
              </a:ext>
            </a:extLst>
          </p:cNvPr>
          <p:cNvSpPr>
            <a:spLocks xmlns:a="http://schemas.openxmlformats.org/drawingml/2006/main" noGrp="1"/>
          </p:cNvSpPr>
          <p:nvPr/>
        </p:nvSpPr>
        <p:spPr>
          <a:xfrm xmlns:a="http://schemas.openxmlformats.org/drawingml/2006/main">
            <a:off x="742950" y="34480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B83232"/>
                </a:solidFill>
              </a:defRPr>
            </a:pPr>
            <a:r>
              <a:rPr sz="1575" b="1">
                <a:solidFill>
                  <a:srgbClr val="B83232"/>
                </a:solidFill>
              </a:rPr>
              <a:t>Hard boundary</a:t>
            </a:r>
          </a:p>
        </p:txBody>
      </p:sp>
      <p:sp>
        <p:nvSpPr>
          <p:cNvPr id="19" name="boundary-body">
            <a:extLst xmlns:a="http://schemas.openxmlformats.org/drawingml/2006/main">
              <a:ext uri="{FF2B5EF4-FFF2-40B4-BE49-F238E27FC236}">
                <a16:creationId xmlns:a16="http://schemas.microsoft.com/office/drawing/2014/main" id="{DF98F5D6-9D18-45C9-8820-2EA73D0D0CC3}"/>
              </a:ext>
            </a:extLst>
          </p:cNvPr>
          <p:cNvSpPr>
            <a:spLocks xmlns:a="http://schemas.openxmlformats.org/drawingml/2006/main" noGrp="1"/>
          </p:cNvSpPr>
          <p:nvPr/>
        </p:nvSpPr>
        <p:spPr>
          <a:xfrm xmlns:a="http://schemas.openxmlformats.org/drawingml/2006/main">
            <a:off x="742950" y="3857625"/>
            <a:ext cx="3905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The old kit ends around 2016 and uses the earlier round-by-round unveiling and earlier distributional specifications. It cannot be labeled an exact replication of the 2019 endpoint or the revised matrix implementation.</a:t>
            </a:r>
          </a:p>
        </p:txBody>
      </p:sp>
    </p:spTree>
    <p:extLst>
      <p:ext uri="{BB962C8B-B14F-4D97-AF65-F5344CB8AC3E}">
        <p14:creationId xmlns:p14="http://schemas.microsoft.com/office/powerpoint/2010/main" val="2211895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7F0086E9-FAF6-4028-AC6E-B9647412E0A0}"/>
              </a:ext>
            </a:extLst>
          </p:cNvPr>
          <p:cNvSpPr>
            <a:spLocks xmlns:a="http://schemas.openxmlformats.org/drawingml/2006/main" noGrp="1"/>
          </p:cNvSpPr>
          <p:nvPr/>
        </p:nvSpPr>
        <p:spPr>
          <a:xfrm xmlns:a="http://schemas.openxmlformats.org/drawingml/2006/main">
            <a:off x="4572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C65D16"/>
                </a:solidFill>
              </a:defRPr>
            </a:pPr>
            <a:r>
              <a:rPr sz="1050" b="1">
                <a:solidFill>
                  <a:srgbClr val="C65D16"/>
                </a:solidFill>
              </a:rPr>
              <a:t>HOUSEHOLD DEBT STOCKS</a:t>
            </a:r>
          </a:p>
        </p:txBody>
      </p:sp>
      <p:sp>
        <p:nvSpPr>
          <p:cNvPr id="2" name="title">
            <a:extLst xmlns:a="http://schemas.openxmlformats.org/drawingml/2006/main">
              <a:ext uri="{FF2B5EF4-FFF2-40B4-BE49-F238E27FC236}">
                <a16:creationId xmlns:a16="http://schemas.microsoft.com/office/drawing/2014/main" id="{F86E9C56-6638-4AEA-9D60-75E9AD968756}"/>
              </a:ext>
            </a:extLst>
          </p:cNvPr>
          <p:cNvSpPr>
            <a:spLocks xmlns:a="http://schemas.openxmlformats.org/drawingml/2006/main" noGrp="1"/>
          </p:cNvSpPr>
          <p:nvPr/>
        </p:nvSpPr>
        <p:spPr>
          <a:xfrm xmlns:a="http://schemas.openxmlformats.org/drawingml/2006/main">
            <a:off x="457200" y="4572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2A43"/>
                </a:solidFill>
              </a:defRPr>
            </a:pPr>
            <a:r>
              <a:rPr sz="2700" b="1">
                <a:solidFill>
                  <a:srgbClr val="102A43"/>
                </a:solidFill>
              </a:rPr>
              <a:t>Net household debt is the closest direct old-to-new match</a:t>
            </a:r>
          </a:p>
        </p:txBody>
      </p:sp>
      <p:sp>
        <p:nvSpPr>
          <p:cNvPr id="3" name="header-rule">
            <a:extLst xmlns:a="http://schemas.openxmlformats.org/drawingml/2006/main">
              <a:ext uri="{FF2B5EF4-FFF2-40B4-BE49-F238E27FC236}">
                <a16:creationId xmlns:a16="http://schemas.microsoft.com/office/drawing/2014/main" id="{FD44DB27-8263-48F7-A497-B30A7CAEF3AC}"/>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42183ED0-D88C-4E88-B76A-96D667097A33}"/>
              </a:ext>
            </a:extLst>
          </p:cNvPr>
          <p:cNvSpPr>
            <a:spLocks xmlns:a="http://schemas.openxmlformats.org/drawingml/2006/main" noGrp="1"/>
          </p:cNvSpPr>
          <p:nvPr/>
        </p:nvSpPr>
        <p:spPr>
          <a:xfrm xmlns:a="http://schemas.openxmlformats.org/drawingml/2006/main">
            <a:off x="11334750" y="266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627D98"/>
                </a:solidFill>
              </a:defRPr>
            </a:pPr>
            <a:r>
              <a:rPr sz="1050" b="1">
                <a:solidFill>
                  <a:srgbClr val="627D98"/>
                </a:solidFill>
              </a:rPr>
              <a:t>03</a:t>
            </a:r>
          </a:p>
        </p:txBody>
      </p:sp>
      <p:sp>
        <p:nvSpPr>
          <p:cNvPr id="5" name="left-label">
            <a:extLst xmlns:a="http://schemas.openxmlformats.org/drawingml/2006/main">
              <a:ext uri="{FF2B5EF4-FFF2-40B4-BE49-F238E27FC236}">
                <a16:creationId xmlns:a16="http://schemas.microsoft.com/office/drawing/2014/main" id="{C0E1546E-C6D6-4727-AACF-C5C1D2AF7913}"/>
              </a:ext>
            </a:extLst>
          </p:cNvPr>
          <p:cNvSpPr>
            <a:spLocks xmlns:a="http://schemas.openxmlformats.org/drawingml/2006/main" noGrp="1"/>
          </p:cNvSpPr>
          <p:nvPr/>
        </p:nvSpPr>
        <p:spPr>
          <a:xfrm xmlns:a="http://schemas.openxmlformats.org/drawingml/2006/main">
            <a:off x="457200" y="11239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5B88"/>
                </a:solidFill>
              </a:defRPr>
            </a:pPr>
            <a:r>
              <a:rPr sz="1350" b="1">
                <a:solidFill>
                  <a:srgbClr val="2E5B88"/>
                </a:solidFill>
              </a:rPr>
              <a:t>2021 package · Figure 7</a:t>
            </a:r>
          </a:p>
        </p:txBody>
      </p:sp>
      <p:sp>
        <p:nvSpPr>
          <p:cNvPr id="6" name="right-label">
            <a:extLst xmlns:a="http://schemas.openxmlformats.org/drawingml/2006/main">
              <a:ext uri="{FF2B5EF4-FFF2-40B4-BE49-F238E27FC236}">
                <a16:creationId xmlns:a16="http://schemas.microsoft.com/office/drawing/2014/main" id="{6E70826D-DB54-4A3B-99A6-A81836907B15}"/>
              </a:ext>
            </a:extLst>
          </p:cNvPr>
          <p:cNvSpPr>
            <a:spLocks xmlns:a="http://schemas.openxmlformats.org/drawingml/2006/main" noGrp="1"/>
          </p:cNvSpPr>
          <p:nvPr/>
        </p:nvSpPr>
        <p:spPr>
          <a:xfrm xmlns:a="http://schemas.openxmlformats.org/drawingml/2006/main">
            <a:off x="6324600" y="1123950"/>
            <a:ext cx="541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65D16"/>
                </a:solidFill>
              </a:defRPr>
            </a:pPr>
            <a:r>
              <a:rPr sz="1350" b="1">
                <a:solidFill>
                  <a:srgbClr val="C65D16"/>
                </a:solidFill>
              </a:rPr>
              <a:t>2025 paper · Figure 8 · PDF p. 29</a:t>
            </a:r>
          </a:p>
        </p:txBody>
      </p:sp>
      <p:sp>
        <p:nvSpPr>
          <p:cNvPr id="7" name="Regenerated 2021 net household debt figure-frame">
            <a:extLst xmlns:a="http://schemas.openxmlformats.org/drawingml/2006/main">
              <a:ext uri="{FF2B5EF4-FFF2-40B4-BE49-F238E27FC236}">
                <a16:creationId xmlns:a16="http://schemas.microsoft.com/office/drawing/2014/main" id="{3F047B99-64F3-4895-A54A-C471F2AFE0AD}"/>
              </a:ext>
            </a:extLst>
          </p:cNvPr>
          <p:cNvSpPr>
            <a:spLocks xmlns:a="http://schemas.openxmlformats.org/drawingml/2006/main" noGrp="1"/>
          </p:cNvSpPr>
          <p:nvPr/>
        </p:nvSpPr>
        <p:spPr>
          <a:xfrm xmlns:a="http://schemas.openxmlformats.org/drawingml/2006/main">
            <a:off x="4572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6362b639f3343aa"/>
          <a:stretch xmlns:a="http://schemas.openxmlformats.org/drawingml/2006/main"/>
        </p:blipFill>
        <p:spPr>
          <a:xfrm xmlns:a="http://schemas.openxmlformats.org/drawingml/2006/main">
            <a:off x="533400" y="1604963"/>
            <a:ext cx="5257800" cy="3286125"/>
          </a:xfrm>
          <a:prstGeom xmlns:a="http://schemas.openxmlformats.org/drawingml/2006/main" prst="rect">
            <a:avLst/>
          </a:prstGeom>
        </p:spPr>
      </p:pic>
      <p:sp>
        <p:nvSpPr>
          <p:cNvPr id="9" name="2025 Figure 8 net household debt by wealth group-frame">
            <a:extLst xmlns:a="http://schemas.openxmlformats.org/drawingml/2006/main">
              <a:ext uri="{FF2B5EF4-FFF2-40B4-BE49-F238E27FC236}">
                <a16:creationId xmlns:a16="http://schemas.microsoft.com/office/drawing/2014/main" id="{DC9466A9-B472-47C3-8EDD-3704637F1BED}"/>
              </a:ext>
            </a:extLst>
          </p:cNvPr>
          <p:cNvSpPr>
            <a:spLocks xmlns:a="http://schemas.openxmlformats.org/drawingml/2006/main" noGrp="1"/>
          </p:cNvSpPr>
          <p:nvPr/>
        </p:nvSpPr>
        <p:spPr>
          <a:xfrm xmlns:a="http://schemas.openxmlformats.org/drawingml/2006/main">
            <a:off x="63246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c852929d0ff4f86"/>
          <a:stretch xmlns:a="http://schemas.openxmlformats.org/drawingml/2006/main"/>
        </p:blipFill>
        <p:spPr>
          <a:xfrm xmlns:a="http://schemas.openxmlformats.org/drawingml/2006/main">
            <a:off x="6400800" y="1650463"/>
            <a:ext cx="5257800" cy="3195125"/>
          </a:xfrm>
          <a:prstGeom xmlns:a="http://schemas.openxmlformats.org/drawingml/2006/main" prst="rect">
            <a:avLst/>
          </a:prstGeom>
        </p:spPr>
      </p:pic>
      <p:sp>
        <p:nvSpPr>
          <p:cNvPr id="11" name="assessment-band">
            <a:extLst xmlns:a="http://schemas.openxmlformats.org/drawingml/2006/main">
              <a:ext uri="{FF2B5EF4-FFF2-40B4-BE49-F238E27FC236}">
                <a16:creationId xmlns:a16="http://schemas.microsoft.com/office/drawing/2014/main" id="{1C925110-49A5-4879-880D-164F772BA452}"/>
              </a:ext>
            </a:extLst>
          </p:cNvPr>
          <p:cNvSpPr>
            <a:spLocks xmlns:a="http://schemas.openxmlformats.org/drawingml/2006/main" noGrp="1"/>
          </p:cNvSpPr>
          <p:nvPr/>
        </p:nvSpPr>
        <p:spPr>
          <a:xfrm xmlns:a="http://schemas.openxmlformats.org/drawingml/2006/main">
            <a:off x="457200" y="5219700"/>
            <a:ext cx="11277600" cy="1219200"/>
          </a:xfrm>
          <a:prstGeom xmlns:a="http://schemas.openxmlformats.org/drawingml/2006/main" prst="roundRect">
            <a:avLst>
              <a:gd name="adj" fmla="val 3125"/>
            </a:avLst>
          </a:prstGeom>
          <a:solidFill xmlns:a="http://schemas.openxmlformats.org/drawingml/2006/main">
            <a:srgbClr val="F4F7FA"/>
          </a:solidFill>
          <a:ln xmlns:a="http://schemas.openxmlformats.org/drawingml/2006/main" w="0">
            <a:noFill/>
            <a:prstDash val="solid"/>
          </a:ln>
        </p:spPr>
      </p:sp>
      <p:sp>
        <p:nvSpPr>
          <p:cNvPr id="12" name="assessment-accent">
            <a:extLst xmlns:a="http://schemas.openxmlformats.org/drawingml/2006/main">
              <a:ext uri="{FF2B5EF4-FFF2-40B4-BE49-F238E27FC236}">
                <a16:creationId xmlns:a16="http://schemas.microsoft.com/office/drawing/2014/main" id="{EE9A051B-5489-4C57-A6E7-87E94B1DF886}"/>
              </a:ext>
            </a:extLst>
          </p:cNvPr>
          <p:cNvSpPr>
            <a:spLocks xmlns:a="http://schemas.openxmlformats.org/drawingml/2006/main" noGrp="1"/>
          </p:cNvSpPr>
          <p:nvPr/>
        </p:nvSpPr>
        <p:spPr>
          <a:xfrm xmlns:a="http://schemas.openxmlformats.org/drawingml/2006/main">
            <a:off x="457200" y="5219700"/>
            <a:ext cx="76200" cy="1219200"/>
          </a:xfrm>
          <a:prstGeom xmlns:a="http://schemas.openxmlformats.org/drawingml/2006/main" prst="rect">
            <a:avLst/>
          </a:prstGeom>
          <a:solidFill xmlns:a="http://schemas.openxmlformats.org/drawingml/2006/main">
            <a:srgbClr val="2F855A"/>
          </a:solidFill>
          <a:ln xmlns:a="http://schemas.openxmlformats.org/drawingml/2006/main" w="0">
            <a:noFill/>
            <a:prstDash val="solid"/>
          </a:ln>
        </p:spPr>
      </p:sp>
      <p:sp>
        <p:nvSpPr>
          <p:cNvPr id="13" name="verdict">
            <a:extLst xmlns:a="http://schemas.openxmlformats.org/drawingml/2006/main">
              <a:ext uri="{FF2B5EF4-FFF2-40B4-BE49-F238E27FC236}">
                <a16:creationId xmlns:a16="http://schemas.microsoft.com/office/drawing/2014/main" id="{DB0A1B04-3F4A-46A1-90C8-063756DD42C2}"/>
              </a:ext>
            </a:extLst>
          </p:cNvPr>
          <p:cNvSpPr>
            <a:spLocks xmlns:a="http://schemas.openxmlformats.org/drawingml/2006/main" noGrp="1"/>
          </p:cNvSpPr>
          <p:nvPr/>
        </p:nvSpPr>
        <p:spPr>
          <a:xfrm xmlns:a="http://schemas.openxmlformats.org/drawingml/2006/main">
            <a:off x="685800" y="5362575"/>
            <a:ext cx="3143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F855A"/>
                </a:solidFill>
              </a:defRPr>
            </a:pPr>
            <a:r>
              <a:rPr sz="1725" b="1">
                <a:solidFill>
                  <a:srgbClr val="2F855A"/>
                </a:solidFill>
              </a:rPr>
              <a:t>CLOSEST MATCH</a:t>
            </a:r>
          </a:p>
        </p:txBody>
      </p:sp>
      <p:sp>
        <p:nvSpPr>
          <p:cNvPr id="14" name="assessment">
            <a:extLst xmlns:a="http://schemas.openxmlformats.org/drawingml/2006/main">
              <a:ext uri="{FF2B5EF4-FFF2-40B4-BE49-F238E27FC236}">
                <a16:creationId xmlns:a16="http://schemas.microsoft.com/office/drawing/2014/main" id="{DAFEEB27-743A-4B0E-9669-6B80B6BFEE7E}"/>
              </a:ext>
            </a:extLst>
          </p:cNvPr>
          <p:cNvSpPr>
            <a:spLocks xmlns:a="http://schemas.openxmlformats.org/drawingml/2006/main" noGrp="1"/>
          </p:cNvSpPr>
          <p:nvPr/>
        </p:nvSpPr>
        <p:spPr>
          <a:xfrm xmlns:a="http://schemas.openxmlformats.org/drawingml/2006/main">
            <a:off x="3857625" y="5334000"/>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The same net-debt object produces the same divergence: the top 1% accumulates debt assets while less-wealthy households become net borrowers.</a:t>
            </a:r>
          </a:p>
        </p:txBody>
      </p:sp>
      <p:sp>
        <p:nvSpPr>
          <p:cNvPr id="15" name="difference">
            <a:extLst xmlns:a="http://schemas.openxmlformats.org/drawingml/2006/main">
              <a:ext uri="{FF2B5EF4-FFF2-40B4-BE49-F238E27FC236}">
                <a16:creationId xmlns:a16="http://schemas.microsoft.com/office/drawing/2014/main" id="{B270CE98-0251-4F19-9C82-CE334DFC45D0}"/>
              </a:ext>
            </a:extLst>
          </p:cNvPr>
          <p:cNvSpPr>
            <a:spLocks xmlns:a="http://schemas.openxmlformats.org/drawingml/2006/main" noGrp="1"/>
          </p:cNvSpPr>
          <p:nvPr/>
        </p:nvSpPr>
        <p:spPr>
          <a:xfrm xmlns:a="http://schemas.openxmlformats.org/drawingml/2006/main">
            <a:off x="685800" y="58483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27D98"/>
                </a:solidFill>
              </a:defRPr>
            </a:pPr>
            <a:r>
              <a:rPr sz="1200" b="0">
                <a:solidFill>
                  <a:srgbClr val="627D98"/>
                </a:solidFill>
              </a:rPr>
              <a:t>Version change: bottom 90% becomes bottom 99% with next 9%, next 40%, and bottom 50% detail; the revised series extends to 2019 and changes magnitudes.</a:t>
            </a:r>
          </a:p>
        </p:txBody>
      </p:sp>
    </p:spTree>
    <p:extLst>
      <p:ext uri="{BB962C8B-B14F-4D97-AF65-F5344CB8AC3E}">
        <p14:creationId xmlns:p14="http://schemas.microsoft.com/office/powerpoint/2010/main" val="7109264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AA955CD9-B4EF-4E20-A3FC-1D7B4F59A354}"/>
              </a:ext>
            </a:extLst>
          </p:cNvPr>
          <p:cNvSpPr>
            <a:spLocks xmlns:a="http://schemas.openxmlformats.org/drawingml/2006/main" noGrp="1"/>
          </p:cNvSpPr>
          <p:nvPr/>
        </p:nvSpPr>
        <p:spPr>
          <a:xfrm xmlns:a="http://schemas.openxmlformats.org/drawingml/2006/main">
            <a:off x="4572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C65D16"/>
                </a:solidFill>
              </a:defRPr>
            </a:pPr>
            <a:r>
              <a:rPr sz="1050" b="1">
                <a:solidFill>
                  <a:srgbClr val="C65D16"/>
                </a:solidFill>
              </a:rPr>
              <a:t>SAFE ASSETS</a:t>
            </a:r>
          </a:p>
        </p:txBody>
      </p:sp>
      <p:sp>
        <p:nvSpPr>
          <p:cNvPr id="2" name="title">
            <a:extLst xmlns:a="http://schemas.openxmlformats.org/drawingml/2006/main">
              <a:ext uri="{FF2B5EF4-FFF2-40B4-BE49-F238E27FC236}">
                <a16:creationId xmlns:a16="http://schemas.microsoft.com/office/drawing/2014/main" id="{BE8A36E9-77A3-4197-AAEB-944D96A22E35}"/>
              </a:ext>
            </a:extLst>
          </p:cNvPr>
          <p:cNvSpPr>
            <a:spLocks xmlns:a="http://schemas.openxmlformats.org/drawingml/2006/main" noGrp="1"/>
          </p:cNvSpPr>
          <p:nvPr/>
        </p:nvSpPr>
        <p:spPr>
          <a:xfrm xmlns:a="http://schemas.openxmlformats.org/drawingml/2006/main">
            <a:off x="457200" y="4572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2A43"/>
                </a:solidFill>
              </a:defRPr>
            </a:pPr>
            <a:r>
              <a:rPr sz="2700" b="1">
                <a:solidFill>
                  <a:srgbClr val="102A43"/>
                </a:solidFill>
              </a:rPr>
              <a:t>Safe-asset demand is a strong precursor to 2025 Figure 10</a:t>
            </a:r>
          </a:p>
        </p:txBody>
      </p:sp>
      <p:sp>
        <p:nvSpPr>
          <p:cNvPr id="3" name="header-rule">
            <a:extLst xmlns:a="http://schemas.openxmlformats.org/drawingml/2006/main">
              <a:ext uri="{FF2B5EF4-FFF2-40B4-BE49-F238E27FC236}">
                <a16:creationId xmlns:a16="http://schemas.microsoft.com/office/drawing/2014/main" id="{514C6BB1-D2D7-4502-B63E-CB46F5220FD9}"/>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1846DD66-DAE1-4F4D-9638-E1108AC93C86}"/>
              </a:ext>
            </a:extLst>
          </p:cNvPr>
          <p:cNvSpPr>
            <a:spLocks xmlns:a="http://schemas.openxmlformats.org/drawingml/2006/main" noGrp="1"/>
          </p:cNvSpPr>
          <p:nvPr/>
        </p:nvSpPr>
        <p:spPr>
          <a:xfrm xmlns:a="http://schemas.openxmlformats.org/drawingml/2006/main">
            <a:off x="11334750" y="266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627D98"/>
                </a:solidFill>
              </a:defRPr>
            </a:pPr>
            <a:r>
              <a:rPr sz="1050" b="1">
                <a:solidFill>
                  <a:srgbClr val="627D98"/>
                </a:solidFill>
              </a:rPr>
              <a:t>04</a:t>
            </a:r>
          </a:p>
        </p:txBody>
      </p:sp>
      <p:sp>
        <p:nvSpPr>
          <p:cNvPr id="5" name="left-label">
            <a:extLst xmlns:a="http://schemas.openxmlformats.org/drawingml/2006/main">
              <a:ext uri="{FF2B5EF4-FFF2-40B4-BE49-F238E27FC236}">
                <a16:creationId xmlns:a16="http://schemas.microsoft.com/office/drawing/2014/main" id="{AC7EBFD9-49FB-40B3-B7BA-0564A41A3ADA}"/>
              </a:ext>
            </a:extLst>
          </p:cNvPr>
          <p:cNvSpPr>
            <a:spLocks xmlns:a="http://schemas.openxmlformats.org/drawingml/2006/main" noGrp="1"/>
          </p:cNvSpPr>
          <p:nvPr/>
        </p:nvSpPr>
        <p:spPr>
          <a:xfrm xmlns:a="http://schemas.openxmlformats.org/drawingml/2006/main">
            <a:off x="457200" y="11239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5B88"/>
                </a:solidFill>
              </a:defRPr>
            </a:pPr>
            <a:r>
              <a:rPr sz="1350" b="1">
                <a:solidFill>
                  <a:srgbClr val="2E5B88"/>
                </a:solidFill>
              </a:rPr>
              <a:t>2021 package · Figure 9</a:t>
            </a:r>
          </a:p>
        </p:txBody>
      </p:sp>
      <p:sp>
        <p:nvSpPr>
          <p:cNvPr id="6" name="right-label">
            <a:extLst xmlns:a="http://schemas.openxmlformats.org/drawingml/2006/main">
              <a:ext uri="{FF2B5EF4-FFF2-40B4-BE49-F238E27FC236}">
                <a16:creationId xmlns:a16="http://schemas.microsoft.com/office/drawing/2014/main" id="{D7EBD11C-5C33-487B-AFE7-65F7CD7D2108}"/>
              </a:ext>
            </a:extLst>
          </p:cNvPr>
          <p:cNvSpPr>
            <a:spLocks xmlns:a="http://schemas.openxmlformats.org/drawingml/2006/main" noGrp="1"/>
          </p:cNvSpPr>
          <p:nvPr/>
        </p:nvSpPr>
        <p:spPr>
          <a:xfrm xmlns:a="http://schemas.openxmlformats.org/drawingml/2006/main">
            <a:off x="6324600" y="1123950"/>
            <a:ext cx="541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65D16"/>
                </a:solidFill>
              </a:defRPr>
            </a:pPr>
            <a:r>
              <a:rPr sz="1350" b="1">
                <a:solidFill>
                  <a:srgbClr val="C65D16"/>
                </a:solidFill>
              </a:rPr>
              <a:t>2025 paper · Figure 10 · PDF p. 32</a:t>
            </a:r>
          </a:p>
        </p:txBody>
      </p:sp>
      <p:sp>
        <p:nvSpPr>
          <p:cNvPr id="7" name="Regenerated 2021 safe-asset demand figure-frame">
            <a:extLst xmlns:a="http://schemas.openxmlformats.org/drawingml/2006/main">
              <a:ext uri="{FF2B5EF4-FFF2-40B4-BE49-F238E27FC236}">
                <a16:creationId xmlns:a16="http://schemas.microsoft.com/office/drawing/2014/main" id="{1442A94D-98B9-4DC6-8E97-11AE6BD7202F}"/>
              </a:ext>
            </a:extLst>
          </p:cNvPr>
          <p:cNvSpPr>
            <a:spLocks xmlns:a="http://schemas.openxmlformats.org/drawingml/2006/main" noGrp="1"/>
          </p:cNvSpPr>
          <p:nvPr/>
        </p:nvSpPr>
        <p:spPr>
          <a:xfrm xmlns:a="http://schemas.openxmlformats.org/drawingml/2006/main">
            <a:off x="4572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dd360d69dc34d1a"/>
          <a:stretch xmlns:a="http://schemas.openxmlformats.org/drawingml/2006/main"/>
        </p:blipFill>
        <p:spPr>
          <a:xfrm xmlns:a="http://schemas.openxmlformats.org/drawingml/2006/main">
            <a:off x="533400" y="1604963"/>
            <a:ext cx="5257800" cy="3286125"/>
          </a:xfrm>
          <a:prstGeom xmlns:a="http://schemas.openxmlformats.org/drawingml/2006/main" prst="rect">
            <a:avLst/>
          </a:prstGeom>
        </p:spPr>
      </p:pic>
      <p:sp>
        <p:nvSpPr>
          <p:cNvPr id="9" name="2025 Figure 10 safe-asset demand-frame">
            <a:extLst xmlns:a="http://schemas.openxmlformats.org/drawingml/2006/main">
              <a:ext uri="{FF2B5EF4-FFF2-40B4-BE49-F238E27FC236}">
                <a16:creationId xmlns:a16="http://schemas.microsoft.com/office/drawing/2014/main" id="{98F7C92D-66A0-4F20-83BF-E349E5E80E9E}"/>
              </a:ext>
            </a:extLst>
          </p:cNvPr>
          <p:cNvSpPr>
            <a:spLocks xmlns:a="http://schemas.openxmlformats.org/drawingml/2006/main" noGrp="1"/>
          </p:cNvSpPr>
          <p:nvPr/>
        </p:nvSpPr>
        <p:spPr>
          <a:xfrm xmlns:a="http://schemas.openxmlformats.org/drawingml/2006/main">
            <a:off x="63246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0bc53c9d00d457a"/>
          <a:stretch xmlns:a="http://schemas.openxmlformats.org/drawingml/2006/main"/>
        </p:blipFill>
        <p:spPr>
          <a:xfrm xmlns:a="http://schemas.openxmlformats.org/drawingml/2006/main">
            <a:off x="6400800" y="1630240"/>
            <a:ext cx="5257800" cy="3235569"/>
          </a:xfrm>
          <a:prstGeom xmlns:a="http://schemas.openxmlformats.org/drawingml/2006/main" prst="rect">
            <a:avLst/>
          </a:prstGeom>
        </p:spPr>
      </p:pic>
      <p:sp>
        <p:nvSpPr>
          <p:cNvPr id="11" name="assessment-band">
            <a:extLst xmlns:a="http://schemas.openxmlformats.org/drawingml/2006/main">
              <a:ext uri="{FF2B5EF4-FFF2-40B4-BE49-F238E27FC236}">
                <a16:creationId xmlns:a16="http://schemas.microsoft.com/office/drawing/2014/main" id="{8E0201B9-6249-4F69-8DD3-3C91F0AFAC32}"/>
              </a:ext>
            </a:extLst>
          </p:cNvPr>
          <p:cNvSpPr>
            <a:spLocks xmlns:a="http://schemas.openxmlformats.org/drawingml/2006/main" noGrp="1"/>
          </p:cNvSpPr>
          <p:nvPr/>
        </p:nvSpPr>
        <p:spPr>
          <a:xfrm xmlns:a="http://schemas.openxmlformats.org/drawingml/2006/main">
            <a:off x="457200" y="5219700"/>
            <a:ext cx="11277600" cy="1219200"/>
          </a:xfrm>
          <a:prstGeom xmlns:a="http://schemas.openxmlformats.org/drawingml/2006/main" prst="roundRect">
            <a:avLst>
              <a:gd name="adj" fmla="val 3125"/>
            </a:avLst>
          </a:prstGeom>
          <a:solidFill xmlns:a="http://schemas.openxmlformats.org/drawingml/2006/main">
            <a:srgbClr val="F4F7FA"/>
          </a:solidFill>
          <a:ln xmlns:a="http://schemas.openxmlformats.org/drawingml/2006/main" w="0">
            <a:noFill/>
            <a:prstDash val="solid"/>
          </a:ln>
        </p:spPr>
      </p:sp>
      <p:sp>
        <p:nvSpPr>
          <p:cNvPr id="12" name="assessment-accent">
            <a:extLst xmlns:a="http://schemas.openxmlformats.org/drawingml/2006/main">
              <a:ext uri="{FF2B5EF4-FFF2-40B4-BE49-F238E27FC236}">
                <a16:creationId xmlns:a16="http://schemas.microsoft.com/office/drawing/2014/main" id="{E6607933-8AC4-4796-94EB-F2FB6C0865F1}"/>
              </a:ext>
            </a:extLst>
          </p:cNvPr>
          <p:cNvSpPr>
            <a:spLocks xmlns:a="http://schemas.openxmlformats.org/drawingml/2006/main" noGrp="1"/>
          </p:cNvSpPr>
          <p:nvPr/>
        </p:nvSpPr>
        <p:spPr>
          <a:xfrm xmlns:a="http://schemas.openxmlformats.org/drawingml/2006/main">
            <a:off x="457200" y="5219700"/>
            <a:ext cx="76200" cy="1219200"/>
          </a:xfrm>
          <a:prstGeom xmlns:a="http://schemas.openxmlformats.org/drawingml/2006/main" prst="rect">
            <a:avLst/>
          </a:prstGeom>
          <a:solidFill xmlns:a="http://schemas.openxmlformats.org/drawingml/2006/main">
            <a:srgbClr val="2F855A"/>
          </a:solidFill>
          <a:ln xmlns:a="http://schemas.openxmlformats.org/drawingml/2006/main" w="0">
            <a:noFill/>
            <a:prstDash val="solid"/>
          </a:ln>
        </p:spPr>
      </p:sp>
      <p:sp>
        <p:nvSpPr>
          <p:cNvPr id="13" name="verdict">
            <a:extLst xmlns:a="http://schemas.openxmlformats.org/drawingml/2006/main">
              <a:ext uri="{FF2B5EF4-FFF2-40B4-BE49-F238E27FC236}">
                <a16:creationId xmlns:a16="http://schemas.microsoft.com/office/drawing/2014/main" id="{DAEE4CAF-C158-4F1E-AF88-9B2A72776725}"/>
              </a:ext>
            </a:extLst>
          </p:cNvPr>
          <p:cNvSpPr>
            <a:spLocks xmlns:a="http://schemas.openxmlformats.org/drawingml/2006/main" noGrp="1"/>
          </p:cNvSpPr>
          <p:nvPr/>
        </p:nvSpPr>
        <p:spPr>
          <a:xfrm xmlns:a="http://schemas.openxmlformats.org/drawingml/2006/main">
            <a:off x="685800" y="5362575"/>
            <a:ext cx="3143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F855A"/>
                </a:solidFill>
              </a:defRPr>
            </a:pPr>
            <a:r>
              <a:rPr sz="1725" b="1">
                <a:solidFill>
                  <a:srgbClr val="2F855A"/>
                </a:solidFill>
              </a:rPr>
              <a:t>STRONG PRECURSOR</a:t>
            </a:r>
          </a:p>
        </p:txBody>
      </p:sp>
      <p:sp>
        <p:nvSpPr>
          <p:cNvPr id="14" name="assessment">
            <a:extLst xmlns:a="http://schemas.openxmlformats.org/drawingml/2006/main">
              <a:ext uri="{FF2B5EF4-FFF2-40B4-BE49-F238E27FC236}">
                <a16:creationId xmlns:a16="http://schemas.microsoft.com/office/drawing/2014/main" id="{F5E1C807-0687-4A75-8864-05548460D9A0}"/>
              </a:ext>
            </a:extLst>
          </p:cNvPr>
          <p:cNvSpPr>
            <a:spLocks xmlns:a="http://schemas.openxmlformats.org/drawingml/2006/main" noGrp="1"/>
          </p:cNvSpPr>
          <p:nvPr/>
        </p:nvSpPr>
        <p:spPr>
          <a:xfrm xmlns:a="http://schemas.openxmlformats.org/drawingml/2006/main">
            <a:off x="3857625" y="5334000"/>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Both compare unveiled U.S. government and household debt held by the rest of the world with holdings by the top 1%, scaled by national income.</a:t>
            </a:r>
          </a:p>
        </p:txBody>
      </p:sp>
      <p:sp>
        <p:nvSpPr>
          <p:cNvPr id="15" name="difference">
            <a:extLst xmlns:a="http://schemas.openxmlformats.org/drawingml/2006/main">
              <a:ext uri="{FF2B5EF4-FFF2-40B4-BE49-F238E27FC236}">
                <a16:creationId xmlns:a16="http://schemas.microsoft.com/office/drawing/2014/main" id="{9E94ECB7-8637-4F89-9ABB-1A8B2FEF54E1}"/>
              </a:ext>
            </a:extLst>
          </p:cNvPr>
          <p:cNvSpPr>
            <a:spLocks xmlns:a="http://schemas.openxmlformats.org/drawingml/2006/main" noGrp="1"/>
          </p:cNvSpPr>
          <p:nvPr/>
        </p:nvSpPr>
        <p:spPr>
          <a:xfrm xmlns:a="http://schemas.openxmlformats.org/drawingml/2006/main">
            <a:off x="685800" y="58483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27D98"/>
                </a:solidFill>
              </a:defRPr>
            </a:pPr>
            <a:r>
              <a:rPr sz="1200" b="0">
                <a:solidFill>
                  <a:srgbClr val="627D98"/>
                </a:solidFill>
              </a:rPr>
              <a:t>Version change: the revised matrix method and updated data shift levels and extend the endpoint to 2019; the 2025 paper emphasizes increases of 54.8 and 42.1 percentage points of national income.</a:t>
            </a:r>
          </a:p>
        </p:txBody>
      </p:sp>
    </p:spTree>
    <p:extLst>
      <p:ext uri="{BB962C8B-B14F-4D97-AF65-F5344CB8AC3E}">
        <p14:creationId xmlns:p14="http://schemas.microsoft.com/office/powerpoint/2010/main" val="1065330000"/>
      </p:ext>
    </p:extLst>
  </p:cSld>
</p:sld>
</file>

<file path=ppt/slides/slide5.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5" name="appendix-kicker">
            <a:extLst xmlns:a="http://schemas.openxmlformats.org/drawingml/2006/main">
              <a:ext uri="{FF2B5EF4-FFF2-40B4-BE49-F238E27FC236}">
                <a16:creationId xmlns:a16="http://schemas.microsoft.com/office/drawing/2014/main" id="{09EB2384-312B-4620-ADDD-A763E0972A6C}"/>
              </a:ext>
            </a:extLst>
          </p:cNvPr>
          <p:cNvSpPr>
            <a:spLocks xmlns:a="http://schemas.openxmlformats.org/drawingml/2006/main" noGrp="1"/>
          </p:cNvSpPr>
          <p:nvPr/>
        </p:nvSpPr>
        <p:spPr>
          <a:xfrm xmlns:a="http://schemas.openxmlformats.org/drawingml/2006/main">
            <a:off x="781050" y="1238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6AD55"/>
                </a:solidFill>
              </a:defRPr>
            </a:pPr>
            <a:r>
              <a:rPr sz="1275" b="1">
                <a:solidFill>
                  <a:srgbClr val="F6AD55"/>
                </a:solidFill>
              </a:rPr>
              <a:t>REFERENCE MATERIAL</a:t>
            </a:r>
          </a:p>
        </p:txBody>
      </p:sp>
      <p:sp>
        <p:nvSpPr>
          <p:cNvPr id="2" name="appendix-title">
            <a:extLst xmlns:a="http://schemas.openxmlformats.org/drawingml/2006/main">
              <a:ext uri="{FF2B5EF4-FFF2-40B4-BE49-F238E27FC236}">
                <a16:creationId xmlns:a16="http://schemas.microsoft.com/office/drawing/2014/main" id="{3E135089-4D35-4098-96F2-3E65618A9437}"/>
              </a:ext>
            </a:extLst>
          </p:cNvPr>
          <p:cNvSpPr>
            <a:spLocks xmlns:a="http://schemas.openxmlformats.org/drawingml/2006/main" noGrp="1"/>
          </p:cNvSpPr>
          <p:nvPr/>
        </p:nvSpPr>
        <p:spPr>
          <a:xfrm xmlns:a="http://schemas.openxmlformats.org/drawingml/2006/main">
            <a:off x="781050" y="1790700"/>
            <a:ext cx="952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defRPr>
            </a:pPr>
            <a:r>
              <a:rPr sz="3600" b="1">
                <a:solidFill>
                  <a:srgbClr val="FFFFFF"/>
                </a:solidFill>
              </a:rPr>
              <a:t>Appendix: weaker or non-direct comparisons</a:t>
            </a:r>
          </a:p>
        </p:txBody>
      </p:sp>
      <p:sp>
        <p:nvSpPr>
          <p:cNvPr id="3" name="appendix-subtitle">
            <a:extLst xmlns:a="http://schemas.openxmlformats.org/drawingml/2006/main">
              <a:ext uri="{FF2B5EF4-FFF2-40B4-BE49-F238E27FC236}">
                <a16:creationId xmlns:a16="http://schemas.microsoft.com/office/drawing/2014/main" id="{8808330E-0650-4861-A04A-1F84B047AD53}"/>
              </a:ext>
            </a:extLst>
          </p:cNvPr>
          <p:cNvSpPr>
            <a:spLocks xmlns:a="http://schemas.openxmlformats.org/drawingml/2006/main" noGrp="1"/>
          </p:cNvSpPr>
          <p:nvPr/>
        </p:nvSpPr>
        <p:spPr>
          <a:xfrm xmlns:a="http://schemas.openxmlformats.org/drawingml/2006/main">
            <a:off x="800100" y="3381375"/>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D8E1E8"/>
                </a:solidFill>
              </a:defRPr>
            </a:pPr>
            <a:r>
              <a:rPr sz="1725" b="0">
                <a:solidFill>
                  <a:srgbClr val="D8E1E8"/>
                </a:solidFill>
              </a:rPr>
              <a:t>Retained for future use, but excluded from the current presentation sequence because the old and new exhibits do not map cleanly onto one another.</a:t>
            </a:r>
          </a:p>
        </p:txBody>
      </p:sp>
      <p:sp>
        <p:nvSpPr>
          <p:cNvPr id="4" name="slide-number">
            <a:extLst xmlns:a="http://schemas.openxmlformats.org/drawingml/2006/main">
              <a:ext uri="{FF2B5EF4-FFF2-40B4-BE49-F238E27FC236}">
                <a16:creationId xmlns:a16="http://schemas.microsoft.com/office/drawing/2014/main" id="{D8244D5C-A91E-4D5A-8865-1B6C91ACBC84}"/>
              </a:ext>
            </a:extLst>
          </p:cNvPr>
          <p:cNvSpPr>
            <a:spLocks xmlns:a="http://schemas.openxmlformats.org/drawingml/2006/main" noGrp="1"/>
          </p:cNvSpPr>
          <p:nvPr/>
        </p:nvSpPr>
        <p:spPr>
          <a:xfrm xmlns:a="http://schemas.openxmlformats.org/drawingml/2006/main">
            <a:off x="11334750" y="266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BCCCDC"/>
                </a:solidFill>
              </a:defRPr>
            </a:pPr>
            <a:r>
              <a:rPr sz="1050" b="1">
                <a:solidFill>
                  <a:srgbClr val="BCCCDC"/>
                </a:solidFill>
              </a:rPr>
              <a:t>05</a:t>
            </a:r>
          </a:p>
        </p:txBody>
      </p:sp>
    </p:spTree>
    <p:extLst>
      <p:ext uri="{BB962C8B-B14F-4D97-AF65-F5344CB8AC3E}">
        <p14:creationId xmlns:p14="http://schemas.microsoft.com/office/powerpoint/2010/main" val="13529326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1FD2CCCF-89BF-44E9-96CD-A642290B54E3}"/>
              </a:ext>
            </a:extLst>
          </p:cNvPr>
          <p:cNvSpPr>
            <a:spLocks xmlns:a="http://schemas.openxmlformats.org/drawingml/2006/main" noGrp="1"/>
          </p:cNvSpPr>
          <p:nvPr/>
        </p:nvSpPr>
        <p:spPr>
          <a:xfrm xmlns:a="http://schemas.openxmlformats.org/drawingml/2006/main">
            <a:off x="4572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C65D16"/>
                </a:solidFill>
              </a:defRPr>
            </a:pPr>
            <a:r>
              <a:rPr sz="1050" b="1">
                <a:solidFill>
                  <a:srgbClr val="C65D16"/>
                </a:solidFill>
              </a:rPr>
              <a:t>SAVING GLUT</a:t>
            </a:r>
          </a:p>
        </p:txBody>
      </p:sp>
      <p:sp>
        <p:nvSpPr>
          <p:cNvPr id="2" name="title">
            <a:extLst xmlns:a="http://schemas.openxmlformats.org/drawingml/2006/main">
              <a:ext uri="{FF2B5EF4-FFF2-40B4-BE49-F238E27FC236}">
                <a16:creationId xmlns:a16="http://schemas.microsoft.com/office/drawing/2014/main" id="{FE9103BD-6840-4898-9B81-E36708F1C7F2}"/>
              </a:ext>
            </a:extLst>
          </p:cNvPr>
          <p:cNvSpPr>
            <a:spLocks xmlns:a="http://schemas.openxmlformats.org/drawingml/2006/main" noGrp="1"/>
          </p:cNvSpPr>
          <p:nvPr/>
        </p:nvSpPr>
        <p:spPr>
          <a:xfrm xmlns:a="http://schemas.openxmlformats.org/drawingml/2006/main">
            <a:off x="457200" y="4572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2A43"/>
                </a:solidFill>
              </a:defRPr>
            </a:pPr>
            <a:r>
              <a:rPr sz="2700" b="1">
                <a:solidFill>
                  <a:srgbClr val="102A43"/>
                </a:solidFill>
              </a:rPr>
              <a:t>Old top-1% saving is a strong precursor to 2025 Figure 5</a:t>
            </a:r>
          </a:p>
        </p:txBody>
      </p:sp>
      <p:sp>
        <p:nvSpPr>
          <p:cNvPr id="3" name="header-rule">
            <a:extLst xmlns:a="http://schemas.openxmlformats.org/drawingml/2006/main">
              <a:ext uri="{FF2B5EF4-FFF2-40B4-BE49-F238E27FC236}">
                <a16:creationId xmlns:a16="http://schemas.microsoft.com/office/drawing/2014/main" id="{F700D90C-9430-4628-9776-05DEC3D4D063}"/>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6D2ED18D-B26B-479D-BCA9-0B47304F79F8}"/>
              </a:ext>
            </a:extLst>
          </p:cNvPr>
          <p:cNvSpPr>
            <a:spLocks xmlns:a="http://schemas.openxmlformats.org/drawingml/2006/main" noGrp="1"/>
          </p:cNvSpPr>
          <p:nvPr/>
        </p:nvSpPr>
        <p:spPr>
          <a:xfrm xmlns:a="http://schemas.openxmlformats.org/drawingml/2006/main">
            <a:off x="11334750" y="266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627D98"/>
                </a:solidFill>
              </a:defRPr>
            </a:pPr>
            <a:r>
              <a:rPr sz="1050" b="1">
                <a:solidFill>
                  <a:srgbClr val="627D98"/>
                </a:solidFill>
              </a:rPr>
              <a:t>06</a:t>
            </a:r>
          </a:p>
        </p:txBody>
      </p:sp>
      <p:sp>
        <p:nvSpPr>
          <p:cNvPr id="5" name="left-label">
            <a:extLst xmlns:a="http://schemas.openxmlformats.org/drawingml/2006/main">
              <a:ext uri="{FF2B5EF4-FFF2-40B4-BE49-F238E27FC236}">
                <a16:creationId xmlns:a16="http://schemas.microsoft.com/office/drawing/2014/main" id="{F96F191F-8E39-448D-B4F6-691CFEFA7BBC}"/>
              </a:ext>
            </a:extLst>
          </p:cNvPr>
          <p:cNvSpPr>
            <a:spLocks xmlns:a="http://schemas.openxmlformats.org/drawingml/2006/main" noGrp="1"/>
          </p:cNvSpPr>
          <p:nvPr/>
        </p:nvSpPr>
        <p:spPr>
          <a:xfrm xmlns:a="http://schemas.openxmlformats.org/drawingml/2006/main">
            <a:off x="457200" y="11239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5B88"/>
                </a:solidFill>
              </a:defRPr>
            </a:pPr>
            <a:r>
              <a:rPr sz="1350" b="1">
                <a:solidFill>
                  <a:srgbClr val="2E5B88"/>
                </a:solidFill>
              </a:rPr>
              <a:t>2021 package · Figure 1 · fig_glut.eps</a:t>
            </a:r>
          </a:p>
        </p:txBody>
      </p:sp>
      <p:sp>
        <p:nvSpPr>
          <p:cNvPr id="6" name="right-label">
            <a:extLst xmlns:a="http://schemas.openxmlformats.org/drawingml/2006/main">
              <a:ext uri="{FF2B5EF4-FFF2-40B4-BE49-F238E27FC236}">
                <a16:creationId xmlns:a16="http://schemas.microsoft.com/office/drawing/2014/main" id="{210EB758-255A-4CE2-8CE5-FE18CF2B0E8A}"/>
              </a:ext>
            </a:extLst>
          </p:cNvPr>
          <p:cNvSpPr>
            <a:spLocks xmlns:a="http://schemas.openxmlformats.org/drawingml/2006/main" noGrp="1"/>
          </p:cNvSpPr>
          <p:nvPr/>
        </p:nvSpPr>
        <p:spPr>
          <a:xfrm xmlns:a="http://schemas.openxmlformats.org/drawingml/2006/main">
            <a:off x="6324600" y="1123950"/>
            <a:ext cx="541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65D16"/>
                </a:solidFill>
              </a:defRPr>
            </a:pPr>
            <a:r>
              <a:rPr sz="1350" b="1">
                <a:solidFill>
                  <a:srgbClr val="C65D16"/>
                </a:solidFill>
              </a:rPr>
              <a:t>2025 paper · Figure 5 · PDF p. 22</a:t>
            </a:r>
          </a:p>
        </p:txBody>
      </p:sp>
      <p:sp>
        <p:nvSpPr>
          <p:cNvPr id="7" name="Regenerated 2021 saving-glut figure-frame">
            <a:extLst xmlns:a="http://schemas.openxmlformats.org/drawingml/2006/main">
              <a:ext uri="{FF2B5EF4-FFF2-40B4-BE49-F238E27FC236}">
                <a16:creationId xmlns:a16="http://schemas.microsoft.com/office/drawing/2014/main" id="{3B6D82A5-2957-4432-A287-C9E079991694}"/>
              </a:ext>
            </a:extLst>
          </p:cNvPr>
          <p:cNvSpPr>
            <a:spLocks xmlns:a="http://schemas.openxmlformats.org/drawingml/2006/main" noGrp="1"/>
          </p:cNvSpPr>
          <p:nvPr/>
        </p:nvSpPr>
        <p:spPr>
          <a:xfrm xmlns:a="http://schemas.openxmlformats.org/drawingml/2006/main">
            <a:off x="4572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a1caf51e35d4af0"/>
          <a:stretch xmlns:a="http://schemas.openxmlformats.org/drawingml/2006/main"/>
        </p:blipFill>
        <p:spPr>
          <a:xfrm xmlns:a="http://schemas.openxmlformats.org/drawingml/2006/main">
            <a:off x="533400" y="1670685"/>
            <a:ext cx="5257800" cy="3154680"/>
          </a:xfrm>
          <a:prstGeom xmlns:a="http://schemas.openxmlformats.org/drawingml/2006/main" prst="rect">
            <a:avLst/>
          </a:prstGeom>
        </p:spPr>
      </p:pic>
      <p:sp>
        <p:nvSpPr>
          <p:cNvPr id="9" name="2025 Figure 5 saving by wealth group-frame">
            <a:extLst xmlns:a="http://schemas.openxmlformats.org/drawingml/2006/main">
              <a:ext uri="{FF2B5EF4-FFF2-40B4-BE49-F238E27FC236}">
                <a16:creationId xmlns:a16="http://schemas.microsoft.com/office/drawing/2014/main" id="{BCF32D93-18C8-4305-B6ED-CB43DF8DCBED}"/>
              </a:ext>
            </a:extLst>
          </p:cNvPr>
          <p:cNvSpPr>
            <a:spLocks xmlns:a="http://schemas.openxmlformats.org/drawingml/2006/main" noGrp="1"/>
          </p:cNvSpPr>
          <p:nvPr/>
        </p:nvSpPr>
        <p:spPr>
          <a:xfrm xmlns:a="http://schemas.openxmlformats.org/drawingml/2006/main">
            <a:off x="63246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2b09955df6549ca"/>
          <a:stretch xmlns:a="http://schemas.openxmlformats.org/drawingml/2006/main"/>
        </p:blipFill>
        <p:spPr>
          <a:xfrm xmlns:a="http://schemas.openxmlformats.org/drawingml/2006/main">
            <a:off x="6511925" y="1504950"/>
            <a:ext cx="5035550" cy="3486150"/>
          </a:xfrm>
          <a:prstGeom xmlns:a="http://schemas.openxmlformats.org/drawingml/2006/main" prst="rect">
            <a:avLst/>
          </a:prstGeom>
        </p:spPr>
      </p:pic>
      <p:sp>
        <p:nvSpPr>
          <p:cNvPr id="11" name="assessment-band">
            <a:extLst xmlns:a="http://schemas.openxmlformats.org/drawingml/2006/main">
              <a:ext uri="{FF2B5EF4-FFF2-40B4-BE49-F238E27FC236}">
                <a16:creationId xmlns:a16="http://schemas.microsoft.com/office/drawing/2014/main" id="{BD1BD1FD-EEED-4659-BF69-0A537A2C86C6}"/>
              </a:ext>
            </a:extLst>
          </p:cNvPr>
          <p:cNvSpPr>
            <a:spLocks xmlns:a="http://schemas.openxmlformats.org/drawingml/2006/main" noGrp="1"/>
          </p:cNvSpPr>
          <p:nvPr/>
        </p:nvSpPr>
        <p:spPr>
          <a:xfrm xmlns:a="http://schemas.openxmlformats.org/drawingml/2006/main">
            <a:off x="457200" y="5219700"/>
            <a:ext cx="11277600" cy="1219200"/>
          </a:xfrm>
          <a:prstGeom xmlns:a="http://schemas.openxmlformats.org/drawingml/2006/main" prst="roundRect">
            <a:avLst>
              <a:gd name="adj" fmla="val 3125"/>
            </a:avLst>
          </a:prstGeom>
          <a:solidFill xmlns:a="http://schemas.openxmlformats.org/drawingml/2006/main">
            <a:srgbClr val="F4F7FA"/>
          </a:solidFill>
          <a:ln xmlns:a="http://schemas.openxmlformats.org/drawingml/2006/main" w="0">
            <a:noFill/>
            <a:prstDash val="solid"/>
          </a:ln>
        </p:spPr>
      </p:sp>
      <p:sp>
        <p:nvSpPr>
          <p:cNvPr id="12" name="assessment-accent">
            <a:extLst xmlns:a="http://schemas.openxmlformats.org/drawingml/2006/main">
              <a:ext uri="{FF2B5EF4-FFF2-40B4-BE49-F238E27FC236}">
                <a16:creationId xmlns:a16="http://schemas.microsoft.com/office/drawing/2014/main" id="{D7DF24BF-FE9C-4110-B897-46EA37016651}"/>
              </a:ext>
            </a:extLst>
          </p:cNvPr>
          <p:cNvSpPr>
            <a:spLocks xmlns:a="http://schemas.openxmlformats.org/drawingml/2006/main" noGrp="1"/>
          </p:cNvSpPr>
          <p:nvPr/>
        </p:nvSpPr>
        <p:spPr>
          <a:xfrm xmlns:a="http://schemas.openxmlformats.org/drawingml/2006/main">
            <a:off x="457200" y="5219700"/>
            <a:ext cx="76200" cy="1219200"/>
          </a:xfrm>
          <a:prstGeom xmlns:a="http://schemas.openxmlformats.org/drawingml/2006/main" prst="rect">
            <a:avLst/>
          </a:prstGeom>
          <a:solidFill xmlns:a="http://schemas.openxmlformats.org/drawingml/2006/main">
            <a:srgbClr val="2F855A"/>
          </a:solidFill>
          <a:ln xmlns:a="http://schemas.openxmlformats.org/drawingml/2006/main" w="0">
            <a:noFill/>
            <a:prstDash val="solid"/>
          </a:ln>
        </p:spPr>
      </p:sp>
      <p:sp>
        <p:nvSpPr>
          <p:cNvPr id="13" name="verdict">
            <a:extLst xmlns:a="http://schemas.openxmlformats.org/drawingml/2006/main">
              <a:ext uri="{FF2B5EF4-FFF2-40B4-BE49-F238E27FC236}">
                <a16:creationId xmlns:a16="http://schemas.microsoft.com/office/drawing/2014/main" id="{413B5A3A-A0FE-4CF6-BBCF-8B8EBA9B8B58}"/>
              </a:ext>
            </a:extLst>
          </p:cNvPr>
          <p:cNvSpPr>
            <a:spLocks xmlns:a="http://schemas.openxmlformats.org/drawingml/2006/main" noGrp="1"/>
          </p:cNvSpPr>
          <p:nvPr/>
        </p:nvSpPr>
        <p:spPr>
          <a:xfrm xmlns:a="http://schemas.openxmlformats.org/drawingml/2006/main">
            <a:off x="685800" y="5362575"/>
            <a:ext cx="3143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F855A"/>
                </a:solidFill>
              </a:defRPr>
            </a:pPr>
            <a:r>
              <a:rPr sz="1725" b="1">
                <a:solidFill>
                  <a:srgbClr val="2F855A"/>
                </a:solidFill>
              </a:rPr>
              <a:t>STRONG PRECURSOR</a:t>
            </a:r>
          </a:p>
        </p:txBody>
      </p:sp>
      <p:sp>
        <p:nvSpPr>
          <p:cNvPr id="14" name="assessment">
            <a:extLst xmlns:a="http://schemas.openxmlformats.org/drawingml/2006/main">
              <a:ext uri="{FF2B5EF4-FFF2-40B4-BE49-F238E27FC236}">
                <a16:creationId xmlns:a16="http://schemas.microsoft.com/office/drawing/2014/main" id="{F386A17F-5C8F-429C-92E6-268CCEB9256B}"/>
              </a:ext>
            </a:extLst>
          </p:cNvPr>
          <p:cNvSpPr>
            <a:spLocks xmlns:a="http://schemas.openxmlformats.org/drawingml/2006/main" noGrp="1"/>
          </p:cNvSpPr>
          <p:nvPr/>
        </p:nvSpPr>
        <p:spPr>
          <a:xfrm xmlns:a="http://schemas.openxmlformats.org/drawingml/2006/main">
            <a:off x="3857625" y="5334000"/>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Both show a post-1980s rise in saving by the top 1%. The 2025 exhibit additionally makes the offsetting fall in bottom-99% saving central.</a:t>
            </a:r>
          </a:p>
        </p:txBody>
      </p:sp>
      <p:sp>
        <p:nvSpPr>
          <p:cNvPr id="15" name="difference">
            <a:extLst xmlns:a="http://schemas.openxmlformats.org/drawingml/2006/main">
              <a:ext uri="{FF2B5EF4-FFF2-40B4-BE49-F238E27FC236}">
                <a16:creationId xmlns:a16="http://schemas.microsoft.com/office/drawing/2014/main" id="{EEC68CEE-F515-4D59-8AFC-EA01D77002B8}"/>
              </a:ext>
            </a:extLst>
          </p:cNvPr>
          <p:cNvSpPr>
            <a:spLocks xmlns:a="http://schemas.openxmlformats.org/drawingml/2006/main" noGrp="1"/>
          </p:cNvSpPr>
          <p:nvPr/>
        </p:nvSpPr>
        <p:spPr>
          <a:xfrm xmlns:a="http://schemas.openxmlformats.org/drawingml/2006/main">
            <a:off x="685800" y="58483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27D98"/>
                </a:solidFill>
              </a:defRPr>
            </a:pPr>
            <a:r>
              <a:rPr sz="1200" b="0">
                <a:solidFill>
                  <a:srgbClr val="627D98"/>
                </a:solidFill>
              </a:rPr>
              <a:t>Version change: five-year bins and three top-1% measures become 10-year moving averages, explicit bottom-99% subgroups, 1982 normalization, and data through 2019.</a:t>
            </a:r>
          </a:p>
        </p:txBody>
      </p:sp>
    </p:spTree>
    <p:extLst>
      <p:ext uri="{BB962C8B-B14F-4D97-AF65-F5344CB8AC3E}">
        <p14:creationId xmlns:p14="http://schemas.microsoft.com/office/powerpoint/2010/main" val="155881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EAB68E1F-5F14-41BF-B5B2-0B83C02C7208}"/>
              </a:ext>
            </a:extLst>
          </p:cNvPr>
          <p:cNvSpPr>
            <a:spLocks xmlns:a="http://schemas.openxmlformats.org/drawingml/2006/main" noGrp="1"/>
          </p:cNvSpPr>
          <p:nvPr/>
        </p:nvSpPr>
        <p:spPr>
          <a:xfrm xmlns:a="http://schemas.openxmlformats.org/drawingml/2006/main">
            <a:off x="4572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C65D16"/>
                </a:solidFill>
              </a:defRPr>
            </a:pPr>
            <a:r>
              <a:rPr sz="1050" b="1">
                <a:solidFill>
                  <a:srgbClr val="C65D16"/>
                </a:solidFill>
              </a:rPr>
              <a:t>DEBT FINANCING FLOWS</a:t>
            </a:r>
          </a:p>
        </p:txBody>
      </p:sp>
      <p:sp>
        <p:nvSpPr>
          <p:cNvPr id="2" name="title">
            <a:extLst xmlns:a="http://schemas.openxmlformats.org/drawingml/2006/main">
              <a:ext uri="{FF2B5EF4-FFF2-40B4-BE49-F238E27FC236}">
                <a16:creationId xmlns:a16="http://schemas.microsoft.com/office/drawing/2014/main" id="{36B9ACAC-E63B-4F9A-A769-27A011FD5716}"/>
              </a:ext>
            </a:extLst>
          </p:cNvPr>
          <p:cNvSpPr>
            <a:spLocks xmlns:a="http://schemas.openxmlformats.org/drawingml/2006/main" noGrp="1"/>
          </p:cNvSpPr>
          <p:nvPr/>
        </p:nvSpPr>
        <p:spPr>
          <a:xfrm xmlns:a="http://schemas.openxmlformats.org/drawingml/2006/main">
            <a:off x="457200" y="4572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2A43"/>
                </a:solidFill>
              </a:defRPr>
            </a:pPr>
            <a:r>
              <a:rPr sz="2700" b="1">
                <a:solidFill>
                  <a:srgbClr val="102A43"/>
                </a:solidFill>
              </a:rPr>
              <a:t>Debt-financing lineage survives, but the transformation changes</a:t>
            </a:r>
          </a:p>
        </p:txBody>
      </p:sp>
      <p:sp>
        <p:nvSpPr>
          <p:cNvPr id="3" name="header-rule">
            <a:extLst xmlns:a="http://schemas.openxmlformats.org/drawingml/2006/main">
              <a:ext uri="{FF2B5EF4-FFF2-40B4-BE49-F238E27FC236}">
                <a16:creationId xmlns:a16="http://schemas.microsoft.com/office/drawing/2014/main" id="{2E310BCA-30B4-4B4B-9F0D-082B1D7DE1B4}"/>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0230AEA7-5E87-4D82-B1C4-A09E0F2B1521}"/>
              </a:ext>
            </a:extLst>
          </p:cNvPr>
          <p:cNvSpPr>
            <a:spLocks xmlns:a="http://schemas.openxmlformats.org/drawingml/2006/main" noGrp="1"/>
          </p:cNvSpPr>
          <p:nvPr/>
        </p:nvSpPr>
        <p:spPr>
          <a:xfrm xmlns:a="http://schemas.openxmlformats.org/drawingml/2006/main">
            <a:off x="11334750" y="266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627D98"/>
                </a:solidFill>
              </a:defRPr>
            </a:pPr>
            <a:r>
              <a:rPr sz="1050" b="1">
                <a:solidFill>
                  <a:srgbClr val="627D98"/>
                </a:solidFill>
              </a:rPr>
              <a:t>07</a:t>
            </a:r>
          </a:p>
        </p:txBody>
      </p:sp>
      <p:sp>
        <p:nvSpPr>
          <p:cNvPr id="5" name="left-label">
            <a:extLst xmlns:a="http://schemas.openxmlformats.org/drawingml/2006/main">
              <a:ext uri="{FF2B5EF4-FFF2-40B4-BE49-F238E27FC236}">
                <a16:creationId xmlns:a16="http://schemas.microsoft.com/office/drawing/2014/main" id="{433D43E3-23C7-49D8-9C90-19B44AAA1828}"/>
              </a:ext>
            </a:extLst>
          </p:cNvPr>
          <p:cNvSpPr>
            <a:spLocks xmlns:a="http://schemas.openxmlformats.org/drawingml/2006/main" noGrp="1"/>
          </p:cNvSpPr>
          <p:nvPr/>
        </p:nvSpPr>
        <p:spPr>
          <a:xfrm xmlns:a="http://schemas.openxmlformats.org/drawingml/2006/main">
            <a:off x="457200" y="11239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5B88"/>
                </a:solidFill>
              </a:defRPr>
            </a:pPr>
            <a:r>
              <a:rPr sz="1350" b="1">
                <a:solidFill>
                  <a:srgbClr val="2E5B88"/>
                </a:solidFill>
              </a:rPr>
              <a:t>2021 package · Table 7</a:t>
            </a:r>
          </a:p>
        </p:txBody>
      </p:sp>
      <p:sp>
        <p:nvSpPr>
          <p:cNvPr id="6" name="right-label">
            <a:extLst xmlns:a="http://schemas.openxmlformats.org/drawingml/2006/main">
              <a:ext uri="{FF2B5EF4-FFF2-40B4-BE49-F238E27FC236}">
                <a16:creationId xmlns:a16="http://schemas.microsoft.com/office/drawing/2014/main" id="{EBA5073A-538F-4458-851D-23CDE872ED3E}"/>
              </a:ext>
            </a:extLst>
          </p:cNvPr>
          <p:cNvSpPr>
            <a:spLocks xmlns:a="http://schemas.openxmlformats.org/drawingml/2006/main" noGrp="1"/>
          </p:cNvSpPr>
          <p:nvPr/>
        </p:nvSpPr>
        <p:spPr>
          <a:xfrm xmlns:a="http://schemas.openxmlformats.org/drawingml/2006/main">
            <a:off x="6667500" y="1123950"/>
            <a:ext cx="506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65D16"/>
                </a:solidFill>
              </a:defRPr>
            </a:pPr>
            <a:r>
              <a:rPr sz="1350" b="1">
                <a:solidFill>
                  <a:srgbClr val="C65D16"/>
                </a:solidFill>
              </a:rPr>
              <a:t>2025 paper · Figure 9 · PDF p. 31</a:t>
            </a:r>
          </a:p>
        </p:txBody>
      </p:sp>
      <p:sp>
        <p:nvSpPr>
          <p:cNvPr id="7" name="table-frame">
            <a:extLst xmlns:a="http://schemas.openxmlformats.org/drawingml/2006/main">
              <a:ext uri="{FF2B5EF4-FFF2-40B4-BE49-F238E27FC236}">
                <a16:creationId xmlns:a16="http://schemas.microsoft.com/office/drawing/2014/main" id="{DF9B9604-BE23-46D2-9562-D6BCA821EB64}"/>
              </a:ext>
            </a:extLst>
          </p:cNvPr>
          <p:cNvSpPr>
            <a:spLocks xmlns:a="http://schemas.openxmlformats.org/drawingml/2006/main" noGrp="1"/>
          </p:cNvSpPr>
          <p:nvPr/>
        </p:nvSpPr>
        <p:spPr>
          <a:xfrm xmlns:a="http://schemas.openxmlformats.org/drawingml/2006/main">
            <a:off x="4572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sp>
        <p:nvSpPr>
          <p:cNvPr id="8" name="table-title">
            <a:extLst xmlns:a="http://schemas.openxmlformats.org/drawingml/2006/main">
              <a:ext uri="{FF2B5EF4-FFF2-40B4-BE49-F238E27FC236}">
                <a16:creationId xmlns:a16="http://schemas.microsoft.com/office/drawing/2014/main" id="{081084E9-D741-43A8-900E-CF85F270B44A}"/>
              </a:ext>
            </a:extLst>
          </p:cNvPr>
          <p:cNvSpPr>
            <a:spLocks xmlns:a="http://schemas.openxmlformats.org/drawingml/2006/main" noGrp="1"/>
          </p:cNvSpPr>
          <p:nvPr/>
        </p:nvSpPr>
        <p:spPr>
          <a:xfrm xmlns:a="http://schemas.openxmlformats.org/drawingml/2006/main">
            <a:off x="714375" y="1666875"/>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Average annual net household-debt accumulation</a:t>
            </a:r>
          </a:p>
          <a:p xmlns:a="http://schemas.openxmlformats.org/drawingml/2006/main">
            <a:pPr algn="ctr">
              <a:defRPr sz="1500" b="1">
                <a:solidFill>
                  <a:srgbClr val="102A43"/>
                </a:solidFill>
              </a:defRPr>
            </a:pPr>
            <a:r>
              <a:rPr sz="1500" b="1">
                <a:solidFill>
                  <a:srgbClr val="102A43"/>
                </a:solidFill>
              </a:rPr>
              <a:t>(% of national income)</a:t>
            </a:r>
          </a:p>
        </p:txBody>
      </p:sp>
      <p:sp>
        <p:nvSpPr>
          <p:cNvPr id="9" name="cell-0-0">
            <a:extLst xmlns:a="http://schemas.openxmlformats.org/drawingml/2006/main">
              <a:ext uri="{FF2B5EF4-FFF2-40B4-BE49-F238E27FC236}">
                <a16:creationId xmlns:a16="http://schemas.microsoft.com/office/drawing/2014/main" id="{578615A5-537D-460B-8322-D66557A3B8F7}"/>
              </a:ext>
            </a:extLst>
          </p:cNvPr>
          <p:cNvSpPr>
            <a:spLocks xmlns:a="http://schemas.openxmlformats.org/drawingml/2006/main" noGrp="1"/>
          </p:cNvSpPr>
          <p:nvPr/>
        </p:nvSpPr>
        <p:spPr>
          <a:xfrm xmlns:a="http://schemas.openxmlformats.org/drawingml/2006/main">
            <a:off x="952500" y="24765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2A43"/>
                </a:solidFill>
              </a:defRPr>
            </a:pPr>
            <a:r>
              <a:rPr sz="1275" b="1">
                <a:solidFill>
                  <a:srgbClr val="102A43"/>
                </a:solidFill>
              </a:rPr>
              <a:t>Period</a:t>
            </a:r>
          </a:p>
        </p:txBody>
      </p:sp>
      <p:sp>
        <p:nvSpPr>
          <p:cNvPr id="10" name="cell-0-1">
            <a:extLst xmlns:a="http://schemas.openxmlformats.org/drawingml/2006/main">
              <a:ext uri="{FF2B5EF4-FFF2-40B4-BE49-F238E27FC236}">
                <a16:creationId xmlns:a16="http://schemas.microsoft.com/office/drawing/2014/main" id="{185BC6AA-6653-4B7B-BC03-67E44DB69B70}"/>
              </a:ext>
            </a:extLst>
          </p:cNvPr>
          <p:cNvSpPr>
            <a:spLocks xmlns:a="http://schemas.openxmlformats.org/drawingml/2006/main" noGrp="1"/>
          </p:cNvSpPr>
          <p:nvPr/>
        </p:nvSpPr>
        <p:spPr>
          <a:xfrm xmlns:a="http://schemas.openxmlformats.org/drawingml/2006/main">
            <a:off x="2333625" y="24765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102A43"/>
                </a:solidFill>
              </a:defRPr>
            </a:pPr>
            <a:r>
              <a:rPr sz="1275" b="1">
                <a:solidFill>
                  <a:srgbClr val="102A43"/>
                </a:solidFill>
              </a:rPr>
              <a:t>Bottom 90%</a:t>
            </a:r>
          </a:p>
        </p:txBody>
      </p:sp>
      <p:sp>
        <p:nvSpPr>
          <p:cNvPr id="11" name="cell-0-2">
            <a:extLst xmlns:a="http://schemas.openxmlformats.org/drawingml/2006/main">
              <a:ext uri="{FF2B5EF4-FFF2-40B4-BE49-F238E27FC236}">
                <a16:creationId xmlns:a16="http://schemas.microsoft.com/office/drawing/2014/main" id="{828C9540-C458-4921-8D7B-F2F3FBABBC2A}"/>
              </a:ext>
            </a:extLst>
          </p:cNvPr>
          <p:cNvSpPr>
            <a:spLocks xmlns:a="http://schemas.openxmlformats.org/drawingml/2006/main" noGrp="1"/>
          </p:cNvSpPr>
          <p:nvPr/>
        </p:nvSpPr>
        <p:spPr>
          <a:xfrm xmlns:a="http://schemas.openxmlformats.org/drawingml/2006/main">
            <a:off x="3952875" y="24765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102A43"/>
                </a:solidFill>
              </a:defRPr>
            </a:pPr>
            <a:r>
              <a:rPr sz="1275" b="1">
                <a:solidFill>
                  <a:srgbClr val="102A43"/>
                </a:solidFill>
              </a:rPr>
              <a:t>Top 1%</a:t>
            </a:r>
          </a:p>
        </p:txBody>
      </p:sp>
      <p:sp>
        <p:nvSpPr>
          <p:cNvPr id="12" name="row-line-0">
            <a:extLst xmlns:a="http://schemas.openxmlformats.org/drawingml/2006/main">
              <a:ext uri="{FF2B5EF4-FFF2-40B4-BE49-F238E27FC236}">
                <a16:creationId xmlns:a16="http://schemas.microsoft.com/office/drawing/2014/main" id="{D69F3A4E-8E5A-44AE-AB89-D12450A3E760}"/>
              </a:ext>
            </a:extLst>
          </p:cNvPr>
          <p:cNvSpPr>
            <a:spLocks xmlns:a="http://schemas.openxmlformats.org/drawingml/2006/main" noGrp="1"/>
          </p:cNvSpPr>
          <p:nvPr/>
        </p:nvSpPr>
        <p:spPr>
          <a:xfrm xmlns:a="http://schemas.openxmlformats.org/drawingml/2006/main">
            <a:off x="876300" y="2790825"/>
            <a:ext cx="4476750" cy="9525"/>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13" name="cell-1-0">
            <a:extLst xmlns:a="http://schemas.openxmlformats.org/drawingml/2006/main">
              <a:ext uri="{FF2B5EF4-FFF2-40B4-BE49-F238E27FC236}">
                <a16:creationId xmlns:a16="http://schemas.microsoft.com/office/drawing/2014/main" id="{375EAF70-F87B-4459-AB19-10E3F57ADEC5}"/>
              </a:ext>
            </a:extLst>
          </p:cNvPr>
          <p:cNvSpPr>
            <a:spLocks xmlns:a="http://schemas.openxmlformats.org/drawingml/2006/main" noGrp="1"/>
          </p:cNvSpPr>
          <p:nvPr/>
        </p:nvSpPr>
        <p:spPr>
          <a:xfrm xmlns:a="http://schemas.openxmlformats.org/drawingml/2006/main">
            <a:off x="952500" y="29337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B53"/>
                </a:solidFill>
              </a:defRPr>
            </a:pPr>
            <a:r>
              <a:rPr sz="1425" b="0">
                <a:solidFill>
                  <a:srgbClr val="243B53"/>
                </a:solidFill>
              </a:rPr>
              <a:t>1963–82</a:t>
            </a:r>
          </a:p>
        </p:txBody>
      </p:sp>
      <p:sp>
        <p:nvSpPr>
          <p:cNvPr id="14" name="cell-1-1">
            <a:extLst xmlns:a="http://schemas.openxmlformats.org/drawingml/2006/main">
              <a:ext uri="{FF2B5EF4-FFF2-40B4-BE49-F238E27FC236}">
                <a16:creationId xmlns:a16="http://schemas.microsoft.com/office/drawing/2014/main" id="{DB8CB67E-0F32-4F5D-8B84-368704233C5C}"/>
              </a:ext>
            </a:extLst>
          </p:cNvPr>
          <p:cNvSpPr>
            <a:spLocks xmlns:a="http://schemas.openxmlformats.org/drawingml/2006/main" noGrp="1"/>
          </p:cNvSpPr>
          <p:nvPr/>
        </p:nvSpPr>
        <p:spPr>
          <a:xfrm xmlns:a="http://schemas.openxmlformats.org/drawingml/2006/main">
            <a:off x="2333625" y="29337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425" b="0">
                <a:solidFill>
                  <a:srgbClr val="243B53"/>
                </a:solidFill>
              </a:defRPr>
            </a:pPr>
            <a:r>
              <a:rPr sz="1425" b="0">
                <a:solidFill>
                  <a:srgbClr val="243B53"/>
                </a:solidFill>
              </a:rPr>
              <a:t>−2.6</a:t>
            </a:r>
          </a:p>
        </p:txBody>
      </p:sp>
      <p:sp>
        <p:nvSpPr>
          <p:cNvPr id="15" name="cell-1-2">
            <a:extLst xmlns:a="http://schemas.openxmlformats.org/drawingml/2006/main">
              <a:ext uri="{FF2B5EF4-FFF2-40B4-BE49-F238E27FC236}">
                <a16:creationId xmlns:a16="http://schemas.microsoft.com/office/drawing/2014/main" id="{A588232C-CDA7-48B1-B9EA-9DEFFC3AC34E}"/>
              </a:ext>
            </a:extLst>
          </p:cNvPr>
          <p:cNvSpPr>
            <a:spLocks xmlns:a="http://schemas.openxmlformats.org/drawingml/2006/main" noGrp="1"/>
          </p:cNvSpPr>
          <p:nvPr/>
        </p:nvSpPr>
        <p:spPr>
          <a:xfrm xmlns:a="http://schemas.openxmlformats.org/drawingml/2006/main">
            <a:off x="3952875" y="29337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425" b="0">
                <a:solidFill>
                  <a:srgbClr val="243B53"/>
                </a:solidFill>
              </a:defRPr>
            </a:pPr>
            <a:r>
              <a:rPr sz="1425" b="0">
                <a:solidFill>
                  <a:srgbClr val="243B53"/>
                </a:solidFill>
              </a:rPr>
              <a:t>+0.3</a:t>
            </a:r>
          </a:p>
        </p:txBody>
      </p:sp>
      <p:sp>
        <p:nvSpPr>
          <p:cNvPr id="16" name="row-line-1">
            <a:extLst xmlns:a="http://schemas.openxmlformats.org/drawingml/2006/main">
              <a:ext uri="{FF2B5EF4-FFF2-40B4-BE49-F238E27FC236}">
                <a16:creationId xmlns:a16="http://schemas.microsoft.com/office/drawing/2014/main" id="{5DC11FF2-CA06-4350-9B7E-DAE541383948}"/>
              </a:ext>
            </a:extLst>
          </p:cNvPr>
          <p:cNvSpPr>
            <a:spLocks xmlns:a="http://schemas.openxmlformats.org/drawingml/2006/main" noGrp="1"/>
          </p:cNvSpPr>
          <p:nvPr/>
        </p:nvSpPr>
        <p:spPr>
          <a:xfrm xmlns:a="http://schemas.openxmlformats.org/drawingml/2006/main">
            <a:off x="876300" y="3248025"/>
            <a:ext cx="447675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17" name="cell-2-0">
            <a:extLst xmlns:a="http://schemas.openxmlformats.org/drawingml/2006/main">
              <a:ext uri="{FF2B5EF4-FFF2-40B4-BE49-F238E27FC236}">
                <a16:creationId xmlns:a16="http://schemas.microsoft.com/office/drawing/2014/main" id="{BB249022-439E-4DFD-8870-B63B95063C4A}"/>
              </a:ext>
            </a:extLst>
          </p:cNvPr>
          <p:cNvSpPr>
            <a:spLocks xmlns:a="http://schemas.openxmlformats.org/drawingml/2006/main" noGrp="1"/>
          </p:cNvSpPr>
          <p:nvPr/>
        </p:nvSpPr>
        <p:spPr>
          <a:xfrm xmlns:a="http://schemas.openxmlformats.org/drawingml/2006/main">
            <a:off x="952500" y="33909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B53"/>
                </a:solidFill>
              </a:defRPr>
            </a:pPr>
            <a:r>
              <a:rPr sz="1425" b="0">
                <a:solidFill>
                  <a:srgbClr val="243B53"/>
                </a:solidFill>
              </a:rPr>
              <a:t>1983–97</a:t>
            </a:r>
          </a:p>
        </p:txBody>
      </p:sp>
      <p:sp>
        <p:nvSpPr>
          <p:cNvPr id="18" name="cell-2-1">
            <a:extLst xmlns:a="http://schemas.openxmlformats.org/drawingml/2006/main">
              <a:ext uri="{FF2B5EF4-FFF2-40B4-BE49-F238E27FC236}">
                <a16:creationId xmlns:a16="http://schemas.microsoft.com/office/drawing/2014/main" id="{87840E93-4394-4955-914E-BD1A8634115D}"/>
              </a:ext>
            </a:extLst>
          </p:cNvPr>
          <p:cNvSpPr>
            <a:spLocks xmlns:a="http://schemas.openxmlformats.org/drawingml/2006/main" noGrp="1"/>
          </p:cNvSpPr>
          <p:nvPr/>
        </p:nvSpPr>
        <p:spPr>
          <a:xfrm xmlns:a="http://schemas.openxmlformats.org/drawingml/2006/main">
            <a:off x="2333625" y="33909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425" b="0">
                <a:solidFill>
                  <a:srgbClr val="243B53"/>
                </a:solidFill>
              </a:defRPr>
            </a:pPr>
            <a:r>
              <a:rPr sz="1425" b="0">
                <a:solidFill>
                  <a:srgbClr val="243B53"/>
                </a:solidFill>
              </a:rPr>
              <a:t>−3.1</a:t>
            </a:r>
          </a:p>
        </p:txBody>
      </p:sp>
      <p:sp>
        <p:nvSpPr>
          <p:cNvPr id="19" name="cell-2-2">
            <a:extLst xmlns:a="http://schemas.openxmlformats.org/drawingml/2006/main">
              <a:ext uri="{FF2B5EF4-FFF2-40B4-BE49-F238E27FC236}">
                <a16:creationId xmlns:a16="http://schemas.microsoft.com/office/drawing/2014/main" id="{6AE24D16-27CB-4592-8B92-E7B21942B9E3}"/>
              </a:ext>
            </a:extLst>
          </p:cNvPr>
          <p:cNvSpPr>
            <a:spLocks xmlns:a="http://schemas.openxmlformats.org/drawingml/2006/main" noGrp="1"/>
          </p:cNvSpPr>
          <p:nvPr/>
        </p:nvSpPr>
        <p:spPr>
          <a:xfrm xmlns:a="http://schemas.openxmlformats.org/drawingml/2006/main">
            <a:off x="3952875" y="33909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425" b="0">
                <a:solidFill>
                  <a:srgbClr val="243B53"/>
                </a:solidFill>
              </a:defRPr>
            </a:pPr>
            <a:r>
              <a:rPr sz="1425" b="0">
                <a:solidFill>
                  <a:srgbClr val="243B53"/>
                </a:solidFill>
              </a:rPr>
              <a:t>+0.8</a:t>
            </a:r>
          </a:p>
        </p:txBody>
      </p:sp>
      <p:sp>
        <p:nvSpPr>
          <p:cNvPr id="20" name="row-line-2">
            <a:extLst xmlns:a="http://schemas.openxmlformats.org/drawingml/2006/main">
              <a:ext uri="{FF2B5EF4-FFF2-40B4-BE49-F238E27FC236}">
                <a16:creationId xmlns:a16="http://schemas.microsoft.com/office/drawing/2014/main" id="{58202A1E-47E9-4450-9AAF-4809157C4107}"/>
              </a:ext>
            </a:extLst>
          </p:cNvPr>
          <p:cNvSpPr>
            <a:spLocks xmlns:a="http://schemas.openxmlformats.org/drawingml/2006/main" noGrp="1"/>
          </p:cNvSpPr>
          <p:nvPr/>
        </p:nvSpPr>
        <p:spPr>
          <a:xfrm xmlns:a="http://schemas.openxmlformats.org/drawingml/2006/main">
            <a:off x="876300" y="3705225"/>
            <a:ext cx="447675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21" name="cell-3-0">
            <a:extLst xmlns:a="http://schemas.openxmlformats.org/drawingml/2006/main">
              <a:ext uri="{FF2B5EF4-FFF2-40B4-BE49-F238E27FC236}">
                <a16:creationId xmlns:a16="http://schemas.microsoft.com/office/drawing/2014/main" id="{5D5C5D74-A455-4E52-8A25-CDCBC8D788B6}"/>
              </a:ext>
            </a:extLst>
          </p:cNvPr>
          <p:cNvSpPr>
            <a:spLocks xmlns:a="http://schemas.openxmlformats.org/drawingml/2006/main" noGrp="1"/>
          </p:cNvSpPr>
          <p:nvPr/>
        </p:nvSpPr>
        <p:spPr>
          <a:xfrm xmlns:a="http://schemas.openxmlformats.org/drawingml/2006/main">
            <a:off x="952500" y="38481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B53"/>
                </a:solidFill>
              </a:defRPr>
            </a:pPr>
            <a:r>
              <a:rPr sz="1425" b="0">
                <a:solidFill>
                  <a:srgbClr val="243B53"/>
                </a:solidFill>
              </a:rPr>
              <a:t>1998–07</a:t>
            </a:r>
          </a:p>
        </p:txBody>
      </p:sp>
      <p:sp>
        <p:nvSpPr>
          <p:cNvPr id="22" name="cell-3-1">
            <a:extLst xmlns:a="http://schemas.openxmlformats.org/drawingml/2006/main">
              <a:ext uri="{FF2B5EF4-FFF2-40B4-BE49-F238E27FC236}">
                <a16:creationId xmlns:a16="http://schemas.microsoft.com/office/drawing/2014/main" id="{73DF07FB-E70E-4854-A60E-F8243C8085AB}"/>
              </a:ext>
            </a:extLst>
          </p:cNvPr>
          <p:cNvSpPr>
            <a:spLocks xmlns:a="http://schemas.openxmlformats.org/drawingml/2006/main" noGrp="1"/>
          </p:cNvSpPr>
          <p:nvPr/>
        </p:nvSpPr>
        <p:spPr>
          <a:xfrm xmlns:a="http://schemas.openxmlformats.org/drawingml/2006/main">
            <a:off x="2333625" y="38481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425" b="0">
                <a:solidFill>
                  <a:srgbClr val="243B53"/>
                </a:solidFill>
              </a:defRPr>
            </a:pPr>
            <a:r>
              <a:rPr sz="1425" b="0">
                <a:solidFill>
                  <a:srgbClr val="243B53"/>
                </a:solidFill>
              </a:rPr>
              <a:t>−6.0</a:t>
            </a:r>
          </a:p>
        </p:txBody>
      </p:sp>
      <p:sp>
        <p:nvSpPr>
          <p:cNvPr id="23" name="cell-3-2">
            <a:extLst xmlns:a="http://schemas.openxmlformats.org/drawingml/2006/main">
              <a:ext uri="{FF2B5EF4-FFF2-40B4-BE49-F238E27FC236}">
                <a16:creationId xmlns:a16="http://schemas.microsoft.com/office/drawing/2014/main" id="{3E8F525E-F811-4AC8-9E28-88298201D1E4}"/>
              </a:ext>
            </a:extLst>
          </p:cNvPr>
          <p:cNvSpPr>
            <a:spLocks xmlns:a="http://schemas.openxmlformats.org/drawingml/2006/main" noGrp="1"/>
          </p:cNvSpPr>
          <p:nvPr/>
        </p:nvSpPr>
        <p:spPr>
          <a:xfrm xmlns:a="http://schemas.openxmlformats.org/drawingml/2006/main">
            <a:off x="3952875" y="38481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425" b="0">
                <a:solidFill>
                  <a:srgbClr val="243B53"/>
                </a:solidFill>
              </a:defRPr>
            </a:pPr>
            <a:r>
              <a:rPr sz="1425" b="0">
                <a:solidFill>
                  <a:srgbClr val="243B53"/>
                </a:solidFill>
              </a:rPr>
              <a:t>+1.3</a:t>
            </a:r>
          </a:p>
        </p:txBody>
      </p:sp>
      <p:sp>
        <p:nvSpPr>
          <p:cNvPr id="24" name="row-line-3">
            <a:extLst xmlns:a="http://schemas.openxmlformats.org/drawingml/2006/main">
              <a:ext uri="{FF2B5EF4-FFF2-40B4-BE49-F238E27FC236}">
                <a16:creationId xmlns:a16="http://schemas.microsoft.com/office/drawing/2014/main" id="{818FEF36-9BF4-4EA1-976A-5EA965CA851D}"/>
              </a:ext>
            </a:extLst>
          </p:cNvPr>
          <p:cNvSpPr>
            <a:spLocks xmlns:a="http://schemas.openxmlformats.org/drawingml/2006/main" noGrp="1"/>
          </p:cNvSpPr>
          <p:nvPr/>
        </p:nvSpPr>
        <p:spPr>
          <a:xfrm xmlns:a="http://schemas.openxmlformats.org/drawingml/2006/main">
            <a:off x="876300" y="4162425"/>
            <a:ext cx="447675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25" name="cell-4-0">
            <a:extLst xmlns:a="http://schemas.openxmlformats.org/drawingml/2006/main">
              <a:ext uri="{FF2B5EF4-FFF2-40B4-BE49-F238E27FC236}">
                <a16:creationId xmlns:a16="http://schemas.microsoft.com/office/drawing/2014/main" id="{72CD9AF7-AAEF-488F-8615-0686F1259BD2}"/>
              </a:ext>
            </a:extLst>
          </p:cNvPr>
          <p:cNvSpPr>
            <a:spLocks xmlns:a="http://schemas.openxmlformats.org/drawingml/2006/main" noGrp="1"/>
          </p:cNvSpPr>
          <p:nvPr/>
        </p:nvSpPr>
        <p:spPr>
          <a:xfrm xmlns:a="http://schemas.openxmlformats.org/drawingml/2006/main">
            <a:off x="952500" y="43053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B53"/>
                </a:solidFill>
              </a:defRPr>
            </a:pPr>
            <a:r>
              <a:rPr sz="1425" b="0">
                <a:solidFill>
                  <a:srgbClr val="243B53"/>
                </a:solidFill>
              </a:rPr>
              <a:t>2008–16</a:t>
            </a:r>
          </a:p>
        </p:txBody>
      </p:sp>
      <p:sp>
        <p:nvSpPr>
          <p:cNvPr id="26" name="cell-4-1">
            <a:extLst xmlns:a="http://schemas.openxmlformats.org/drawingml/2006/main">
              <a:ext uri="{FF2B5EF4-FFF2-40B4-BE49-F238E27FC236}">
                <a16:creationId xmlns:a16="http://schemas.microsoft.com/office/drawing/2014/main" id="{8E997FD0-B881-427E-8EA9-E24A4D126C81}"/>
              </a:ext>
            </a:extLst>
          </p:cNvPr>
          <p:cNvSpPr>
            <a:spLocks xmlns:a="http://schemas.openxmlformats.org/drawingml/2006/main" noGrp="1"/>
          </p:cNvSpPr>
          <p:nvPr/>
        </p:nvSpPr>
        <p:spPr>
          <a:xfrm xmlns:a="http://schemas.openxmlformats.org/drawingml/2006/main">
            <a:off x="2333625" y="43053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425" b="0">
                <a:solidFill>
                  <a:srgbClr val="243B53"/>
                </a:solidFill>
              </a:defRPr>
            </a:pPr>
            <a:r>
              <a:rPr sz="1425" b="0">
                <a:solidFill>
                  <a:srgbClr val="243B53"/>
                </a:solidFill>
              </a:rPr>
              <a:t>−2.2</a:t>
            </a:r>
          </a:p>
        </p:txBody>
      </p:sp>
      <p:sp>
        <p:nvSpPr>
          <p:cNvPr id="27" name="cell-4-2">
            <a:extLst xmlns:a="http://schemas.openxmlformats.org/drawingml/2006/main">
              <a:ext uri="{FF2B5EF4-FFF2-40B4-BE49-F238E27FC236}">
                <a16:creationId xmlns:a16="http://schemas.microsoft.com/office/drawing/2014/main" id="{6AE699B0-0AEF-4868-BF2E-0C8DAD10EDE4}"/>
              </a:ext>
            </a:extLst>
          </p:cNvPr>
          <p:cNvSpPr>
            <a:spLocks xmlns:a="http://schemas.openxmlformats.org/drawingml/2006/main" noGrp="1"/>
          </p:cNvSpPr>
          <p:nvPr/>
        </p:nvSpPr>
        <p:spPr>
          <a:xfrm xmlns:a="http://schemas.openxmlformats.org/drawingml/2006/main">
            <a:off x="3952875" y="43053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425" b="0">
                <a:solidFill>
                  <a:srgbClr val="243B53"/>
                </a:solidFill>
              </a:defRPr>
            </a:pPr>
            <a:r>
              <a:rPr sz="1425" b="0">
                <a:solidFill>
                  <a:srgbClr val="243B53"/>
                </a:solidFill>
              </a:rPr>
              <a:t>+0.6</a:t>
            </a:r>
          </a:p>
        </p:txBody>
      </p:sp>
      <p:sp>
        <p:nvSpPr>
          <p:cNvPr id="28" name="row-line-4">
            <a:extLst xmlns:a="http://schemas.openxmlformats.org/drawingml/2006/main">
              <a:ext uri="{FF2B5EF4-FFF2-40B4-BE49-F238E27FC236}">
                <a16:creationId xmlns:a16="http://schemas.microsoft.com/office/drawing/2014/main" id="{0704D39B-5682-4E58-8970-C924CACF602C}"/>
              </a:ext>
            </a:extLst>
          </p:cNvPr>
          <p:cNvSpPr>
            <a:spLocks xmlns:a="http://schemas.openxmlformats.org/drawingml/2006/main" noGrp="1"/>
          </p:cNvSpPr>
          <p:nvPr/>
        </p:nvSpPr>
        <p:spPr>
          <a:xfrm xmlns:a="http://schemas.openxmlformats.org/drawingml/2006/main">
            <a:off x="876300" y="4619625"/>
            <a:ext cx="447675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29" name="2025 Figure 9 debt-financing flows-frame">
            <a:extLst xmlns:a="http://schemas.openxmlformats.org/drawingml/2006/main">
              <a:ext uri="{FF2B5EF4-FFF2-40B4-BE49-F238E27FC236}">
                <a16:creationId xmlns:a16="http://schemas.microsoft.com/office/drawing/2014/main" id="{219A4000-C6D6-4F3C-A70A-16384C12DE15}"/>
              </a:ext>
            </a:extLst>
          </p:cNvPr>
          <p:cNvSpPr>
            <a:spLocks xmlns:a="http://schemas.openxmlformats.org/drawingml/2006/main" noGrp="1"/>
          </p:cNvSpPr>
          <p:nvPr/>
        </p:nvSpPr>
        <p:spPr>
          <a:xfrm xmlns:a="http://schemas.openxmlformats.org/drawingml/2006/main">
            <a:off x="63246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e74b8560e224442a"/>
          <a:stretch xmlns:a="http://schemas.openxmlformats.org/drawingml/2006/main"/>
        </p:blipFill>
        <p:spPr>
          <a:xfrm xmlns:a="http://schemas.openxmlformats.org/drawingml/2006/main">
            <a:off x="6400800" y="1529129"/>
            <a:ext cx="5257800" cy="3437792"/>
          </a:xfrm>
          <a:prstGeom xmlns:a="http://schemas.openxmlformats.org/drawingml/2006/main" prst="rect">
            <a:avLst/>
          </a:prstGeom>
        </p:spPr>
      </p:pic>
      <p:sp>
        <p:nvSpPr>
          <p:cNvPr id="31" name="assessment-band">
            <a:extLst xmlns:a="http://schemas.openxmlformats.org/drawingml/2006/main">
              <a:ext uri="{FF2B5EF4-FFF2-40B4-BE49-F238E27FC236}">
                <a16:creationId xmlns:a16="http://schemas.microsoft.com/office/drawing/2014/main" id="{45164E07-14D9-410E-B5ED-A6A5995E50DF}"/>
              </a:ext>
            </a:extLst>
          </p:cNvPr>
          <p:cNvSpPr>
            <a:spLocks xmlns:a="http://schemas.openxmlformats.org/drawingml/2006/main" noGrp="1"/>
          </p:cNvSpPr>
          <p:nvPr/>
        </p:nvSpPr>
        <p:spPr>
          <a:xfrm xmlns:a="http://schemas.openxmlformats.org/drawingml/2006/main">
            <a:off x="457200" y="5219700"/>
            <a:ext cx="11277600" cy="1219200"/>
          </a:xfrm>
          <a:prstGeom xmlns:a="http://schemas.openxmlformats.org/drawingml/2006/main" prst="roundRect">
            <a:avLst>
              <a:gd name="adj" fmla="val 3125"/>
            </a:avLst>
          </a:prstGeom>
          <a:solidFill xmlns:a="http://schemas.openxmlformats.org/drawingml/2006/main">
            <a:srgbClr val="F4F7FA"/>
          </a:solidFill>
          <a:ln xmlns:a="http://schemas.openxmlformats.org/drawingml/2006/main" w="0">
            <a:noFill/>
            <a:prstDash val="solid"/>
          </a:ln>
        </p:spPr>
      </p:sp>
      <p:sp>
        <p:nvSpPr>
          <p:cNvPr id="32" name="assessment-accent">
            <a:extLst xmlns:a="http://schemas.openxmlformats.org/drawingml/2006/main">
              <a:ext uri="{FF2B5EF4-FFF2-40B4-BE49-F238E27FC236}">
                <a16:creationId xmlns:a16="http://schemas.microsoft.com/office/drawing/2014/main" id="{B7340063-81CA-4574-9077-44EFF41E1D48}"/>
              </a:ext>
            </a:extLst>
          </p:cNvPr>
          <p:cNvSpPr>
            <a:spLocks xmlns:a="http://schemas.openxmlformats.org/drawingml/2006/main" noGrp="1"/>
          </p:cNvSpPr>
          <p:nvPr/>
        </p:nvSpPr>
        <p:spPr>
          <a:xfrm xmlns:a="http://schemas.openxmlformats.org/drawingml/2006/main">
            <a:off x="457200" y="5219700"/>
            <a:ext cx="76200" cy="1219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33" name="verdict">
            <a:extLst xmlns:a="http://schemas.openxmlformats.org/drawingml/2006/main">
              <a:ext uri="{FF2B5EF4-FFF2-40B4-BE49-F238E27FC236}">
                <a16:creationId xmlns:a16="http://schemas.microsoft.com/office/drawing/2014/main" id="{58150FBF-9B5D-4B58-BB9C-CF5537C997F7}"/>
              </a:ext>
            </a:extLst>
          </p:cNvPr>
          <p:cNvSpPr>
            <a:spLocks xmlns:a="http://schemas.openxmlformats.org/drawingml/2006/main" noGrp="1"/>
          </p:cNvSpPr>
          <p:nvPr/>
        </p:nvSpPr>
        <p:spPr>
          <a:xfrm xmlns:a="http://schemas.openxmlformats.org/drawingml/2006/main">
            <a:off x="685800" y="5362575"/>
            <a:ext cx="285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B7791F"/>
                </a:solidFill>
              </a:defRPr>
            </a:pPr>
            <a:r>
              <a:rPr sz="1725" b="1">
                <a:solidFill>
                  <a:srgbClr val="B7791F"/>
                </a:solidFill>
              </a:rPr>
              <a:t>PARTIAL MATCH</a:t>
            </a:r>
          </a:p>
        </p:txBody>
      </p:sp>
      <p:sp>
        <p:nvSpPr>
          <p:cNvPr id="34" name="assessment">
            <a:extLst xmlns:a="http://schemas.openxmlformats.org/drawingml/2006/main">
              <a:ext uri="{FF2B5EF4-FFF2-40B4-BE49-F238E27FC236}">
                <a16:creationId xmlns:a16="http://schemas.microsoft.com/office/drawing/2014/main" id="{94677C1B-710E-4943-B335-D005A436F57B}"/>
              </a:ext>
            </a:extLst>
          </p:cNvPr>
          <p:cNvSpPr>
            <a:spLocks xmlns:a="http://schemas.openxmlformats.org/drawingml/2006/main" noGrp="1"/>
          </p:cNvSpPr>
          <p:nvPr/>
        </p:nvSpPr>
        <p:spPr>
          <a:xfrm xmlns:a="http://schemas.openxmlformats.org/drawingml/2006/main">
            <a:off x="3381375" y="531495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Table 7 already contains the stock-to-flow accounting object. Figure 9 turns it into a continuous 10-year moving-average series and explicitly attributes bottom-99% deficit financing to the top 1%.</a:t>
            </a:r>
          </a:p>
        </p:txBody>
      </p:sp>
      <p:sp>
        <p:nvSpPr>
          <p:cNvPr id="35" name="difference">
            <a:extLst xmlns:a="http://schemas.openxmlformats.org/drawingml/2006/main">
              <a:ext uri="{FF2B5EF4-FFF2-40B4-BE49-F238E27FC236}">
                <a16:creationId xmlns:a16="http://schemas.microsoft.com/office/drawing/2014/main" id="{F73CA6A4-7682-4A38-9F63-F48562BF99F7}"/>
              </a:ext>
            </a:extLst>
          </p:cNvPr>
          <p:cNvSpPr>
            <a:spLocks xmlns:a="http://schemas.openxmlformats.org/drawingml/2006/main" noGrp="1"/>
          </p:cNvSpPr>
          <p:nvPr/>
        </p:nvSpPr>
        <p:spPr>
          <a:xfrm xmlns:a="http://schemas.openxmlformats.org/drawingml/2006/main">
            <a:off x="685800" y="5915025"/>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27D98"/>
                </a:solidFill>
              </a:defRPr>
            </a:pPr>
            <a:r>
              <a:rPr sz="1200" b="0">
                <a:solidFill>
                  <a:srgbClr val="627D98"/>
                </a:solidFill>
              </a:rPr>
              <a:t>Version change: period averages and bottom-90% groups become annual moving-average flows and a bottom-99%-financed-by-top-1% counterfactual.</a:t>
            </a:r>
          </a:p>
        </p:txBody>
      </p:sp>
    </p:spTree>
    <p:extLst>
      <p:ext uri="{BB962C8B-B14F-4D97-AF65-F5344CB8AC3E}">
        <p14:creationId xmlns:p14="http://schemas.microsoft.com/office/powerpoint/2010/main" val="9960027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949862FF-4E70-45EE-8D3F-EC75FE50A52D}"/>
              </a:ext>
            </a:extLst>
          </p:cNvPr>
          <p:cNvSpPr>
            <a:spLocks xmlns:a="http://schemas.openxmlformats.org/drawingml/2006/main" noGrp="1"/>
          </p:cNvSpPr>
          <p:nvPr/>
        </p:nvSpPr>
        <p:spPr>
          <a:xfrm xmlns:a="http://schemas.openxmlformats.org/drawingml/2006/main">
            <a:off x="4572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C65D16"/>
                </a:solidFill>
              </a:defRPr>
            </a:pPr>
            <a:r>
              <a:rPr sz="1050" b="1">
                <a:solidFill>
                  <a:srgbClr val="C65D16"/>
                </a:solidFill>
              </a:rPr>
              <a:t>FINANCIAL INTERMEDIATION</a:t>
            </a:r>
          </a:p>
        </p:txBody>
      </p:sp>
      <p:sp>
        <p:nvSpPr>
          <p:cNvPr id="2" name="title">
            <a:extLst xmlns:a="http://schemas.openxmlformats.org/drawingml/2006/main">
              <a:ext uri="{FF2B5EF4-FFF2-40B4-BE49-F238E27FC236}">
                <a16:creationId xmlns:a16="http://schemas.microsoft.com/office/drawing/2014/main" id="{0B57B4CC-C0B6-43A4-98CE-FDD79FAED869}"/>
              </a:ext>
            </a:extLst>
          </p:cNvPr>
          <p:cNvSpPr>
            <a:spLocks xmlns:a="http://schemas.openxmlformats.org/drawingml/2006/main" noGrp="1"/>
          </p:cNvSpPr>
          <p:nvPr/>
        </p:nvSpPr>
        <p:spPr>
          <a:xfrm xmlns:a="http://schemas.openxmlformats.org/drawingml/2006/main">
            <a:off x="457200" y="4572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2A43"/>
                </a:solidFill>
              </a:defRPr>
            </a:pPr>
            <a:r>
              <a:rPr sz="2700" b="1">
                <a:solidFill>
                  <a:srgbClr val="102A43"/>
                </a:solidFill>
              </a:rPr>
              <a:t>The old ownership-detail chart does not reproduce 2025 Figure 1</a:t>
            </a:r>
          </a:p>
        </p:txBody>
      </p:sp>
      <p:sp>
        <p:nvSpPr>
          <p:cNvPr id="3" name="header-rule">
            <a:extLst xmlns:a="http://schemas.openxmlformats.org/drawingml/2006/main">
              <a:ext uri="{FF2B5EF4-FFF2-40B4-BE49-F238E27FC236}">
                <a16:creationId xmlns:a16="http://schemas.microsoft.com/office/drawing/2014/main" id="{F54495B2-65BA-48BE-A010-1B128A43AE20}"/>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896BAA22-FABA-4ADF-B9AC-91BC3CE05961}"/>
              </a:ext>
            </a:extLst>
          </p:cNvPr>
          <p:cNvSpPr>
            <a:spLocks xmlns:a="http://schemas.openxmlformats.org/drawingml/2006/main" noGrp="1"/>
          </p:cNvSpPr>
          <p:nvPr/>
        </p:nvSpPr>
        <p:spPr>
          <a:xfrm xmlns:a="http://schemas.openxmlformats.org/drawingml/2006/main">
            <a:off x="11334750" y="266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627D98"/>
                </a:solidFill>
              </a:defRPr>
            </a:pPr>
            <a:r>
              <a:rPr sz="1050" b="1">
                <a:solidFill>
                  <a:srgbClr val="627D98"/>
                </a:solidFill>
              </a:rPr>
              <a:t>08</a:t>
            </a:r>
          </a:p>
        </p:txBody>
      </p:sp>
      <p:sp>
        <p:nvSpPr>
          <p:cNvPr id="5" name="left-label">
            <a:extLst xmlns:a="http://schemas.openxmlformats.org/drawingml/2006/main">
              <a:ext uri="{FF2B5EF4-FFF2-40B4-BE49-F238E27FC236}">
                <a16:creationId xmlns:a16="http://schemas.microsoft.com/office/drawing/2014/main" id="{EFF2FE23-8F35-47AE-97DD-4A27FF9E403F}"/>
              </a:ext>
            </a:extLst>
          </p:cNvPr>
          <p:cNvSpPr>
            <a:spLocks xmlns:a="http://schemas.openxmlformats.org/drawingml/2006/main" noGrp="1"/>
          </p:cNvSpPr>
          <p:nvPr/>
        </p:nvSpPr>
        <p:spPr>
          <a:xfrm xmlns:a="http://schemas.openxmlformats.org/drawingml/2006/main">
            <a:off x="457200" y="11239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5B88"/>
                </a:solidFill>
              </a:defRPr>
            </a:pPr>
            <a:r>
              <a:rPr sz="1350" b="1">
                <a:solidFill>
                  <a:srgbClr val="2E5B88"/>
                </a:solidFill>
              </a:rPr>
              <a:t>2021 package · Figure 6 · fig_owndet.eps</a:t>
            </a:r>
          </a:p>
        </p:txBody>
      </p:sp>
      <p:sp>
        <p:nvSpPr>
          <p:cNvPr id="6" name="right-label">
            <a:extLst xmlns:a="http://schemas.openxmlformats.org/drawingml/2006/main">
              <a:ext uri="{FF2B5EF4-FFF2-40B4-BE49-F238E27FC236}">
                <a16:creationId xmlns:a16="http://schemas.microsoft.com/office/drawing/2014/main" id="{1BD06C6C-4210-4C79-B13C-26093AC2B01B}"/>
              </a:ext>
            </a:extLst>
          </p:cNvPr>
          <p:cNvSpPr>
            <a:spLocks xmlns:a="http://schemas.openxmlformats.org/drawingml/2006/main" noGrp="1"/>
          </p:cNvSpPr>
          <p:nvPr/>
        </p:nvSpPr>
        <p:spPr>
          <a:xfrm xmlns:a="http://schemas.openxmlformats.org/drawingml/2006/main">
            <a:off x="6324600" y="1123950"/>
            <a:ext cx="541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65D16"/>
                </a:solidFill>
              </a:defRPr>
            </a:pPr>
            <a:r>
              <a:rPr sz="1350" b="1">
                <a:solidFill>
                  <a:srgbClr val="C65D16"/>
                </a:solidFill>
              </a:rPr>
              <a:t>2025 paper · Figure 1 · PDF p. 11</a:t>
            </a:r>
          </a:p>
        </p:txBody>
      </p:sp>
      <p:sp>
        <p:nvSpPr>
          <p:cNvPr id="7" name="Regenerated 2021 ownership-detail figure-frame">
            <a:extLst xmlns:a="http://schemas.openxmlformats.org/drawingml/2006/main">
              <a:ext uri="{FF2B5EF4-FFF2-40B4-BE49-F238E27FC236}">
                <a16:creationId xmlns:a16="http://schemas.microsoft.com/office/drawing/2014/main" id="{C5F83280-F332-41F3-91B6-FBB5CC7AF0A5}"/>
              </a:ext>
            </a:extLst>
          </p:cNvPr>
          <p:cNvSpPr>
            <a:spLocks xmlns:a="http://schemas.openxmlformats.org/drawingml/2006/main" noGrp="1"/>
          </p:cNvSpPr>
          <p:nvPr/>
        </p:nvSpPr>
        <p:spPr>
          <a:xfrm xmlns:a="http://schemas.openxmlformats.org/drawingml/2006/main">
            <a:off x="4572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7aa37af8bb14bc3"/>
          <a:stretch xmlns:a="http://schemas.openxmlformats.org/drawingml/2006/main"/>
        </p:blipFill>
        <p:spPr>
          <a:xfrm xmlns:a="http://schemas.openxmlformats.org/drawingml/2006/main">
            <a:off x="533400" y="1933575"/>
            <a:ext cx="5257800" cy="2628900"/>
          </a:xfrm>
          <a:prstGeom xmlns:a="http://schemas.openxmlformats.org/drawingml/2006/main" prst="rect">
            <a:avLst/>
          </a:prstGeom>
        </p:spPr>
      </p:pic>
      <p:sp>
        <p:nvSpPr>
          <p:cNvPr id="9" name="2025 Figure 1 indirect household ownership-frame">
            <a:extLst xmlns:a="http://schemas.openxmlformats.org/drawingml/2006/main">
              <a:ext uri="{FF2B5EF4-FFF2-40B4-BE49-F238E27FC236}">
                <a16:creationId xmlns:a16="http://schemas.microsoft.com/office/drawing/2014/main" id="{D7AA4A79-3DAC-4940-9455-789DBEE4769D}"/>
              </a:ext>
            </a:extLst>
          </p:cNvPr>
          <p:cNvSpPr>
            <a:spLocks xmlns:a="http://schemas.openxmlformats.org/drawingml/2006/main" noGrp="1"/>
          </p:cNvSpPr>
          <p:nvPr/>
        </p:nvSpPr>
        <p:spPr>
          <a:xfrm xmlns:a="http://schemas.openxmlformats.org/drawingml/2006/main">
            <a:off x="63246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b93d2e5587d4ffc"/>
          <a:stretch xmlns:a="http://schemas.openxmlformats.org/drawingml/2006/main"/>
        </p:blipFill>
        <p:spPr>
          <a:xfrm xmlns:a="http://schemas.openxmlformats.org/drawingml/2006/main">
            <a:off x="6400800" y="1630240"/>
            <a:ext cx="5257800" cy="3235569"/>
          </a:xfrm>
          <a:prstGeom xmlns:a="http://schemas.openxmlformats.org/drawingml/2006/main" prst="rect">
            <a:avLst/>
          </a:prstGeom>
        </p:spPr>
      </p:pic>
      <p:sp>
        <p:nvSpPr>
          <p:cNvPr id="11" name="assessment-band">
            <a:extLst xmlns:a="http://schemas.openxmlformats.org/drawingml/2006/main">
              <a:ext uri="{FF2B5EF4-FFF2-40B4-BE49-F238E27FC236}">
                <a16:creationId xmlns:a16="http://schemas.microsoft.com/office/drawing/2014/main" id="{F9B87890-6855-4148-90A7-D62A55002855}"/>
              </a:ext>
            </a:extLst>
          </p:cNvPr>
          <p:cNvSpPr>
            <a:spLocks xmlns:a="http://schemas.openxmlformats.org/drawingml/2006/main" noGrp="1"/>
          </p:cNvSpPr>
          <p:nvPr/>
        </p:nvSpPr>
        <p:spPr>
          <a:xfrm xmlns:a="http://schemas.openxmlformats.org/drawingml/2006/main">
            <a:off x="457200" y="5219700"/>
            <a:ext cx="11277600" cy="1219200"/>
          </a:xfrm>
          <a:prstGeom xmlns:a="http://schemas.openxmlformats.org/drawingml/2006/main" prst="roundRect">
            <a:avLst>
              <a:gd name="adj" fmla="val 3125"/>
            </a:avLst>
          </a:prstGeom>
          <a:solidFill xmlns:a="http://schemas.openxmlformats.org/drawingml/2006/main">
            <a:srgbClr val="F4F7FA"/>
          </a:solidFill>
          <a:ln xmlns:a="http://schemas.openxmlformats.org/drawingml/2006/main" w="0">
            <a:noFill/>
            <a:prstDash val="solid"/>
          </a:ln>
        </p:spPr>
      </p:sp>
      <p:sp>
        <p:nvSpPr>
          <p:cNvPr id="12" name="assessment-accent">
            <a:extLst xmlns:a="http://schemas.openxmlformats.org/drawingml/2006/main">
              <a:ext uri="{FF2B5EF4-FFF2-40B4-BE49-F238E27FC236}">
                <a16:creationId xmlns:a16="http://schemas.microsoft.com/office/drawing/2014/main" id="{9C8ADBB0-34EF-41B0-87C6-19F75FEC35FB}"/>
              </a:ext>
            </a:extLst>
          </p:cNvPr>
          <p:cNvSpPr>
            <a:spLocks xmlns:a="http://schemas.openxmlformats.org/drawingml/2006/main" noGrp="1"/>
          </p:cNvSpPr>
          <p:nvPr/>
        </p:nvSpPr>
        <p:spPr>
          <a:xfrm xmlns:a="http://schemas.openxmlformats.org/drawingml/2006/main">
            <a:off x="457200" y="5219700"/>
            <a:ext cx="76200" cy="1219200"/>
          </a:xfrm>
          <a:prstGeom xmlns:a="http://schemas.openxmlformats.org/drawingml/2006/main" prst="rect">
            <a:avLst/>
          </a:prstGeom>
          <a:solidFill xmlns:a="http://schemas.openxmlformats.org/drawingml/2006/main">
            <a:srgbClr val="B83232"/>
          </a:solidFill>
          <a:ln xmlns:a="http://schemas.openxmlformats.org/drawingml/2006/main" w="0">
            <a:noFill/>
            <a:prstDash val="solid"/>
          </a:ln>
        </p:spPr>
      </p:sp>
      <p:sp>
        <p:nvSpPr>
          <p:cNvPr id="13" name="verdict">
            <a:extLst xmlns:a="http://schemas.openxmlformats.org/drawingml/2006/main">
              <a:ext uri="{FF2B5EF4-FFF2-40B4-BE49-F238E27FC236}">
                <a16:creationId xmlns:a16="http://schemas.microsoft.com/office/drawing/2014/main" id="{2C8B987B-C68F-4FE6-9971-B5469B4EB5B5}"/>
              </a:ext>
            </a:extLst>
          </p:cNvPr>
          <p:cNvSpPr>
            <a:spLocks xmlns:a="http://schemas.openxmlformats.org/drawingml/2006/main" noGrp="1"/>
          </p:cNvSpPr>
          <p:nvPr/>
        </p:nvSpPr>
        <p:spPr>
          <a:xfrm xmlns:a="http://schemas.openxmlformats.org/drawingml/2006/main">
            <a:off x="685800" y="5362575"/>
            <a:ext cx="3143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B83232"/>
                </a:solidFill>
              </a:defRPr>
            </a:pPr>
            <a:r>
              <a:rPr sz="1725" b="1">
                <a:solidFill>
                  <a:srgbClr val="B83232"/>
                </a:solidFill>
              </a:rPr>
              <a:t>CONTEXT ONLY</a:t>
            </a:r>
          </a:p>
        </p:txBody>
      </p:sp>
      <p:sp>
        <p:nvSpPr>
          <p:cNvPr id="14" name="assessment">
            <a:extLst xmlns:a="http://schemas.openxmlformats.org/drawingml/2006/main">
              <a:ext uri="{FF2B5EF4-FFF2-40B4-BE49-F238E27FC236}">
                <a16:creationId xmlns:a16="http://schemas.microsoft.com/office/drawing/2014/main" id="{A09CF13E-E382-44E7-8AEE-8B30C741B165}"/>
              </a:ext>
            </a:extLst>
          </p:cNvPr>
          <p:cNvSpPr>
            <a:spLocks xmlns:a="http://schemas.openxmlformats.org/drawingml/2006/main" noGrp="1"/>
          </p:cNvSpPr>
          <p:nvPr/>
        </p:nvSpPr>
        <p:spPr>
          <a:xfrm xmlns:a="http://schemas.openxmlformats.org/drawingml/2006/main">
            <a:off x="3857625" y="5334000"/>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The old output shows the intermediary vehicles holding household and government debt. Figure 1 instead measures aggregate indirect ownership of all U.S. financial assets.</a:t>
            </a:r>
          </a:p>
        </p:txBody>
      </p:sp>
      <p:sp>
        <p:nvSpPr>
          <p:cNvPr id="15" name="difference">
            <a:extLst xmlns:a="http://schemas.openxmlformats.org/drawingml/2006/main">
              <a:ext uri="{FF2B5EF4-FFF2-40B4-BE49-F238E27FC236}">
                <a16:creationId xmlns:a16="http://schemas.microsoft.com/office/drawing/2014/main" id="{BC95876E-A4C5-4ACB-9FBE-569F32140B35}"/>
              </a:ext>
            </a:extLst>
          </p:cNvPr>
          <p:cNvSpPr>
            <a:spLocks xmlns:a="http://schemas.openxmlformats.org/drawingml/2006/main" noGrp="1"/>
          </p:cNvSpPr>
          <p:nvPr/>
        </p:nvSpPr>
        <p:spPr>
          <a:xfrm xmlns:a="http://schemas.openxmlformats.org/drawingml/2006/main">
            <a:off x="685800" y="58483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27D98"/>
                </a:solidFill>
              </a:defRPr>
            </a:pPr>
            <a:r>
              <a:rPr sz="1200" b="0">
                <a:solidFill>
                  <a:srgbClr val="627D98"/>
                </a:solidFill>
              </a:rPr>
              <a:t>Version change: asset-specific ownership detail is replaced by an economy-wide indirect-ownership measure generated by the revised matrix/Leontief-style unveiling framework.</a:t>
            </a:r>
          </a:p>
        </p:txBody>
      </p:sp>
    </p:spTree>
    <p:extLst>
      <p:ext uri="{BB962C8B-B14F-4D97-AF65-F5344CB8AC3E}">
        <p14:creationId xmlns:p14="http://schemas.microsoft.com/office/powerpoint/2010/main" val="20285486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5B237F14-8DAA-4CFD-8F6A-D4A89C6AD9D8}"/>
              </a:ext>
            </a:extLst>
          </p:cNvPr>
          <p:cNvSpPr>
            <a:spLocks xmlns:a="http://schemas.openxmlformats.org/drawingml/2006/main" noGrp="1"/>
          </p:cNvSpPr>
          <p:nvPr/>
        </p:nvSpPr>
        <p:spPr>
          <a:xfrm xmlns:a="http://schemas.openxmlformats.org/drawingml/2006/main">
            <a:off x="4572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C65D16"/>
                </a:solidFill>
              </a:defRPr>
            </a:pPr>
            <a:r>
              <a:rPr sz="1050" b="1">
                <a:solidFill>
                  <a:srgbClr val="C65D16"/>
                </a:solidFill>
              </a:rPr>
              <a:t>USES OF TOP-1% SAVING</a:t>
            </a:r>
          </a:p>
        </p:txBody>
      </p:sp>
      <p:sp>
        <p:nvSpPr>
          <p:cNvPr id="2" name="title">
            <a:extLst xmlns:a="http://schemas.openxmlformats.org/drawingml/2006/main">
              <a:ext uri="{FF2B5EF4-FFF2-40B4-BE49-F238E27FC236}">
                <a16:creationId xmlns:a16="http://schemas.microsoft.com/office/drawing/2014/main" id="{32B06F6F-7603-48D0-8508-CA484E8F756B}"/>
              </a:ext>
            </a:extLst>
          </p:cNvPr>
          <p:cNvSpPr>
            <a:spLocks xmlns:a="http://schemas.openxmlformats.org/drawingml/2006/main" noGrp="1"/>
          </p:cNvSpPr>
          <p:nvPr/>
        </p:nvSpPr>
        <p:spPr>
          <a:xfrm xmlns:a="http://schemas.openxmlformats.org/drawingml/2006/main">
            <a:off x="457200" y="4572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2A43"/>
                </a:solidFill>
              </a:defRPr>
            </a:pPr>
            <a:r>
              <a:rPr sz="2700" b="1">
                <a:solidFill>
                  <a:srgbClr val="102A43"/>
                </a:solidFill>
              </a:rPr>
              <a:t>The 2025 investment result revises the old absorption exercise</a:t>
            </a:r>
          </a:p>
        </p:txBody>
      </p:sp>
      <p:sp>
        <p:nvSpPr>
          <p:cNvPr id="3" name="header-rule">
            <a:extLst xmlns:a="http://schemas.openxmlformats.org/drawingml/2006/main">
              <a:ext uri="{FF2B5EF4-FFF2-40B4-BE49-F238E27FC236}">
                <a16:creationId xmlns:a16="http://schemas.microsoft.com/office/drawing/2014/main" id="{C7D786F0-7ED6-468F-B9AA-28D29815DC36}"/>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F31D092C-5BC6-4893-BB6B-6BAAF07534BC}"/>
              </a:ext>
            </a:extLst>
          </p:cNvPr>
          <p:cNvSpPr>
            <a:spLocks xmlns:a="http://schemas.openxmlformats.org/drawingml/2006/main" noGrp="1"/>
          </p:cNvSpPr>
          <p:nvPr/>
        </p:nvSpPr>
        <p:spPr>
          <a:xfrm xmlns:a="http://schemas.openxmlformats.org/drawingml/2006/main">
            <a:off x="11334750" y="266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627D98"/>
                </a:solidFill>
              </a:defRPr>
            </a:pPr>
            <a:r>
              <a:rPr sz="1050" b="1">
                <a:solidFill>
                  <a:srgbClr val="627D98"/>
                </a:solidFill>
              </a:rPr>
              <a:t>09</a:t>
            </a:r>
          </a:p>
        </p:txBody>
      </p:sp>
      <p:sp>
        <p:nvSpPr>
          <p:cNvPr id="5" name="left-label">
            <a:extLst xmlns:a="http://schemas.openxmlformats.org/drawingml/2006/main">
              <a:ext uri="{FF2B5EF4-FFF2-40B4-BE49-F238E27FC236}">
                <a16:creationId xmlns:a16="http://schemas.microsoft.com/office/drawing/2014/main" id="{53C423B1-369D-4FD5-A61C-10D761628E28}"/>
              </a:ext>
            </a:extLst>
          </p:cNvPr>
          <p:cNvSpPr>
            <a:spLocks xmlns:a="http://schemas.openxmlformats.org/drawingml/2006/main" noGrp="1"/>
          </p:cNvSpPr>
          <p:nvPr/>
        </p:nvSpPr>
        <p:spPr>
          <a:xfrm xmlns:a="http://schemas.openxmlformats.org/drawingml/2006/main">
            <a:off x="457200" y="11239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5B88"/>
                </a:solidFill>
              </a:defRPr>
            </a:pPr>
            <a:r>
              <a:rPr sz="1350" b="1">
                <a:solidFill>
                  <a:srgbClr val="2E5B88"/>
                </a:solidFill>
              </a:rPr>
              <a:t>2021 package · Figure 4</a:t>
            </a:r>
          </a:p>
        </p:txBody>
      </p:sp>
      <p:sp>
        <p:nvSpPr>
          <p:cNvPr id="6" name="right-label">
            <a:extLst xmlns:a="http://schemas.openxmlformats.org/drawingml/2006/main">
              <a:ext uri="{FF2B5EF4-FFF2-40B4-BE49-F238E27FC236}">
                <a16:creationId xmlns:a16="http://schemas.microsoft.com/office/drawing/2014/main" id="{B76899A0-D503-4373-9714-C662632F9263}"/>
              </a:ext>
            </a:extLst>
          </p:cNvPr>
          <p:cNvSpPr>
            <a:spLocks xmlns:a="http://schemas.openxmlformats.org/drawingml/2006/main" noGrp="1"/>
          </p:cNvSpPr>
          <p:nvPr/>
        </p:nvSpPr>
        <p:spPr>
          <a:xfrm xmlns:a="http://schemas.openxmlformats.org/drawingml/2006/main">
            <a:off x="6324600" y="1123950"/>
            <a:ext cx="541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65D16"/>
                </a:solidFill>
              </a:defRPr>
            </a:pPr>
            <a:r>
              <a:rPr sz="1350" b="1">
                <a:solidFill>
                  <a:srgbClr val="C65D16"/>
                </a:solidFill>
              </a:rPr>
              <a:t>2025 paper · Figure 11 · PDF p. 33</a:t>
            </a:r>
          </a:p>
        </p:txBody>
      </p:sp>
      <p:sp>
        <p:nvSpPr>
          <p:cNvPr id="7" name="Regenerated 2021 saving absorption figure-frame">
            <a:extLst xmlns:a="http://schemas.openxmlformats.org/drawingml/2006/main">
              <a:ext uri="{FF2B5EF4-FFF2-40B4-BE49-F238E27FC236}">
                <a16:creationId xmlns:a16="http://schemas.microsoft.com/office/drawing/2014/main" id="{2360D69B-F972-4DD0-8F85-0A2EF3A0E39F}"/>
              </a:ext>
            </a:extLst>
          </p:cNvPr>
          <p:cNvSpPr>
            <a:spLocks xmlns:a="http://schemas.openxmlformats.org/drawingml/2006/main" noGrp="1"/>
          </p:cNvSpPr>
          <p:nvPr/>
        </p:nvSpPr>
        <p:spPr>
          <a:xfrm xmlns:a="http://schemas.openxmlformats.org/drawingml/2006/main">
            <a:off x="4572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fd07b234b094261"/>
          <a:stretch xmlns:a="http://schemas.openxmlformats.org/drawingml/2006/main"/>
        </p:blipFill>
        <p:spPr>
          <a:xfrm xmlns:a="http://schemas.openxmlformats.org/drawingml/2006/main">
            <a:off x="533400" y="1670685"/>
            <a:ext cx="5257800" cy="3154680"/>
          </a:xfrm>
          <a:prstGeom xmlns:a="http://schemas.openxmlformats.org/drawingml/2006/main" prst="rect">
            <a:avLst/>
          </a:prstGeom>
        </p:spPr>
      </p:pic>
      <p:sp>
        <p:nvSpPr>
          <p:cNvPr id="9" name="2025 Figure 11 net investment financed by top-1 percent saving-frame">
            <a:extLst xmlns:a="http://schemas.openxmlformats.org/drawingml/2006/main">
              <a:ext uri="{FF2B5EF4-FFF2-40B4-BE49-F238E27FC236}">
                <a16:creationId xmlns:a16="http://schemas.microsoft.com/office/drawing/2014/main" id="{41103936-F254-448C-9F4C-ECE50D1544A8}"/>
              </a:ext>
            </a:extLst>
          </p:cNvPr>
          <p:cNvSpPr>
            <a:spLocks xmlns:a="http://schemas.openxmlformats.org/drawingml/2006/main" noGrp="1"/>
          </p:cNvSpPr>
          <p:nvPr/>
        </p:nvSpPr>
        <p:spPr>
          <a:xfrm xmlns:a="http://schemas.openxmlformats.org/drawingml/2006/main">
            <a:off x="6324600" y="1428750"/>
            <a:ext cx="5410200" cy="3638550"/>
          </a:xfrm>
          <a:prstGeom xmlns:a="http://schemas.openxmlformats.org/drawingml/2006/main" prst="roundRect">
            <a:avLst>
              <a:gd name="adj" fmla="val 1047"/>
            </a:avLst>
          </a:prstGeom>
          <a:solidFill xmlns:a="http://schemas.openxmlformats.org/drawingml/2006/main">
            <a:srgbClr val="FFFFFF"/>
          </a:solidFill>
          <a:ln xmlns:a="http://schemas.openxmlformats.org/drawingml/2006/main" w="9525">
            <a:solidFill>
              <a:srgbClr val="D8E1E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d4d68d092814c8d"/>
          <a:stretch xmlns:a="http://schemas.openxmlformats.org/drawingml/2006/main"/>
        </p:blipFill>
        <p:spPr>
          <a:xfrm xmlns:a="http://schemas.openxmlformats.org/drawingml/2006/main">
            <a:off x="6400800" y="1731352"/>
            <a:ext cx="5257800" cy="3033346"/>
          </a:xfrm>
          <a:prstGeom xmlns:a="http://schemas.openxmlformats.org/drawingml/2006/main" prst="rect">
            <a:avLst/>
          </a:prstGeom>
        </p:spPr>
      </p:pic>
      <p:sp>
        <p:nvSpPr>
          <p:cNvPr id="11" name="assessment-band">
            <a:extLst xmlns:a="http://schemas.openxmlformats.org/drawingml/2006/main">
              <a:ext uri="{FF2B5EF4-FFF2-40B4-BE49-F238E27FC236}">
                <a16:creationId xmlns:a16="http://schemas.microsoft.com/office/drawing/2014/main" id="{9881EFDE-FEE1-4B48-ADCB-BEF406FD33FB}"/>
              </a:ext>
            </a:extLst>
          </p:cNvPr>
          <p:cNvSpPr>
            <a:spLocks xmlns:a="http://schemas.openxmlformats.org/drawingml/2006/main" noGrp="1"/>
          </p:cNvSpPr>
          <p:nvPr/>
        </p:nvSpPr>
        <p:spPr>
          <a:xfrm xmlns:a="http://schemas.openxmlformats.org/drawingml/2006/main">
            <a:off x="457200" y="5219700"/>
            <a:ext cx="11277600" cy="1219200"/>
          </a:xfrm>
          <a:prstGeom xmlns:a="http://schemas.openxmlformats.org/drawingml/2006/main" prst="roundRect">
            <a:avLst>
              <a:gd name="adj" fmla="val 3125"/>
            </a:avLst>
          </a:prstGeom>
          <a:solidFill xmlns:a="http://schemas.openxmlformats.org/drawingml/2006/main">
            <a:srgbClr val="F4F7FA"/>
          </a:solidFill>
          <a:ln xmlns:a="http://schemas.openxmlformats.org/drawingml/2006/main" w="0">
            <a:noFill/>
            <a:prstDash val="solid"/>
          </a:ln>
        </p:spPr>
      </p:sp>
      <p:sp>
        <p:nvSpPr>
          <p:cNvPr id="12" name="assessment-accent">
            <a:extLst xmlns:a="http://schemas.openxmlformats.org/drawingml/2006/main">
              <a:ext uri="{FF2B5EF4-FFF2-40B4-BE49-F238E27FC236}">
                <a16:creationId xmlns:a16="http://schemas.microsoft.com/office/drawing/2014/main" id="{8AEB2E24-040F-4EAA-A50A-2FBD276D081C}"/>
              </a:ext>
            </a:extLst>
          </p:cNvPr>
          <p:cNvSpPr>
            <a:spLocks xmlns:a="http://schemas.openxmlformats.org/drawingml/2006/main" noGrp="1"/>
          </p:cNvSpPr>
          <p:nvPr/>
        </p:nvSpPr>
        <p:spPr>
          <a:xfrm xmlns:a="http://schemas.openxmlformats.org/drawingml/2006/main">
            <a:off x="457200" y="5219700"/>
            <a:ext cx="76200" cy="1219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13" name="verdict">
            <a:extLst xmlns:a="http://schemas.openxmlformats.org/drawingml/2006/main">
              <a:ext uri="{FF2B5EF4-FFF2-40B4-BE49-F238E27FC236}">
                <a16:creationId xmlns:a16="http://schemas.microsoft.com/office/drawing/2014/main" id="{3835FBA9-8EE9-4299-8546-5745750CA8CE}"/>
              </a:ext>
            </a:extLst>
          </p:cNvPr>
          <p:cNvSpPr>
            <a:spLocks xmlns:a="http://schemas.openxmlformats.org/drawingml/2006/main" noGrp="1"/>
          </p:cNvSpPr>
          <p:nvPr/>
        </p:nvSpPr>
        <p:spPr>
          <a:xfrm xmlns:a="http://schemas.openxmlformats.org/drawingml/2006/main">
            <a:off x="685800" y="5362575"/>
            <a:ext cx="3143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B7791F"/>
                </a:solidFill>
              </a:defRPr>
            </a:pPr>
            <a:r>
              <a:rPr sz="1725" b="1">
                <a:solidFill>
                  <a:srgbClr val="B7791F"/>
                </a:solidFill>
              </a:rPr>
              <a:t>PARTIAL / CONTEXT</a:t>
            </a:r>
          </a:p>
        </p:txBody>
      </p:sp>
      <p:sp>
        <p:nvSpPr>
          <p:cNvPr id="14" name="assessment">
            <a:extLst xmlns:a="http://schemas.openxmlformats.org/drawingml/2006/main">
              <a:ext uri="{FF2B5EF4-FFF2-40B4-BE49-F238E27FC236}">
                <a16:creationId xmlns:a16="http://schemas.microsoft.com/office/drawing/2014/main" id="{52DE8F8E-078E-4A08-9613-1C33C9523606}"/>
              </a:ext>
            </a:extLst>
          </p:cNvPr>
          <p:cNvSpPr>
            <a:spLocks xmlns:a="http://schemas.openxmlformats.org/drawingml/2006/main" noGrp="1"/>
          </p:cNvSpPr>
          <p:nvPr/>
        </p:nvSpPr>
        <p:spPr>
          <a:xfrm xmlns:a="http://schemas.openxmlformats.org/drawingml/2006/main">
            <a:off x="3857625" y="5334000"/>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43B53"/>
                </a:solidFill>
              </a:defRPr>
            </a:pPr>
            <a:r>
              <a:rPr sz="1350" b="0">
                <a:solidFill>
                  <a:srgbClr val="243B53"/>
                </a:solidFill>
              </a:rPr>
              <a:t>Both ask where additional top-1% saving goes. The old figure is cumulative; the 2025 figure attributes annual net-investment flows to the assets funded by top-1% saving.</a:t>
            </a:r>
          </a:p>
        </p:txBody>
      </p:sp>
      <p:sp>
        <p:nvSpPr>
          <p:cNvPr id="15" name="difference">
            <a:extLst xmlns:a="http://schemas.openxmlformats.org/drawingml/2006/main">
              <a:ext uri="{FF2B5EF4-FFF2-40B4-BE49-F238E27FC236}">
                <a16:creationId xmlns:a16="http://schemas.microsoft.com/office/drawing/2014/main" id="{81B0A8C6-331E-425A-ACEC-CAFE9A188675}"/>
              </a:ext>
            </a:extLst>
          </p:cNvPr>
          <p:cNvSpPr>
            <a:spLocks xmlns:a="http://schemas.openxmlformats.org/drawingml/2006/main" noGrp="1"/>
          </p:cNvSpPr>
          <p:nvPr/>
        </p:nvSpPr>
        <p:spPr>
          <a:xfrm xmlns:a="http://schemas.openxmlformats.org/drawingml/2006/main">
            <a:off x="685800" y="58483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27D98"/>
                </a:solidFill>
              </a:defRPr>
            </a:pPr>
            <a:r>
              <a:rPr sz="1200" b="0">
                <a:solidFill>
                  <a:srgbClr val="627D98"/>
                </a:solidFill>
              </a:rPr>
              <a:t>Version change: cumulative bars with a zero-sum closure become 10-year moving-average saving and attributed investment series under a maintained marginal-equals-average cash-flow assumption.</a:t>
            </a:r>
          </a:p>
        </p:txBody>
      </p:sp>
    </p:spTree>
    <p:extLst>
      <p:ext uri="{BB962C8B-B14F-4D97-AF65-F5344CB8AC3E}">
        <p14:creationId xmlns:p14="http://schemas.microsoft.com/office/powerpoint/2010/main" val="12895764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kicker">
            <a:extLst xmlns:a="http://schemas.openxmlformats.org/drawingml/2006/main">
              <a:ext uri="{FF2B5EF4-FFF2-40B4-BE49-F238E27FC236}">
                <a16:creationId xmlns:a16="http://schemas.microsoft.com/office/drawing/2014/main" id="{CCDADAC1-8C4D-48E3-9BDE-7D0105C4201F}"/>
              </a:ext>
            </a:extLst>
          </p:cNvPr>
          <p:cNvSpPr>
            <a:spLocks xmlns:a="http://schemas.openxmlformats.org/drawingml/2006/main" noGrp="1"/>
          </p:cNvSpPr>
          <p:nvPr/>
        </p:nvSpPr>
        <p:spPr>
          <a:xfrm xmlns:a="http://schemas.openxmlformats.org/drawingml/2006/main">
            <a:off x="4572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C65D16"/>
                </a:solidFill>
              </a:defRPr>
            </a:pPr>
            <a:r>
              <a:rPr sz="1050" b="1">
                <a:solidFill>
                  <a:srgbClr val="C65D16"/>
                </a:solidFill>
              </a:rPr>
              <a:t>OVERALL ASSESSMENT</a:t>
            </a:r>
          </a:p>
        </p:txBody>
      </p:sp>
      <p:sp>
        <p:nvSpPr>
          <p:cNvPr id="2" name="title">
            <a:extLst xmlns:a="http://schemas.openxmlformats.org/drawingml/2006/main">
              <a:ext uri="{FF2B5EF4-FFF2-40B4-BE49-F238E27FC236}">
                <a16:creationId xmlns:a16="http://schemas.microsoft.com/office/drawing/2014/main" id="{CC18D928-06E0-42B3-830B-D127EF4CFEED}"/>
              </a:ext>
            </a:extLst>
          </p:cNvPr>
          <p:cNvSpPr>
            <a:spLocks xmlns:a="http://schemas.openxmlformats.org/drawingml/2006/main" noGrp="1"/>
          </p:cNvSpPr>
          <p:nvPr/>
        </p:nvSpPr>
        <p:spPr>
          <a:xfrm xmlns:a="http://schemas.openxmlformats.org/drawingml/2006/main">
            <a:off x="457200" y="4572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2A43"/>
                </a:solidFill>
              </a:defRPr>
            </a:pPr>
            <a:r>
              <a:rPr sz="2700" b="1">
                <a:solidFill>
                  <a:srgbClr val="102A43"/>
                </a:solidFill>
              </a:rPr>
              <a:t>Verdict: valid historical pipeline, not an exact 2025 replication</a:t>
            </a:r>
          </a:p>
        </p:txBody>
      </p:sp>
      <p:sp>
        <p:nvSpPr>
          <p:cNvPr id="3" name="header-rule">
            <a:extLst xmlns:a="http://schemas.openxmlformats.org/drawingml/2006/main">
              <a:ext uri="{FF2B5EF4-FFF2-40B4-BE49-F238E27FC236}">
                <a16:creationId xmlns:a16="http://schemas.microsoft.com/office/drawing/2014/main" id="{D5EE02D2-197F-445F-A35C-2EA62634AEDB}"/>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521C9E1B-0054-453E-9D94-C8D5FAD94B25}"/>
              </a:ext>
            </a:extLst>
          </p:cNvPr>
          <p:cNvSpPr>
            <a:spLocks xmlns:a="http://schemas.openxmlformats.org/drawingml/2006/main" noGrp="1"/>
          </p:cNvSpPr>
          <p:nvPr/>
        </p:nvSpPr>
        <p:spPr>
          <a:xfrm xmlns:a="http://schemas.openxmlformats.org/drawingml/2006/main">
            <a:off x="11334750" y="266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627D98"/>
                </a:solidFill>
              </a:defRPr>
            </a:pPr>
            <a:r>
              <a:rPr sz="1050" b="1">
                <a:solidFill>
                  <a:srgbClr val="627D98"/>
                </a:solidFill>
              </a:rPr>
              <a:t>10</a:t>
            </a:r>
          </a:p>
        </p:txBody>
      </p:sp>
      <p:sp>
        <p:nvSpPr>
          <p:cNvPr id="5" name="table-header-bg">
            <a:extLst xmlns:a="http://schemas.openxmlformats.org/drawingml/2006/main">
              <a:ext uri="{FF2B5EF4-FFF2-40B4-BE49-F238E27FC236}">
                <a16:creationId xmlns:a16="http://schemas.microsoft.com/office/drawing/2014/main" id="{9277E0ED-F6C4-4149-A42A-9164840C67C4}"/>
              </a:ext>
            </a:extLst>
          </p:cNvPr>
          <p:cNvSpPr>
            <a:spLocks xmlns:a="http://schemas.openxmlformats.org/drawingml/2006/main" noGrp="1"/>
          </p:cNvSpPr>
          <p:nvPr/>
        </p:nvSpPr>
        <p:spPr>
          <a:xfrm xmlns:a="http://schemas.openxmlformats.org/drawingml/2006/main">
            <a:off x="457200" y="1219200"/>
            <a:ext cx="11277600" cy="4381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6" name="verdict-cell-0-0">
            <a:extLst xmlns:a="http://schemas.openxmlformats.org/drawingml/2006/main">
              <a:ext uri="{FF2B5EF4-FFF2-40B4-BE49-F238E27FC236}">
                <a16:creationId xmlns:a16="http://schemas.microsoft.com/office/drawing/2014/main" id="{A8B3D9D6-0512-4FCA-B5B6-F04A51B4D2C6}"/>
              </a:ext>
            </a:extLst>
          </p:cNvPr>
          <p:cNvSpPr>
            <a:spLocks xmlns:a="http://schemas.openxmlformats.org/drawingml/2006/main" noGrp="1"/>
          </p:cNvSpPr>
          <p:nvPr/>
        </p:nvSpPr>
        <p:spPr>
          <a:xfrm xmlns:a="http://schemas.openxmlformats.org/drawingml/2006/main">
            <a:off x="533400" y="129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2025 exhibit</a:t>
            </a:r>
          </a:p>
        </p:txBody>
      </p:sp>
      <p:sp>
        <p:nvSpPr>
          <p:cNvPr id="7" name="verdict-cell-0-1">
            <a:extLst xmlns:a="http://schemas.openxmlformats.org/drawingml/2006/main">
              <a:ext uri="{FF2B5EF4-FFF2-40B4-BE49-F238E27FC236}">
                <a16:creationId xmlns:a16="http://schemas.microsoft.com/office/drawing/2014/main" id="{314D8280-1229-4323-953B-267191AC2B1B}"/>
              </a:ext>
            </a:extLst>
          </p:cNvPr>
          <p:cNvSpPr>
            <a:spLocks xmlns:a="http://schemas.openxmlformats.org/drawingml/2006/main" noGrp="1"/>
          </p:cNvSpPr>
          <p:nvPr/>
        </p:nvSpPr>
        <p:spPr>
          <a:xfrm xmlns:a="http://schemas.openxmlformats.org/drawingml/2006/main">
            <a:off x="2428875" y="12954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Closest 2021 output</a:t>
            </a:r>
          </a:p>
        </p:txBody>
      </p:sp>
      <p:sp>
        <p:nvSpPr>
          <p:cNvPr id="8" name="verdict-cell-0-2">
            <a:extLst xmlns:a="http://schemas.openxmlformats.org/drawingml/2006/main">
              <a:ext uri="{FF2B5EF4-FFF2-40B4-BE49-F238E27FC236}">
                <a16:creationId xmlns:a16="http://schemas.microsoft.com/office/drawing/2014/main" id="{B1830714-8E8C-4575-B98C-D8D61A38E4C1}"/>
              </a:ext>
            </a:extLst>
          </p:cNvPr>
          <p:cNvSpPr>
            <a:spLocks xmlns:a="http://schemas.openxmlformats.org/drawingml/2006/main" noGrp="1"/>
          </p:cNvSpPr>
          <p:nvPr/>
        </p:nvSpPr>
        <p:spPr>
          <a:xfrm xmlns:a="http://schemas.openxmlformats.org/drawingml/2006/main">
            <a:off x="4514850" y="12954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Assessment</a:t>
            </a:r>
          </a:p>
        </p:txBody>
      </p:sp>
      <p:sp>
        <p:nvSpPr>
          <p:cNvPr id="9" name="verdict-cell-0-3">
            <a:extLst xmlns:a="http://schemas.openxmlformats.org/drawingml/2006/main">
              <a:ext uri="{FF2B5EF4-FFF2-40B4-BE49-F238E27FC236}">
                <a16:creationId xmlns:a16="http://schemas.microsoft.com/office/drawing/2014/main" id="{D2F375CA-13C8-44A6-967B-F9B78541126B}"/>
              </a:ext>
            </a:extLst>
          </p:cNvPr>
          <p:cNvSpPr>
            <a:spLocks xmlns:a="http://schemas.openxmlformats.org/drawingml/2006/main" noGrp="1"/>
          </p:cNvSpPr>
          <p:nvPr/>
        </p:nvSpPr>
        <p:spPr>
          <a:xfrm xmlns:a="http://schemas.openxmlformats.org/drawingml/2006/main">
            <a:off x="6572250" y="129540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Reason</a:t>
            </a:r>
          </a:p>
        </p:txBody>
      </p:sp>
      <p:sp>
        <p:nvSpPr>
          <p:cNvPr id="10" name="verdict-cell-1-0">
            <a:extLst xmlns:a="http://schemas.openxmlformats.org/drawingml/2006/main">
              <a:ext uri="{FF2B5EF4-FFF2-40B4-BE49-F238E27FC236}">
                <a16:creationId xmlns:a16="http://schemas.microsoft.com/office/drawing/2014/main" id="{0B2DF458-B966-4124-8D83-B88446403CD4}"/>
              </a:ext>
            </a:extLst>
          </p:cNvPr>
          <p:cNvSpPr>
            <a:spLocks xmlns:a="http://schemas.openxmlformats.org/drawingml/2006/main" noGrp="1"/>
          </p:cNvSpPr>
          <p:nvPr/>
        </p:nvSpPr>
        <p:spPr>
          <a:xfrm xmlns:a="http://schemas.openxmlformats.org/drawingml/2006/main">
            <a:off x="533400" y="1809750"/>
            <a:ext cx="171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5 · Saving</a:t>
            </a:r>
          </a:p>
        </p:txBody>
      </p:sp>
      <p:sp>
        <p:nvSpPr>
          <p:cNvPr id="11" name="verdict-cell-1-1">
            <a:extLst xmlns:a="http://schemas.openxmlformats.org/drawingml/2006/main">
              <a:ext uri="{FF2B5EF4-FFF2-40B4-BE49-F238E27FC236}">
                <a16:creationId xmlns:a16="http://schemas.microsoft.com/office/drawing/2014/main" id="{90201C83-A6F1-4206-A7C6-167E1526243D}"/>
              </a:ext>
            </a:extLst>
          </p:cNvPr>
          <p:cNvSpPr>
            <a:spLocks xmlns:a="http://schemas.openxmlformats.org/drawingml/2006/main" noGrp="1"/>
          </p:cNvSpPr>
          <p:nvPr/>
        </p:nvSpPr>
        <p:spPr>
          <a:xfrm xmlns:a="http://schemas.openxmlformats.org/drawingml/2006/main">
            <a:off x="2428875" y="1809750"/>
            <a:ext cx="1905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1</a:t>
            </a:r>
          </a:p>
        </p:txBody>
      </p:sp>
      <p:sp>
        <p:nvSpPr>
          <p:cNvPr id="12" name="verdict-cell-1-2">
            <a:extLst xmlns:a="http://schemas.openxmlformats.org/drawingml/2006/main">
              <a:ext uri="{FF2B5EF4-FFF2-40B4-BE49-F238E27FC236}">
                <a16:creationId xmlns:a16="http://schemas.microsoft.com/office/drawing/2014/main" id="{32DE5752-BAC4-4A32-BB68-29A994CD94FE}"/>
              </a:ext>
            </a:extLst>
          </p:cNvPr>
          <p:cNvSpPr>
            <a:spLocks xmlns:a="http://schemas.openxmlformats.org/drawingml/2006/main" noGrp="1"/>
          </p:cNvSpPr>
          <p:nvPr/>
        </p:nvSpPr>
        <p:spPr>
          <a:xfrm xmlns:a="http://schemas.openxmlformats.org/drawingml/2006/main">
            <a:off x="4514850" y="1809750"/>
            <a:ext cx="1809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F855A"/>
                </a:solidFill>
              </a:defRPr>
            </a:pPr>
            <a:r>
              <a:rPr sz="1275" b="1">
                <a:solidFill>
                  <a:srgbClr val="2F855A"/>
                </a:solidFill>
              </a:rPr>
              <a:t>Strong precursor</a:t>
            </a:r>
          </a:p>
        </p:txBody>
      </p:sp>
      <p:sp>
        <p:nvSpPr>
          <p:cNvPr id="13" name="verdict-cell-1-3">
            <a:extLst xmlns:a="http://schemas.openxmlformats.org/drawingml/2006/main">
              <a:ext uri="{FF2B5EF4-FFF2-40B4-BE49-F238E27FC236}">
                <a16:creationId xmlns:a16="http://schemas.microsoft.com/office/drawing/2014/main" id="{9AAA378F-92D9-4D55-8C4B-8AA64536E212}"/>
              </a:ext>
            </a:extLst>
          </p:cNvPr>
          <p:cNvSpPr>
            <a:spLocks xmlns:a="http://schemas.openxmlformats.org/drawingml/2006/main" noGrp="1"/>
          </p:cNvSpPr>
          <p:nvPr/>
        </p:nvSpPr>
        <p:spPr>
          <a:xfrm xmlns:a="http://schemas.openxmlformats.org/drawingml/2006/main">
            <a:off x="6572250" y="1809750"/>
            <a:ext cx="4905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Same top-1% rise; groups and smoothing revised</a:t>
            </a:r>
          </a:p>
        </p:txBody>
      </p:sp>
      <p:sp>
        <p:nvSpPr>
          <p:cNvPr id="14" name="verdict-line-1">
            <a:extLst xmlns:a="http://schemas.openxmlformats.org/drawingml/2006/main">
              <a:ext uri="{FF2B5EF4-FFF2-40B4-BE49-F238E27FC236}">
                <a16:creationId xmlns:a16="http://schemas.microsoft.com/office/drawing/2014/main" id="{36D0BA28-40E0-46FA-B98A-F40D165953EA}"/>
              </a:ext>
            </a:extLst>
          </p:cNvPr>
          <p:cNvSpPr>
            <a:spLocks xmlns:a="http://schemas.openxmlformats.org/drawingml/2006/main" noGrp="1"/>
          </p:cNvSpPr>
          <p:nvPr/>
        </p:nvSpPr>
        <p:spPr>
          <a:xfrm xmlns:a="http://schemas.openxmlformats.org/drawingml/2006/main">
            <a:off x="457200" y="2286000"/>
            <a:ext cx="1127760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15" name="verdict-cell-2-0">
            <a:extLst xmlns:a="http://schemas.openxmlformats.org/drawingml/2006/main">
              <a:ext uri="{FF2B5EF4-FFF2-40B4-BE49-F238E27FC236}">
                <a16:creationId xmlns:a16="http://schemas.microsoft.com/office/drawing/2014/main" id="{D6B34A90-10B7-43E7-A9CA-72853317E96C}"/>
              </a:ext>
            </a:extLst>
          </p:cNvPr>
          <p:cNvSpPr>
            <a:spLocks xmlns:a="http://schemas.openxmlformats.org/drawingml/2006/main" noGrp="1"/>
          </p:cNvSpPr>
          <p:nvPr/>
        </p:nvSpPr>
        <p:spPr>
          <a:xfrm xmlns:a="http://schemas.openxmlformats.org/drawingml/2006/main">
            <a:off x="533400" y="2390775"/>
            <a:ext cx="171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8 · Net debt</a:t>
            </a:r>
          </a:p>
        </p:txBody>
      </p:sp>
      <p:sp>
        <p:nvSpPr>
          <p:cNvPr id="16" name="verdict-cell-2-1">
            <a:extLst xmlns:a="http://schemas.openxmlformats.org/drawingml/2006/main">
              <a:ext uri="{FF2B5EF4-FFF2-40B4-BE49-F238E27FC236}">
                <a16:creationId xmlns:a16="http://schemas.microsoft.com/office/drawing/2014/main" id="{8FB108DE-6582-4A49-AA6A-28A3F5C60825}"/>
              </a:ext>
            </a:extLst>
          </p:cNvPr>
          <p:cNvSpPr>
            <a:spLocks xmlns:a="http://schemas.openxmlformats.org/drawingml/2006/main" noGrp="1"/>
          </p:cNvSpPr>
          <p:nvPr/>
        </p:nvSpPr>
        <p:spPr>
          <a:xfrm xmlns:a="http://schemas.openxmlformats.org/drawingml/2006/main">
            <a:off x="2428875" y="2390775"/>
            <a:ext cx="1905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7</a:t>
            </a:r>
          </a:p>
        </p:txBody>
      </p:sp>
      <p:sp>
        <p:nvSpPr>
          <p:cNvPr id="17" name="verdict-cell-2-2">
            <a:extLst xmlns:a="http://schemas.openxmlformats.org/drawingml/2006/main">
              <a:ext uri="{FF2B5EF4-FFF2-40B4-BE49-F238E27FC236}">
                <a16:creationId xmlns:a16="http://schemas.microsoft.com/office/drawing/2014/main" id="{E40E8BB3-FA57-431A-B616-28D444DFE12E}"/>
              </a:ext>
            </a:extLst>
          </p:cNvPr>
          <p:cNvSpPr>
            <a:spLocks xmlns:a="http://schemas.openxmlformats.org/drawingml/2006/main" noGrp="1"/>
          </p:cNvSpPr>
          <p:nvPr/>
        </p:nvSpPr>
        <p:spPr>
          <a:xfrm xmlns:a="http://schemas.openxmlformats.org/drawingml/2006/main">
            <a:off x="4514850" y="2390775"/>
            <a:ext cx="1809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F855A"/>
                </a:solidFill>
              </a:defRPr>
            </a:pPr>
            <a:r>
              <a:rPr sz="1275" b="1">
                <a:solidFill>
                  <a:srgbClr val="2F855A"/>
                </a:solidFill>
              </a:rPr>
              <a:t>Closest match</a:t>
            </a:r>
          </a:p>
        </p:txBody>
      </p:sp>
      <p:sp>
        <p:nvSpPr>
          <p:cNvPr id="18" name="verdict-cell-2-3">
            <a:extLst xmlns:a="http://schemas.openxmlformats.org/drawingml/2006/main">
              <a:ext uri="{FF2B5EF4-FFF2-40B4-BE49-F238E27FC236}">
                <a16:creationId xmlns:a16="http://schemas.microsoft.com/office/drawing/2014/main" id="{8E4FAC62-7FB5-4C1D-A366-D28000686529}"/>
              </a:ext>
            </a:extLst>
          </p:cNvPr>
          <p:cNvSpPr>
            <a:spLocks xmlns:a="http://schemas.openxmlformats.org/drawingml/2006/main" noGrp="1"/>
          </p:cNvSpPr>
          <p:nvPr/>
        </p:nvSpPr>
        <p:spPr>
          <a:xfrm xmlns:a="http://schemas.openxmlformats.org/drawingml/2006/main">
            <a:off x="6572250" y="2390775"/>
            <a:ext cx="4905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Same net-debt object, sign, and 1982 normalization</a:t>
            </a:r>
          </a:p>
        </p:txBody>
      </p:sp>
      <p:sp>
        <p:nvSpPr>
          <p:cNvPr id="19" name="verdict-line-2">
            <a:extLst xmlns:a="http://schemas.openxmlformats.org/drawingml/2006/main">
              <a:ext uri="{FF2B5EF4-FFF2-40B4-BE49-F238E27FC236}">
                <a16:creationId xmlns:a16="http://schemas.microsoft.com/office/drawing/2014/main" id="{D6F3C624-5E2D-4D0C-9EBC-23391BE68B4C}"/>
              </a:ext>
            </a:extLst>
          </p:cNvPr>
          <p:cNvSpPr>
            <a:spLocks xmlns:a="http://schemas.openxmlformats.org/drawingml/2006/main" noGrp="1"/>
          </p:cNvSpPr>
          <p:nvPr/>
        </p:nvSpPr>
        <p:spPr>
          <a:xfrm xmlns:a="http://schemas.openxmlformats.org/drawingml/2006/main">
            <a:off x="457200" y="2867025"/>
            <a:ext cx="1127760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20" name="verdict-cell-3-0">
            <a:extLst xmlns:a="http://schemas.openxmlformats.org/drawingml/2006/main">
              <a:ext uri="{FF2B5EF4-FFF2-40B4-BE49-F238E27FC236}">
                <a16:creationId xmlns:a16="http://schemas.microsoft.com/office/drawing/2014/main" id="{7F3B4CD4-3510-4A32-AB75-15AFD905DF99}"/>
              </a:ext>
            </a:extLst>
          </p:cNvPr>
          <p:cNvSpPr>
            <a:spLocks xmlns:a="http://schemas.openxmlformats.org/drawingml/2006/main" noGrp="1"/>
          </p:cNvSpPr>
          <p:nvPr/>
        </p:nvSpPr>
        <p:spPr>
          <a:xfrm xmlns:a="http://schemas.openxmlformats.org/drawingml/2006/main">
            <a:off x="533400" y="2971800"/>
            <a:ext cx="171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9 · Debt flow</a:t>
            </a:r>
          </a:p>
        </p:txBody>
      </p:sp>
      <p:sp>
        <p:nvSpPr>
          <p:cNvPr id="21" name="verdict-cell-3-1">
            <a:extLst xmlns:a="http://schemas.openxmlformats.org/drawingml/2006/main">
              <a:ext uri="{FF2B5EF4-FFF2-40B4-BE49-F238E27FC236}">
                <a16:creationId xmlns:a16="http://schemas.microsoft.com/office/drawing/2014/main" id="{E8119FEB-B719-44B6-B3F2-CFDE3746AF3C}"/>
              </a:ext>
            </a:extLst>
          </p:cNvPr>
          <p:cNvSpPr>
            <a:spLocks xmlns:a="http://schemas.openxmlformats.org/drawingml/2006/main" noGrp="1"/>
          </p:cNvSpPr>
          <p:nvPr/>
        </p:nvSpPr>
        <p:spPr>
          <a:xfrm xmlns:a="http://schemas.openxmlformats.org/drawingml/2006/main">
            <a:off x="2428875" y="2971800"/>
            <a:ext cx="1905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Table 7</a:t>
            </a:r>
          </a:p>
        </p:txBody>
      </p:sp>
      <p:sp>
        <p:nvSpPr>
          <p:cNvPr id="22" name="verdict-cell-3-2">
            <a:extLst xmlns:a="http://schemas.openxmlformats.org/drawingml/2006/main">
              <a:ext uri="{FF2B5EF4-FFF2-40B4-BE49-F238E27FC236}">
                <a16:creationId xmlns:a16="http://schemas.microsoft.com/office/drawing/2014/main" id="{02EFC022-659F-4B94-988B-60DD62AFCF59}"/>
              </a:ext>
            </a:extLst>
          </p:cNvPr>
          <p:cNvSpPr>
            <a:spLocks xmlns:a="http://schemas.openxmlformats.org/drawingml/2006/main" noGrp="1"/>
          </p:cNvSpPr>
          <p:nvPr/>
        </p:nvSpPr>
        <p:spPr>
          <a:xfrm xmlns:a="http://schemas.openxmlformats.org/drawingml/2006/main">
            <a:off x="4514850" y="2971800"/>
            <a:ext cx="1809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B7791F"/>
                </a:solidFill>
              </a:defRPr>
            </a:pPr>
            <a:r>
              <a:rPr sz="1275" b="1">
                <a:solidFill>
                  <a:srgbClr val="B7791F"/>
                </a:solidFill>
              </a:rPr>
              <a:t>Partial match</a:t>
            </a:r>
          </a:p>
        </p:txBody>
      </p:sp>
      <p:sp>
        <p:nvSpPr>
          <p:cNvPr id="23" name="verdict-cell-3-3">
            <a:extLst xmlns:a="http://schemas.openxmlformats.org/drawingml/2006/main">
              <a:ext uri="{FF2B5EF4-FFF2-40B4-BE49-F238E27FC236}">
                <a16:creationId xmlns:a16="http://schemas.microsoft.com/office/drawing/2014/main" id="{7BB53762-4019-4FC9-81A9-83ECF6C1737B}"/>
              </a:ext>
            </a:extLst>
          </p:cNvPr>
          <p:cNvSpPr>
            <a:spLocks xmlns:a="http://schemas.openxmlformats.org/drawingml/2006/main" noGrp="1"/>
          </p:cNvSpPr>
          <p:nvPr/>
        </p:nvSpPr>
        <p:spPr>
          <a:xfrm xmlns:a="http://schemas.openxmlformats.org/drawingml/2006/main">
            <a:off x="6572250" y="2971800"/>
            <a:ext cx="4905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Same stock-to-flow lineage; continuous attribution is new</a:t>
            </a:r>
          </a:p>
        </p:txBody>
      </p:sp>
      <p:sp>
        <p:nvSpPr>
          <p:cNvPr id="24" name="verdict-line-3">
            <a:extLst xmlns:a="http://schemas.openxmlformats.org/drawingml/2006/main">
              <a:ext uri="{FF2B5EF4-FFF2-40B4-BE49-F238E27FC236}">
                <a16:creationId xmlns:a16="http://schemas.microsoft.com/office/drawing/2014/main" id="{E118DD39-E35D-440D-8DAA-C42E439DB4FD}"/>
              </a:ext>
            </a:extLst>
          </p:cNvPr>
          <p:cNvSpPr>
            <a:spLocks xmlns:a="http://schemas.openxmlformats.org/drawingml/2006/main" noGrp="1"/>
          </p:cNvSpPr>
          <p:nvPr/>
        </p:nvSpPr>
        <p:spPr>
          <a:xfrm xmlns:a="http://schemas.openxmlformats.org/drawingml/2006/main">
            <a:off x="457200" y="3448050"/>
            <a:ext cx="1127760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25" name="verdict-cell-4-0">
            <a:extLst xmlns:a="http://schemas.openxmlformats.org/drawingml/2006/main">
              <a:ext uri="{FF2B5EF4-FFF2-40B4-BE49-F238E27FC236}">
                <a16:creationId xmlns:a16="http://schemas.microsoft.com/office/drawing/2014/main" id="{0915FE12-C5CA-49A5-97AB-B2BD4E2EADE5}"/>
              </a:ext>
            </a:extLst>
          </p:cNvPr>
          <p:cNvSpPr>
            <a:spLocks xmlns:a="http://schemas.openxmlformats.org/drawingml/2006/main" noGrp="1"/>
          </p:cNvSpPr>
          <p:nvPr/>
        </p:nvSpPr>
        <p:spPr>
          <a:xfrm xmlns:a="http://schemas.openxmlformats.org/drawingml/2006/main">
            <a:off x="533400" y="3552825"/>
            <a:ext cx="171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10 · Safe assets</a:t>
            </a:r>
          </a:p>
        </p:txBody>
      </p:sp>
      <p:sp>
        <p:nvSpPr>
          <p:cNvPr id="26" name="verdict-cell-4-1">
            <a:extLst xmlns:a="http://schemas.openxmlformats.org/drawingml/2006/main">
              <a:ext uri="{FF2B5EF4-FFF2-40B4-BE49-F238E27FC236}">
                <a16:creationId xmlns:a16="http://schemas.microsoft.com/office/drawing/2014/main" id="{E991A379-21C6-40AF-9F5D-8AA6C7C9C80B}"/>
              </a:ext>
            </a:extLst>
          </p:cNvPr>
          <p:cNvSpPr>
            <a:spLocks xmlns:a="http://schemas.openxmlformats.org/drawingml/2006/main" noGrp="1"/>
          </p:cNvSpPr>
          <p:nvPr/>
        </p:nvSpPr>
        <p:spPr>
          <a:xfrm xmlns:a="http://schemas.openxmlformats.org/drawingml/2006/main">
            <a:off x="2428875" y="3552825"/>
            <a:ext cx="1905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9</a:t>
            </a:r>
          </a:p>
        </p:txBody>
      </p:sp>
      <p:sp>
        <p:nvSpPr>
          <p:cNvPr id="27" name="verdict-cell-4-2">
            <a:extLst xmlns:a="http://schemas.openxmlformats.org/drawingml/2006/main">
              <a:ext uri="{FF2B5EF4-FFF2-40B4-BE49-F238E27FC236}">
                <a16:creationId xmlns:a16="http://schemas.microsoft.com/office/drawing/2014/main" id="{4B0A6676-7676-44BB-AAD9-8C49E9FCE4F8}"/>
              </a:ext>
            </a:extLst>
          </p:cNvPr>
          <p:cNvSpPr>
            <a:spLocks xmlns:a="http://schemas.openxmlformats.org/drawingml/2006/main" noGrp="1"/>
          </p:cNvSpPr>
          <p:nvPr/>
        </p:nvSpPr>
        <p:spPr>
          <a:xfrm xmlns:a="http://schemas.openxmlformats.org/drawingml/2006/main">
            <a:off x="4514850" y="3552825"/>
            <a:ext cx="1809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F855A"/>
                </a:solidFill>
              </a:defRPr>
            </a:pPr>
            <a:r>
              <a:rPr sz="1275" b="1">
                <a:solidFill>
                  <a:srgbClr val="2F855A"/>
                </a:solidFill>
              </a:rPr>
              <a:t>Strong precursor</a:t>
            </a:r>
          </a:p>
        </p:txBody>
      </p:sp>
      <p:sp>
        <p:nvSpPr>
          <p:cNvPr id="28" name="verdict-cell-4-3">
            <a:extLst xmlns:a="http://schemas.openxmlformats.org/drawingml/2006/main">
              <a:ext uri="{FF2B5EF4-FFF2-40B4-BE49-F238E27FC236}">
                <a16:creationId xmlns:a16="http://schemas.microsoft.com/office/drawing/2014/main" id="{9973B27A-479C-4CC7-B8D8-7DC7CF473B17}"/>
              </a:ext>
            </a:extLst>
          </p:cNvPr>
          <p:cNvSpPr>
            <a:spLocks xmlns:a="http://schemas.openxmlformats.org/drawingml/2006/main" noGrp="1"/>
          </p:cNvSpPr>
          <p:nvPr/>
        </p:nvSpPr>
        <p:spPr>
          <a:xfrm xmlns:a="http://schemas.openxmlformats.org/drawingml/2006/main">
            <a:off x="6572250" y="3552825"/>
            <a:ext cx="4905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Same holders, assets, and national-income scaling</a:t>
            </a:r>
          </a:p>
        </p:txBody>
      </p:sp>
      <p:sp>
        <p:nvSpPr>
          <p:cNvPr id="29" name="verdict-line-4">
            <a:extLst xmlns:a="http://schemas.openxmlformats.org/drawingml/2006/main">
              <a:ext uri="{FF2B5EF4-FFF2-40B4-BE49-F238E27FC236}">
                <a16:creationId xmlns:a16="http://schemas.microsoft.com/office/drawing/2014/main" id="{84F5ECF9-057D-418A-B1F9-411A9AAD70A2}"/>
              </a:ext>
            </a:extLst>
          </p:cNvPr>
          <p:cNvSpPr>
            <a:spLocks xmlns:a="http://schemas.openxmlformats.org/drawingml/2006/main" noGrp="1"/>
          </p:cNvSpPr>
          <p:nvPr/>
        </p:nvSpPr>
        <p:spPr>
          <a:xfrm xmlns:a="http://schemas.openxmlformats.org/drawingml/2006/main">
            <a:off x="457200" y="4029075"/>
            <a:ext cx="1127760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30" name="verdict-cell-5-0">
            <a:extLst xmlns:a="http://schemas.openxmlformats.org/drawingml/2006/main">
              <a:ext uri="{FF2B5EF4-FFF2-40B4-BE49-F238E27FC236}">
                <a16:creationId xmlns:a16="http://schemas.microsoft.com/office/drawing/2014/main" id="{E2E677CE-CA94-4502-BF76-461C588D8FD7}"/>
              </a:ext>
            </a:extLst>
          </p:cNvPr>
          <p:cNvSpPr>
            <a:spLocks xmlns:a="http://schemas.openxmlformats.org/drawingml/2006/main" noGrp="1"/>
          </p:cNvSpPr>
          <p:nvPr/>
        </p:nvSpPr>
        <p:spPr>
          <a:xfrm xmlns:a="http://schemas.openxmlformats.org/drawingml/2006/main">
            <a:off x="533400" y="4133850"/>
            <a:ext cx="171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1 · Indirect ownership</a:t>
            </a:r>
          </a:p>
        </p:txBody>
      </p:sp>
      <p:sp>
        <p:nvSpPr>
          <p:cNvPr id="31" name="verdict-cell-5-1">
            <a:extLst xmlns:a="http://schemas.openxmlformats.org/drawingml/2006/main">
              <a:ext uri="{FF2B5EF4-FFF2-40B4-BE49-F238E27FC236}">
                <a16:creationId xmlns:a16="http://schemas.microsoft.com/office/drawing/2014/main" id="{4DC3A0C4-FE6D-4DF9-B2A1-2F556A13293D}"/>
              </a:ext>
            </a:extLst>
          </p:cNvPr>
          <p:cNvSpPr>
            <a:spLocks xmlns:a="http://schemas.openxmlformats.org/drawingml/2006/main" noGrp="1"/>
          </p:cNvSpPr>
          <p:nvPr/>
        </p:nvSpPr>
        <p:spPr>
          <a:xfrm xmlns:a="http://schemas.openxmlformats.org/drawingml/2006/main">
            <a:off x="2428875" y="4133850"/>
            <a:ext cx="1905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6</a:t>
            </a:r>
          </a:p>
        </p:txBody>
      </p:sp>
      <p:sp>
        <p:nvSpPr>
          <p:cNvPr id="32" name="verdict-cell-5-2">
            <a:extLst xmlns:a="http://schemas.openxmlformats.org/drawingml/2006/main">
              <a:ext uri="{FF2B5EF4-FFF2-40B4-BE49-F238E27FC236}">
                <a16:creationId xmlns:a16="http://schemas.microsoft.com/office/drawing/2014/main" id="{07019A80-EDEE-486E-B2D1-F93AA2D70D8A}"/>
              </a:ext>
            </a:extLst>
          </p:cNvPr>
          <p:cNvSpPr>
            <a:spLocks xmlns:a="http://schemas.openxmlformats.org/drawingml/2006/main" noGrp="1"/>
          </p:cNvSpPr>
          <p:nvPr/>
        </p:nvSpPr>
        <p:spPr>
          <a:xfrm xmlns:a="http://schemas.openxmlformats.org/drawingml/2006/main">
            <a:off x="4514850" y="4133850"/>
            <a:ext cx="1809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B83232"/>
                </a:solidFill>
              </a:defRPr>
            </a:pPr>
            <a:r>
              <a:rPr sz="1275" b="1">
                <a:solidFill>
                  <a:srgbClr val="B83232"/>
                </a:solidFill>
              </a:rPr>
              <a:t>Context only</a:t>
            </a:r>
          </a:p>
        </p:txBody>
      </p:sp>
      <p:sp>
        <p:nvSpPr>
          <p:cNvPr id="33" name="verdict-cell-5-3">
            <a:extLst xmlns:a="http://schemas.openxmlformats.org/drawingml/2006/main">
              <a:ext uri="{FF2B5EF4-FFF2-40B4-BE49-F238E27FC236}">
                <a16:creationId xmlns:a16="http://schemas.microsoft.com/office/drawing/2014/main" id="{8B3EFD13-83E1-4486-AA68-56C55EB2D1B9}"/>
              </a:ext>
            </a:extLst>
          </p:cNvPr>
          <p:cNvSpPr>
            <a:spLocks xmlns:a="http://schemas.openxmlformats.org/drawingml/2006/main" noGrp="1"/>
          </p:cNvSpPr>
          <p:nvPr/>
        </p:nvSpPr>
        <p:spPr>
          <a:xfrm xmlns:a="http://schemas.openxmlformats.org/drawingml/2006/main">
            <a:off x="6572250" y="4133850"/>
            <a:ext cx="4905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Different dependent variable and revised matrix method</a:t>
            </a:r>
          </a:p>
        </p:txBody>
      </p:sp>
      <p:sp>
        <p:nvSpPr>
          <p:cNvPr id="34" name="verdict-line-5">
            <a:extLst xmlns:a="http://schemas.openxmlformats.org/drawingml/2006/main">
              <a:ext uri="{FF2B5EF4-FFF2-40B4-BE49-F238E27FC236}">
                <a16:creationId xmlns:a16="http://schemas.microsoft.com/office/drawing/2014/main" id="{1BB7F304-F599-4808-9888-64494CD11338}"/>
              </a:ext>
            </a:extLst>
          </p:cNvPr>
          <p:cNvSpPr>
            <a:spLocks xmlns:a="http://schemas.openxmlformats.org/drawingml/2006/main" noGrp="1"/>
          </p:cNvSpPr>
          <p:nvPr/>
        </p:nvSpPr>
        <p:spPr>
          <a:xfrm xmlns:a="http://schemas.openxmlformats.org/drawingml/2006/main">
            <a:off x="457200" y="4610100"/>
            <a:ext cx="1127760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35" name="verdict-cell-6-0">
            <a:extLst xmlns:a="http://schemas.openxmlformats.org/drawingml/2006/main">
              <a:ext uri="{FF2B5EF4-FFF2-40B4-BE49-F238E27FC236}">
                <a16:creationId xmlns:a16="http://schemas.microsoft.com/office/drawing/2014/main" id="{75B66E9E-9A08-4F65-8C04-69435F3959AC}"/>
              </a:ext>
            </a:extLst>
          </p:cNvPr>
          <p:cNvSpPr>
            <a:spLocks xmlns:a="http://schemas.openxmlformats.org/drawingml/2006/main" noGrp="1"/>
          </p:cNvSpPr>
          <p:nvPr/>
        </p:nvSpPr>
        <p:spPr>
          <a:xfrm xmlns:a="http://schemas.openxmlformats.org/drawingml/2006/main">
            <a:off x="533400" y="4714875"/>
            <a:ext cx="171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11 · Investment</a:t>
            </a:r>
          </a:p>
        </p:txBody>
      </p:sp>
      <p:sp>
        <p:nvSpPr>
          <p:cNvPr id="36" name="verdict-cell-6-1">
            <a:extLst xmlns:a="http://schemas.openxmlformats.org/drawingml/2006/main">
              <a:ext uri="{FF2B5EF4-FFF2-40B4-BE49-F238E27FC236}">
                <a16:creationId xmlns:a16="http://schemas.microsoft.com/office/drawing/2014/main" id="{13C0A687-EF0A-4230-8C81-CD3663E620C9}"/>
              </a:ext>
            </a:extLst>
          </p:cNvPr>
          <p:cNvSpPr>
            <a:spLocks xmlns:a="http://schemas.openxmlformats.org/drawingml/2006/main" noGrp="1"/>
          </p:cNvSpPr>
          <p:nvPr/>
        </p:nvSpPr>
        <p:spPr>
          <a:xfrm xmlns:a="http://schemas.openxmlformats.org/drawingml/2006/main">
            <a:off x="2428875" y="4714875"/>
            <a:ext cx="1905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Figure 4</a:t>
            </a:r>
          </a:p>
        </p:txBody>
      </p:sp>
      <p:sp>
        <p:nvSpPr>
          <p:cNvPr id="37" name="verdict-cell-6-2">
            <a:extLst xmlns:a="http://schemas.openxmlformats.org/drawingml/2006/main">
              <a:ext uri="{FF2B5EF4-FFF2-40B4-BE49-F238E27FC236}">
                <a16:creationId xmlns:a16="http://schemas.microsoft.com/office/drawing/2014/main" id="{C203F508-9E22-4D53-8A5F-7C87E396C77A}"/>
              </a:ext>
            </a:extLst>
          </p:cNvPr>
          <p:cNvSpPr>
            <a:spLocks xmlns:a="http://schemas.openxmlformats.org/drawingml/2006/main" noGrp="1"/>
          </p:cNvSpPr>
          <p:nvPr/>
        </p:nvSpPr>
        <p:spPr>
          <a:xfrm xmlns:a="http://schemas.openxmlformats.org/drawingml/2006/main">
            <a:off x="4514850" y="4714875"/>
            <a:ext cx="1809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B7791F"/>
                </a:solidFill>
              </a:defRPr>
            </a:pPr>
            <a:r>
              <a:rPr sz="1275" b="1">
                <a:solidFill>
                  <a:srgbClr val="B7791F"/>
                </a:solidFill>
              </a:rPr>
              <a:t>Partial/context</a:t>
            </a:r>
          </a:p>
        </p:txBody>
      </p:sp>
      <p:sp>
        <p:nvSpPr>
          <p:cNvPr id="38" name="verdict-cell-6-3">
            <a:extLst xmlns:a="http://schemas.openxmlformats.org/drawingml/2006/main">
              <a:ext uri="{FF2B5EF4-FFF2-40B4-BE49-F238E27FC236}">
                <a16:creationId xmlns:a16="http://schemas.microsoft.com/office/drawing/2014/main" id="{5CEB16EC-EBA3-4D0B-92C4-8B65DD42B7DF}"/>
              </a:ext>
            </a:extLst>
          </p:cNvPr>
          <p:cNvSpPr>
            <a:spLocks xmlns:a="http://schemas.openxmlformats.org/drawingml/2006/main" noGrp="1"/>
          </p:cNvSpPr>
          <p:nvPr/>
        </p:nvSpPr>
        <p:spPr>
          <a:xfrm xmlns:a="http://schemas.openxmlformats.org/drawingml/2006/main">
            <a:off x="6572250" y="4714875"/>
            <a:ext cx="4905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43B53"/>
                </a:solidFill>
              </a:defRPr>
            </a:pPr>
            <a:r>
              <a:rPr sz="1275" b="0">
                <a:solidFill>
                  <a:srgbClr val="243B53"/>
                </a:solidFill>
              </a:rPr>
              <a:t>Same question; different attribution and time transformation</a:t>
            </a:r>
          </a:p>
        </p:txBody>
      </p:sp>
      <p:sp>
        <p:nvSpPr>
          <p:cNvPr id="39" name="verdict-line-6">
            <a:extLst xmlns:a="http://schemas.openxmlformats.org/drawingml/2006/main">
              <a:ext uri="{FF2B5EF4-FFF2-40B4-BE49-F238E27FC236}">
                <a16:creationId xmlns:a16="http://schemas.microsoft.com/office/drawing/2014/main" id="{835E53B7-4377-445E-B666-317B36E94668}"/>
              </a:ext>
            </a:extLst>
          </p:cNvPr>
          <p:cNvSpPr>
            <a:spLocks xmlns:a="http://schemas.openxmlformats.org/drawingml/2006/main" noGrp="1"/>
          </p:cNvSpPr>
          <p:nvPr/>
        </p:nvSpPr>
        <p:spPr>
          <a:xfrm xmlns:a="http://schemas.openxmlformats.org/drawingml/2006/main">
            <a:off x="457200" y="5191125"/>
            <a:ext cx="11277600" cy="9525"/>
          </a:xfrm>
          <a:prstGeom xmlns:a="http://schemas.openxmlformats.org/drawingml/2006/main" prst="rect">
            <a:avLst/>
          </a:prstGeom>
          <a:solidFill xmlns:a="http://schemas.openxmlformats.org/drawingml/2006/main">
            <a:srgbClr val="D8E1E8"/>
          </a:solidFill>
          <a:ln xmlns:a="http://schemas.openxmlformats.org/drawingml/2006/main" w="0">
            <a:noFill/>
            <a:prstDash val="solid"/>
          </a:ln>
        </p:spPr>
      </p:sp>
      <p:sp>
        <p:nvSpPr>
          <p:cNvPr id="40" name="takeaway">
            <a:extLst xmlns:a="http://schemas.openxmlformats.org/drawingml/2006/main">
              <a:ext uri="{FF2B5EF4-FFF2-40B4-BE49-F238E27FC236}">
                <a16:creationId xmlns:a16="http://schemas.microsoft.com/office/drawing/2014/main" id="{8BAB41DD-3568-4699-A969-60527F9D4B9A}"/>
              </a:ext>
            </a:extLst>
          </p:cNvPr>
          <p:cNvSpPr>
            <a:spLocks xmlns:a="http://schemas.openxmlformats.org/drawingml/2006/main" noGrp="1"/>
          </p:cNvSpPr>
          <p:nvPr/>
        </p:nvSpPr>
        <p:spPr>
          <a:xfrm xmlns:a="http://schemas.openxmlformats.org/drawingml/2006/main">
            <a:off x="457200" y="5514975"/>
            <a:ext cx="11277600" cy="962025"/>
          </a:xfrm>
          <a:prstGeom xmlns:a="http://schemas.openxmlformats.org/drawingml/2006/main" prst="roundRect">
            <a:avLst>
              <a:gd name="adj" fmla="val 3960"/>
            </a:avLst>
          </a:prstGeom>
          <a:solidFill xmlns:a="http://schemas.openxmlformats.org/drawingml/2006/main">
            <a:srgbClr val="F4F7FA"/>
          </a:solidFill>
          <a:ln xmlns:a="http://schemas.openxmlformats.org/drawingml/2006/main" w="0">
            <a:noFill/>
            <a:prstDash val="solid"/>
          </a:ln>
        </p:spPr>
      </p:sp>
      <p:sp>
        <p:nvSpPr>
          <p:cNvPr id="41" name="takeaway-title">
            <a:extLst xmlns:a="http://schemas.openxmlformats.org/drawingml/2006/main">
              <a:ext uri="{FF2B5EF4-FFF2-40B4-BE49-F238E27FC236}">
                <a16:creationId xmlns:a16="http://schemas.microsoft.com/office/drawing/2014/main" id="{773F5E13-B739-44D4-9FD3-C4EE01323954}"/>
              </a:ext>
            </a:extLst>
          </p:cNvPr>
          <p:cNvSpPr>
            <a:spLocks xmlns:a="http://schemas.openxmlformats.org/drawingml/2006/main" noGrp="1"/>
          </p:cNvSpPr>
          <p:nvPr/>
        </p:nvSpPr>
        <p:spPr>
          <a:xfrm xmlns:a="http://schemas.openxmlformats.org/drawingml/2006/main">
            <a:off x="685800" y="5695950"/>
            <a:ext cx="1809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02A43"/>
                </a:solidFill>
              </a:defRPr>
            </a:pPr>
            <a:r>
              <a:rPr sz="1650" b="1">
                <a:solidFill>
                  <a:srgbClr val="102A43"/>
                </a:solidFill>
              </a:rPr>
              <a:t>Bottom line</a:t>
            </a:r>
          </a:p>
        </p:txBody>
      </p:sp>
      <p:sp>
        <p:nvSpPr>
          <p:cNvPr id="42" name="takeaway-body">
            <a:extLst xmlns:a="http://schemas.openxmlformats.org/drawingml/2006/main">
              <a:ext uri="{FF2B5EF4-FFF2-40B4-BE49-F238E27FC236}">
                <a16:creationId xmlns:a16="http://schemas.microsoft.com/office/drawing/2014/main" id="{D8EA2B6A-DE5B-46BD-89DB-2AE9BB69AA1A}"/>
              </a:ext>
            </a:extLst>
          </p:cNvPr>
          <p:cNvSpPr>
            <a:spLocks xmlns:a="http://schemas.openxmlformats.org/drawingml/2006/main" noGrp="1"/>
          </p:cNvSpPr>
          <p:nvPr/>
        </p:nvSpPr>
        <p:spPr>
          <a:xfrm xmlns:a="http://schemas.openxmlformats.org/drawingml/2006/main">
            <a:off x="2457450" y="5638800"/>
            <a:ext cx="885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43B53"/>
                </a:solidFill>
              </a:defRPr>
            </a:pPr>
            <a:r>
              <a:rPr sz="1425" b="0">
                <a:solidFill>
                  <a:srgbClr val="243B53"/>
                </a:solidFill>
              </a:rPr>
              <a:t>Use the 2021 kit to validate the historical qualitative claims and accounting lineage. Exact 2025 replication still requires the revised matrix construction, revised group definitions, revised transformations, and the 2017–2019 data extension.</a:t>
            </a:r>
          </a:p>
        </p:txBody>
      </p:sp>
    </p:spTree>
    <p:extLst>
      <p:ext uri="{BB962C8B-B14F-4D97-AF65-F5344CB8AC3E}">
        <p14:creationId xmlns:p14="http://schemas.microsoft.com/office/powerpoint/2010/main" val="391599742"/>
      </p:ext>
    </p:extLst>
  </p:cSld>
</p:sld>
</file>

<file path=ppt/theme/theme1.xml><?xml version="1.0" encoding="utf-8"?>
<a:theme xmlns:a="http://schemas.openxmlformats.org/drawingml/2006/main" name="ChatGPT">
  <a:themeElements>
    <a:clrScheme name="Replication validation">
      <a:dk1>
        <a:srgbClr val="000000"/>
      </a:dk1>
      <a:lt1>
        <a:srgbClr val="FFFFFF"/>
      </a:lt1>
      <a:dk2>
        <a:srgbClr val="102A43"/>
      </a:dk2>
      <a:lt2>
        <a:srgbClr val="D8E1E8"/>
      </a:lt2>
      <a:accent1>
        <a:srgbClr val="2E5B88"/>
      </a:accent1>
      <a:accent2>
        <a:srgbClr val="C65D16"/>
      </a:accent2>
      <a:accent3>
        <a:srgbClr val="2F855A"/>
      </a:accent3>
      <a:accent4>
        <a:srgbClr val="B83232"/>
      </a:accent4>
      <a:accent5>
        <a:srgbClr val="B7791F"/>
      </a:accent5>
      <a:accent6>
        <a:srgbClr val="627D98"/>
      </a:accent6>
      <a:hlink>
        <a:srgbClr val="2E5B88"/>
      </a:hlink>
      <a:folHlink>
        <a:srgbClr val="C65D16"/>
      </a:folHlink>
    </a:clrScheme>
    <a:fontScheme name="Office">
      <a:majorFont>
        <a:latin typeface="Calibri Light"/>
        <a:ea typeface="Calibri Light"/>
        <a:cs typeface="Calibri Light"/>
      </a:majorFont>
      <a:minorFont>
        <a:latin typeface="Calibri"/>
        <a:ea typeface="Calibri"/>
        <a:cs typeface="Calibri"/>
      </a:minorFont>
    </a:fontScheme>
    <a:fmtScheme name="Replication valid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2026-08-10T10:44:51.5060000Z</dcterms:created>
  <dcterms:modified xsi:type="dcterms:W3CDTF">2026-08-10T10:44:51.5060000Z</dcterms:modified>
</coreProperties>
</file>
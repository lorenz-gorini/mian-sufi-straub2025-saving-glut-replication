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6a79ad160de4166" /><Relationship Type="http://schemas.openxmlformats.org/officeDocument/2006/relationships/extended-properties" Target="/docProps/app.xml" Id="Re90fe9cea37d4e71" /><Relationship Type="http://schemas.openxmlformats.org/officeDocument/2006/relationships/officeDocument" Target="/ppt/presentation.xml" Id="R702a318d1149464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cb18051fde4e9f"/>
  </p:sldMasterIdLst>
  <p:notesMasterIdLst>
    <p:notesMasterId xmlns:r="http://schemas.openxmlformats.org/officeDocument/2006/relationships" r:id="R07ec8a7727ef43d8"/>
  </p:notesMasterIdLst>
  <p:sldIdLst>
    <p:sldId xmlns:r="http://schemas.openxmlformats.org/officeDocument/2006/relationships" id="256" r:id="R9ae87eda06ef42b7"/>
    <p:sldId xmlns:r="http://schemas.openxmlformats.org/officeDocument/2006/relationships" id="257" r:id="R79a0f8812b444861"/>
    <p:sldId xmlns:r="http://schemas.openxmlformats.org/officeDocument/2006/relationships" id="258" r:id="R8add0dc630d44afc"/>
    <p:sldId xmlns:r="http://schemas.openxmlformats.org/officeDocument/2006/relationships" id="259" r:id="Rdd83539f73b843ba"/>
    <p:sldId xmlns:r="http://schemas.openxmlformats.org/officeDocument/2006/relationships" id="260" r:id="Rd435cbfd1efb46c0"/>
    <p:sldId xmlns:r="http://schemas.openxmlformats.org/officeDocument/2006/relationships" id="261" r:id="R706c4cc004bd40ec"/>
    <p:sldId xmlns:r="http://schemas.openxmlformats.org/officeDocument/2006/relationships" id="262" r:id="R34ddaf34591f4ea0"/>
    <p:sldId xmlns:r="http://schemas.openxmlformats.org/officeDocument/2006/relationships" id="263" r:id="R4bdae0abc14240fc"/>
    <p:sldId xmlns:r="http://schemas.openxmlformats.org/officeDocument/2006/relationships" id="264" r:id="Re1ee7b91feb54ec1"/>
    <p:sldId xmlns:r="http://schemas.openxmlformats.org/officeDocument/2006/relationships" id="265" r:id="Refc68f5c12de4653"/>
    <p:sldId xmlns:r="http://schemas.openxmlformats.org/officeDocument/2006/relationships" id="266" r:id="R3b8628fc95e343ec"/>
    <p:sldId xmlns:r="http://schemas.openxmlformats.org/officeDocument/2006/relationships" id="267" r:id="Re959d98d1b5a43d2"/>
    <p:sldId xmlns:r="http://schemas.openxmlformats.org/officeDocument/2006/relationships" id="268" r:id="Rf082d9ee78864777"/>
    <p:sldId xmlns:r="http://schemas.openxmlformats.org/officeDocument/2006/relationships" id="269" r:id="Rd026f85536c54d28"/>
    <p:sldId xmlns:r="http://schemas.openxmlformats.org/officeDocument/2006/relationships" id="270" r:id="Rf7e60dca8a0c4def"/>
    <p:sldId xmlns:r="http://schemas.openxmlformats.org/officeDocument/2006/relationships" id="271" r:id="Rdfcb3932c4f645d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fc7ad10864377" /><Relationship Type="http://schemas.openxmlformats.org/officeDocument/2006/relationships/slideMaster" Target="/ppt/slideMasters/slideMaster1.xml" Id="R3dcb18051fde4e9f" /><Relationship Type="http://schemas.openxmlformats.org/officeDocument/2006/relationships/notesMaster" Target="/ppt/notesMasters/notesMaster1.xml" Id="R07ec8a7727ef43d8" /><Relationship Type="http://schemas.openxmlformats.org/officeDocument/2006/relationships/presProps" Target="/ppt/presProps.xml" Id="R28b88010746849a9" /><Relationship Type="http://schemas.openxmlformats.org/officeDocument/2006/relationships/tableStyles" Target="/ppt/tableStyles.xml" Id="Re3187fc8a0724152" /><Relationship Type="http://schemas.openxmlformats.org/officeDocument/2006/relationships/slide" Target="/ppt/slides/slide1.xml" Id="R9ae87eda06ef42b7" /><Relationship Type="http://schemas.openxmlformats.org/officeDocument/2006/relationships/slide" Target="/ppt/slides/slide2.xml" Id="R79a0f8812b444861" /><Relationship Type="http://schemas.openxmlformats.org/officeDocument/2006/relationships/slide" Target="/ppt/slides/slide3.xml" Id="R8add0dc630d44afc" /><Relationship Type="http://schemas.openxmlformats.org/officeDocument/2006/relationships/slide" Target="/ppt/slides/slide4.xml" Id="Rdd83539f73b843ba" /><Relationship Type="http://schemas.openxmlformats.org/officeDocument/2006/relationships/slide" Target="/ppt/slides/slide5.xml" Id="Rd435cbfd1efb46c0" /><Relationship Type="http://schemas.openxmlformats.org/officeDocument/2006/relationships/slide" Target="/ppt/slides/slide6.xml" Id="R706c4cc004bd40ec" /><Relationship Type="http://schemas.openxmlformats.org/officeDocument/2006/relationships/slide" Target="/ppt/slides/slide7.xml" Id="R34ddaf34591f4ea0" /><Relationship Type="http://schemas.openxmlformats.org/officeDocument/2006/relationships/slide" Target="/ppt/slides/slide8.xml" Id="R4bdae0abc14240fc" /><Relationship Type="http://schemas.openxmlformats.org/officeDocument/2006/relationships/slide" Target="/ppt/slides/slide9.xml" Id="Re1ee7b91feb54ec1" /><Relationship Type="http://schemas.openxmlformats.org/officeDocument/2006/relationships/slide" Target="/ppt/slides/slide10.xml" Id="Refc68f5c12de4653" /><Relationship Type="http://schemas.openxmlformats.org/officeDocument/2006/relationships/slide" Target="/ppt/slides/slide11.xml" Id="R3b8628fc95e343ec" /><Relationship Type="http://schemas.openxmlformats.org/officeDocument/2006/relationships/slide" Target="/ppt/slides/slide12.xml" Id="Re959d98d1b5a43d2" /><Relationship Type="http://schemas.openxmlformats.org/officeDocument/2006/relationships/slide" Target="/ppt/slides/slide13.xml" Id="Rf082d9ee78864777" /><Relationship Type="http://schemas.openxmlformats.org/officeDocument/2006/relationships/slide" Target="/ppt/slides/slide14.xml" Id="Rd026f85536c54d28" /><Relationship Type="http://schemas.openxmlformats.org/officeDocument/2006/relationships/slide" Target="/ppt/slides/slide15.xml" Id="Rf7e60dca8a0c4def" /><Relationship Type="http://schemas.openxmlformats.org/officeDocument/2006/relationships/slide" Target="/ppt/slides/slide16.xml" Id="Rdfcb3932c4f645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7fa155aaeeb4f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2dfe6ecdfd84e02" /><Relationship Type="http://schemas.openxmlformats.org/officeDocument/2006/relationships/notesMaster" Target="/ppt/notesMasters/notesMaster1.xml" Id="Rbe4ae7e802714bb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3ac497a6a544146" /><Relationship Type="http://schemas.openxmlformats.org/officeDocument/2006/relationships/notesMaster" Target="/ppt/notesMasters/notesMaster1.xml" Id="R0f862358c15b438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91e3dda21a54566" /><Relationship Type="http://schemas.openxmlformats.org/officeDocument/2006/relationships/notesMaster" Target="/ppt/notesMasters/notesMaster1.xml" Id="Rc05c6c47685949f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ba278a2e0c548ef" /><Relationship Type="http://schemas.openxmlformats.org/officeDocument/2006/relationships/notesMaster" Target="/ppt/notesMasters/notesMaster1.xml" Id="Rae6d11474c0f4e9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458b231a334db0" /><Relationship Type="http://schemas.openxmlformats.org/officeDocument/2006/relationships/notesMaster" Target="/ppt/notesMasters/notesMaster1.xml" Id="R58ecddc299264e5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1882df8dd04c94" /><Relationship Type="http://schemas.openxmlformats.org/officeDocument/2006/relationships/notesMaster" Target="/ppt/notesMasters/notesMaster1.xml" Id="Ra7fa126ffb4e4b0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d8fd4c2c1884254" /><Relationship Type="http://schemas.openxmlformats.org/officeDocument/2006/relationships/notesMaster" Target="/ppt/notesMasters/notesMaster1.xml" Id="Rbb45b330dff94c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024ecafe6e847fd" /><Relationship Type="http://schemas.openxmlformats.org/officeDocument/2006/relationships/notesMaster" Target="/ppt/notesMasters/notesMaster1.xml" Id="Reab4a7cd0cf446e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24c043ee69448f" /><Relationship Type="http://schemas.openxmlformats.org/officeDocument/2006/relationships/notesMaster" Target="/ppt/notesMasters/notesMaster1.xml" Id="Rf35b6abf1ef640a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071669417cf4cc9" /><Relationship Type="http://schemas.openxmlformats.org/officeDocument/2006/relationships/notesMaster" Target="/ppt/notesMasters/notesMaster1.xml" Id="R083a39c98005424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36bf690143b43db" /><Relationship Type="http://schemas.openxmlformats.org/officeDocument/2006/relationships/notesMaster" Target="/ppt/notesMasters/notesMaster1.xml" Id="R4def4a5c8ed1416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8e1dd115f8a458f" /><Relationship Type="http://schemas.openxmlformats.org/officeDocument/2006/relationships/notesMaster" Target="/ppt/notesMasters/notesMaster1.xml" Id="Rd853c3ab8e8e49c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d10cc4238554466" /><Relationship Type="http://schemas.openxmlformats.org/officeDocument/2006/relationships/notesMaster" Target="/ppt/notesMasters/notesMaster1.xml" Id="R8a38d43422a34a2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0cd09f74c7443b4" /><Relationship Type="http://schemas.openxmlformats.org/officeDocument/2006/relationships/notesMaster" Target="/ppt/notesMasters/notesMaster1.xml" Id="R1e9745daa8ad4e5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9dd081e792a4fda" /><Relationship Type="http://schemas.openxmlformats.org/officeDocument/2006/relationships/notesMaster" Target="/ppt/notesMasters/notesMaster1.xml" Id="R0c0a2d0f7b634cc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6939868b0ce484d" /><Relationship Type="http://schemas.openxmlformats.org/officeDocument/2006/relationships/notesMaster" Target="/ppt/notesMasters/notesMaster1.xml" Id="R53998e2bfd4047c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Opening: motivate the paper's core accounting innovation before introducing notation.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Sections 2.1–2.2.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Unveiling converts a chain of legal claims into economically meaningful household ownership.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Sections 2.1–2.2.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Orientation is economic content: every issuer row describes its funding composition.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2.1 and Equation (4).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Sum claims in dollars first; divide each issuer row by that issuer's total liabilities.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Equation (4).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Owners absorb the claim; only intermediary rows propagate it to another layer.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Each power of Qₜ adds exactly one more intermediary layer before the claim exits to owners.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 single linear solve replaces arbitrary truncation and recovers the complete ownership allocation.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 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inverse exists only when ownership mass eventually leaves every intermediary-only loop.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Replication/MSS_SGR_July242025.pdf, Section 2.2.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Replication/Code/unveiling/network.py.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example is small enough to audit path by path, yet it contains reciprocal intermediation.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bank's 20% direct household share understates the household claim hidden through the fund.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Every ownership line contributes exactly once; the Leontief solution is the compact sum of them all.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Replication/Code/examples/leontief_unveiling.py.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Unveiling reallocates ownership; it does not create net financial wealth for the economy as a whole.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Equation (2).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ownership matrix becomes economically useful when it reallocates underlying assets to ultimate owners.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Equation (3).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core algorithm stays three lines long because validation is separated from the economic calculation.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Replication/Code/unveiling/network.py.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They share proportional allocation logic; equivalence requires the same fixed matrix in every round.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Replication/MSS2021Febreplicationkit/code/build_fa_unveiling_data.do.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Replication/MSS_SGR_July242025.pdf, Section 2.2.</a:t>
            </a:r>
          </a:p>
          <a:p xmlns:a="http://schemas.openxmlformats.org/drawingml/2006/main">
            <a:r>
              <a:t>- /Users/lorenzogorini/Library/CloudStorage/OneDrive-UniversitàCommercialeLuigiBocconi/PhD/Courses/Macro 3 - Favero/Paper Replication/docs/methods/leontief-unveiling.md.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Leontief inverse is not a forecasting model—it is an accounting map from legal ownership to ultimate incidence.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/Users/lorenzogorini/Library/CloudStorage/OneDrive-UniversitàCommercialeLuigiBocconi/PhD/research-wiki/papers/inequality/mian-2025-saving-glut-rich/full.md, Sections 2.1–2.2.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05eff394d5423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adaef6f1e324e2c" /><Relationship Type="http://schemas.openxmlformats.org/officeDocument/2006/relationships/slideLayout" Target="/ppt/slideLayouts/slideLayout1.xml" Id="R65bf2dca0d3346c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bf2dca0d3346c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65272b4cd34daa" /><Relationship Type="http://schemas.openxmlformats.org/officeDocument/2006/relationships/notesSlide" Target="/ppt/notesSlides/notesSlide1.xml" Id="Rb593d7ded202429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0c5ed248e49de" /><Relationship Type="http://schemas.openxmlformats.org/officeDocument/2006/relationships/image" Target="/ppt/media/image.png" Id="R361d854f07ca4778" /><Relationship Type="http://schemas.openxmlformats.org/officeDocument/2006/relationships/image" Target="/ppt/media/image2.png" Id="Ra803374552d24f68" /><Relationship Type="http://schemas.openxmlformats.org/officeDocument/2006/relationships/image" Target="/ppt/media/image3.png" Id="Rf00b23f207ad46c3" /><Relationship Type="http://schemas.openxmlformats.org/officeDocument/2006/relationships/notesSlide" Target="/ppt/notesSlides/notesSlide2.xml" Id="Ra525859e8b1f498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03b5a96c54670" /><Relationship Type="http://schemas.openxmlformats.org/officeDocument/2006/relationships/image" Target="/ppt/media/image.png" Id="Re20566fcfbf447c8" /><Relationship Type="http://schemas.openxmlformats.org/officeDocument/2006/relationships/image" Target="/ppt/media/image2.png" Id="Rb419e056cb02410f" /><Relationship Type="http://schemas.openxmlformats.org/officeDocument/2006/relationships/image" Target="/ppt/media/image.svg" Id="R185fb35a922342c5" /><Relationship Type="http://schemas.openxmlformats.org/officeDocument/2006/relationships/notesSlide" Target="/ppt/notesSlides/notesSlide3.xml" Id="Rb18662aa6cae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c9fc349884762" /><Relationship Type="http://schemas.openxmlformats.org/officeDocument/2006/relationships/image" Target="/ppt/media/image.png" Id="R43b1886178134a1b" /><Relationship Type="http://schemas.openxmlformats.org/officeDocument/2006/relationships/image" Target="/ppt/media/image2.png" Id="R78e937ba983546e3" /><Relationship Type="http://schemas.openxmlformats.org/officeDocument/2006/relationships/image" Target="/ppt/media/image2.svg" Id="R2c12a580cc434f63" /><Relationship Type="http://schemas.openxmlformats.org/officeDocument/2006/relationships/image" Target="/ppt/media/image3.svg" Id="R854d2752413a4741" /><Relationship Type="http://schemas.openxmlformats.org/officeDocument/2006/relationships/image" Target="/ppt/media/image3.png" Id="Rb2534211137d43ae" /><Relationship Type="http://schemas.openxmlformats.org/officeDocument/2006/relationships/notesSlide" Target="/ppt/notesSlides/notesSlide4.xml" Id="R685f25e4811247f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7cb20b0ad44d57" /><Relationship Type="http://schemas.openxmlformats.org/officeDocument/2006/relationships/image" Target="/ppt/media/image.png" Id="R320b0daf42074748" /><Relationship Type="http://schemas.openxmlformats.org/officeDocument/2006/relationships/image" Target="/ppt/media/image2.png" Id="Re51433e1a33e4881" /><Relationship Type="http://schemas.openxmlformats.org/officeDocument/2006/relationships/image" Target="/ppt/media/image4.png" Id="Rf14e6fa4d5b244d8" /><Relationship Type="http://schemas.openxmlformats.org/officeDocument/2006/relationships/image" Target="/ppt/media/image4.svg" Id="R6074960b8d0a4b71" /><Relationship Type="http://schemas.openxmlformats.org/officeDocument/2006/relationships/notesSlide" Target="/ppt/notesSlides/notesSlide5.xml" Id="R0a586e6e3eb7461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1be5ec99f84a4f" /><Relationship Type="http://schemas.openxmlformats.org/officeDocument/2006/relationships/image" Target="/ppt/media/image.png" Id="R1ff5f7c921774593" /><Relationship Type="http://schemas.openxmlformats.org/officeDocument/2006/relationships/image" Target="/ppt/media/image2.png" Id="R9302818147f34cca" /><Relationship Type="http://schemas.openxmlformats.org/officeDocument/2006/relationships/image" Target="/ppt/media/image5.png" Id="R3923c3928246435e" /><Relationship Type="http://schemas.openxmlformats.org/officeDocument/2006/relationships/image" Target="/ppt/media/image5.svg" Id="Rcebf1020d24a4ed2" /><Relationship Type="http://schemas.openxmlformats.org/officeDocument/2006/relationships/image" Target="/ppt/media/image6.png" Id="Ref238a77000943b9" /><Relationship Type="http://schemas.openxmlformats.org/officeDocument/2006/relationships/image" Target="/ppt/media/image6.svg" Id="Rc80122f96c9f4b7d" /><Relationship Type="http://schemas.openxmlformats.org/officeDocument/2006/relationships/image" Target="/ppt/media/image7.png" Id="R5ccc826741ca4ac4" /><Relationship Type="http://schemas.openxmlformats.org/officeDocument/2006/relationships/image" Target="/ppt/media/image7.svg" Id="R303c671ae46b483f" /><Relationship Type="http://schemas.openxmlformats.org/officeDocument/2006/relationships/image" Target="/ppt/media/image8.png" Id="R214a146b714c480f" /><Relationship Type="http://schemas.openxmlformats.org/officeDocument/2006/relationships/image" Target="/ppt/media/image8.svg" Id="Ra23bd95d023c4372" /><Relationship Type="http://schemas.openxmlformats.org/officeDocument/2006/relationships/image" Target="/ppt/media/image9.png" Id="R85c7c46f231f4eaa" /><Relationship Type="http://schemas.openxmlformats.org/officeDocument/2006/relationships/image" Target="/ppt/media/image9.svg" Id="R854bd2bcaf1e40f3" /><Relationship Type="http://schemas.openxmlformats.org/officeDocument/2006/relationships/notesSlide" Target="/ppt/notesSlides/notesSlide6.xml" Id="R9b1af25471e444c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893b4f417b4bcf" /><Relationship Type="http://schemas.openxmlformats.org/officeDocument/2006/relationships/image" Target="/ppt/media/image.png" Id="R2793b158e9984dcc" /><Relationship Type="http://schemas.openxmlformats.org/officeDocument/2006/relationships/image" Target="/ppt/media/image2.png" Id="Raeb9347c637f412e" /><Relationship Type="http://schemas.openxmlformats.org/officeDocument/2006/relationships/image" Target="/ppt/media/image10.png" Id="Rff725698df484d26" /><Relationship Type="http://schemas.openxmlformats.org/officeDocument/2006/relationships/image" Target="/ppt/media/image10.svg" Id="R662fc9dcf8b4443a" /><Relationship Type="http://schemas.openxmlformats.org/officeDocument/2006/relationships/image" Target="/ppt/media/image11.png" Id="R72b6ca60669b426e" /><Relationship Type="http://schemas.openxmlformats.org/officeDocument/2006/relationships/image" Target="/ppt/media/image11.svg" Id="R5836610d34e248a2" /><Relationship Type="http://schemas.openxmlformats.org/officeDocument/2006/relationships/image" Target="/ppt/media/image12.png" Id="Rb63ee09cd25d4d56" /><Relationship Type="http://schemas.openxmlformats.org/officeDocument/2006/relationships/image" Target="/ppt/media/image12.svg" Id="Rd903bc25c6f240bc" /><Relationship Type="http://schemas.openxmlformats.org/officeDocument/2006/relationships/image" Target="/ppt/media/image13.png" Id="R305dc4c891e345fc" /><Relationship Type="http://schemas.openxmlformats.org/officeDocument/2006/relationships/image" Target="/ppt/media/image13.svg" Id="Recdb3abba8794ce4" /><Relationship Type="http://schemas.openxmlformats.org/officeDocument/2006/relationships/notesSlide" Target="/ppt/notesSlides/notesSlide7.xml" Id="Rd49c4c6a9329469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0639a834444193" /><Relationship Type="http://schemas.openxmlformats.org/officeDocument/2006/relationships/image" Target="/ppt/media/image.png" Id="R4279a87fe6e145d7" /><Relationship Type="http://schemas.openxmlformats.org/officeDocument/2006/relationships/image" Target="/ppt/media/image2.png" Id="R30cde4cb1ee84b79" /><Relationship Type="http://schemas.openxmlformats.org/officeDocument/2006/relationships/image" Target="/ppt/media/image14.png" Id="R61074c53a0a246fb" /><Relationship Type="http://schemas.openxmlformats.org/officeDocument/2006/relationships/image" Target="/ppt/media/image14.svg" Id="R50abfd7540394fa9" /><Relationship Type="http://schemas.openxmlformats.org/officeDocument/2006/relationships/image" Target="/ppt/media/image15.png" Id="R6b7318186f894f02" /><Relationship Type="http://schemas.openxmlformats.org/officeDocument/2006/relationships/image" Target="/ppt/media/image15.svg" Id="R28c269c54d324da4" /><Relationship Type="http://schemas.openxmlformats.org/officeDocument/2006/relationships/notesSlide" Target="/ppt/notesSlides/notesSlide8.xml" Id="R22438b7a31b34f6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5b0b86ee74919" /><Relationship Type="http://schemas.openxmlformats.org/officeDocument/2006/relationships/image" Target="/ppt/media/image.png" Id="R3e37c809503a4dff" /><Relationship Type="http://schemas.openxmlformats.org/officeDocument/2006/relationships/image" Target="/ppt/media/image2.png" Id="R082e15cf3fcd413f" /><Relationship Type="http://schemas.openxmlformats.org/officeDocument/2006/relationships/image" Target="/ppt/media/image16.png" Id="R6e39dcd652464378" /><Relationship Type="http://schemas.openxmlformats.org/officeDocument/2006/relationships/notesSlide" Target="/ppt/notesSlides/notesSlide9.xml" Id="R243405f0a1b641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01346d3d4f42f3" /><Relationship Type="http://schemas.openxmlformats.org/officeDocument/2006/relationships/image" Target="/ppt/media/image.png" Id="Raab160b571564929" /><Relationship Type="http://schemas.openxmlformats.org/officeDocument/2006/relationships/image" Target="/ppt/media/image2.png" Id="R9eeaf1f51a8c462f" /><Relationship Type="http://schemas.openxmlformats.org/officeDocument/2006/relationships/image" Target="/ppt/media/image16.svg" Id="Rc01614d9e8134d18" /><Relationship Type="http://schemas.openxmlformats.org/officeDocument/2006/relationships/image" Target="/ppt/media/image16.png" Id="Rc60f826c725b4e81" /><Relationship Type="http://schemas.openxmlformats.org/officeDocument/2006/relationships/image" Target="/ppt/media/image17.png" Id="Rc5a44b71b3e049a8" /><Relationship Type="http://schemas.openxmlformats.org/officeDocument/2006/relationships/image" Target="/ppt/media/image17.svg" Id="Rbff010659a824ae6" /><Relationship Type="http://schemas.openxmlformats.org/officeDocument/2006/relationships/image" Target="/ppt/media/image18.png" Id="R2b8bac99095d42ad" /><Relationship Type="http://schemas.openxmlformats.org/officeDocument/2006/relationships/image" Target="/ppt/media/image18.svg" Id="Ra6f885579c444a0a" /><Relationship Type="http://schemas.openxmlformats.org/officeDocument/2006/relationships/image" Target="/ppt/media/image19.png" Id="R16590a247d254fca" /><Relationship Type="http://schemas.openxmlformats.org/officeDocument/2006/relationships/image" Target="/ppt/media/image19.svg" Id="Rf72715fc625e4838" /><Relationship Type="http://schemas.openxmlformats.org/officeDocument/2006/relationships/image" Target="/ppt/media/image20.png" Id="R7dd4373f9fec48f6" /><Relationship Type="http://schemas.openxmlformats.org/officeDocument/2006/relationships/image" Target="/ppt/media/image20.svg" Id="R0f8cedd12e81401e" /><Relationship Type="http://schemas.openxmlformats.org/officeDocument/2006/relationships/notesSlide" Target="/ppt/notesSlides/notesSlide10.xml" Id="R2add00dce5a4470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62a481fdd94384" /><Relationship Type="http://schemas.openxmlformats.org/officeDocument/2006/relationships/image" Target="/ppt/media/image.png" Id="R294c038d439e444e" /><Relationship Type="http://schemas.openxmlformats.org/officeDocument/2006/relationships/image" Target="/ppt/media/image2.png" Id="Rf1c256f0dcee4b6a" /><Relationship Type="http://schemas.openxmlformats.org/officeDocument/2006/relationships/image" Target="/ppt/media/image21.png" Id="R3ea2cf9719c74ae6" /><Relationship Type="http://schemas.openxmlformats.org/officeDocument/2006/relationships/image" Target="/ppt/media/image21.svg" Id="R0dba6952e24742a5" /><Relationship Type="http://schemas.openxmlformats.org/officeDocument/2006/relationships/image" Target="/ppt/media/image22.png" Id="R31cd2c6dfe1a4def" /><Relationship Type="http://schemas.openxmlformats.org/officeDocument/2006/relationships/image" Target="/ppt/media/image22.svg" Id="Rec011e6619264055" /><Relationship Type="http://schemas.openxmlformats.org/officeDocument/2006/relationships/notesSlide" Target="/ppt/notesSlides/notesSlide11.xml" Id="R44e915a8cfbd4d5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60a72e9b664ad2" /><Relationship Type="http://schemas.openxmlformats.org/officeDocument/2006/relationships/image" Target="/ppt/media/image.png" Id="Re376b7a051e54b1f" /><Relationship Type="http://schemas.openxmlformats.org/officeDocument/2006/relationships/image" Target="/ppt/media/image2.png" Id="R81de2b35a179477d" /><Relationship Type="http://schemas.openxmlformats.org/officeDocument/2006/relationships/image" Target="/ppt/media/image23.png" Id="R7aefbcdd0a62423a" /><Relationship Type="http://schemas.openxmlformats.org/officeDocument/2006/relationships/image" Target="/ppt/media/image23.svg" Id="R6b472cdbb4d540cd" /><Relationship Type="http://schemas.openxmlformats.org/officeDocument/2006/relationships/image" Target="/ppt/media/image24.png" Id="Ra4cdef277cb14c94" /><Relationship Type="http://schemas.openxmlformats.org/officeDocument/2006/relationships/image" Target="/ppt/media/image24.svg" Id="R7f847cd8b76e49c1" /><Relationship Type="http://schemas.openxmlformats.org/officeDocument/2006/relationships/notesSlide" Target="/ppt/notesSlides/notesSlide12.xml" Id="R7dca785249ee44c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beb43e0b8e4cc9" /><Relationship Type="http://schemas.openxmlformats.org/officeDocument/2006/relationships/image" Target="/ppt/media/image.png" Id="R248b3b6006ad442e" /><Relationship Type="http://schemas.openxmlformats.org/officeDocument/2006/relationships/image" Target="/ppt/media/image2.png" Id="R4e1726e9682348bf" /><Relationship Type="http://schemas.openxmlformats.org/officeDocument/2006/relationships/image" Target="/ppt/media/image25.png" Id="R22314a8426104a0c" /><Relationship Type="http://schemas.openxmlformats.org/officeDocument/2006/relationships/image" Target="/ppt/media/image25.svg" Id="Ra6c1593db3af408c" /><Relationship Type="http://schemas.openxmlformats.org/officeDocument/2006/relationships/notesSlide" Target="/ppt/notesSlides/notesSlide13.xml" Id="Rcd852546eab34f3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7feeaaf1824534" /><Relationship Type="http://schemas.openxmlformats.org/officeDocument/2006/relationships/image" Target="/ppt/media/image.png" Id="Re28d4f66c4714c43" /><Relationship Type="http://schemas.openxmlformats.org/officeDocument/2006/relationships/image" Target="/ppt/media/image2.png" Id="R661e94bd1edd41c1" /><Relationship Type="http://schemas.openxmlformats.org/officeDocument/2006/relationships/image" Target="/ppt/media/image26.png" Id="Rae2cefd7ca1b421e" /><Relationship Type="http://schemas.openxmlformats.org/officeDocument/2006/relationships/image" Target="/ppt/media/image26.svg" Id="Rb7b05e6457944c1b" /><Relationship Type="http://schemas.openxmlformats.org/officeDocument/2006/relationships/notesSlide" Target="/ppt/notesSlides/notesSlide14.xml" Id="R538602286737419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69b9d364384759" /><Relationship Type="http://schemas.openxmlformats.org/officeDocument/2006/relationships/image" Target="/ppt/media/image.png" Id="R43843ab52c154e32" /><Relationship Type="http://schemas.openxmlformats.org/officeDocument/2006/relationships/image" Target="/ppt/media/image2.png" Id="R8a2036dd31474a9b" /><Relationship Type="http://schemas.openxmlformats.org/officeDocument/2006/relationships/image" Target="/ppt/media/image27.png" Id="R48b0757e85c84730" /><Relationship Type="http://schemas.openxmlformats.org/officeDocument/2006/relationships/image" Target="/ppt/media/image27.svg" Id="R3be06aed43944fa8" /><Relationship Type="http://schemas.openxmlformats.org/officeDocument/2006/relationships/image" Target="/ppt/media/image28.png" Id="R6f100e7d523b4882" /><Relationship Type="http://schemas.openxmlformats.org/officeDocument/2006/relationships/image" Target="/ppt/media/image28.svg" Id="R6c4846f01a1744b1" /><Relationship Type="http://schemas.openxmlformats.org/officeDocument/2006/relationships/notesSlide" Target="/ppt/notesSlides/notesSlide15.xml" Id="R48abcc81475346a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cd6506f0444f17" /><Relationship Type="http://schemas.openxmlformats.org/officeDocument/2006/relationships/image" Target="/ppt/media/image.png" Id="Ra0f40dba2f644ab4" /><Relationship Type="http://schemas.openxmlformats.org/officeDocument/2006/relationships/image" Target="/ppt/media/image2.png" Id="Rb280ea87ca5f4269" /><Relationship Type="http://schemas.openxmlformats.org/officeDocument/2006/relationships/notesSlide" Target="/ppt/notesSlides/notesSlide16.xml" Id="R5d1c41a90bde44e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left-band">
            <a:extLst xmlns:a="http://schemas.openxmlformats.org/drawingml/2006/main">
              <a:ext uri="{FF2B5EF4-FFF2-40B4-BE49-F238E27FC236}">
                <a16:creationId xmlns:a16="http://schemas.microsoft.com/office/drawing/2014/main" id="{7F5DCFB2-BF08-455D-96FE-93F1FEF75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2286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26530E1E-131F-4FAB-A866-E26950C4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04875"/>
            <a:ext cx="885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THEORETICAL METHODOLOGY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1975D2B-40BB-435A-9F95-129A2C01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10287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405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Unveiling the Financial Network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6547238B-E8E6-4372-94B0-EE2539BF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52750"/>
            <a:ext cx="876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80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From direct balance-sheet links to the ultimate owners of financial claims</a:t>
            </a:r>
          </a:p>
        </p:txBody>
      </p:sp>
      <p:sp>
        <p:nvSpPr>
          <p:cNvPr id="5" name="legend-2021">
            <a:extLst xmlns:a="http://schemas.openxmlformats.org/drawingml/2006/main">
              <a:ext uri="{FF2B5EF4-FFF2-40B4-BE49-F238E27FC236}">
                <a16:creationId xmlns:a16="http://schemas.microsoft.com/office/drawing/2014/main" id="{E5188C8E-DE47-4DC0-8840-A490B08D6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6" name="legend-2021-text">
            <a:extLst xmlns:a="http://schemas.openxmlformats.org/drawingml/2006/main">
              <a:ext uri="{FF2B5EF4-FFF2-40B4-BE49-F238E27FC236}">
                <a16:creationId xmlns:a16="http://schemas.microsoft.com/office/drawing/2014/main" id="{7E666218-8D53-4587-8EB2-5B6E3FA46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7" name="legend-2025">
            <a:extLst xmlns:a="http://schemas.openxmlformats.org/drawingml/2006/main">
              <a:ext uri="{FF2B5EF4-FFF2-40B4-BE49-F238E27FC236}">
                <a16:creationId xmlns:a16="http://schemas.microsoft.com/office/drawing/2014/main" id="{990CB6C5-46A3-4978-AD21-426AE14C5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</p:sp>
      <p:sp>
        <p:nvSpPr>
          <p:cNvPr id="8" name="legend-2025-text">
            <a:extLst xmlns:a="http://schemas.openxmlformats.org/drawingml/2006/main">
              <a:ext uri="{FF2B5EF4-FFF2-40B4-BE49-F238E27FC236}">
                <a16:creationId xmlns:a16="http://schemas.microsoft.com/office/drawing/2014/main" id="{D6FD146E-A114-464C-AC7C-4816C063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666750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243B53"/>
                </a:solidFill>
              </a:defRPr>
            </a:pPr>
            <a:r>
              <a:rPr sz="1350" b="0">
                <a:solidFill>
                  <a:srgbClr val="243B53"/>
                </a:solidFill>
              </a:rPr>
              <a:t/>
            </a:r>
          </a:p>
        </p:txBody>
      </p:sp>
      <p:sp>
        <p:nvSpPr>
          <p:cNvPr id="9" name="date">
            <a:extLst xmlns:a="http://schemas.openxmlformats.org/drawingml/2006/main">
              <a:ext uri="{FF2B5EF4-FFF2-40B4-BE49-F238E27FC236}">
                <a16:creationId xmlns:a16="http://schemas.microsoft.com/office/drawing/2014/main" id="{1ABC4866-2AB1-49DB-A3A1-9A64A08CF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Prepared 10 August 2026</a:t>
            </a:r>
          </a:p>
        </p:txBody>
      </p:sp>
      <p:sp>
        <p:nvSpPr>
          <p:cNvPr id="11" name="cover-rule">
            <a:extLst xmlns:a="http://schemas.openxmlformats.org/drawingml/2006/main">
              <a:ext uri="{FF2B5EF4-FFF2-40B4-BE49-F238E27FC236}">
                <a16:creationId xmlns:a16="http://schemas.microsoft.com/office/drawing/2014/main" id="{564F99D0-5562-4A61-84C4-C112B804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9580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E1E8"/>
            </a:solidFill>
            <a:prstDash val="solid"/>
          </a:ln>
        </p:spPr>
      </p:sp>
      <p:sp>
        <p:nvSpPr>
          <p:cNvPr id="12" name="cover-thesis-label">
            <a:extLst xmlns:a="http://schemas.openxmlformats.org/drawingml/2006/main">
              <a:ext uri="{FF2B5EF4-FFF2-40B4-BE49-F238E27FC236}">
                <a16:creationId xmlns:a16="http://schemas.microsoft.com/office/drawing/2014/main" id="{CBA7BF0B-2B90-401F-BC6E-541F6A916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724400"/>
            <a:ext cx="2095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CORE QUESTION</a:t>
            </a:r>
          </a:p>
        </p:txBody>
      </p:sp>
      <p:sp>
        <p:nvSpPr>
          <p:cNvPr id="13" name="cover-thesis">
            <a:extLst xmlns:a="http://schemas.openxmlformats.org/drawingml/2006/main">
              <a:ext uri="{FF2B5EF4-FFF2-40B4-BE49-F238E27FC236}">
                <a16:creationId xmlns:a16="http://schemas.microsoft.com/office/drawing/2014/main" id="{5BC05AC8-C484-4D2E-84B7-17C6D2AB3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101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0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20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Who ultimately owns an asset after every intermediary layer is removed?</a:t>
            </a:r>
          </a:p>
        </p:txBody>
      </p:sp>
    </p:spTree>
    <p:extLst>
      <p:ext uri="{BB962C8B-B14F-4D97-AF65-F5344CB8AC3E}">
        <p14:creationId xmlns:p14="http://schemas.microsoft.com/office/powerpoint/2010/main" val="5171315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THE ECONOMIC PROBLEM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Intermediation hides the ultimate owner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OBSERVED BALANCE-SHEET CHAIN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DIRECT HOLDER ≠ ULTIMATE OWNER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1d854f07ca477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03374552d24f6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Unveiling converts a chain of legal claims into economically meaningful household ownership.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Sections 2.1–2.2.</a:t>
            </a:r>
          </a:p>
        </p:txBody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0b23f207ad46c3"/>
          <a:stretch xmlns:a="http://schemas.openxmlformats.org/drawingml/2006/main"/>
        </p:blipFill>
        <p:spPr>
          <a:xfrm xmlns:a="http://schemas.openxmlformats.org/drawingml/2006/main">
            <a:off x="714375" y="2671018"/>
            <a:ext cx="4905375" cy="801589"/>
          </a:xfrm>
          <a:prstGeom xmlns:a="http://schemas.openxmlformats.org/drawingml/2006/main" prst="rect">
            <a:avLst/>
          </a:prstGeom>
        </p:spPr>
      </p:pic>
      <p:sp>
        <p:nvSpPr>
          <p:cNvPr id="20" name="legal-title">
            <a:extLst xmlns:a="http://schemas.openxmlformats.org/drawingml/2006/main">
              <a:ext uri="{FF2B5EF4-FFF2-40B4-BE49-F238E27FC236}">
                <a16:creationId xmlns:a16="http://schemas.microsoft.com/office/drawing/2014/main" id="{FAC252CE-FEB3-407A-8D78-0C9331CCF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381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What the accounts record</a:t>
            </a:r>
          </a:p>
        </p:txBody>
      </p:sp>
      <p:sp>
        <p:nvSpPr>
          <p:cNvPr id="21" name="legal-bullets">
            <a:extLst xmlns:a="http://schemas.openxmlformats.org/drawingml/2006/main">
              <a:ext uri="{FF2B5EF4-FFF2-40B4-BE49-F238E27FC236}">
                <a16:creationId xmlns:a16="http://schemas.microsoft.com/office/drawing/2014/main" id="{6FFFA638-5576-420D-BB1B-EA68D53E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4381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Bank: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holds the primary claim.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Fund: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holds the bank's liability.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Household: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holds the fund share.</a:t>
            </a:r>
          </a:p>
        </p:txBody>
      </p:sp>
      <p:sp>
        <p:nvSpPr>
          <p:cNvPr id="22" name="ownership-divider">
            <a:extLst xmlns:a="http://schemas.openxmlformats.org/drawingml/2006/main">
              <a:ext uri="{FF2B5EF4-FFF2-40B4-BE49-F238E27FC236}">
                <a16:creationId xmlns:a16="http://schemas.microsoft.com/office/drawing/2014/main" id="{9F7D2AE8-B70F-4A44-869B-14AB28D79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29050"/>
            <a:ext cx="438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economic-title">
            <a:extLst xmlns:a="http://schemas.openxmlformats.org/drawingml/2006/main">
              <a:ext uri="{FF2B5EF4-FFF2-40B4-BE49-F238E27FC236}">
                <a16:creationId xmlns:a16="http://schemas.microsoft.com/office/drawing/2014/main" id="{74C829C3-D60D-4E0B-B95E-459BF92C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81450"/>
            <a:ext cx="438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What incidence requires</a:t>
            </a:r>
          </a:p>
        </p:txBody>
      </p:sp>
      <p:sp>
        <p:nvSpPr>
          <p:cNvPr id="24" name="economic-copy">
            <a:extLst xmlns:a="http://schemas.openxmlformats.org/drawingml/2006/main">
              <a:ext uri="{FF2B5EF4-FFF2-40B4-BE49-F238E27FC236}">
                <a16:creationId xmlns:a16="http://schemas.microsoft.com/office/drawing/2014/main" id="{C3D95785-93EA-4FE0-AE63-45FA51153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3387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491"/>
          </a:bodyPr>
          <a:lstStyle xmlns:a="http://schemas.openxmlformats.org/drawingml/2006/main"/>
          <a:p xmlns:a="http://schemas.openxmlformats.org/drawingml/2006/main">
            <a:pPr>
              <a:buNone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Trace every liability until ownership reaches a terminal sector.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DIRECT OWNERSHIP MATRIX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Rows issue claims; columns hold them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DEFINITION AND BLOCK ORIENTATION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READ ONE CELL ECONOMICALLY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566fcfbf447c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9e056cb02410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Orientation is economic content: every issuer row describes its funding composition.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paper Eq. (4) setup, Section 2.1; O = owners, I = intermediaries.</a:t>
            </a:r>
          </a:p>
        </p:txBody>
      </p:sp>
      <p:sp>
        <p:nvSpPr>
          <p:cNvPr id="19" name="direct-share-surface">
            <a:extLst xmlns:a="http://schemas.openxmlformats.org/drawingml/2006/main">
              <a:ext uri="{FF2B5EF4-FFF2-40B4-BE49-F238E27FC236}">
                <a16:creationId xmlns:a16="http://schemas.microsoft.com/office/drawing/2014/main" id="{7C06EDFA-C07C-4E3C-9C7D-2A137B2F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485775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0566fcfbf447c8">
            <a:extLst>
              <a:ext uri="{96DAC541-7B7A-43D3-8B79-37D633B846F1}">
                <asvg:svgBlip xmlns:asvg="http://schemas.microsoft.com/office/drawing/2016/SVG/main" r:embed="R185fb35a922342c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71550" y="1972430"/>
            <a:ext cx="4400550" cy="436641"/>
          </a:xfrm>
          <a:prstGeom xmlns:a="http://schemas.openxmlformats.org/drawingml/2006/main" prst="rect">
            <a:avLst/>
          </a:prstGeom>
        </p:spPr>
      </p:pic>
      <p:sp>
        <p:nvSpPr>
          <p:cNvPr id="21" name="columns-holder">
            <a:extLst xmlns:a="http://schemas.openxmlformats.org/drawingml/2006/main">
              <a:ext uri="{FF2B5EF4-FFF2-40B4-BE49-F238E27FC236}">
                <a16:creationId xmlns:a16="http://schemas.microsoft.com/office/drawing/2014/main" id="{A3FCC80A-C25A-4975-83BD-CDE8C5A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771775"/>
            <a:ext cx="34766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COLUMNS → holder / lender</a:t>
            </a:r>
          </a:p>
        </p:txBody>
      </p:sp>
      <p:sp>
        <p:nvSpPr>
          <p:cNvPr id="22" name="rows-issuer">
            <a:extLst xmlns:a="http://schemas.openxmlformats.org/drawingml/2006/main">
              <a:ext uri="{FF2B5EF4-FFF2-40B4-BE49-F238E27FC236}">
                <a16:creationId xmlns:a16="http://schemas.microsoft.com/office/drawing/2014/main" id="{F7850FD5-21E0-4B06-B4DC-82592ECA7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1047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ROWS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issuer / borrower</a:t>
            </a:r>
          </a:p>
        </p:txBody>
      </p:sp>
      <p:sp>
        <p:nvSpPr>
          <p:cNvPr id="23" name="moo">
            <a:extLst xmlns:a="http://schemas.openxmlformats.org/drawingml/2006/main">
              <a:ext uri="{FF2B5EF4-FFF2-40B4-BE49-F238E27FC236}">
                <a16:creationId xmlns:a16="http://schemas.microsoft.com/office/drawing/2014/main" id="{9A8DB2D4-1D18-46F6-A219-48E840D8C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219450"/>
            <a:ext cx="1571625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M̄ᵒᵒ</a:t>
            </a:r>
          </a:p>
        </p:txBody>
      </p:sp>
      <p:sp>
        <p:nvSpPr>
          <p:cNvPr id="24" name="moi">
            <a:extLst xmlns:a="http://schemas.openxmlformats.org/drawingml/2006/main">
              <a:ext uri="{FF2B5EF4-FFF2-40B4-BE49-F238E27FC236}">
                <a16:creationId xmlns:a16="http://schemas.microsoft.com/office/drawing/2014/main" id="{EEEB4A6E-4D48-4344-9C5A-229EDE74B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1571625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EF5FA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M̄ᵒⁱ</a:t>
            </a:r>
          </a:p>
        </p:txBody>
      </p:sp>
      <p:sp>
        <p:nvSpPr>
          <p:cNvPr id="25" name="mio">
            <a:extLst xmlns:a="http://schemas.openxmlformats.org/drawingml/2006/main">
              <a:ext uri="{FF2B5EF4-FFF2-40B4-BE49-F238E27FC236}">
                <a16:creationId xmlns:a16="http://schemas.microsoft.com/office/drawing/2014/main" id="{40779A22-F4BE-4E8A-81A8-CF83AF279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848100"/>
            <a:ext cx="1571625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65D1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C65D16"/>
                </a:solidFill>
                <a:latin typeface="Cambria Math"/>
                <a:ea typeface="Cambria Math"/>
                <a:cs typeface="Cambria Math"/>
              </a:rPr>
              <a:t>M̄ⁱᵒ</a:t>
            </a:r>
          </a:p>
        </p:txBody>
      </p:sp>
      <p:sp>
        <p:nvSpPr>
          <p:cNvPr id="26" name="mii">
            <a:extLst xmlns:a="http://schemas.openxmlformats.org/drawingml/2006/main">
              <a:ext uri="{FF2B5EF4-FFF2-40B4-BE49-F238E27FC236}">
                <a16:creationId xmlns:a16="http://schemas.microsoft.com/office/drawing/2014/main" id="{D2BD2184-B342-4015-964B-4B1C6949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48100"/>
            <a:ext cx="1571625" cy="6286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BE8DC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65D1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C65D16"/>
                </a:solidFill>
                <a:latin typeface="Cambria Math"/>
                <a:ea typeface="Cambria Math"/>
                <a:cs typeface="Cambria Math"/>
              </a:rPr>
              <a:t>M̄ⁱⁱ</a:t>
            </a:r>
          </a:p>
        </p:txBody>
      </p:sp>
      <p:sp>
        <p:nvSpPr>
          <p:cNvPr id="27" name="owner-columns">
            <a:extLst xmlns:a="http://schemas.openxmlformats.org/drawingml/2006/main">
              <a:ext uri="{FF2B5EF4-FFF2-40B4-BE49-F238E27FC236}">
                <a16:creationId xmlns:a16="http://schemas.microsoft.com/office/drawing/2014/main" id="{7579CD3F-053D-4536-A193-CC14CF4F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30099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 OWNER COLUMNS</a:t>
            </a:r>
          </a:p>
        </p:txBody>
      </p:sp>
      <p:sp>
        <p:nvSpPr>
          <p:cNvPr id="28" name="intermediary-columns">
            <a:extLst xmlns:a="http://schemas.openxmlformats.org/drawingml/2006/main">
              <a:ext uri="{FF2B5EF4-FFF2-40B4-BE49-F238E27FC236}">
                <a16:creationId xmlns:a16="http://schemas.microsoft.com/office/drawing/2014/main" id="{8F512C50-3A43-4E2D-9A0C-AA51E936D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009900"/>
            <a:ext cx="1571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k INTERMEDIARY COLUMNS</a:t>
            </a:r>
          </a:p>
        </p:txBody>
      </p:sp>
      <p:sp>
        <p:nvSpPr>
          <p:cNvPr id="29" name="owner-rows">
            <a:extLst xmlns:a="http://schemas.openxmlformats.org/drawingml/2006/main">
              <a:ext uri="{FF2B5EF4-FFF2-40B4-BE49-F238E27FC236}">
                <a16:creationId xmlns:a16="http://schemas.microsoft.com/office/drawing/2014/main" id="{ED82AC62-8604-47DA-A827-CB9C30B65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90900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4746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 owner rows</a:t>
            </a:r>
          </a:p>
        </p:txBody>
      </p:sp>
      <p:sp>
        <p:nvSpPr>
          <p:cNvPr id="30" name="intermediary-rows">
            <a:extLst xmlns:a="http://schemas.openxmlformats.org/drawingml/2006/main">
              <a:ext uri="{FF2B5EF4-FFF2-40B4-BE49-F238E27FC236}">
                <a16:creationId xmlns:a16="http://schemas.microsoft.com/office/drawing/2014/main" id="{059EE8AA-CE4F-48E4-89A4-D7E4DEB27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952875"/>
            <a:ext cx="714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8646"/>
          </a:bodyPr>
          <a:lstStyle xmlns:a="http://schemas.openxmlformats.org/drawingml/2006/main"/>
          <a:p xmlns:a="http://schemas.openxmlformats.org/drawingml/2006/main">
            <a:pPr>
              <a:buNone/>
              <a:defRPr sz="9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9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k intermediary rows</a:t>
            </a:r>
          </a:p>
        </p:txBody>
      </p:sp>
      <p:sp>
        <p:nvSpPr>
          <p:cNvPr id="31" name="orientation-badge">
            <a:extLst xmlns:a="http://schemas.openxmlformats.org/drawingml/2006/main">
              <a:ext uri="{FF2B5EF4-FFF2-40B4-BE49-F238E27FC236}">
                <a16:creationId xmlns:a16="http://schemas.microsoft.com/office/drawing/2014/main" id="{80C4F220-6AA1-4EBE-BFF9-343E8AEB2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76400"/>
            <a:ext cx="17145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9525">
            <a:solidFill>
              <a:srgbClr val="102A43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CELL SEMANTICS</a:t>
            </a:r>
          </a:p>
        </p:txBody>
      </p:sp>
      <p:sp>
        <p:nvSpPr>
          <p:cNvPr id="32" name="row-def-surface">
            <a:extLst xmlns:a="http://schemas.openxmlformats.org/drawingml/2006/main">
              <a:ext uri="{FF2B5EF4-FFF2-40B4-BE49-F238E27FC236}">
                <a16:creationId xmlns:a16="http://schemas.microsoft.com/office/drawing/2014/main" id="{0200E590-90C7-4A41-8F01-ED81194EF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52650"/>
            <a:ext cx="4429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3" name="row-def">
            <a:extLst xmlns:a="http://schemas.openxmlformats.org/drawingml/2006/main">
              <a:ext uri="{FF2B5EF4-FFF2-40B4-BE49-F238E27FC236}">
                <a16:creationId xmlns:a16="http://schemas.microsoft.com/office/drawing/2014/main" id="{05A7C061-DFC8-4CEF-A0AD-63E96DDE3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26695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row i = issuer / borrower</a:t>
            </a:r>
          </a:p>
        </p:txBody>
      </p:sp>
      <p:sp>
        <p:nvSpPr>
          <p:cNvPr id="34" name="col-def-surface">
            <a:extLst xmlns:a="http://schemas.openxmlformats.org/drawingml/2006/main">
              <a:ext uri="{FF2B5EF4-FFF2-40B4-BE49-F238E27FC236}">
                <a16:creationId xmlns:a16="http://schemas.microsoft.com/office/drawing/2014/main" id="{4AD00968-39B1-4231-BA0D-7F5D1FE7F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9900"/>
            <a:ext cx="4429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5" name="col-def">
            <a:extLst xmlns:a="http://schemas.openxmlformats.org/drawingml/2006/main">
              <a:ext uri="{FF2B5EF4-FFF2-40B4-BE49-F238E27FC236}">
                <a16:creationId xmlns:a16="http://schemas.microsoft.com/office/drawing/2014/main" id="{11C63F68-AC75-4C53-A151-C59FDDE17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124200"/>
            <a:ext cx="41624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column j = holder / lender</a:t>
            </a:r>
          </a:p>
        </p:txBody>
      </p:sp>
      <p:sp>
        <p:nvSpPr>
          <p:cNvPr id="36" name="matrix-facts">
            <a:extLst xmlns:a="http://schemas.openxmlformats.org/drawingml/2006/main">
              <a:ext uri="{FF2B5EF4-FFF2-40B4-BE49-F238E27FC236}">
                <a16:creationId xmlns:a16="http://schemas.microsoft.com/office/drawing/2014/main" id="{8263234C-5D47-4D6C-A8CD-14FFC9A8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886200"/>
            <a:ext cx="447675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2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Paper dimensions: m = 4 and k = 23.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2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Entries are unit-free fractions.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2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2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Rows sum to one; columns generally do not.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FROM DOLLARS TO SHARES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Normalize dollars before unveiling ownership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AGGREGATE INSTRUMENT MATRICES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ROW-NORMALIZE ONCE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b1886178134a1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937ba983546e3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Sum claims in dollars first; divide each issuer row by that issuer's total liabilities.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Equation (4).</a:t>
            </a:r>
          </a:p>
        </p:txBody>
      </p:sp>
      <p:sp>
        <p:nvSpPr>
          <p:cNvPr id="19" name="eq4-surface">
            <a:extLst xmlns:a="http://schemas.openxmlformats.org/drawingml/2006/main">
              <a:ext uri="{FF2B5EF4-FFF2-40B4-BE49-F238E27FC236}">
                <a16:creationId xmlns:a16="http://schemas.microsoft.com/office/drawing/2014/main" id="{E98F9026-A828-4351-BFAA-E93C054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4857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937ba983546e3">
            <a:extLst>
              <a:ext uri="{96DAC541-7B7A-43D3-8B79-37D633B846F1}">
                <asvg:svgBlip xmlns:asvg="http://schemas.microsoft.com/office/drawing/2016/SVG/main" r:embed="R2c12a580cc434f6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982291" y="1981200"/>
            <a:ext cx="4379068" cy="752475"/>
          </a:xfrm>
          <a:prstGeom xmlns:a="http://schemas.openxmlformats.org/drawingml/2006/main" prst="rect">
            <a:avLst/>
          </a:prstGeom>
        </p:spPr>
      </p:pic>
      <p:sp>
        <p:nvSpPr>
          <p:cNvPr id="21" name="eq4-defs">
            <a:extLst xmlns:a="http://schemas.openxmlformats.org/drawingml/2006/main">
              <a:ext uri="{FF2B5EF4-FFF2-40B4-BE49-F238E27FC236}">
                <a16:creationId xmlns:a16="http://schemas.microsoft.com/office/drawing/2014/main" id="{AB3836D1-65DE-4502-A133-291B7497E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62300"/>
            <a:ext cx="4524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Mₕ,ₜ: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dollar ownership matrix for instrument h.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total liabilities issued by each sector.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⊙: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elementwise row scaling.</a:t>
            </a:r>
          </a:p>
        </p:txBody>
      </p:sp>
      <p:sp>
        <p:nvSpPr>
          <p:cNvPr id="22" name="norm1-surface">
            <a:extLst xmlns:a="http://schemas.openxmlformats.org/drawingml/2006/main">
              <a:ext uri="{FF2B5EF4-FFF2-40B4-BE49-F238E27FC236}">
                <a16:creationId xmlns:a16="http://schemas.microsoft.com/office/drawing/2014/main" id="{EC7A7823-E31A-453E-9D92-F22054753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291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norm1-number">
            <a:extLst xmlns:a="http://schemas.openxmlformats.org/drawingml/2006/main">
              <a:ext uri="{FF2B5EF4-FFF2-40B4-BE49-F238E27FC236}">
                <a16:creationId xmlns:a16="http://schemas.microsoft.com/office/drawing/2014/main" id="{67874DEC-EC53-4FEF-8F99-6063A6DBC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4" name="norm1-title">
            <a:extLst xmlns:a="http://schemas.openxmlformats.org/drawingml/2006/main">
              <a:ext uri="{FF2B5EF4-FFF2-40B4-BE49-F238E27FC236}">
                <a16:creationId xmlns:a16="http://schemas.microsoft.com/office/drawing/2014/main" id="{91AAE847-CE17-4E52-A0EC-7E195DE5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4785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Add dollars</a:t>
            </a:r>
          </a:p>
        </p:txBody>
      </p:sp>
      <p:sp>
        <p:nvSpPr>
          <p:cNvPr id="25" name="norm1-detail">
            <a:extLst xmlns:a="http://schemas.openxmlformats.org/drawingml/2006/main">
              <a:ext uri="{FF2B5EF4-FFF2-40B4-BE49-F238E27FC236}">
                <a16:creationId xmlns:a16="http://schemas.microsoft.com/office/drawing/2014/main" id="{03F742E7-2D0C-441A-9D36-CB81E1961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43125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Aggregate all 34 instruments cell by cell.</a:t>
            </a:r>
          </a:p>
        </p:txBody>
      </p:sp>
      <p:sp>
        <p:nvSpPr>
          <p:cNvPr id="26" name="norm2-surface">
            <a:extLst xmlns:a="http://schemas.openxmlformats.org/drawingml/2006/main">
              <a:ext uri="{FF2B5EF4-FFF2-40B4-BE49-F238E27FC236}">
                <a16:creationId xmlns:a16="http://schemas.microsoft.com/office/drawing/2014/main" id="{E2178CBB-D5F2-4A10-BDB0-ADF8447B3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24150"/>
            <a:ext cx="44291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7" name="norm2-number">
            <a:extLst xmlns:a="http://schemas.openxmlformats.org/drawingml/2006/main">
              <a:ext uri="{FF2B5EF4-FFF2-40B4-BE49-F238E27FC236}">
                <a16:creationId xmlns:a16="http://schemas.microsoft.com/office/drawing/2014/main" id="{5FDE8672-D9BE-403B-8818-035186465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765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8" name="norm2-title">
            <a:extLst xmlns:a="http://schemas.openxmlformats.org/drawingml/2006/main">
              <a:ext uri="{FF2B5EF4-FFF2-40B4-BE49-F238E27FC236}">
                <a16:creationId xmlns:a16="http://schemas.microsoft.com/office/drawing/2014/main" id="{CE5A344E-A339-478F-AF08-5AB4F228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575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Divide each row</a:t>
            </a:r>
          </a:p>
        </p:txBody>
      </p:sp>
      <p:sp>
        <p:nvSpPr>
          <p:cNvPr id="29" name="norm2-detail">
            <a:extLst xmlns:a="http://schemas.openxmlformats.org/drawingml/2006/main">
              <a:ext uri="{FF2B5EF4-FFF2-40B4-BE49-F238E27FC236}">
                <a16:creationId xmlns:a16="http://schemas.microsoft.com/office/drawing/2014/main" id="{E863C9CB-52C3-46DD-9E9E-A44F4F0AB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52775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Use the issuing sector's own liability total.</a:t>
            </a:r>
          </a:p>
        </p:txBody>
      </p:sp>
      <p:sp>
        <p:nvSpPr>
          <p:cNvPr id="30" name="norm3-surface">
            <a:extLst xmlns:a="http://schemas.openxmlformats.org/drawingml/2006/main">
              <a:ext uri="{FF2B5EF4-FFF2-40B4-BE49-F238E27FC236}">
                <a16:creationId xmlns:a16="http://schemas.microsoft.com/office/drawing/2014/main" id="{48E2509B-A25E-43DF-A671-1B1C7A9AB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33800"/>
            <a:ext cx="4429125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1" name="norm3-number">
            <a:extLst xmlns:a="http://schemas.openxmlformats.org/drawingml/2006/main">
              <a:ext uri="{FF2B5EF4-FFF2-40B4-BE49-F238E27FC236}">
                <a16:creationId xmlns:a16="http://schemas.microsoft.com/office/drawing/2014/main" id="{2D3A5EAF-A946-442D-B789-9DF81962E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86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norm3-title">
            <a:extLst xmlns:a="http://schemas.openxmlformats.org/drawingml/2006/main">
              <a:ext uri="{FF2B5EF4-FFF2-40B4-BE49-F238E27FC236}">
                <a16:creationId xmlns:a16="http://schemas.microsoft.com/office/drawing/2014/main" id="{061D1D94-6005-41B3-909A-409F3182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6715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Check shares</a:t>
            </a:r>
          </a:p>
        </p:txBody>
      </p:sp>
      <p:sp>
        <p:nvSpPr>
          <p:cNvPr id="33" name="norm3-detail">
            <a:extLst xmlns:a="http://schemas.openxmlformats.org/drawingml/2006/main">
              <a:ext uri="{FF2B5EF4-FFF2-40B4-BE49-F238E27FC236}">
                <a16:creationId xmlns:a16="http://schemas.microsoft.com/office/drawing/2014/main" id="{25B0B4CA-A780-4324-ADA2-6CC5F21AD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62425"/>
            <a:ext cx="36290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Every economically complete row must sum to one.</a:t>
            </a:r>
          </a:p>
        </p:txBody>
      </p:sp>
      <p:sp>
        <p:nvSpPr>
          <p:cNvPr id="34" name="rowsum-surface">
            <a:extLst xmlns:a="http://schemas.openxmlformats.org/drawingml/2006/main">
              <a:ext uri="{FF2B5EF4-FFF2-40B4-BE49-F238E27FC236}">
                <a16:creationId xmlns:a16="http://schemas.microsoft.com/office/drawing/2014/main" id="{95809B5C-F096-4960-A969-B20CDAFB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43400"/>
            <a:ext cx="29527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7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34211137d43ae">
            <a:extLst>
              <a:ext uri="{96DAC541-7B7A-43D3-8B79-37D633B846F1}">
                <asvg:svgBlip xmlns:asvg="http://schemas.microsoft.com/office/drawing/2016/SVG/main" r:embed="R854d2752413a474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255428" y="4438650"/>
            <a:ext cx="1870894" cy="285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TERMINAL OWNERS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Terminal owners stop the recursion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ORDER TERMINAL OWNERS FIRST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BLOCKS HAVE DIFFERENT ROLES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0b0daf42074748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433e1a33e488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Owners absorb the claim; only intermediary rows propagate it to another layer.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2.2.</a:t>
            </a:r>
          </a:p>
        </p:txBody>
      </p:sp>
      <p:sp>
        <p:nvSpPr>
          <p:cNvPr id="19" name="terminal-order">
            <a:extLst xmlns:a="http://schemas.openxmlformats.org/drawingml/2006/main">
              <a:ext uri="{FF2B5EF4-FFF2-40B4-BE49-F238E27FC236}">
                <a16:creationId xmlns:a16="http://schemas.microsoft.com/office/drawing/2014/main" id="{FCBDE397-E820-4B93-A7D1-296FA1A69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186690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columns →    owners      intermediaries</a:t>
            </a:r>
          </a:p>
        </p:txBody>
      </p:sp>
      <p:sp>
        <p:nvSpPr>
          <p:cNvPr id="20" name="terminal-rows">
            <a:extLst xmlns:a="http://schemas.openxmlformats.org/drawingml/2006/main">
              <a:ext uri="{FF2B5EF4-FFF2-40B4-BE49-F238E27FC236}">
                <a16:creationId xmlns:a16="http://schemas.microsoft.com/office/drawing/2014/main" id="{7417C92B-DF49-42E2-A315-BC16334BD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9906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 O rows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k I rows</a:t>
            </a:r>
          </a:p>
        </p:txBody>
      </p:sp>
      <p:sp>
        <p:nvSpPr>
          <p:cNvPr id="21" name="zero-oo">
            <a:extLst xmlns:a="http://schemas.openxmlformats.org/drawingml/2006/main">
              <a:ext uri="{FF2B5EF4-FFF2-40B4-BE49-F238E27FC236}">
                <a16:creationId xmlns:a16="http://schemas.microsoft.com/office/drawing/2014/main" id="{B262F470-BB57-4975-992D-63ED1A807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333625"/>
            <a:ext cx="1619250" cy="857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27D98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627D98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2" name="zero-oi">
            <a:extLst xmlns:a="http://schemas.openxmlformats.org/drawingml/2006/main">
              <a:ext uri="{FF2B5EF4-FFF2-40B4-BE49-F238E27FC236}">
                <a16:creationId xmlns:a16="http://schemas.microsoft.com/office/drawing/2014/main" id="{FA442D58-1B2B-4B9F-8643-99947B2B9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333625"/>
            <a:ext cx="1619250" cy="8572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7EEF4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627D98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627D98"/>
                </a:solidFill>
                <a:latin typeface="Cambria Math"/>
                <a:ea typeface="Cambria Math"/>
                <a:cs typeface="Cambria Math"/>
              </a:rPr>
              <a:t>0</a:t>
            </a:r>
          </a:p>
        </p:txBody>
      </p:sp>
      <p:sp>
        <p:nvSpPr>
          <p:cNvPr id="23" name="block-b">
            <a:extLst xmlns:a="http://schemas.openxmlformats.org/drawingml/2006/main">
              <a:ext uri="{FF2B5EF4-FFF2-40B4-BE49-F238E27FC236}">
                <a16:creationId xmlns:a16="http://schemas.microsoft.com/office/drawing/2014/main" id="{C8181B1B-8C93-41EA-B76F-356E71050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190875"/>
            <a:ext cx="1619250" cy="1047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FFF1E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65D16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C65D16"/>
                </a:solidFill>
                <a:latin typeface="Cambria Math"/>
                <a:ea typeface="Cambria Math"/>
                <a:cs typeface="Cambria Math"/>
              </a:rPr>
              <a:t>Bₜ</a:t>
            </a:r>
          </a:p>
        </p:txBody>
      </p:sp>
      <p:sp>
        <p:nvSpPr>
          <p:cNvPr id="24" name="block-q">
            <a:extLst xmlns:a="http://schemas.openxmlformats.org/drawingml/2006/main">
              <a:ext uri="{FF2B5EF4-FFF2-40B4-BE49-F238E27FC236}">
                <a16:creationId xmlns:a16="http://schemas.microsoft.com/office/drawing/2014/main" id="{38548C81-81F6-4040-9386-C2888784C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90875"/>
            <a:ext cx="1619250" cy="10477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E8F1F8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2E5B88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1">
                <a:solidFill>
                  <a:srgbClr val="2E5B88"/>
                </a:solidFill>
                <a:latin typeface="Cambria Math"/>
                <a:ea typeface="Cambria Math"/>
                <a:cs typeface="Cambria Math"/>
              </a:rPr>
              <a:t>Qₜ</a:t>
            </a:r>
          </a:p>
        </p:txBody>
      </p:sp>
      <p:sp>
        <p:nvSpPr>
          <p:cNvPr id="25" name="terminal-m-surface">
            <a:extLst xmlns:a="http://schemas.openxmlformats.org/drawingml/2006/main">
              <a:ext uri="{FF2B5EF4-FFF2-40B4-BE49-F238E27FC236}">
                <a16:creationId xmlns:a16="http://schemas.microsoft.com/office/drawing/2014/main" id="{150A443B-3B2D-4630-981F-F3144894A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57675"/>
            <a:ext cx="381000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4e6fa4d5b244d8">
            <a:extLst>
              <a:ext uri="{96DAC541-7B7A-43D3-8B79-37D633B846F1}">
                <asvg:svgBlip xmlns:asvg="http://schemas.microsoft.com/office/drawing/2016/SVG/main" r:embed="R6074960b8d0a4b7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739142" y="4333875"/>
            <a:ext cx="1189216" cy="419100"/>
          </a:xfrm>
          <a:prstGeom xmlns:a="http://schemas.openxmlformats.org/drawingml/2006/main" prst="rect">
            <a:avLst/>
          </a:prstGeom>
        </p:spPr>
      </p:pic>
      <p:sp>
        <p:nvSpPr>
          <p:cNvPr id="27" name="b-head-badge">
            <a:extLst xmlns:a="http://schemas.openxmlformats.org/drawingml/2006/main">
              <a:ext uri="{FF2B5EF4-FFF2-40B4-BE49-F238E27FC236}">
                <a16:creationId xmlns:a16="http://schemas.microsoft.com/office/drawing/2014/main" id="{DAA8CA15-4FE1-4AE5-A4F7-68CDECAA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22860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Bₜ: EXITS TO OWNERS</a:t>
            </a:r>
          </a:p>
        </p:txBody>
      </p:sp>
      <p:sp>
        <p:nvSpPr>
          <p:cNvPr id="28" name="b-copy">
            <a:extLst xmlns:a="http://schemas.openxmlformats.org/drawingml/2006/main">
              <a:ext uri="{FF2B5EF4-FFF2-40B4-BE49-F238E27FC236}">
                <a16:creationId xmlns:a16="http://schemas.microsoft.com/office/drawing/2014/main" id="{54FF2E23-C52B-4ADD-A0BA-47C72274A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4429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Direct shares of each intermediary's liabilities held by terminal owners.</a:t>
            </a:r>
          </a:p>
        </p:txBody>
      </p:sp>
      <p:sp>
        <p:nvSpPr>
          <p:cNvPr id="29" name="bq-divider">
            <a:extLst xmlns:a="http://schemas.openxmlformats.org/drawingml/2006/main">
              <a:ext uri="{FF2B5EF4-FFF2-40B4-BE49-F238E27FC236}">
                <a16:creationId xmlns:a16="http://schemas.microsoft.com/office/drawing/2014/main" id="{7FD5CF3D-2EE8-4499-9543-3F044F770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71800"/>
            <a:ext cx="442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0" name="q-head-badge">
            <a:extLst xmlns:a="http://schemas.openxmlformats.org/drawingml/2006/main">
              <a:ext uri="{FF2B5EF4-FFF2-40B4-BE49-F238E27FC236}">
                <a16:creationId xmlns:a16="http://schemas.microsoft.com/office/drawing/2014/main" id="{2C157C58-5634-4F8E-89BF-9112FE872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219450"/>
            <a:ext cx="2714625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E5B88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Qₜ: CONTINUES INSIDE NETWORK</a:t>
            </a:r>
          </a:p>
        </p:txBody>
      </p:sp>
      <p:sp>
        <p:nvSpPr>
          <p:cNvPr id="31" name="q-copy">
            <a:extLst xmlns:a="http://schemas.openxmlformats.org/drawingml/2006/main">
              <a:ext uri="{FF2B5EF4-FFF2-40B4-BE49-F238E27FC236}">
                <a16:creationId xmlns:a16="http://schemas.microsoft.com/office/drawing/2014/main" id="{4689821E-9EE4-43A8-AF69-748ED94E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44291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Intermediary-to-intermediary ownership: the part that must be recursively unveiled.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PATH INTERPRETATION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Matrix powers trace longer ownership chains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OWNERSHIP BY PATH LENGTH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PAPER EQUATION (1) AND OWNER BLOCK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5f7c921774593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2818147f34cca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Each power of Qₜ adds exactly one more intermediary layer before the claim exits to owners.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2.2.</a:t>
            </a:r>
          </a:p>
        </p:txBody>
      </p:sp>
      <p:sp>
        <p:nvSpPr>
          <p:cNvPr id="19" name="power-0-surface">
            <a:extLst xmlns:a="http://schemas.openxmlformats.org/drawingml/2006/main">
              <a:ext uri="{FF2B5EF4-FFF2-40B4-BE49-F238E27FC236}">
                <a16:creationId xmlns:a16="http://schemas.microsoft.com/office/drawing/2014/main" id="{A35C3123-2EFD-4D49-ABE1-43F8266CB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90700"/>
            <a:ext cx="1666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6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3c3928246435e">
            <a:extLst>
              <a:ext uri="{96DAC541-7B7A-43D3-8B79-37D633B846F1}">
                <asvg:svgBlip xmlns:asvg="http://schemas.microsoft.com/office/drawing/2016/SVG/main" r:embed="Rcebf1020d24a4ed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67975" y="1905000"/>
            <a:ext cx="493024" cy="390525"/>
          </a:xfrm>
          <a:prstGeom xmlns:a="http://schemas.openxmlformats.org/drawingml/2006/main" prst="rect">
            <a:avLst/>
          </a:prstGeom>
        </p:spPr>
      </p:pic>
      <p:sp>
        <p:nvSpPr>
          <p:cNvPr id="21" name="length-0">
            <a:extLst xmlns:a="http://schemas.openxmlformats.org/drawingml/2006/main">
              <a:ext uri="{FF2B5EF4-FFF2-40B4-BE49-F238E27FC236}">
                <a16:creationId xmlns:a16="http://schemas.microsoft.com/office/drawing/2014/main" id="{5F269F18-8A33-4E5C-959E-B79D11417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8097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0 extra intermediaries</a:t>
            </a:r>
          </a:p>
        </p:txBody>
      </p:sp>
      <p:sp>
        <p:nvSpPr>
          <p:cNvPr id="22" name="pathnote-0">
            <a:extLst xmlns:a="http://schemas.openxmlformats.org/drawingml/2006/main">
              <a:ext uri="{FF2B5EF4-FFF2-40B4-BE49-F238E27FC236}">
                <a16:creationId xmlns:a16="http://schemas.microsoft.com/office/drawing/2014/main" id="{286CA729-CC12-41DB-8987-ECBCE6BB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1145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direct exit</a:t>
            </a:r>
          </a:p>
        </p:txBody>
      </p:sp>
      <p:sp>
        <p:nvSpPr>
          <p:cNvPr id="23" name="power-1-surface">
            <a:extLst xmlns:a="http://schemas.openxmlformats.org/drawingml/2006/main">
              <a:ext uri="{FF2B5EF4-FFF2-40B4-BE49-F238E27FC236}">
                <a16:creationId xmlns:a16="http://schemas.microsoft.com/office/drawing/2014/main" id="{AA707385-9181-4161-8069-359331609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05100"/>
            <a:ext cx="1666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238a77000943b9">
            <a:extLst>
              <a:ext uri="{96DAC541-7B7A-43D3-8B79-37D633B846F1}">
                <asvg:svgBlip xmlns:asvg="http://schemas.microsoft.com/office/drawing/2016/SVG/main" r:embed="Rc80122f96c9f4b7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27099" y="2819400"/>
            <a:ext cx="974776" cy="390525"/>
          </a:xfrm>
          <a:prstGeom xmlns:a="http://schemas.openxmlformats.org/drawingml/2006/main" prst="rect">
            <a:avLst/>
          </a:prstGeom>
        </p:spPr>
      </p:pic>
      <p:sp>
        <p:nvSpPr>
          <p:cNvPr id="25" name="length-1">
            <a:extLst xmlns:a="http://schemas.openxmlformats.org/drawingml/2006/main">
              <a:ext uri="{FF2B5EF4-FFF2-40B4-BE49-F238E27FC236}">
                <a16:creationId xmlns:a16="http://schemas.microsoft.com/office/drawing/2014/main" id="{0284B2A1-D779-49F2-B775-596769E93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27241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1 extra intermediary</a:t>
            </a:r>
          </a:p>
        </p:txBody>
      </p:sp>
      <p:sp>
        <p:nvSpPr>
          <p:cNvPr id="26" name="pathnote-1">
            <a:extLst xmlns:a="http://schemas.openxmlformats.org/drawingml/2006/main">
              <a:ext uri="{FF2B5EF4-FFF2-40B4-BE49-F238E27FC236}">
                <a16:creationId xmlns:a16="http://schemas.microsoft.com/office/drawing/2014/main" id="{41D2FA7A-8C49-46A3-B56A-3860F007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0289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one hidden layer</a:t>
            </a:r>
          </a:p>
        </p:txBody>
      </p:sp>
      <p:sp>
        <p:nvSpPr>
          <p:cNvPr id="27" name="power-2-surface">
            <a:extLst xmlns:a="http://schemas.openxmlformats.org/drawingml/2006/main">
              <a:ext uri="{FF2B5EF4-FFF2-40B4-BE49-F238E27FC236}">
                <a16:creationId xmlns:a16="http://schemas.microsoft.com/office/drawing/2014/main" id="{75C759FF-1D19-42C7-BF3D-09016DED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19500"/>
            <a:ext cx="166687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6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cc826741ca4ac4">
            <a:extLst>
              <a:ext uri="{96DAC541-7B7A-43D3-8B79-37D633B846F1}">
                <asvg:svgBlip xmlns:asvg="http://schemas.microsoft.com/office/drawing/2016/SVG/main" r:embed="R303c671ae46b483f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203029" y="3733800"/>
            <a:ext cx="822917" cy="390525"/>
          </a:xfrm>
          <a:prstGeom xmlns:a="http://schemas.openxmlformats.org/drawingml/2006/main" prst="rect">
            <a:avLst/>
          </a:prstGeom>
        </p:spPr>
      </p:pic>
      <p:sp>
        <p:nvSpPr>
          <p:cNvPr id="29" name="length-2">
            <a:extLst xmlns:a="http://schemas.openxmlformats.org/drawingml/2006/main">
              <a:ext uri="{FF2B5EF4-FFF2-40B4-BE49-F238E27FC236}">
                <a16:creationId xmlns:a16="http://schemas.microsoft.com/office/drawing/2014/main" id="{46B885FF-6508-4B83-ABD5-0D8F5F12B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38550"/>
            <a:ext cx="2524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42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2 extra intermediaries</a:t>
            </a:r>
          </a:p>
        </p:txBody>
      </p:sp>
      <p:sp>
        <p:nvSpPr>
          <p:cNvPr id="30" name="pathnote-2">
            <a:extLst xmlns:a="http://schemas.openxmlformats.org/drawingml/2006/main">
              <a:ext uri="{FF2B5EF4-FFF2-40B4-BE49-F238E27FC236}">
                <a16:creationId xmlns:a16="http://schemas.microsoft.com/office/drawing/2014/main" id="{8A512AA4-3EAC-4B68-A956-441B9A9B1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43350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two hidden layers</a:t>
            </a:r>
          </a:p>
        </p:txBody>
      </p:sp>
      <p:sp>
        <p:nvSpPr>
          <p:cNvPr id="31" name="paper-leontief-surface">
            <a:extLst xmlns:a="http://schemas.openxmlformats.org/drawingml/2006/main">
              <a:ext uri="{FF2B5EF4-FFF2-40B4-BE49-F238E27FC236}">
                <a16:creationId xmlns:a16="http://schemas.microsoft.com/office/drawing/2014/main" id="{9FE2F9A7-72D1-4DB6-B3AF-2566D6BF1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442912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a146b714c480f">
            <a:extLst>
              <a:ext uri="{96DAC541-7B7A-43D3-8B79-37D633B846F1}">
                <asvg:svgBlip xmlns:asvg="http://schemas.microsoft.com/office/drawing/2016/SVG/main" r:embed="Ra23bd95d023c437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38950" y="2048174"/>
            <a:ext cx="4086225" cy="237528"/>
          </a:xfrm>
          <a:prstGeom xmlns:a="http://schemas.openxmlformats.org/drawingml/2006/main" prst="rect">
            <a:avLst/>
          </a:prstGeom>
        </p:spPr>
      </p:pic>
      <p:sp>
        <p:nvSpPr>
          <p:cNvPr id="33" name="omega-series-surface">
            <a:extLst xmlns:a="http://schemas.openxmlformats.org/drawingml/2006/main">
              <a:ext uri="{FF2B5EF4-FFF2-40B4-BE49-F238E27FC236}">
                <a16:creationId xmlns:a16="http://schemas.microsoft.com/office/drawing/2014/main" id="{A4F91315-8042-4906-8B0D-2417A5E3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905125"/>
            <a:ext cx="4429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c7c46f231f4eaa">
            <a:extLst>
              <a:ext uri="{96DAC541-7B7A-43D3-8B79-37D633B846F1}">
                <asvg:svgBlip xmlns:asvg="http://schemas.microsoft.com/office/drawing/2016/SVG/main" r:embed="R854bd2bcaf1e40f3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96100" y="3127709"/>
            <a:ext cx="3971925" cy="335882"/>
          </a:xfrm>
          <a:prstGeom xmlns:a="http://schemas.openxmlformats.org/drawingml/2006/main" prst="rect">
            <a:avLst/>
          </a:prstGeom>
        </p:spPr>
      </p:pic>
      <p:sp>
        <p:nvSpPr>
          <p:cNvPr id="35" name="path-weight-title">
            <a:extLst xmlns:a="http://schemas.openxmlformats.org/drawingml/2006/main">
              <a:ext uri="{FF2B5EF4-FFF2-40B4-BE49-F238E27FC236}">
                <a16:creationId xmlns:a16="http://schemas.microsoft.com/office/drawing/2014/main" id="{D5FD50C0-409C-4475-BF63-DA248F760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05250"/>
            <a:ext cx="40481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501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 path's weight is the product of its edge shares.</a:t>
            </a:r>
          </a:p>
        </p:txBody>
      </p:sp>
      <p:sp>
        <p:nvSpPr>
          <p:cNvPr id="36" name="path-weight-copy">
            <a:extLst xmlns:a="http://schemas.openxmlformats.org/drawingml/2006/main">
              <a:ext uri="{FF2B5EF4-FFF2-40B4-BE49-F238E27FC236}">
                <a16:creationId xmlns:a16="http://schemas.microsoft.com/office/drawing/2014/main" id="{C08080C1-2DC9-4F30-B962-26C46D67F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00550"/>
            <a:ext cx="4048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84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Summing all paths yields the ultimate-owner block Ωₜ.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LEONTIEF INVERSE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Leontief solve sums every admissible path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INFINITE SERIES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EQUIVALENT LINEAR SYSTEM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93b158e9984dcc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b9347c637f412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 single linear solve replaces arbitrary truncation and recovers the complete ownership allocation.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2.2.</a:t>
            </a:r>
          </a:p>
        </p:txBody>
      </p:sp>
      <p:sp>
        <p:nvSpPr>
          <p:cNvPr id="19" name="leontief-series-surface">
            <a:extLst xmlns:a="http://schemas.openxmlformats.org/drawingml/2006/main">
              <a:ext uri="{FF2B5EF4-FFF2-40B4-BE49-F238E27FC236}">
                <a16:creationId xmlns:a16="http://schemas.microsoft.com/office/drawing/2014/main" id="{089D14AB-3EC8-4289-B3AE-8926A7394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38350"/>
            <a:ext cx="4619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725698df484d26">
            <a:extLst>
              <a:ext uri="{96DAC541-7B7A-43D3-8B79-37D633B846F1}">
                <asvg:svgBlip xmlns:asvg="http://schemas.microsoft.com/office/drawing/2016/SVG/main" r:embed="R662fc9dcf8b4443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472609" y="2152650"/>
            <a:ext cx="1388907" cy="590550"/>
          </a:xfrm>
          <a:prstGeom xmlns:a="http://schemas.openxmlformats.org/drawingml/2006/main" prst="rect">
            <a:avLst/>
          </a:prstGeom>
        </p:spPr>
      </p:pic>
      <p:sp>
        <p:nvSpPr>
          <p:cNvPr id="21" name="leontief-closed-surface">
            <a:extLst xmlns:a="http://schemas.openxmlformats.org/drawingml/2006/main">
              <a:ext uri="{FF2B5EF4-FFF2-40B4-BE49-F238E27FC236}">
                <a16:creationId xmlns:a16="http://schemas.microsoft.com/office/drawing/2014/main" id="{D8877F41-E826-4F79-8CCD-8DA289977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90875"/>
            <a:ext cx="461962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b6ca60669b426e">
            <a:extLst>
              <a:ext uri="{96DAC541-7B7A-43D3-8B79-37D633B846F1}">
                <asvg:svgBlip xmlns:asvg="http://schemas.microsoft.com/office/drawing/2016/SVG/main" r:embed="R5836610d34e248a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47750" y="3324899"/>
            <a:ext cx="4238625" cy="551102"/>
          </a:xfrm>
          <a:prstGeom xmlns:a="http://schemas.openxmlformats.org/drawingml/2006/main" prst="rect">
            <a:avLst/>
          </a:prstGeom>
        </p:spPr>
      </p:pic>
      <p:sp>
        <p:nvSpPr>
          <p:cNvPr id="23" name="fixed-point-surface">
            <a:extLst xmlns:a="http://schemas.openxmlformats.org/drawingml/2006/main">
              <a:ext uri="{FF2B5EF4-FFF2-40B4-BE49-F238E27FC236}">
                <a16:creationId xmlns:a16="http://schemas.microsoft.com/office/drawing/2014/main" id="{CB47FEA4-B559-44C5-B209-42A6B639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038350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3ee09cd25d4d56">
            <a:extLst>
              <a:ext uri="{96DAC541-7B7A-43D3-8B79-37D633B846F1}">
                <asvg:svgBlip xmlns:asvg="http://schemas.microsoft.com/office/drawing/2016/SVG/main" r:embed="Rd903bc25c6f240b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05625" y="2197187"/>
            <a:ext cx="3952875" cy="501476"/>
          </a:xfrm>
          <a:prstGeom xmlns:a="http://schemas.openxmlformats.org/drawingml/2006/main" prst="rect">
            <a:avLst/>
          </a:prstGeom>
        </p:spPr>
      </p:pic>
      <p:sp>
        <p:nvSpPr>
          <p:cNvPr id="25" name="solve-system-surface">
            <a:extLst xmlns:a="http://schemas.openxmlformats.org/drawingml/2006/main">
              <a:ext uri="{FF2B5EF4-FFF2-40B4-BE49-F238E27FC236}">
                <a16:creationId xmlns:a16="http://schemas.microsoft.com/office/drawing/2014/main" id="{B184543B-2447-4B1B-8859-81970E0F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190875"/>
            <a:ext cx="4333875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5dc4c891e345fc">
            <a:extLst>
              <a:ext uri="{96DAC541-7B7A-43D3-8B79-37D633B846F1}">
                <asvg:svgBlip xmlns:asvg="http://schemas.microsoft.com/office/drawing/2016/SVG/main" r:embed="Recdb3abba8794ce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05625" y="3335370"/>
            <a:ext cx="3952875" cy="530160"/>
          </a:xfrm>
          <a:prstGeom xmlns:a="http://schemas.openxmlformats.org/drawingml/2006/main" prst="rect">
            <a:avLst/>
          </a:prstGeom>
        </p:spPr>
      </p:pic>
      <p:sp>
        <p:nvSpPr>
          <p:cNvPr id="27" name="solve-note">
            <a:extLst xmlns:a="http://schemas.openxmlformats.org/drawingml/2006/main">
              <a:ext uri="{FF2B5EF4-FFF2-40B4-BE49-F238E27FC236}">
                <a16:creationId xmlns:a16="http://schemas.microsoft.com/office/drawing/2014/main" id="{971670C9-36C2-4D8F-91CE-1BCCD2241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267200"/>
            <a:ext cx="4048125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53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Implementation: solve the system; do not form the inverse explicitly.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EXISTENCE AND CONSERVATION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Convergence requires an exit to terminal owners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MATHEMATICAL CONDITION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ECONOMIC CONTENT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9a87fe6e145d7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cde4cb1ee84b7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inverse exists only when ownership mass eventually leaves every intermediary-only loop.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Section 2.2; Code/unveiling/network.py.</a:t>
            </a:r>
          </a:p>
        </p:txBody>
      </p:sp>
      <p:sp>
        <p:nvSpPr>
          <p:cNvPr id="19" name="spectral-surface">
            <a:extLst xmlns:a="http://schemas.openxmlformats.org/drawingml/2006/main">
              <a:ext uri="{FF2B5EF4-FFF2-40B4-BE49-F238E27FC236}">
                <a16:creationId xmlns:a16="http://schemas.microsoft.com/office/drawing/2014/main" id="{1CE72D7A-52C8-460D-92A4-47897B005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81200"/>
            <a:ext cx="371475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074c53a0a246fb">
            <a:extLst>
              <a:ext uri="{96DAC541-7B7A-43D3-8B79-37D633B846F1}">
                <asvg:svgBlip xmlns:asvg="http://schemas.microsoft.com/office/drawing/2016/SVG/main" r:embed="R50abfd7540394fa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374134" y="2095500"/>
            <a:ext cx="3252481" cy="771525"/>
          </a:xfrm>
          <a:prstGeom xmlns:a="http://schemas.openxmlformats.org/drawingml/2006/main" prst="rect">
            <a:avLst/>
          </a:prstGeom>
        </p:spPr>
      </p:pic>
      <p:sp>
        <p:nvSpPr>
          <p:cNvPr id="21" name="spectral-copy">
            <a:extLst xmlns:a="http://schemas.openxmlformats.org/drawingml/2006/main">
              <a:ext uri="{FF2B5EF4-FFF2-40B4-BE49-F238E27FC236}">
                <a16:creationId xmlns:a16="http://schemas.microsoft.com/office/drawing/2014/main" id="{11D1BFFB-F1E0-4038-9208-C79DA9715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14700"/>
            <a:ext cx="4000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6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Then Qₜʳ → 0 and the Neumann series converges.</a:t>
            </a:r>
          </a:p>
        </p:txBody>
      </p:sp>
      <p:sp>
        <p:nvSpPr>
          <p:cNvPr id="22" name="omega-one-surface">
            <a:extLst xmlns:a="http://schemas.openxmlformats.org/drawingml/2006/main">
              <a:ext uri="{FF2B5EF4-FFF2-40B4-BE49-F238E27FC236}">
                <a16:creationId xmlns:a16="http://schemas.microsoft.com/office/drawing/2014/main" id="{C164CC79-A827-4D55-B8FE-427E1C1A3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71950"/>
            <a:ext cx="31432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7318186f894f02">
            <a:extLst>
              <a:ext uri="{96DAC541-7B7A-43D3-8B79-37D633B846F1}">
                <asvg:svgBlip xmlns:asvg="http://schemas.microsoft.com/office/drawing/2016/SVG/main" r:embed="R28c269c54d324da4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86910" y="4286250"/>
            <a:ext cx="1626930" cy="295275"/>
          </a:xfrm>
          <a:prstGeom xmlns:a="http://schemas.openxmlformats.org/drawingml/2006/main" prst="rect">
            <a:avLst/>
          </a:prstGeom>
        </p:spPr>
      </p:pic>
      <p:sp>
        <p:nvSpPr>
          <p:cNvPr id="24" name="exit-head-badge">
            <a:extLst xmlns:a="http://schemas.openxmlformats.org/drawingml/2006/main">
              <a:ext uri="{FF2B5EF4-FFF2-40B4-BE49-F238E27FC236}">
                <a16:creationId xmlns:a16="http://schemas.microsoft.com/office/drawing/2014/main" id="{91566679-9D82-4E9E-A314-41C39333A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1619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2A7F7F"/>
          </a:solidFill>
          <a:ln xmlns:a="http://schemas.openxmlformats.org/drawingml/2006/main" w="9525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VALID NETWORK</a:t>
            </a:r>
          </a:p>
        </p:txBody>
      </p:sp>
      <p:sp>
        <p:nvSpPr>
          <p:cNvPr id="25" name="exit-copy">
            <a:extLst xmlns:a="http://schemas.openxmlformats.org/drawingml/2006/main">
              <a:ext uri="{FF2B5EF4-FFF2-40B4-BE49-F238E27FC236}">
                <a16:creationId xmlns:a16="http://schemas.microsoft.com/office/drawing/2014/main" id="{FEA808F2-D739-401F-BA58-B9FBE4FF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43125"/>
            <a:ext cx="4429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Every intermediary chain eventually reaches households, the federal government, state/local governments, or the rest of the world.</a:t>
            </a:r>
          </a:p>
        </p:txBody>
      </p:sp>
      <p:sp>
        <p:nvSpPr>
          <p:cNvPr id="26" name="loop-head-badge">
            <a:extLst xmlns:a="http://schemas.openxmlformats.org/drawingml/2006/main">
              <a:ext uri="{FF2B5EF4-FFF2-40B4-BE49-F238E27FC236}">
                <a16:creationId xmlns:a16="http://schemas.microsoft.com/office/drawing/2014/main" id="{8DEEB5E1-15A1-45BD-9608-A094FD038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333750"/>
            <a:ext cx="161925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B33A3A"/>
          </a:solidFill>
          <a:ln xmlns:a="http://schemas.openxmlformats.org/drawingml/2006/main" w="9525">
            <a:solidFill>
              <a:srgbClr val="B33A3A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FAILURE CASE</a:t>
            </a:r>
          </a:p>
        </p:txBody>
      </p:sp>
      <p:sp>
        <p:nvSpPr>
          <p:cNvPr id="27" name="loop-copy">
            <a:extLst xmlns:a="http://schemas.openxmlformats.org/drawingml/2006/main">
              <a:ext uri="{FF2B5EF4-FFF2-40B4-BE49-F238E27FC236}">
                <a16:creationId xmlns:a16="http://schemas.microsoft.com/office/drawing/2014/main" id="{EDB45C91-BB16-4847-9035-0AA83029E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43325"/>
            <a:ext cx="44291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7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 closed intermediary component owns itself forever. Ultimate ownership is then not identified by the observed network.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NETWORK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One four-sector network makes every path visible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EXACT DIRECT-OWNERSHIP GRAPH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SECTOR ORDER AND EDGE MEANING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7c809503a4df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2e15cf3fcd413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example is small enough to audit path by path, yet it contains reciprocal intermediation.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example; edge labels are direct liability shares.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9dcd652464378"/>
          <a:stretch xmlns:a="http://schemas.openxmlformats.org/drawingml/2006/main"/>
        </p:blipFill>
        <p:spPr>
          <a:xfrm xmlns:a="http://schemas.openxmlformats.org/drawingml/2006/main">
            <a:off x="1064468" y="1666875"/>
            <a:ext cx="4157564" cy="2952750"/>
          </a:xfrm>
          <a:prstGeom xmlns:a="http://schemas.openxmlformats.org/drawingml/2006/main" prst="rect">
            <a:avLst/>
          </a:prstGeom>
        </p:spPr>
      </p:pic>
      <p:sp>
        <p:nvSpPr>
          <p:cNvPr id="20" name="sector-order-surface">
            <a:extLst xmlns:a="http://schemas.openxmlformats.org/drawingml/2006/main">
              <a:ext uri="{FF2B5EF4-FFF2-40B4-BE49-F238E27FC236}">
                <a16:creationId xmlns:a16="http://schemas.microsoft.com/office/drawing/2014/main" id="{8E48B893-E86C-48B1-884D-BEF29B762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09750"/>
            <a:ext cx="4238625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1" name="sector-order">
            <a:extLst xmlns:a="http://schemas.openxmlformats.org/drawingml/2006/main">
              <a:ext uri="{FF2B5EF4-FFF2-40B4-BE49-F238E27FC236}">
                <a16:creationId xmlns:a16="http://schemas.microsoft.com/office/drawing/2014/main" id="{1C01838A-A93E-484F-A2F4-7858CB0BF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924050"/>
            <a:ext cx="39719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00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sector order = (H, G, B, F)</a:t>
            </a:r>
          </a:p>
        </p:txBody>
      </p:sp>
      <p:sp>
        <p:nvSpPr>
          <p:cNvPr id="22" name="edge-list">
            <a:extLst xmlns:a="http://schemas.openxmlformats.org/drawingml/2006/main">
              <a:ext uri="{FF2B5EF4-FFF2-40B4-BE49-F238E27FC236}">
                <a16:creationId xmlns:a16="http://schemas.microsoft.com/office/drawing/2014/main" id="{FF20BC4A-A17D-4132-BE5F-5A4FE873E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81300"/>
            <a:ext cx="4286250" cy="1504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Bank row: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 20%, G 10%, F 70%.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Fund row: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H 60%, G 20%, B 20%.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Arrow i → j:</a:t>
            </a: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j holds i's liability.</a:t>
            </a:r>
          </a:p>
        </p:txBody>
      </p:sp>
      <p:sp>
        <p:nvSpPr>
          <p:cNvPr id="23" name="reciprocal">
            <a:extLst xmlns:a="http://schemas.openxmlformats.org/drawingml/2006/main">
              <a:ext uri="{FF2B5EF4-FFF2-40B4-BE49-F238E27FC236}">
                <a16:creationId xmlns:a16="http://schemas.microsoft.com/office/drawing/2014/main" id="{305422AE-2251-4448-AE5D-45E4255CA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400550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57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Reciprocal link: B ↔ F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NETWORK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Direct ownership is only the first term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10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FIXED-POINT EQUATIONS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SUBSTITUTE ONCE, THEN SOLVE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160b57156492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eaf1f51a8c462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bank's 20% direct household share understates the household claim hidden through the fund.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example, exact four-sector network.</a:t>
            </a:r>
          </a:p>
        </p:txBody>
      </p:sp>
      <p:sp>
        <p:nvSpPr>
          <p:cNvPr id="19" name="bank-hh-surface">
            <a:extLst xmlns:a="http://schemas.openxmlformats.org/drawingml/2006/main">
              <a:ext uri="{FF2B5EF4-FFF2-40B4-BE49-F238E27FC236}">
                <a16:creationId xmlns:a16="http://schemas.microsoft.com/office/drawing/2014/main" id="{9CE4663D-3DEC-4ED3-A5DC-EE6B3E42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00250"/>
            <a:ext cx="466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0f826c725b4e81">
            <a:extLst>
              <a:ext uri="{96DAC541-7B7A-43D3-8B79-37D633B846F1}">
                <asvg:svgBlip xmlns:asvg="http://schemas.microsoft.com/office/drawing/2016/SVG/main" r:embed="Rc01614d9e8134d1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2217264"/>
            <a:ext cx="4286250" cy="347023"/>
          </a:xfrm>
          <a:prstGeom xmlns:a="http://schemas.openxmlformats.org/drawingml/2006/main" prst="rect">
            <a:avLst/>
          </a:prstGeom>
        </p:spPr>
      </p:pic>
      <p:sp>
        <p:nvSpPr>
          <p:cNvPr id="21" name="fund-hh-surface">
            <a:extLst xmlns:a="http://schemas.openxmlformats.org/drawingml/2006/main">
              <a:ext uri="{FF2B5EF4-FFF2-40B4-BE49-F238E27FC236}">
                <a16:creationId xmlns:a16="http://schemas.microsoft.com/office/drawing/2014/main" id="{E5FEAB39-E92F-4EBE-BB33-73FE6A641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4667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a44b71b3e049a8">
            <a:extLst>
              <a:ext uri="{96DAC541-7B7A-43D3-8B79-37D633B846F1}">
                <asvg:svgBlip xmlns:asvg="http://schemas.microsoft.com/office/drawing/2016/SVG/main" r:embed="Rbff010659a824ae6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009650" y="3360264"/>
            <a:ext cx="4286250" cy="347023"/>
          </a:xfrm>
          <a:prstGeom xmlns:a="http://schemas.openxmlformats.org/drawingml/2006/main" prst="rect">
            <a:avLst/>
          </a:prstGeom>
        </p:spPr>
      </p:pic>
      <p:sp>
        <p:nvSpPr>
          <p:cNvPr id="23" name="fixed-copy">
            <a:extLst xmlns:a="http://schemas.openxmlformats.org/drawingml/2006/main">
              <a:ext uri="{FF2B5EF4-FFF2-40B4-BE49-F238E27FC236}">
                <a16:creationId xmlns:a16="http://schemas.microsoft.com/office/drawing/2014/main" id="{085AE3EE-F3FD-495E-8C65-56BC3627D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257675"/>
            <a:ext cx="4286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35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Each equation = direct exit + ownership carried through the other intermediary.</a:t>
            </a:r>
          </a:p>
        </p:txBody>
      </p:sp>
      <p:sp>
        <p:nvSpPr>
          <p:cNvPr id="24" name="substitute-surface">
            <a:extLst xmlns:a="http://schemas.openxmlformats.org/drawingml/2006/main">
              <a:ext uri="{FF2B5EF4-FFF2-40B4-BE49-F238E27FC236}">
                <a16:creationId xmlns:a16="http://schemas.microsoft.com/office/drawing/2014/main" id="{087CD17B-2FCC-4AE6-8596-1C3AE15BC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52625"/>
            <a:ext cx="442912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bac99095d42ad">
            <a:extLst>
              <a:ext uri="{96DAC541-7B7A-43D3-8B79-37D633B846F1}">
                <asvg:svgBlip xmlns:asvg="http://schemas.microsoft.com/office/drawing/2016/SVG/main" r:embed="Ra6f885579c444a0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2186232"/>
            <a:ext cx="4048125" cy="313835"/>
          </a:xfrm>
          <a:prstGeom xmlns:a="http://schemas.openxmlformats.org/drawingml/2006/main" prst="rect">
            <a:avLst/>
          </a:prstGeom>
        </p:spPr>
      </p:pic>
      <p:sp>
        <p:nvSpPr>
          <p:cNvPr id="26" name="collect-surface">
            <a:extLst xmlns:a="http://schemas.openxmlformats.org/drawingml/2006/main">
              <a:ext uri="{FF2B5EF4-FFF2-40B4-BE49-F238E27FC236}">
                <a16:creationId xmlns:a16="http://schemas.microsoft.com/office/drawing/2014/main" id="{0EA9B92B-D91D-48C8-BD12-7A790924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000375"/>
            <a:ext cx="4429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590a247d254fca">
            <a:extLst>
              <a:ext uri="{96DAC541-7B7A-43D3-8B79-37D633B846F1}">
                <asvg:svgBlip xmlns:asvg="http://schemas.microsoft.com/office/drawing/2016/SVG/main" r:embed="Rf72715fc625e4838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20490" y="3114675"/>
            <a:ext cx="3923145" cy="457200"/>
          </a:xfrm>
          <a:prstGeom xmlns:a="http://schemas.openxmlformats.org/drawingml/2006/main" prst="rect">
            <a:avLst/>
          </a:prstGeom>
        </p:spPr>
      </p:pic>
      <p:sp>
        <p:nvSpPr>
          <p:cNvPr id="28" name="result-surface">
            <a:extLst xmlns:a="http://schemas.openxmlformats.org/drawingml/2006/main">
              <a:ext uri="{FF2B5EF4-FFF2-40B4-BE49-F238E27FC236}">
                <a16:creationId xmlns:a16="http://schemas.microsoft.com/office/drawing/2014/main" id="{6B39CB2C-61B4-4B22-AAE8-BFD0D3B3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52875"/>
            <a:ext cx="4429125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d4373f9fec48f6">
            <a:extLst>
              <a:ext uri="{96DAC541-7B7A-43D3-8B79-37D633B846F1}">
                <asvg:svgBlip xmlns:asvg="http://schemas.microsoft.com/office/drawing/2016/SVG/main" r:embed="R0f8cedd12e81401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4099290"/>
            <a:ext cx="4048125" cy="39297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WORKED NETWORK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bank is ultimately 72.1% household-owned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11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DIRECT + INDIRECT = UNVEILED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THE SAME NUMBER AS A PATH SUM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4c038d439e444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c256f0dcee4b6a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Every ownership line contributes exactly once; the Leontief solution is the compact sum of them all.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worked example; values shown in percentage points.</a:t>
            </a:r>
          </a:p>
        </p:txBody>
      </p:sp>
      <p:sp>
        <p:nvSpPr>
          <p:cNvPr id="19" name="bar-title">
            <a:extLst xmlns:a="http://schemas.openxmlformats.org/drawingml/2006/main">
              <a:ext uri="{FF2B5EF4-FFF2-40B4-BE49-F238E27FC236}">
                <a16:creationId xmlns:a16="http://schemas.microsoft.com/office/drawing/2014/main" id="{2619D600-7A77-4FFA-A4C7-FCEA17B2D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4191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Household share of the bank</a:t>
            </a:r>
          </a:p>
        </p:txBody>
      </p:sp>
      <p:sp>
        <p:nvSpPr>
          <p:cNvPr id="20" name="bar-direct">
            <a:extLst xmlns:a="http://schemas.openxmlformats.org/drawingml/2006/main">
              <a:ext uri="{FF2B5EF4-FFF2-40B4-BE49-F238E27FC236}">
                <a16:creationId xmlns:a16="http://schemas.microsoft.com/office/drawing/2014/main" id="{01D6408A-18E1-4F2C-9F83-49CFD83F4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76500"/>
            <a:ext cx="11620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2E5B88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</p:sp>
      <p:sp>
        <p:nvSpPr>
          <p:cNvPr id="21" name="bar-indirect">
            <a:extLst xmlns:a="http://schemas.openxmlformats.org/drawingml/2006/main">
              <a:ext uri="{FF2B5EF4-FFF2-40B4-BE49-F238E27FC236}">
                <a16:creationId xmlns:a16="http://schemas.microsoft.com/office/drawing/2014/main" id="{D646E04F-5144-4A12-9BCD-44AFBACC7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76500"/>
            <a:ext cx="3028950" cy="590550"/>
          </a:xfrm>
          <a:prstGeom xmlns:a="http://schemas.openxmlformats.org/drawingml/2006/main" prst="roundRect">
            <a:avLst>
              <a:gd name="adj" fmla="val 0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sp>
        <p:nvSpPr>
          <p:cNvPr id="22" name="direct-label">
            <a:extLst xmlns:a="http://schemas.openxmlformats.org/drawingml/2006/main">
              <a:ext uri="{FF2B5EF4-FFF2-40B4-BE49-F238E27FC236}">
                <a16:creationId xmlns:a16="http://schemas.microsoft.com/office/drawing/2014/main" id="{8EF250A7-B6CA-428C-AC6F-57D9B0E0A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20.0%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2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direct</a:t>
            </a:r>
          </a:p>
        </p:txBody>
      </p:sp>
      <p:sp>
        <p:nvSpPr>
          <p:cNvPr id="23" name="indirect-label">
            <a:extLst xmlns:a="http://schemas.openxmlformats.org/drawingml/2006/main">
              <a:ext uri="{FF2B5EF4-FFF2-40B4-BE49-F238E27FC236}">
                <a16:creationId xmlns:a16="http://schemas.microsoft.com/office/drawing/2014/main" id="{326A9CC6-A5FF-4CFA-8C11-AA4EB0D5C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571750"/>
            <a:ext cx="30289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52.093% indirect</a:t>
            </a:r>
          </a:p>
        </p:txBody>
      </p:sp>
      <p:sp>
        <p:nvSpPr>
          <p:cNvPr id="24" name="total-household-surface">
            <a:extLst xmlns:a="http://schemas.openxmlformats.org/drawingml/2006/main">
              <a:ext uri="{FF2B5EF4-FFF2-40B4-BE49-F238E27FC236}">
                <a16:creationId xmlns:a16="http://schemas.microsoft.com/office/drawing/2014/main" id="{105CE0F1-8FA2-45FB-84BE-E2F62B164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476625"/>
            <a:ext cx="3048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a2cf9719c74ae6">
            <a:extLst>
              <a:ext uri="{96DAC541-7B7A-43D3-8B79-37D633B846F1}">
                <asvg:svgBlip xmlns:asvg="http://schemas.microsoft.com/office/drawing/2016/SVG/main" r:embed="R0dba6952e24742a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809750" y="3640524"/>
            <a:ext cx="2667000" cy="358002"/>
          </a:xfrm>
          <a:prstGeom xmlns:a="http://schemas.openxmlformats.org/drawingml/2006/main" prst="rect">
            <a:avLst/>
          </a:prstGeom>
        </p:spPr>
      </p:pic>
      <p:sp>
        <p:nvSpPr>
          <p:cNvPr id="26" name="path-head">
            <a:extLst xmlns:a="http://schemas.openxmlformats.org/drawingml/2006/main">
              <a:ext uri="{FF2B5EF4-FFF2-40B4-BE49-F238E27FC236}">
                <a16:creationId xmlns:a16="http://schemas.microsoft.com/office/drawing/2014/main" id="{FB5F0893-085E-4FEC-AE22-35310E6D6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Paths from bank to household</a:t>
            </a:r>
          </a:p>
        </p:txBody>
      </p:sp>
      <p:sp>
        <p:nvSpPr>
          <p:cNvPr id="27" name="path-sum-surface">
            <a:extLst xmlns:a="http://schemas.openxmlformats.org/drawingml/2006/main">
              <a:ext uri="{FF2B5EF4-FFF2-40B4-BE49-F238E27FC236}">
                <a16:creationId xmlns:a16="http://schemas.microsoft.com/office/drawing/2014/main" id="{4558F148-EB33-4C44-95EE-693EACA0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81250"/>
            <a:ext cx="4429125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cd2c6dfe1a4def">
            <a:extLst>
              <a:ext uri="{96DAC541-7B7A-43D3-8B79-37D633B846F1}">
                <asvg:svgBlip xmlns:asvg="http://schemas.microsoft.com/office/drawing/2016/SVG/main" r:embed="Rec011e661926405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0" y="2762153"/>
            <a:ext cx="4048125" cy="133545"/>
          </a:xfrm>
          <a:prstGeom xmlns:a="http://schemas.openxmlformats.org/drawingml/2006/main" prst="rect">
            <a:avLst/>
          </a:prstGeom>
        </p:spPr>
      </p:pic>
      <p:sp>
        <p:nvSpPr>
          <p:cNvPr id="29" name="path-copy">
            <a:extLst xmlns:a="http://schemas.openxmlformats.org/drawingml/2006/main">
              <a:ext uri="{FF2B5EF4-FFF2-40B4-BE49-F238E27FC236}">
                <a16:creationId xmlns:a16="http://schemas.microsoft.com/office/drawing/2014/main" id="{8905C79E-EFC4-4978-8469-397D64A3D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19500"/>
            <a:ext cx="38576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Direct B→H, then B→F→H, then loops B↔F before exiting to H.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NET FINANCIAL POSITIONS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Net positions reconnect shares to balance sheets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12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EQUATION (2)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ACCOUNTING INTERPRETATION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6b7a051e54b1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de2b35a179477d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Unveiling reallocates ownership; it does not create net financial wealth for the economy as a whole.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Equation (2).</a:t>
            </a:r>
          </a:p>
        </p:txBody>
      </p:sp>
      <p:sp>
        <p:nvSpPr>
          <p:cNvPr id="19" name="net-eq-surface">
            <a:extLst xmlns:a="http://schemas.openxmlformats.org/drawingml/2006/main">
              <a:ext uri="{FF2B5EF4-FFF2-40B4-BE49-F238E27FC236}">
                <a16:creationId xmlns:a16="http://schemas.microsoft.com/office/drawing/2014/main" id="{6238492C-D954-4C1D-8DB6-1A9EBCBB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4381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efbcdd0a62423a">
            <a:extLst>
              <a:ext uri="{96DAC541-7B7A-43D3-8B79-37D633B846F1}">
                <asvg:svgBlip xmlns:asvg="http://schemas.microsoft.com/office/drawing/2016/SVG/main" r:embed="R6b472cdbb4d540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43000" y="2178566"/>
            <a:ext cx="4000500" cy="548243"/>
          </a:xfrm>
          <a:prstGeom xmlns:a="http://schemas.openxmlformats.org/drawingml/2006/main" prst="rect">
            <a:avLst/>
          </a:prstGeom>
        </p:spPr>
      </p:pic>
      <p:sp>
        <p:nvSpPr>
          <p:cNvPr id="21" name="net-defs">
            <a:extLst xmlns:a="http://schemas.openxmlformats.org/drawingml/2006/main">
              <a:ext uri="{FF2B5EF4-FFF2-40B4-BE49-F238E27FC236}">
                <a16:creationId xmlns:a16="http://schemas.microsoft.com/office/drawing/2014/main" id="{78604C68-1905-44EC-9428-800B4268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238500"/>
            <a:ext cx="423862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LₜM̄ₜ: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assets held by each sector.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−Lₜ: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liabilities issued by each sector.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4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425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Wₜ:</a:t>
            </a:r>
            <a:r>
              <a:rPr sz="14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net financial position.</a:t>
            </a:r>
          </a:p>
        </p:txBody>
      </p:sp>
      <p:sp>
        <p:nvSpPr>
          <p:cNvPr id="22" name="net-card-0">
            <a:extLst xmlns:a="http://schemas.openxmlformats.org/drawingml/2006/main">
              <a:ext uri="{FF2B5EF4-FFF2-40B4-BE49-F238E27FC236}">
                <a16:creationId xmlns:a16="http://schemas.microsoft.com/office/drawing/2014/main" id="{D07D3765-C074-4DAE-875B-AD3AB5706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E5B88"/>
            </a:solidFill>
            <a:prstDash val="solid"/>
          </a:ln>
        </p:spPr>
      </p:sp>
      <p:sp>
        <p:nvSpPr>
          <p:cNvPr id="23" name="net-label-0">
            <a:extLst xmlns:a="http://schemas.openxmlformats.org/drawingml/2006/main">
              <a:ext uri="{FF2B5EF4-FFF2-40B4-BE49-F238E27FC236}">
                <a16:creationId xmlns:a16="http://schemas.microsoft.com/office/drawing/2014/main" id="{91ADC66E-8E91-47DF-9911-72A54487E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305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ASSETS</a:t>
            </a:r>
          </a:p>
        </p:txBody>
      </p:sp>
      <p:sp>
        <p:nvSpPr>
          <p:cNvPr id="24" name="net-eq-0">
            <a:extLst xmlns:a="http://schemas.openxmlformats.org/drawingml/2006/main">
              <a:ext uri="{FF2B5EF4-FFF2-40B4-BE49-F238E27FC236}">
                <a16:creationId xmlns:a16="http://schemas.microsoft.com/office/drawing/2014/main" id="{70D42179-E97E-4BAC-B2EE-85B600AA3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LₜM̄ₜ</a:t>
            </a:r>
          </a:p>
        </p:txBody>
      </p:sp>
      <p:sp>
        <p:nvSpPr>
          <p:cNvPr id="25" name="net-card-1">
            <a:extLst xmlns:a="http://schemas.openxmlformats.org/drawingml/2006/main">
              <a:ext uri="{FF2B5EF4-FFF2-40B4-BE49-F238E27FC236}">
                <a16:creationId xmlns:a16="http://schemas.microsoft.com/office/drawing/2014/main" id="{599C1820-FA75-4703-BF62-53AE661E3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095500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sp>
        <p:nvSpPr>
          <p:cNvPr id="26" name="net-label-1">
            <a:extLst xmlns:a="http://schemas.openxmlformats.org/drawingml/2006/main">
              <a:ext uri="{FF2B5EF4-FFF2-40B4-BE49-F238E27FC236}">
                <a16:creationId xmlns:a16="http://schemas.microsoft.com/office/drawing/2014/main" id="{45C9ADDD-A057-4C6F-9D20-658C59F4B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305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LIABILITIES</a:t>
            </a:r>
          </a:p>
        </p:txBody>
      </p:sp>
      <p:sp>
        <p:nvSpPr>
          <p:cNvPr id="27" name="net-eq-1">
            <a:extLst xmlns:a="http://schemas.openxmlformats.org/drawingml/2006/main">
              <a:ext uri="{FF2B5EF4-FFF2-40B4-BE49-F238E27FC236}">
                <a16:creationId xmlns:a16="http://schemas.microsoft.com/office/drawing/2014/main" id="{1259E86F-1900-461F-BF35-753628759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8765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−Lₜ</a:t>
            </a:r>
          </a:p>
        </p:txBody>
      </p:sp>
      <p:sp>
        <p:nvSpPr>
          <p:cNvPr id="28" name="net-card-2">
            <a:extLst xmlns:a="http://schemas.openxmlformats.org/drawingml/2006/main">
              <a:ext uri="{FF2B5EF4-FFF2-40B4-BE49-F238E27FC236}">
                <a16:creationId xmlns:a16="http://schemas.microsoft.com/office/drawing/2014/main" id="{C15933B3-A068-4A3F-AE6A-CF46F68E5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095500"/>
            <a:ext cx="1352550" cy="171450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A7F7F"/>
            </a:solidFill>
            <a:prstDash val="solid"/>
          </a:ln>
        </p:spPr>
      </p:sp>
      <p:sp>
        <p:nvSpPr>
          <p:cNvPr id="29" name="net-label-2">
            <a:extLst xmlns:a="http://schemas.openxmlformats.org/drawingml/2006/main">
              <a:ext uri="{FF2B5EF4-FFF2-40B4-BE49-F238E27FC236}">
                <a16:creationId xmlns:a16="http://schemas.microsoft.com/office/drawing/2014/main" id="{69AFDCC6-AEC7-4F90-BE86-E39992FD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305050"/>
            <a:ext cx="1200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2A7F7F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A7F7F"/>
                </a:solidFill>
                <a:latin typeface="Calibri"/>
                <a:ea typeface="Calibri"/>
                <a:cs typeface="Calibri"/>
              </a:rPr>
              <a:t>NET</a:t>
            </a:r>
          </a:p>
        </p:txBody>
      </p:sp>
      <p:sp>
        <p:nvSpPr>
          <p:cNvPr id="30" name="net-eq-2">
            <a:extLst xmlns:a="http://schemas.openxmlformats.org/drawingml/2006/main">
              <a:ext uri="{FF2B5EF4-FFF2-40B4-BE49-F238E27FC236}">
                <a16:creationId xmlns:a16="http://schemas.microsoft.com/office/drawing/2014/main" id="{C117CAFC-3EEC-4B2E-871B-6CC67E73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876550"/>
            <a:ext cx="12001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875" b="1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Wₜ</a:t>
            </a:r>
          </a:p>
        </p:txBody>
      </p:sp>
      <p:sp>
        <p:nvSpPr>
          <p:cNvPr id="31" name="zero-sum-surface">
            <a:extLst xmlns:a="http://schemas.openxmlformats.org/drawingml/2006/main">
              <a:ext uri="{FF2B5EF4-FFF2-40B4-BE49-F238E27FC236}">
                <a16:creationId xmlns:a16="http://schemas.microsoft.com/office/drawing/2014/main" id="{0617FA22-9951-43D5-8D38-201F8999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3238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F7FAFC"/>
            </a:solidFill>
            <a:prstDash val="solid"/>
          </a:ln>
        </p:spPr>
      </p:sp>
      <p:pic>
        <p:nvPicPr>
          <p:cNvPr id="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cdef277cb14c94">
            <a:extLst>
              <a:ext uri="{96DAC541-7B7A-43D3-8B79-37D633B846F1}">
                <asvg:svgBlip xmlns:asvg="http://schemas.microsoft.com/office/drawing/2016/SVG/main" r:embed="R7f847cd8b76e49c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271873" y="4000500"/>
            <a:ext cx="1172755" cy="647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PRIMARY-ASSET INCIDENCE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Primary assets inherit unveiled ownership shares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13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EQUATION (3)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FLOW OF INCIDENCE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b3b6006ad442e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1726e9682348bf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ownership matrix becomes economically useful when it reallocates underlying assets to ultimate owners.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Mian, Straub, and Sufi (2025), Equation (3).</a:t>
            </a:r>
          </a:p>
        </p:txBody>
      </p:sp>
      <p:sp>
        <p:nvSpPr>
          <p:cNvPr id="19" name="primary-eq-surface">
            <a:extLst xmlns:a="http://schemas.openxmlformats.org/drawingml/2006/main">
              <a:ext uri="{FF2B5EF4-FFF2-40B4-BE49-F238E27FC236}">
                <a16:creationId xmlns:a16="http://schemas.microsoft.com/office/drawing/2014/main" id="{E5987731-2E03-4F94-B8DC-D6D2CE85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428625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14a8426104a0c">
            <a:extLst>
              <a:ext uri="{96DAC541-7B7A-43D3-8B79-37D633B846F1}">
                <asvg:svgBlip xmlns:asvg="http://schemas.microsoft.com/office/drawing/2016/SVG/main" r:embed="Ra6c1593db3af408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1190625" y="2251406"/>
            <a:ext cx="3905250" cy="402562"/>
          </a:xfrm>
          <a:prstGeom xmlns:a="http://schemas.openxmlformats.org/drawingml/2006/main" prst="rect">
            <a:avLst/>
          </a:prstGeom>
        </p:spPr>
      </p:pic>
      <p:sp>
        <p:nvSpPr>
          <p:cNvPr id="21" name="primary-defs">
            <a:extLst xmlns:a="http://schemas.openxmlformats.org/drawingml/2006/main">
              <a:ext uri="{FF2B5EF4-FFF2-40B4-BE49-F238E27FC236}">
                <a16:creationId xmlns:a16="http://schemas.microsoft.com/office/drawing/2014/main" id="{725CEDC7-1566-4FF4-80BC-2A43185B2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62300"/>
            <a:ext cx="4476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35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Pₜ:</a:t>
            </a:r>
            <a:r>
              <a:rPr sz="13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primary assets held by intermediaries.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35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Ωₜ:</a:t>
            </a:r>
            <a:r>
              <a:rPr sz="13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ultimate-owner shares.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35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Λₜ:</a:t>
            </a:r>
            <a:r>
              <a:rPr sz="13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primary assets held directly by owners.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35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Aₜ:</a:t>
            </a:r>
            <a:r>
              <a:rPr sz="135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 total primary assets by ultimate owner.</a:t>
            </a:r>
          </a:p>
        </p:txBody>
      </p:sp>
      <p:sp>
        <p:nvSpPr>
          <p:cNvPr id="22" name="inc1-surface">
            <a:extLst xmlns:a="http://schemas.openxmlformats.org/drawingml/2006/main">
              <a:ext uri="{FF2B5EF4-FFF2-40B4-BE49-F238E27FC236}">
                <a16:creationId xmlns:a16="http://schemas.microsoft.com/office/drawing/2014/main" id="{21DA3543-E5F6-4EF2-A4F0-8D963C6B4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695450"/>
            <a:ext cx="4429125" cy="82867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3" name="inc1-number">
            <a:extLst xmlns:a="http://schemas.openxmlformats.org/drawingml/2006/main">
              <a:ext uri="{FF2B5EF4-FFF2-40B4-BE49-F238E27FC236}">
                <a16:creationId xmlns:a16="http://schemas.microsoft.com/office/drawing/2014/main" id="{505046F1-F22E-4586-8D81-22D71357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8478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4" name="inc1-title">
            <a:extLst xmlns:a="http://schemas.openxmlformats.org/drawingml/2006/main">
              <a:ext uri="{FF2B5EF4-FFF2-40B4-BE49-F238E27FC236}">
                <a16:creationId xmlns:a16="http://schemas.microsoft.com/office/drawing/2014/main" id="{5F27C93F-4FF1-4487-B74E-78D06A3DF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8288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Start with primary assets</a:t>
            </a:r>
          </a:p>
        </p:txBody>
      </p:sp>
      <p:sp>
        <p:nvSpPr>
          <p:cNvPr id="25" name="inc1-detail">
            <a:extLst xmlns:a="http://schemas.openxmlformats.org/drawingml/2006/main">
              <a:ext uri="{FF2B5EF4-FFF2-40B4-BE49-F238E27FC236}">
                <a16:creationId xmlns:a16="http://schemas.microsoft.com/office/drawing/2014/main" id="{3C553B5D-D4D8-4956-A810-CD2DA5927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24075"/>
            <a:ext cx="3629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Measured on intermediary balance sheets.</a:t>
            </a:r>
          </a:p>
        </p:txBody>
      </p:sp>
      <p:sp>
        <p:nvSpPr>
          <p:cNvPr id="26" name="inc2-surface">
            <a:extLst xmlns:a="http://schemas.openxmlformats.org/drawingml/2006/main">
              <a:ext uri="{FF2B5EF4-FFF2-40B4-BE49-F238E27FC236}">
                <a16:creationId xmlns:a16="http://schemas.microsoft.com/office/drawing/2014/main" id="{8DFA4FE6-539D-4F47-9444-ADF60B16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05100"/>
            <a:ext cx="4429125" cy="82867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7" name="inc2-number">
            <a:extLst xmlns:a="http://schemas.openxmlformats.org/drawingml/2006/main">
              <a:ext uri="{FF2B5EF4-FFF2-40B4-BE49-F238E27FC236}">
                <a16:creationId xmlns:a16="http://schemas.microsoft.com/office/drawing/2014/main" id="{63EED0A5-0696-4059-B381-8949D4FBF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857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8" name="inc2-title">
            <a:extLst xmlns:a="http://schemas.openxmlformats.org/drawingml/2006/main">
              <a:ext uri="{FF2B5EF4-FFF2-40B4-BE49-F238E27FC236}">
                <a16:creationId xmlns:a16="http://schemas.microsoft.com/office/drawing/2014/main" id="{5DC2166D-C8C0-4A0E-BD54-335EEB9B2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83845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Apply Ωₜ</a:t>
            </a:r>
          </a:p>
        </p:txBody>
      </p:sp>
      <p:sp>
        <p:nvSpPr>
          <p:cNvPr id="29" name="inc2-detail">
            <a:extLst xmlns:a="http://schemas.openxmlformats.org/drawingml/2006/main">
              <a:ext uri="{FF2B5EF4-FFF2-40B4-BE49-F238E27FC236}">
                <a16:creationId xmlns:a16="http://schemas.microsoft.com/office/drawing/2014/main" id="{A258CFCC-759F-4D22-BFFC-EEE408AE6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133725"/>
            <a:ext cx="3629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Allocate every dollar across terminal owners.</a:t>
            </a:r>
          </a:p>
        </p:txBody>
      </p:sp>
      <p:sp>
        <p:nvSpPr>
          <p:cNvPr id="30" name="inc3-surface">
            <a:extLst xmlns:a="http://schemas.openxmlformats.org/drawingml/2006/main">
              <a:ext uri="{FF2B5EF4-FFF2-40B4-BE49-F238E27FC236}">
                <a16:creationId xmlns:a16="http://schemas.microsoft.com/office/drawing/2014/main" id="{12CC9A2C-2EDE-464C-87A7-33BAA7A48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714750"/>
            <a:ext cx="4429125" cy="828675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31" name="inc3-number">
            <a:extLst xmlns:a="http://schemas.openxmlformats.org/drawingml/2006/main">
              <a:ext uri="{FF2B5EF4-FFF2-40B4-BE49-F238E27FC236}">
                <a16:creationId xmlns:a16="http://schemas.microsoft.com/office/drawing/2014/main" id="{105DAAF9-334A-4428-885D-15FC5BD06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8671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2" name="inc3-title">
            <a:extLst xmlns:a="http://schemas.openxmlformats.org/drawingml/2006/main">
              <a:ext uri="{FF2B5EF4-FFF2-40B4-BE49-F238E27FC236}">
                <a16:creationId xmlns:a16="http://schemas.microsoft.com/office/drawing/2014/main" id="{BEF73CDB-14E5-437C-86CF-AEF2D78F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48100"/>
            <a:ext cx="36290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Add direct holdings</a:t>
            </a:r>
          </a:p>
        </p:txBody>
      </p:sp>
      <p:sp>
        <p:nvSpPr>
          <p:cNvPr id="33" name="inc3-detail">
            <a:extLst xmlns:a="http://schemas.openxmlformats.org/drawingml/2006/main">
              <a:ext uri="{FF2B5EF4-FFF2-40B4-BE49-F238E27FC236}">
                <a16:creationId xmlns:a16="http://schemas.microsoft.com/office/drawing/2014/main" id="{985C6E75-414B-4B10-9773-1D6E40851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4143375"/>
            <a:ext cx="3629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Recover the complete ultimate-owner total.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READABLE IMPLEMENTATION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Python mirrors the matrix algebra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14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CORE COMPUTATION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BOUNDARY CHECKS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d4f66c4714c43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1e94bd1edd41c1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core algorithm stays three lines long because validation is separated from the economic calculation.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project implementation in Code/unveiling/network.py.</a:t>
            </a:r>
          </a:p>
        </p:txBody>
      </p:sp>
      <p:sp>
        <p:nvSpPr>
          <p:cNvPr id="19" name="code-surface">
            <a:extLst xmlns:a="http://schemas.openxmlformats.org/drawingml/2006/main">
              <a:ext uri="{FF2B5EF4-FFF2-40B4-BE49-F238E27FC236}">
                <a16:creationId xmlns:a16="http://schemas.microsoft.com/office/drawing/2014/main" id="{C9E2C072-9753-4219-B058-F65466783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48768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132238"/>
          </a:solidFill>
          <a:ln xmlns:a="http://schemas.openxmlformats.org/drawingml/2006/main" w="9525">
            <a:solidFill>
              <a:srgbClr val="132238"/>
            </a:solidFill>
            <a:prstDash val="solid"/>
          </a:ln>
        </p:spPr>
        <p:txBody>
          <a:bodyPr xmlns:a="http://schemas.openxmlformats.org/drawingml/2006/main" wrap="square" lIns="209550" tIns="209550" rIns="190500" bIns="209550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>
                <a:solidFill>
                  <a:srgbClr val="F4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4F7FA"/>
                </a:solidFill>
                <a:latin typeface="Menlo"/>
                <a:ea typeface="Menlo"/>
                <a:cs typeface="Menlo"/>
              </a:rPr>
              <a:t>B = direct_ownership[m:, :m]</a:t>
            </a:r>
          </a:p>
          <a:p xmlns:a="http://schemas.openxmlformats.org/drawingml/2006/main">
            <a:pPr>
              <a:buNone/>
              <a:defRPr sz="1500">
                <a:solidFill>
                  <a:srgbClr val="F4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4F7FA"/>
                </a:solidFill>
                <a:latin typeface="Menlo"/>
                <a:ea typeface="Menlo"/>
                <a:cs typeface="Menlo"/>
              </a:rPr>
              <a:t>Q = direct_ownership[m:, m:]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500">
                <a:solidFill>
                  <a:srgbClr val="F4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4F7FA"/>
                </a:solidFill>
                <a:latin typeface="Menlo"/>
                <a:ea typeface="Menlo"/>
                <a:cs typeface="Menlo"/>
              </a:rPr>
              <a:t>omega = np.linalg.solve(</a:t>
            </a:r>
          </a:p>
          <a:p xmlns:a="http://schemas.openxmlformats.org/drawingml/2006/main">
            <a:pPr>
              <a:buNone/>
              <a:defRPr sz="1500">
                <a:solidFill>
                  <a:srgbClr val="F4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4F7FA"/>
                </a:solidFill>
                <a:latin typeface="Menlo"/>
                <a:ea typeface="Menlo"/>
                <a:cs typeface="Menlo"/>
              </a:rPr>
              <a:t>    np.eye(k) - Q, B</a:t>
            </a:r>
          </a:p>
          <a:p xmlns:a="http://schemas.openxmlformats.org/drawingml/2006/main">
            <a:pPr>
              <a:buNone/>
              <a:defRPr sz="1500">
                <a:solidFill>
                  <a:srgbClr val="F4F7FA"/>
                </a:solidFill>
                <a:latin typeface="Menlo"/>
                <a:ea typeface="Menlo"/>
                <a:cs typeface="Menlo"/>
              </a:defRPr>
            </a:pPr>
            <a:r>
              <a:rPr sz="1500">
                <a:solidFill>
                  <a:srgbClr val="F4F7FA"/>
                </a:solidFill>
                <a:latin typeface="Menlo"/>
                <a:ea typeface="Menlo"/>
                <a:cs typeface="Menlo"/>
              </a:rPr>
              <a:t>)</a:t>
            </a:r>
          </a:p>
        </p:txBody>
      </p:sp>
      <p:sp>
        <p:nvSpPr>
          <p:cNvPr id="20" name="checks">
            <a:extLst xmlns:a="http://schemas.openxmlformats.org/drawingml/2006/main">
              <a:ext uri="{FF2B5EF4-FFF2-40B4-BE49-F238E27FC236}">
                <a16:creationId xmlns:a16="http://schemas.microsoft.com/office/drawing/2014/main" id="{8DA78D13-9853-4F55-B6F4-D226264F3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828800"/>
            <a:ext cx="423862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76200" bIns="38100" anchor="t">
            <a:normAutofit fontScale="100000"/>
          </a:bodyPr>
          <a:lstStyle xmlns:a="http://schemas.openxmlformats.org/drawingml/2006/main"/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Square, finite, non-negative input matrix.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Complete issuer rows sum to one.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Spectral radius ρ(Q) &lt; 1.</a:t>
            </a:r>
          </a:p>
          <a:p xmlns:a="http://schemas.openxmlformats.org/drawingml/2006/main">
            <a:pPr marL="20" indent="-12">
              <a:spcAft>
                <a:spcPts val="9"/>
              </a:spcAft>
              <a:buChar char="•"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Output satisfies Ω1 = 1.</a:t>
            </a:r>
          </a:p>
        </p:txBody>
      </p:sp>
      <p:sp>
        <p:nvSpPr>
          <p:cNvPr id="21" name="implementation-output-surface">
            <a:extLst xmlns:a="http://schemas.openxmlformats.org/drawingml/2006/main">
              <a:ext uri="{FF2B5EF4-FFF2-40B4-BE49-F238E27FC236}">
                <a16:creationId xmlns:a16="http://schemas.microsoft.com/office/drawing/2014/main" id="{B8398FAC-FA05-4EBC-9478-A466A556F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095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2cefd7ca1b421e">
            <a:extLst>
              <a:ext uri="{96DAC541-7B7A-43D3-8B79-37D633B846F1}">
                <asvg:svgBlip xmlns:asvg="http://schemas.microsoft.com/office/drawing/2016/SVG/main" r:embed="Rb7b05e6457944c1b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129253" y="4210050"/>
            <a:ext cx="1457995" cy="323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VERSION CROSSWALK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2021 rounds are not a fixed-Q truncation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15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AUTHORS' 2021 KIT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2025 PAPER AND OUR CODE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843ab52c154e32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2036dd31474a9b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They share proportional allocation logic; equivalence requires the same fixed matrix in every round.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2021 replication kit; July 2025 paper; docs/methods/leontief-unveiling.md.</a:t>
            </a:r>
          </a:p>
        </p:txBody>
      </p:sp>
      <p:sp>
        <p:nvSpPr>
          <p:cNvPr id="19" name="old-rounds-badge">
            <a:extLst xmlns:a="http://schemas.openxmlformats.org/drawingml/2006/main">
              <a:ext uri="{FF2B5EF4-FFF2-40B4-BE49-F238E27FC236}">
                <a16:creationId xmlns:a16="http://schemas.microsoft.com/office/drawing/2014/main" id="{F821CE37-1448-4243-A6A0-1FCC27572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7145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627D98"/>
          </a:solidFill>
          <a:ln xmlns:a="http://schemas.openxmlformats.org/drawingml/2006/main" w="9525">
            <a:solidFill>
              <a:srgbClr val="627D98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STAGE-SPECIFIC RULES</a:t>
            </a:r>
          </a:p>
        </p:txBody>
      </p:sp>
      <p:sp>
        <p:nvSpPr>
          <p:cNvPr id="20" name="seven-sum-surface">
            <a:extLst xmlns:a="http://schemas.openxmlformats.org/drawingml/2006/main">
              <a:ext uri="{FF2B5EF4-FFF2-40B4-BE49-F238E27FC236}">
                <a16:creationId xmlns:a16="http://schemas.microsoft.com/office/drawing/2014/main" id="{F0BDCC5E-6968-410D-BF6F-3B89E0E19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4572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b0757e85c84730">
            <a:extLst>
              <a:ext uri="{96DAC541-7B7A-43D3-8B79-37D633B846F1}">
                <asvg:svgBlip xmlns:asvg="http://schemas.microsoft.com/office/drawing/2016/SVG/main" r:embed="R3be06aed43944fa8"/>
              </a:ext>
            </a:extLst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1066800" y="2352675"/>
            <a:ext cx="4191000" cy="428625"/>
          </a:xfrm>
          <a:prstGeom xmlns:a="http://schemas.openxmlformats.org/drawingml/2006/main" prst="rect">
            <a:avLst/>
          </a:prstGeom>
        </p:spPr>
      </p:pic>
      <p:sp>
        <p:nvSpPr>
          <p:cNvPr id="22" name="old-copy">
            <a:extLst xmlns:a="http://schemas.openxmlformats.org/drawingml/2006/main">
              <a:ext uri="{FF2B5EF4-FFF2-40B4-BE49-F238E27FC236}">
                <a16:creationId xmlns:a16="http://schemas.microsoft.com/office/drawing/2014/main" id="{8A0D14A1-06B7-4212-9BD5-722987BCC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3375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Seven stages use different instruments, net-issuance adjustments, and residual buckets.</a:t>
            </a:r>
          </a:p>
        </p:txBody>
      </p:sp>
      <p:sp>
        <p:nvSpPr>
          <p:cNvPr id="23" name="new-solve-badge">
            <a:extLst xmlns:a="http://schemas.openxmlformats.org/drawingml/2006/main">
              <a:ext uri="{FF2B5EF4-FFF2-40B4-BE49-F238E27FC236}">
                <a16:creationId xmlns:a16="http://schemas.microsoft.com/office/drawing/2014/main" id="{356E9E8C-CA64-4AE2-A09B-55A2779EC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33550"/>
            <a:ext cx="1714500" cy="257175"/>
          </a:xfrm>
          <a:prstGeom xmlns:a="http://schemas.openxmlformats.org/drawingml/2006/main" prst="roundRect">
            <a:avLst>
              <a:gd name="adj" fmla="val 44444"/>
            </a:avLst>
          </a:prstGeom>
          <a:solidFill xmlns:a="http://schemas.openxmlformats.org/drawingml/2006/main">
            <a:srgbClr val="C65D16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38100" tIns="9525" rIns="38100" bIns="9525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975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INFINITE SOLVE</a:t>
            </a:r>
          </a:p>
        </p:txBody>
      </p:sp>
      <p:sp>
        <p:nvSpPr>
          <p:cNvPr id="24" name="infinite-solve-surface">
            <a:extLst xmlns:a="http://schemas.openxmlformats.org/drawingml/2006/main">
              <a:ext uri="{FF2B5EF4-FFF2-40B4-BE49-F238E27FC236}">
                <a16:creationId xmlns:a16="http://schemas.microsoft.com/office/drawing/2014/main" id="{157D8073-244B-43A0-B496-8C0599062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190750"/>
            <a:ext cx="4238625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100e7d523b4882">
            <a:extLst>
              <a:ext uri="{96DAC541-7B7A-43D3-8B79-37D633B846F1}">
                <asvg:svgBlip xmlns:asvg="http://schemas.microsoft.com/office/drawing/2016/SVG/main" r:embed="R6c4846f01a1744b1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953250" y="2320968"/>
            <a:ext cx="3857625" cy="501565"/>
          </a:xfrm>
          <a:prstGeom xmlns:a="http://schemas.openxmlformats.org/drawingml/2006/main" prst="rect">
            <a:avLst/>
          </a:prstGeom>
        </p:spPr>
      </p:pic>
      <p:sp>
        <p:nvSpPr>
          <p:cNvPr id="26" name="new-copy">
            <a:extLst xmlns:a="http://schemas.openxmlformats.org/drawingml/2006/main">
              <a:ext uri="{FF2B5EF4-FFF2-40B4-BE49-F238E27FC236}">
                <a16:creationId xmlns:a16="http://schemas.microsoft.com/office/drawing/2014/main" id="{FFD21D08-612A-4C53-B0A3-5F323D84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404812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500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Exact for one completed direct matrix when ρ(Q) &lt; 1.</a:t>
            </a:r>
          </a:p>
        </p:txBody>
      </p:sp>
      <p:sp>
        <p:nvSpPr>
          <p:cNvPr id="27" name="gap-surface">
            <a:extLst xmlns:a="http://schemas.openxmlformats.org/drawingml/2006/main">
              <a:ext uri="{FF2B5EF4-FFF2-40B4-BE49-F238E27FC236}">
                <a16:creationId xmlns:a16="http://schemas.microsoft.com/office/drawing/2014/main" id="{5475D0E4-45B0-411D-ADD6-C29CC351A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43375"/>
            <a:ext cx="3619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65D16"/>
            </a:solidFill>
            <a:prstDash val="solid"/>
          </a:ln>
        </p:spPr>
      </p:sp>
      <p:sp>
        <p:nvSpPr>
          <p:cNvPr id="28" name="gap">
            <a:extLst xmlns:a="http://schemas.openxmlformats.org/drawingml/2006/main">
              <a:ext uri="{FF2B5EF4-FFF2-40B4-BE49-F238E27FC236}">
                <a16:creationId xmlns:a16="http://schemas.microsoft.com/office/drawing/2014/main" id="{70A38252-4122-4E9B-AFFC-95580F66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257675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defRPr>
            </a:pPr>
            <a:r>
              <a:rPr sz="1725" b="0">
                <a:solidFill>
                  <a:srgbClr val="102A43"/>
                </a:solidFill>
                <a:latin typeface="Cambria Math"/>
                <a:ea typeface="Cambria Math"/>
                <a:cs typeface="Cambria Math"/>
              </a:rPr>
              <a:t>common-input matrix required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kicker">
            <a:extLst xmlns:a="http://schemas.openxmlformats.org/drawingml/2006/main">
              <a:ext uri="{FF2B5EF4-FFF2-40B4-BE49-F238E27FC236}">
                <a16:creationId xmlns:a16="http://schemas.microsoft.com/office/drawing/2014/main" id="{A21B0EF0-DF12-49E0-8282-A5EB5B11A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8600"/>
            <a:ext cx="857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TAKEAWAY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980D81F7-DD28-469F-9690-DA4664C92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763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defRPr>
            </a:pPr>
            <a:r>
              <a:rPr sz="2700" b="1">
                <a:solidFill>
                  <a:srgbClr val="102A43"/>
                </a:solidFill>
                <a:latin typeface="Calibri Light"/>
                <a:ea typeface="Calibri Light"/>
                <a:cs typeface="Calibri Light"/>
              </a:rPr>
              <a:t>The method makes incidence complete and auditable</a:t>
            </a:r>
          </a:p>
        </p:txBody>
      </p:sp>
      <p:sp>
        <p:nvSpPr>
          <p:cNvPr id="3" name="header-rule">
            <a:extLst xmlns:a="http://schemas.openxmlformats.org/drawingml/2006/main">
              <a:ext uri="{FF2B5EF4-FFF2-40B4-BE49-F238E27FC236}">
                <a16:creationId xmlns:a16="http://schemas.microsoft.com/office/drawing/2014/main" id="{4CDCC845-0954-47BE-99D9-ACC92C7E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8107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0">
            <a:solidFill>
              <a:srgbClr val="102A43"/>
            </a:solidFill>
            <a:prstDash val="solid"/>
          </a:ln>
        </p:spPr>
      </p:sp>
      <p:sp>
        <p:nvSpPr>
          <p:cNvPr id="4" name="slide-number">
            <a:extLst xmlns:a="http://schemas.openxmlformats.org/drawingml/2006/main">
              <a:ext uri="{FF2B5EF4-FFF2-40B4-BE49-F238E27FC236}">
                <a16:creationId xmlns:a16="http://schemas.microsoft.com/office/drawing/2014/main" id="{D40E37CD-502F-44AD-863C-998C0D343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257175"/>
            <a:ext cx="4000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050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16</a:t>
            </a:r>
          </a:p>
        </p:txBody>
      </p:sp>
      <p:sp>
        <p:nvSpPr>
          <p:cNvPr id="5" name="left-label">
            <a:extLst xmlns:a="http://schemas.openxmlformats.org/drawingml/2006/main">
              <a:ext uri="{FF2B5EF4-FFF2-40B4-BE49-F238E27FC236}">
                <a16:creationId xmlns:a16="http://schemas.microsoft.com/office/drawing/2014/main" id="{7D68AFC4-C9F0-4906-8B90-9F78159CD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THREE STEPS</a:t>
            </a:r>
          </a:p>
        </p:txBody>
      </p:sp>
      <p:sp>
        <p:nvSpPr>
          <p:cNvPr id="6" name="right-label">
            <a:extLst xmlns:a="http://schemas.openxmlformats.org/drawingml/2006/main">
              <a:ext uri="{FF2B5EF4-FFF2-40B4-BE49-F238E27FC236}">
                <a16:creationId xmlns:a16="http://schemas.microsoft.com/office/drawing/2014/main" id="{169CDC6F-7B71-4F41-AC26-C991BF45F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104900"/>
            <a:ext cx="5410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2E5B88"/>
                </a:solidFill>
                <a:latin typeface="Calibri"/>
                <a:ea typeface="Calibri"/>
                <a:cs typeface="Calibri"/>
              </a:defRPr>
            </a:pPr>
            <a:r>
              <a:rPr sz="1050" b="1">
                <a:solidFill>
                  <a:srgbClr val="2E5B88"/>
                </a:solidFill>
                <a:latin typeface="Calibri"/>
                <a:ea typeface="Calibri"/>
                <a:cs typeface="Calibri"/>
              </a:rPr>
              <a:t>THE PAPER'S KEY INNOVATION</a:t>
            </a:r>
          </a:p>
        </p:txBody>
      </p:sp>
      <p:sp>
        <p:nvSpPr>
          <p:cNvPr id="7" name="Regenerated 2021 saving-glut figure-frame">
            <a:extLst xmlns:a="http://schemas.openxmlformats.org/drawingml/2006/main">
              <a:ext uri="{FF2B5EF4-FFF2-40B4-BE49-F238E27FC236}">
                <a16:creationId xmlns:a16="http://schemas.microsoft.com/office/drawing/2014/main" id="{F41A9B74-0FDD-4969-A588-536A7E714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f40dba2f644ab4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9" name="2025 Figure 5 saving by wealth group-frame">
            <a:extLst xmlns:a="http://schemas.openxmlformats.org/drawingml/2006/main">
              <a:ext uri="{FF2B5EF4-FFF2-40B4-BE49-F238E27FC236}">
                <a16:creationId xmlns:a16="http://schemas.microsoft.com/office/drawing/2014/main" id="{CECC33D5-8AA8-489D-A8CE-CF41FD192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28750"/>
            <a:ext cx="541020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80ea87ca5f4269"/>
          <a:stretch xmlns:a="http://schemas.openxmlformats.org/drawingml/2006/main"/>
        </p:blipFill>
        <p:spPr>
          <a:xfrm xmlns:a="http://schemas.openxmlformats.org/drawingml/2006/main">
            <a:off x="11715750" y="6762750"/>
            <a:ext cx="9525" cy="9525"/>
          </a:xfrm>
          <a:prstGeom xmlns:a="http://schemas.openxmlformats.org/drawingml/2006/main" prst="rect">
            <a:avLst/>
          </a:prstGeom>
        </p:spPr>
      </p:pic>
      <p:sp>
        <p:nvSpPr>
          <p:cNvPr id="11" name="assessment-band">
            <a:extLst xmlns:a="http://schemas.openxmlformats.org/drawingml/2006/main">
              <a:ext uri="{FF2B5EF4-FFF2-40B4-BE49-F238E27FC236}">
                <a16:creationId xmlns:a16="http://schemas.microsoft.com/office/drawing/2014/main" id="{661CFCE0-D157-4A4A-A3D4-5070BEB38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95875"/>
            <a:ext cx="11277600" cy="1028700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EDF2F6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12" name="assessment-accent">
            <a:extLst xmlns:a="http://schemas.openxmlformats.org/drawingml/2006/main">
              <a:ext uri="{FF2B5EF4-FFF2-40B4-BE49-F238E27FC236}">
                <a16:creationId xmlns:a16="http://schemas.microsoft.com/office/drawing/2014/main" id="{16808DF2-B678-483C-92D7-325DE5843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286500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1E8"/>
          </a:solidFill>
          <a:ln xmlns:a="http://schemas.openxmlformats.org/drawingml/2006/main" w="0">
            <a:solidFill>
              <a:srgbClr val="D8E1E8"/>
            </a:solidFill>
            <a:prstDash val="solid"/>
          </a:ln>
        </p:spPr>
      </p:sp>
      <p:sp>
        <p:nvSpPr>
          <p:cNvPr id="13" name="verdict">
            <a:extLst xmlns:a="http://schemas.openxmlformats.org/drawingml/2006/main">
              <a:ext uri="{FF2B5EF4-FFF2-40B4-BE49-F238E27FC236}">
                <a16:creationId xmlns:a16="http://schemas.microsoft.com/office/drawing/2014/main" id="{4C8931D4-85C6-4FA0-9526-7745475E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1125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WHY IT MATTERS</a:t>
            </a:r>
          </a:p>
        </p:txBody>
      </p:sp>
      <p:sp>
        <p:nvSpPr>
          <p:cNvPr id="14" name="assessment">
            <a:extLst xmlns:a="http://schemas.openxmlformats.org/drawingml/2006/main">
              <a:ext uri="{FF2B5EF4-FFF2-40B4-BE49-F238E27FC236}">
                <a16:creationId xmlns:a16="http://schemas.microsoft.com/office/drawing/2014/main" id="{00A0EF70-9C45-4DDE-A376-FB6C73A8E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19700"/>
            <a:ext cx="8191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38100" rIns="38100" bIns="3810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65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The Leontief inverse is not a forecasting model—it is an accounting map from legal ownership to ultimate incidence.</a:t>
            </a:r>
          </a:p>
        </p:txBody>
      </p:sp>
      <p:sp>
        <p:nvSpPr>
          <p:cNvPr id="15" name="difference">
            <a:extLst xmlns:a="http://schemas.openxmlformats.org/drawingml/2006/main">
              <a:ext uri="{FF2B5EF4-FFF2-40B4-BE49-F238E27FC236}">
                <a16:creationId xmlns:a16="http://schemas.microsoft.com/office/drawing/2014/main" id="{A4A3628C-1F59-4962-A00B-08C286CC7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111252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825" b="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Source: synthesis of Mian, Straub, and Sufi (2025), Sections 2.1–2.2.</a:t>
            </a:r>
          </a:p>
        </p:txBody>
      </p:sp>
      <p:sp>
        <p:nvSpPr>
          <p:cNvPr id="19" name="take1-surface">
            <a:extLst xmlns:a="http://schemas.openxmlformats.org/drawingml/2006/main">
              <a:ext uri="{FF2B5EF4-FFF2-40B4-BE49-F238E27FC236}">
                <a16:creationId xmlns:a16="http://schemas.microsoft.com/office/drawing/2014/main" id="{31C88593-9F3A-4B19-A560-03ECBB95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14500"/>
            <a:ext cx="485775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0" name="take1-number">
            <a:extLst xmlns:a="http://schemas.openxmlformats.org/drawingml/2006/main">
              <a:ext uri="{FF2B5EF4-FFF2-40B4-BE49-F238E27FC236}">
                <a16:creationId xmlns:a16="http://schemas.microsoft.com/office/drawing/2014/main" id="{14FB983F-E55A-4C12-846D-B83DE91D5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5B88"/>
          </a:solidFill>
          <a:ln xmlns:a="http://schemas.openxmlformats.org/drawingml/2006/main" w="0">
            <a:solidFill>
              <a:srgbClr val="2E5B88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1" name="take1-title">
            <a:extLst xmlns:a="http://schemas.openxmlformats.org/drawingml/2006/main">
              <a:ext uri="{FF2B5EF4-FFF2-40B4-BE49-F238E27FC236}">
                <a16:creationId xmlns:a16="http://schemas.microsoft.com/office/drawing/2014/main" id="{59D3EB8B-0567-4156-9312-78DD364B5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478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Normalize</a:t>
            </a:r>
          </a:p>
        </p:txBody>
      </p:sp>
      <p:sp>
        <p:nvSpPr>
          <p:cNvPr id="22" name="take1-detail">
            <a:extLst xmlns:a="http://schemas.openxmlformats.org/drawingml/2006/main">
              <a:ext uri="{FF2B5EF4-FFF2-40B4-BE49-F238E27FC236}">
                <a16:creationId xmlns:a16="http://schemas.microsoft.com/office/drawing/2014/main" id="{C68C9102-1C9A-4881-884C-1E38F9D6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43125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Build direct claims; Figure 1 stops before the solve.</a:t>
            </a:r>
          </a:p>
        </p:txBody>
      </p:sp>
      <p:sp>
        <p:nvSpPr>
          <p:cNvPr id="23" name="take2-surface">
            <a:extLst xmlns:a="http://schemas.openxmlformats.org/drawingml/2006/main">
              <a:ext uri="{FF2B5EF4-FFF2-40B4-BE49-F238E27FC236}">
                <a16:creationId xmlns:a16="http://schemas.microsoft.com/office/drawing/2014/main" id="{92F23A47-48B2-4731-BD86-E49E0D18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86050"/>
            <a:ext cx="485775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4" name="take2-number">
            <a:extLst xmlns:a="http://schemas.openxmlformats.org/drawingml/2006/main">
              <a:ext uri="{FF2B5EF4-FFF2-40B4-BE49-F238E27FC236}">
                <a16:creationId xmlns:a16="http://schemas.microsoft.com/office/drawing/2014/main" id="{42B51E8E-5F6B-48C4-B68C-137C91C0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384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65D16"/>
          </a:solidFill>
          <a:ln xmlns:a="http://schemas.openxmlformats.org/drawingml/2006/main" w="0">
            <a:solidFill>
              <a:srgbClr val="C65D1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5" name="take2-title">
            <a:extLst xmlns:a="http://schemas.openxmlformats.org/drawingml/2006/main">
              <a:ext uri="{FF2B5EF4-FFF2-40B4-BE49-F238E27FC236}">
                <a16:creationId xmlns:a16="http://schemas.microsoft.com/office/drawing/2014/main" id="{B0D1407F-6C12-4F99-A2F8-6356258F8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1940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Unveil</a:t>
            </a:r>
          </a:p>
        </p:txBody>
      </p:sp>
      <p:sp>
        <p:nvSpPr>
          <p:cNvPr id="26" name="take2-detail">
            <a:extLst xmlns:a="http://schemas.openxmlformats.org/drawingml/2006/main">
              <a:ext uri="{FF2B5EF4-FFF2-40B4-BE49-F238E27FC236}">
                <a16:creationId xmlns:a16="http://schemas.microsoft.com/office/drawing/2014/main" id="{99044F6D-ED09-407E-9931-7E0DE8A22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14675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Sum all paths with (I − Q)⁻¹B.</a:t>
            </a:r>
          </a:p>
        </p:txBody>
      </p:sp>
      <p:sp>
        <p:nvSpPr>
          <p:cNvPr id="27" name="take3-surface">
            <a:extLst xmlns:a="http://schemas.openxmlformats.org/drawingml/2006/main">
              <a:ext uri="{FF2B5EF4-FFF2-40B4-BE49-F238E27FC236}">
                <a16:creationId xmlns:a16="http://schemas.microsoft.com/office/drawing/2014/main" id="{42D8CC67-3EDF-4E41-A8E4-B1D32621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57600"/>
            <a:ext cx="4857750" cy="838200"/>
          </a:xfrm>
          <a:prstGeom xmlns:a="http://schemas.openxmlformats.org/drawingml/2006/main" prst="roundRect">
            <a:avLst>
              <a:gd name="adj" fmla="val 102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1E8"/>
            </a:solidFill>
            <a:prstDash val="solid"/>
          </a:ln>
        </p:spPr>
      </p:sp>
      <p:sp>
        <p:nvSpPr>
          <p:cNvPr id="28" name="take3-number">
            <a:extLst xmlns:a="http://schemas.openxmlformats.org/drawingml/2006/main">
              <a:ext uri="{FF2B5EF4-FFF2-40B4-BE49-F238E27FC236}">
                <a16:creationId xmlns:a16="http://schemas.microsoft.com/office/drawing/2014/main" id="{E7D7F623-3C32-43D9-9493-4AC2EF4A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100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7F7F"/>
          </a:solidFill>
          <a:ln xmlns:a="http://schemas.openxmlformats.org/drawingml/2006/main" w="0">
            <a:solidFill>
              <a:srgbClr val="2A7F7F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35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9" name="take3-title">
            <a:extLst xmlns:a="http://schemas.openxmlformats.org/drawingml/2006/main">
              <a:ext uri="{FF2B5EF4-FFF2-40B4-BE49-F238E27FC236}">
                <a16:creationId xmlns:a16="http://schemas.microsoft.com/office/drawing/2014/main" id="{B0183C35-DC4B-478F-ABD0-1301ECD3E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790950"/>
            <a:ext cx="4057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500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500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Reassign</a:t>
            </a:r>
          </a:p>
        </p:txBody>
      </p:sp>
      <p:sp>
        <p:nvSpPr>
          <p:cNvPr id="30" name="take3-detail">
            <a:extLst xmlns:a="http://schemas.openxmlformats.org/drawingml/2006/main">
              <a:ext uri="{FF2B5EF4-FFF2-40B4-BE49-F238E27FC236}">
                <a16:creationId xmlns:a16="http://schemas.microsoft.com/office/drawing/2014/main" id="{0E0E1FEA-15FE-4AAB-947F-E8ACB3944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40576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200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200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Map intermediary assets to terminal owners.</a:t>
            </a:r>
          </a:p>
        </p:txBody>
      </p:sp>
      <p:sp>
        <p:nvSpPr>
          <p:cNvPr id="31" name="innovation-head">
            <a:extLst xmlns:a="http://schemas.openxmlformats.org/drawingml/2006/main">
              <a:ext uri="{FF2B5EF4-FFF2-40B4-BE49-F238E27FC236}">
                <a16:creationId xmlns:a16="http://schemas.microsoft.com/office/drawing/2014/main" id="{A05BEA4D-D2AF-4DA5-B3B7-CCEFA43B2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95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627D98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627D98"/>
                </a:solidFill>
                <a:latin typeface="Calibri"/>
                <a:ea typeface="Calibri"/>
                <a:cs typeface="Calibri"/>
              </a:rPr>
              <a:t>Legal holder</a:t>
            </a:r>
          </a:p>
        </p:txBody>
      </p:sp>
      <p:sp>
        <p:nvSpPr>
          <p:cNvPr id="32" name="innovation-arrow">
            <a:extLst xmlns:a="http://schemas.openxmlformats.org/drawingml/2006/main">
              <a:ext uri="{FF2B5EF4-FFF2-40B4-BE49-F238E27FC236}">
                <a16:creationId xmlns:a16="http://schemas.microsoft.com/office/drawing/2014/main" id="{90C1F592-510E-49D8-BEC3-190021A22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019300"/>
            <a:ext cx="571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850" b="1">
                <a:solidFill>
                  <a:srgbClr val="C65D16"/>
                </a:solidFill>
                <a:latin typeface="Calibri"/>
                <a:ea typeface="Calibri"/>
                <a:cs typeface="Calibri"/>
              </a:defRPr>
            </a:pPr>
            <a:r>
              <a:rPr sz="2850" b="1">
                <a:solidFill>
                  <a:srgbClr val="C65D16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3" name="innovation-end">
            <a:extLst xmlns:a="http://schemas.openxmlformats.org/drawingml/2006/main">
              <a:ext uri="{FF2B5EF4-FFF2-40B4-BE49-F238E27FC236}">
                <a16:creationId xmlns:a16="http://schemas.microsoft.com/office/drawing/2014/main" id="{9E0B3578-1A9B-4D22-B98F-A274E790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095500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102A43"/>
                </a:solidFill>
                <a:latin typeface="Calibri"/>
                <a:ea typeface="Calibri"/>
                <a:cs typeface="Calibri"/>
              </a:defRPr>
            </a:pPr>
            <a:r>
              <a:rPr sz="1875" b="1">
                <a:solidFill>
                  <a:srgbClr val="102A43"/>
                </a:solidFill>
                <a:latin typeface="Calibri"/>
                <a:ea typeface="Calibri"/>
                <a:cs typeface="Calibri"/>
              </a:rPr>
              <a:t>Ultimate owner</a:t>
            </a:r>
          </a:p>
        </p:txBody>
      </p:sp>
      <p:sp>
        <p:nvSpPr>
          <p:cNvPr id="34" name="innovation-copy">
            <a:extLst xmlns:a="http://schemas.openxmlformats.org/drawingml/2006/main">
              <a:ext uri="{FF2B5EF4-FFF2-40B4-BE49-F238E27FC236}">
                <a16:creationId xmlns:a16="http://schemas.microsoft.com/office/drawing/2014/main" id="{158D69E2-3E89-453F-9D28-BBF3C6EAE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05125"/>
            <a:ext cx="4000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>
                <a:solidFill>
                  <a:srgbClr val="1F2933"/>
                </a:solidFill>
                <a:latin typeface="Calibri"/>
                <a:ea typeface="Calibri"/>
                <a:cs typeface="Calibri"/>
              </a:defRPr>
            </a:pPr>
            <a:r>
              <a:rPr sz="1725">
                <a:solidFill>
                  <a:srgbClr val="1F2933"/>
                </a:solidFill>
                <a:latin typeface="Calibri"/>
                <a:ea typeface="Calibri"/>
                <a:cs typeface="Calibri"/>
              </a:rPr>
              <a:t>A reproducible ownership map that preserves accounting totals while revealing the household incidence hidden inside financial institutions.</a:t>
            </a:r>
          </a:p>
        </p:txBody>
      </p:sp>
    </p:spTree>
    <p:extLst>
      <p:ext uri="{BB962C8B-B14F-4D97-AF65-F5344CB8AC3E}">
        <p14:creationId xmlns:p14="http://schemas.microsoft.com/office/powerpoint/2010/main" val="1658438733"/>
      </p:ext>
    </p:extLst>
  </p:cSld>
</p:sld>
</file>

<file path=ppt/theme/theme1.xml><?xml version="1.0" encoding="utf-8"?>
<a:theme xmlns:a="http://schemas.openxmlformats.org/drawingml/2006/main" name="ChatGPT">
  <a:themeElements>
    <a:clrScheme name="Replication validation">
      <a:dk1>
        <a:srgbClr val="000000"/>
      </a:dk1>
      <a:lt1>
        <a:srgbClr val="FFFFFF"/>
      </a:lt1>
      <a:dk2>
        <a:srgbClr val="102A43"/>
      </a:dk2>
      <a:lt2>
        <a:srgbClr val="D8E1E8"/>
      </a:lt2>
      <a:accent1>
        <a:srgbClr val="2E5B88"/>
      </a:accent1>
      <a:accent2>
        <a:srgbClr val="C65D16"/>
      </a:accent2>
      <a:accent3>
        <a:srgbClr val="2F855A"/>
      </a:accent3>
      <a:accent4>
        <a:srgbClr val="B83232"/>
      </a:accent4>
      <a:accent5>
        <a:srgbClr val="B7791F"/>
      </a:accent5>
      <a:accent6>
        <a:srgbClr val="627D98"/>
      </a:accent6>
      <a:hlink>
        <a:srgbClr val="2E5B88"/>
      </a:hlink>
      <a:folHlink>
        <a:srgbClr val="C65D16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Replication validation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2026-08-10T15:29:53.9240000Z</dcterms:created>
  <dcterms:modified xsi:type="dcterms:W3CDTF">2026-08-10T15:29:53.9240000Z</dcterms:modified>
</coreProperties>
</file>
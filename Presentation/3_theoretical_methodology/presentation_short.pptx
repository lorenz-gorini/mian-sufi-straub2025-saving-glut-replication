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72e67185394fc9" /><Relationship Type="http://schemas.openxmlformats.org/officeDocument/2006/relationships/extended-properties" Target="/docProps/app.xml" Id="R1fb41e124a8547af" /><Relationship Type="http://schemas.openxmlformats.org/officeDocument/2006/relationships/officeDocument" Target="/ppt/presentation.xml" Id="R0d08c4ac57714a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6070e27134e86"/>
  </p:sldMasterIdLst>
  <p:notesMasterIdLst>
    <p:notesMasterId xmlns:r="http://schemas.openxmlformats.org/officeDocument/2006/relationships" r:id="R051275df8b7546a1"/>
  </p:notesMasterIdLst>
  <p:sldIdLst>
    <p:sldId xmlns:r="http://schemas.openxmlformats.org/officeDocument/2006/relationships" id="256" r:id="R0b573d2887e54cfb"/>
    <p:sldId xmlns:r="http://schemas.openxmlformats.org/officeDocument/2006/relationships" id="257" r:id="R2cdd430a75c3437c"/>
    <p:sldId xmlns:r="http://schemas.openxmlformats.org/officeDocument/2006/relationships" id="258" r:id="R563c064f864241d4"/>
    <p:sldId xmlns:r="http://schemas.openxmlformats.org/officeDocument/2006/relationships" id="259" r:id="R35e72dcb29c942ca"/>
    <p:sldId xmlns:r="http://schemas.openxmlformats.org/officeDocument/2006/relationships" id="260" r:id="R99799c8f243042d0"/>
    <p:sldId xmlns:r="http://schemas.openxmlformats.org/officeDocument/2006/relationships" id="261" r:id="Rbc4902783f464aaf"/>
    <p:sldId xmlns:r="http://schemas.openxmlformats.org/officeDocument/2006/relationships" id="262" r:id="R028c601b239b40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4c1d006b04664" /><Relationship Type="http://schemas.openxmlformats.org/officeDocument/2006/relationships/slideMaster" Target="/ppt/slideMasters/slideMaster1.xml" Id="R76f6070e27134e86" /><Relationship Type="http://schemas.openxmlformats.org/officeDocument/2006/relationships/notesMaster" Target="/ppt/notesMasters/notesMaster1.xml" Id="R051275df8b7546a1" /><Relationship Type="http://schemas.openxmlformats.org/officeDocument/2006/relationships/presProps" Target="/ppt/presProps.xml" Id="R18f86846591c4cc3" /><Relationship Type="http://schemas.openxmlformats.org/officeDocument/2006/relationships/tableStyles" Target="/ppt/tableStyles.xml" Id="R5a7df1ce5c724598" /><Relationship Type="http://schemas.openxmlformats.org/officeDocument/2006/relationships/slide" Target="/ppt/slides/slide1.xml" Id="R0b573d2887e54cfb" /><Relationship Type="http://schemas.openxmlformats.org/officeDocument/2006/relationships/slide" Target="/ppt/slides/slide2.xml" Id="R2cdd430a75c3437c" /><Relationship Type="http://schemas.openxmlformats.org/officeDocument/2006/relationships/slide" Target="/ppt/slides/slide3.xml" Id="R563c064f864241d4" /><Relationship Type="http://schemas.openxmlformats.org/officeDocument/2006/relationships/slide" Target="/ppt/slides/slide4.xml" Id="R35e72dcb29c942ca" /><Relationship Type="http://schemas.openxmlformats.org/officeDocument/2006/relationships/slide" Target="/ppt/slides/slide5.xml" Id="R99799c8f243042d0" /><Relationship Type="http://schemas.openxmlformats.org/officeDocument/2006/relationships/slide" Target="/ppt/slides/slide6.xml" Id="Rbc4902783f464aaf" /><Relationship Type="http://schemas.openxmlformats.org/officeDocument/2006/relationships/slide" Target="/ppt/slides/slide7.xml" Id="R028c601b239b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0c3d22c631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62b27665a41cf" /><Relationship Type="http://schemas.openxmlformats.org/officeDocument/2006/relationships/notesMaster" Target="/ppt/notesMasters/notesMaster1.xml" Id="R42269a9ce1fa4e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34073800984088" /><Relationship Type="http://schemas.openxmlformats.org/officeDocument/2006/relationships/notesMaster" Target="/ppt/notesMasters/notesMaster1.xml" Id="R98ac07eb8f7b41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fa6ddec7134fd4" /><Relationship Type="http://schemas.openxmlformats.org/officeDocument/2006/relationships/notesMaster" Target="/ppt/notesMasters/notesMaster1.xml" Id="R01713ea5436243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d10c92511d4cc7" /><Relationship Type="http://schemas.openxmlformats.org/officeDocument/2006/relationships/notesMaster" Target="/ppt/notesMasters/notesMaster1.xml" Id="R7a1baf7da5944a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3dffcaf5e94c21" /><Relationship Type="http://schemas.openxmlformats.org/officeDocument/2006/relationships/notesMaster" Target="/ppt/notesMasters/notesMaster1.xml" Id="Re175f217ceaa4b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10d7da0a504b59" /><Relationship Type="http://schemas.openxmlformats.org/officeDocument/2006/relationships/notesMaster" Target="/ppt/notesMasters/notesMaster1.xml" Id="R2dce13c58487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3f363d79544beb" /><Relationship Type="http://schemas.openxmlformats.org/officeDocument/2006/relationships/notesMaster" Target="/ppt/notesMasters/notesMaster1.xml" Id="R05087d5df855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module for combining the methodology with the data and empirical results decks.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Sections 2.1–2.2.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Unveiling follows every liability until the claim reaches a terminal owner.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Sections 2.1–2.2.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Aggregate instrument positions in dollars, then divide each issuer row by its own liabilities.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 2.1 and Equation (4).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block solve is the paper's full-matrix series restricted to claims that terminate at owners.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 2.2 and Equation (1).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reciprocal bank–fund link creates infinitely many paths, all with economically readable weights.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Replication/Code/examples/leontief_unveiling.py.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additional 52.093 percentage points are the bank's household claim carried through the fund and every reciprocal loop.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Replication/Code/examples/leontief_unveiling.py.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They share proportional allocation logic; equivalence requires the same fixed matrix in every round.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Replication/MSS2021Febreplicationkit/code/build_fa_unveiling_data.do.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Replication/MSS_SGR_July242025.pdf, Section 2.2.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Replication/docs/methods/leontief-unveiling.md.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d55c7bba446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6311029a594b94" /><Relationship Type="http://schemas.openxmlformats.org/officeDocument/2006/relationships/slideLayout" Target="/ppt/slideLayouts/slideLayout1.xml" Id="R66161fc74cb4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161fc74cb4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50d7bc58b4d14" /><Relationship Type="http://schemas.openxmlformats.org/officeDocument/2006/relationships/notesSlide" Target="/ppt/notesSlides/notesSlide1.xml" Id="Rd6bfa78e0a7a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d118f36864429" /><Relationship Type="http://schemas.openxmlformats.org/officeDocument/2006/relationships/image" Target="/ppt/media/image.png" Id="Rf49648ec6082489d" /><Relationship Type="http://schemas.openxmlformats.org/officeDocument/2006/relationships/image" Target="/ppt/media/image2.png" Id="Rccef4e225d4d4d62" /><Relationship Type="http://schemas.openxmlformats.org/officeDocument/2006/relationships/image" Target="/ppt/media/image3.png" Id="R946ceeb28f434f5e" /><Relationship Type="http://schemas.openxmlformats.org/officeDocument/2006/relationships/notesSlide" Target="/ppt/notesSlides/notesSlide2.xml" Id="R65d8b19cb8af4f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d7885c34043c8" /><Relationship Type="http://schemas.openxmlformats.org/officeDocument/2006/relationships/image" Target="/ppt/media/image.png" Id="Rdd1a1c48ca4b4ac4" /><Relationship Type="http://schemas.openxmlformats.org/officeDocument/2006/relationships/image" Target="/ppt/media/image2.png" Id="Re0d390fc85124df2" /><Relationship Type="http://schemas.openxmlformats.org/officeDocument/2006/relationships/image" Target="/ppt/media/image.svg" Id="R3cbeea6044804fa7" /><Relationship Type="http://schemas.openxmlformats.org/officeDocument/2006/relationships/image" Target="/ppt/media/image2.svg" Id="Rc4c3f3dbb17f4278" /><Relationship Type="http://schemas.openxmlformats.org/officeDocument/2006/relationships/notesSlide" Target="/ppt/notesSlides/notesSlide3.xml" Id="Rfaafc9baf4324c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4f9a3b03e45ab" /><Relationship Type="http://schemas.openxmlformats.org/officeDocument/2006/relationships/image" Target="/ppt/media/image.png" Id="R4fba92e42ff245d7" /><Relationship Type="http://schemas.openxmlformats.org/officeDocument/2006/relationships/image" Target="/ppt/media/image2.png" Id="R8ee9a99218db4aeb" /><Relationship Type="http://schemas.openxmlformats.org/officeDocument/2006/relationships/image" Target="/ppt/media/image3.svg" Id="R561c63e9db3b4767" /><Relationship Type="http://schemas.openxmlformats.org/officeDocument/2006/relationships/image" Target="/ppt/media/image3.png" Id="Rd47e92cc34eb44af" /><Relationship Type="http://schemas.openxmlformats.org/officeDocument/2006/relationships/image" Target="/ppt/media/image4.png" Id="R17368dbc506b46d8" /><Relationship Type="http://schemas.openxmlformats.org/officeDocument/2006/relationships/image" Target="/ppt/media/image4.svg" Id="R9e6926fd370a4221" /><Relationship Type="http://schemas.openxmlformats.org/officeDocument/2006/relationships/image" Target="/ppt/media/image5.png" Id="R71f6daa9e05c4c76" /><Relationship Type="http://schemas.openxmlformats.org/officeDocument/2006/relationships/image" Target="/ppt/media/image5.svg" Id="R36e86e0a0c584983" /><Relationship Type="http://schemas.openxmlformats.org/officeDocument/2006/relationships/image" Target="/ppt/media/image6.png" Id="Re9534458b2af4ed6" /><Relationship Type="http://schemas.openxmlformats.org/officeDocument/2006/relationships/image" Target="/ppt/media/image6.svg" Id="R61cf04b0f2a7420b" /><Relationship Type="http://schemas.openxmlformats.org/officeDocument/2006/relationships/notesSlide" Target="/ppt/notesSlides/notesSlide4.xml" Id="Rf5d7767c24924d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1691da6c14f91" /><Relationship Type="http://schemas.openxmlformats.org/officeDocument/2006/relationships/image" Target="/ppt/media/image.png" Id="R6ca33de2488f4856" /><Relationship Type="http://schemas.openxmlformats.org/officeDocument/2006/relationships/image" Target="/ppt/media/image2.png" Id="R56e6a9da85e949d3" /><Relationship Type="http://schemas.openxmlformats.org/officeDocument/2006/relationships/image" Target="/ppt/media/image7.png" Id="R1d915211ab5144b7" /><Relationship Type="http://schemas.openxmlformats.org/officeDocument/2006/relationships/notesSlide" Target="/ppt/notesSlides/notesSlide5.xml" Id="R7d8a64bf00ec40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abf869d824b68" /><Relationship Type="http://schemas.openxmlformats.org/officeDocument/2006/relationships/image" Target="/ppt/media/image.png" Id="R6cec96be28534b5f" /><Relationship Type="http://schemas.openxmlformats.org/officeDocument/2006/relationships/image" Target="/ppt/media/image2.png" Id="R12e2be0ac36f4318" /><Relationship Type="http://schemas.openxmlformats.org/officeDocument/2006/relationships/image" Target="/ppt/media/image7.svg" Id="R5802900ef10e48a4" /><Relationship Type="http://schemas.openxmlformats.org/officeDocument/2006/relationships/image" Target="/ppt/media/image7.png" Id="R631cfe822a7e4633" /><Relationship Type="http://schemas.openxmlformats.org/officeDocument/2006/relationships/image" Target="/ppt/media/image8.png" Id="Rf602faf3f161413d" /><Relationship Type="http://schemas.openxmlformats.org/officeDocument/2006/relationships/image" Target="/ppt/media/image8.svg" Id="R64a67a2a8eee43a6" /><Relationship Type="http://schemas.openxmlformats.org/officeDocument/2006/relationships/image" Target="/ppt/media/image9.png" Id="R44b942ea45c04a8e" /><Relationship Type="http://schemas.openxmlformats.org/officeDocument/2006/relationships/image" Target="/ppt/media/image9.svg" Id="R9ea6816930e643f0" /><Relationship Type="http://schemas.openxmlformats.org/officeDocument/2006/relationships/image" Target="/ppt/media/image10.png" Id="Rcfd05cbb39604bfd" /><Relationship Type="http://schemas.openxmlformats.org/officeDocument/2006/relationships/image" Target="/ppt/media/image10.svg" Id="R116147f5933b4ab6" /><Relationship Type="http://schemas.openxmlformats.org/officeDocument/2006/relationships/notesSlide" Target="/ppt/notesSlides/notesSlide6.xml" Id="R718f7c37d4b247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a344a5d5445f8" /><Relationship Type="http://schemas.openxmlformats.org/officeDocument/2006/relationships/image" Target="/ppt/media/image.png" Id="Rc9eb879888594d1e" /><Relationship Type="http://schemas.openxmlformats.org/officeDocument/2006/relationships/image" Target="/ppt/media/image2.png" Id="Re6887115785e4470" /><Relationship Type="http://schemas.openxmlformats.org/officeDocument/2006/relationships/image" Target="/ppt/media/image11.png" Id="R65b0e23dd4a8421b" /><Relationship Type="http://schemas.openxmlformats.org/officeDocument/2006/relationships/image" Target="/ppt/media/image11.svg" Id="Ra44e4957e8f5459a" /><Relationship Type="http://schemas.openxmlformats.org/officeDocument/2006/relationships/image" Target="/ppt/media/image12.png" Id="Re3cdf5cf83e544b4" /><Relationship Type="http://schemas.openxmlformats.org/officeDocument/2006/relationships/image" Target="/ppt/media/image12.svg" Id="R04ab4c54af6e4147" /><Relationship Type="http://schemas.openxmlformats.org/officeDocument/2006/relationships/notesSlide" Target="/ppt/notesSlides/notesSlide7.xml" Id="R6e710465160e4b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69941DB9-9128-4CC6-96D4-76F2DED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E7C051A-E968-48D4-932F-BE04BBAA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THEORETICAL METHODOLOGY · CONDENSED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9C12F6-118A-41FC-9B31-6EE8D81D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Unveiling the Financial Network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69E33F4-CEE0-4100-92AF-B6E5F46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 seven-slide account of the paper's ownership matrix and Leontief inverse</a:t>
            </a:r>
          </a:p>
        </p:txBody>
      </p:sp>
      <p:sp>
        <p:nvSpPr>
          <p:cNvPr id="5" name="legend-2021">
            <a:extLst xmlns:a="http://schemas.openxmlformats.org/drawingml/2006/main">
              <a:ext uri="{FF2B5EF4-FFF2-40B4-BE49-F238E27FC236}">
                <a16:creationId xmlns:a16="http://schemas.microsoft.com/office/drawing/2014/main" id="{04EB5C43-CA63-49BC-BC30-BC9BE88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legend-2021-text">
            <a:extLst xmlns:a="http://schemas.openxmlformats.org/drawingml/2006/main">
              <a:ext uri="{FF2B5EF4-FFF2-40B4-BE49-F238E27FC236}">
                <a16:creationId xmlns:a16="http://schemas.microsoft.com/office/drawing/2014/main" id="{C9C3AB10-5751-4F82-8A86-8D819F2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/>
            </a:r>
          </a:p>
        </p:txBody>
      </p:sp>
      <p:sp>
        <p:nvSpPr>
          <p:cNvPr id="7" name="legend-2025">
            <a:extLst xmlns:a="http://schemas.openxmlformats.org/drawingml/2006/main">
              <a:ext uri="{FF2B5EF4-FFF2-40B4-BE49-F238E27FC236}">
                <a16:creationId xmlns:a16="http://schemas.microsoft.com/office/drawing/2014/main" id="{B87B36AA-45A7-426E-9A02-DB03462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legend-2025-text">
            <a:extLst xmlns:a="http://schemas.openxmlformats.org/drawingml/2006/main">
              <a:ext uri="{FF2B5EF4-FFF2-40B4-BE49-F238E27FC236}">
                <a16:creationId xmlns:a16="http://schemas.microsoft.com/office/drawing/2014/main" id="{391AA843-EE9C-4B5B-9375-1CFEC09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/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086423BF-9FA1-4716-82E0-A79C2563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Prepared 10 August 2026</a:t>
            </a:r>
          </a:p>
        </p:txBody>
      </p:sp>
      <p:sp>
        <p:nvSpPr>
          <p:cNvPr id="11" name="cover-rule">
            <a:extLst xmlns:a="http://schemas.openxmlformats.org/drawingml/2006/main">
              <a:ext uri="{FF2B5EF4-FFF2-40B4-BE49-F238E27FC236}">
                <a16:creationId xmlns:a16="http://schemas.microsoft.com/office/drawing/2014/main" id="{369B74CE-011E-413C-8B3E-388828D9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8"/>
            </a:solidFill>
            <a:prstDash val="solid"/>
          </a:ln>
        </p:spPr>
      </p:sp>
      <p:sp>
        <p:nvSpPr>
          <p:cNvPr id="12" name="cover-thesis-label">
            <a:extLst xmlns:a="http://schemas.openxmlformats.org/drawingml/2006/main">
              <a:ext uri="{FF2B5EF4-FFF2-40B4-BE49-F238E27FC236}">
                <a16:creationId xmlns:a16="http://schemas.microsoft.com/office/drawing/2014/main" id="{7222C5D8-9165-4722-8E76-87F6A3F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CORE QUESTION</a:t>
            </a:r>
          </a:p>
        </p:txBody>
      </p:sp>
      <p:sp>
        <p:nvSpPr>
          <p:cNvPr id="13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2830B1D3-553C-4D22-8FD8-8F15641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How do we recover ultimate owners from a network of direct financial claims?</a:t>
            </a:r>
          </a:p>
        </p:txBody>
      </p:sp>
    </p:spTree>
    <p:extLst>
      <p:ext uri="{BB962C8B-B14F-4D97-AF65-F5344CB8AC3E}">
        <p14:creationId xmlns:p14="http://schemas.microsoft.com/office/powerpoint/2010/main" val="1771765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THE ECONOMIC PROBLEM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Intermediation hides the ultimate owner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OBSERVED BALANCE-SHEET CHAIN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ECONOMIC INCIDENCE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648ec6082489d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f4e225d4d4d62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Unveiling follows every liability until the claim reaches a terminal owner.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Sections 2.1–2.2.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ceeb28f434f5e"/>
          <a:stretch xmlns:a="http://schemas.openxmlformats.org/drawingml/2006/main"/>
        </p:blipFill>
        <p:spPr>
          <a:xfrm xmlns:a="http://schemas.openxmlformats.org/drawingml/2006/main">
            <a:off x="723900" y="2694831"/>
            <a:ext cx="4905375" cy="801589"/>
          </a:xfrm>
          <a:prstGeom xmlns:a="http://schemas.openxmlformats.org/drawingml/2006/main" prst="rect">
            <a:avLst/>
          </a:prstGeom>
        </p:spPr>
      </p:pic>
      <p:sp>
        <p:nvSpPr>
          <p:cNvPr id="20" name="short-recorded">
            <a:extLst xmlns:a="http://schemas.openxmlformats.org/drawingml/2006/main">
              <a:ext uri="{FF2B5EF4-FFF2-40B4-BE49-F238E27FC236}">
                <a16:creationId xmlns:a16="http://schemas.microsoft.com/office/drawing/2014/main" id="{75CA0C52-2813-4BCA-9633-CDF28DBB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What accounts record</a:t>
            </a:r>
          </a:p>
        </p:txBody>
      </p:sp>
      <p:sp>
        <p:nvSpPr>
          <p:cNvPr id="21" name="short-recorded-copy">
            <a:extLst xmlns:a="http://schemas.openxmlformats.org/drawingml/2006/main">
              <a:ext uri="{FF2B5EF4-FFF2-40B4-BE49-F238E27FC236}">
                <a16:creationId xmlns:a16="http://schemas.microsoft.com/office/drawing/2014/main" id="{553F42A2-8446-4388-8239-8E0495B7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Primary asset → bank → fund → household</a:t>
            </a:r>
          </a:p>
        </p:txBody>
      </p:sp>
      <p:sp>
        <p:nvSpPr>
          <p:cNvPr id="22" name="short-chain-divider">
            <a:extLst xmlns:a="http://schemas.openxmlformats.org/drawingml/2006/main">
              <a:ext uri="{FF2B5EF4-FFF2-40B4-BE49-F238E27FC236}">
                <a16:creationId xmlns:a16="http://schemas.microsoft.com/office/drawing/2014/main" id="{4FA05298-D084-421E-BC8B-8AEE64A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short-incidence">
            <a:extLst xmlns:a="http://schemas.openxmlformats.org/drawingml/2006/main">
              <a:ext uri="{FF2B5EF4-FFF2-40B4-BE49-F238E27FC236}">
                <a16:creationId xmlns:a16="http://schemas.microsoft.com/office/drawing/2014/main" id="{786CC233-F69D-4D8D-844D-B3B082C0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What incidence asks</a:t>
            </a:r>
          </a:p>
        </p:txBody>
      </p:sp>
      <p:sp>
        <p:nvSpPr>
          <p:cNvPr id="24" name="short-incidence-copy">
            <a:extLst xmlns:a="http://schemas.openxmlformats.org/drawingml/2006/main">
              <a:ext uri="{FF2B5EF4-FFF2-40B4-BE49-F238E27FC236}">
                <a16:creationId xmlns:a16="http://schemas.microsoft.com/office/drawing/2014/main" id="{5EAE878C-445F-4024-987B-DCDAB9CB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Which terminal sector ultimately owns the primary claim?</a:t>
            </a:r>
          </a:p>
        </p:txBody>
      </p:sp>
    </p:spTree>
    <p:extLst>
      <p:ext uri="{BB962C8B-B14F-4D97-AF65-F5344CB8AC3E}">
        <p14:creationId xmlns:p14="http://schemas.microsoft.com/office/powerpoint/2010/main" val="710926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DIRECT OWNERSHIP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Rows issue liabilities; columns hold them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PAPER EQUATION (4)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ORIENTATION AND INVARIANT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a1c48ca4b4ac4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390fc85124df2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Build the direct network from instrument claims; Figure 1 counts household claims on intermediary issuers before the solve.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 2.1 and Equation (4).</a:t>
            </a:r>
          </a:p>
        </p:txBody>
      </p:sp>
      <p:sp>
        <p:nvSpPr>
          <p:cNvPr id="19" name="short-eq4-surface">
            <a:extLst xmlns:a="http://schemas.openxmlformats.org/drawingml/2006/main">
              <a:ext uri="{FF2B5EF4-FFF2-40B4-BE49-F238E27FC236}">
                <a16:creationId xmlns:a16="http://schemas.microsoft.com/office/drawing/2014/main" id="{7E26CB99-C4CE-458D-A34A-6526A711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a1c48ca4b4ac4">
            <a:extLst>
              <a:ext uri="{96DAC541-7B7A-43D3-8B79-37D633B846F1}">
                <asvg:svgBlip xmlns:asvg="http://schemas.microsoft.com/office/drawing/2016/SVG/main" r:embed="R3cbeea6044804f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3153" y="2143125"/>
            <a:ext cx="4157343" cy="714375"/>
          </a:xfrm>
          <a:prstGeom xmlns:a="http://schemas.openxmlformats.org/drawingml/2006/main" prst="rect">
            <a:avLst/>
          </a:prstGeom>
        </p:spPr>
      </p:pic>
      <p:sp>
        <p:nvSpPr>
          <p:cNvPr id="21" name="short-eq4-defs">
            <a:extLst xmlns:a="http://schemas.openxmlformats.org/drawingml/2006/main">
              <a:ext uri="{FF2B5EF4-FFF2-40B4-BE49-F238E27FC236}">
                <a16:creationId xmlns:a16="http://schemas.microsoft.com/office/drawing/2014/main" id="{4B6B4D50-0A10-4C9E-A1A4-A82218E5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Mₕ,ₜ: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dollar matrix for instrument h.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liabilities issued by each sector.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⊙: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elementwise row scaling.</a:t>
            </a:r>
          </a:p>
        </p:txBody>
      </p:sp>
      <p:sp>
        <p:nvSpPr>
          <p:cNvPr id="22" name="row-def-surface">
            <a:extLst xmlns:a="http://schemas.openxmlformats.org/drawingml/2006/main">
              <a:ext uri="{FF2B5EF4-FFF2-40B4-BE49-F238E27FC236}">
                <a16:creationId xmlns:a16="http://schemas.microsoft.com/office/drawing/2014/main" id="{7C36510E-314A-48EC-AD3F-5CCAAAAF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57375"/>
            <a:ext cx="4333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row-def">
            <a:extLst xmlns:a="http://schemas.openxmlformats.org/drawingml/2006/main">
              <a:ext uri="{FF2B5EF4-FFF2-40B4-BE49-F238E27FC236}">
                <a16:creationId xmlns:a16="http://schemas.microsoft.com/office/drawing/2014/main" id="{DB3419E4-4B2D-42C0-BCD9-D1607F45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71675"/>
            <a:ext cx="4067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row i = issuer / borrower</a:t>
            </a:r>
          </a:p>
        </p:txBody>
      </p:sp>
      <p:sp>
        <p:nvSpPr>
          <p:cNvPr id="24" name="col-def-surface">
            <a:extLst xmlns:a="http://schemas.openxmlformats.org/drawingml/2006/main">
              <a:ext uri="{FF2B5EF4-FFF2-40B4-BE49-F238E27FC236}">
                <a16:creationId xmlns:a16="http://schemas.microsoft.com/office/drawing/2014/main" id="{1F962B3E-FD79-46C2-9417-949B7160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62250"/>
            <a:ext cx="4333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col-def">
            <a:extLst xmlns:a="http://schemas.openxmlformats.org/drawingml/2006/main">
              <a:ext uri="{FF2B5EF4-FFF2-40B4-BE49-F238E27FC236}">
                <a16:creationId xmlns:a16="http://schemas.microsoft.com/office/drawing/2014/main" id="{0EB1B40C-03C8-4607-87CB-4C42C5B6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76550"/>
            <a:ext cx="4067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column j = holder / lender</a:t>
            </a:r>
          </a:p>
        </p:txBody>
      </p:sp>
      <p:sp>
        <p:nvSpPr>
          <p:cNvPr id="26" name="row-invariant-surface">
            <a:extLst xmlns:a="http://schemas.openxmlformats.org/drawingml/2006/main">
              <a:ext uri="{FF2B5EF4-FFF2-40B4-BE49-F238E27FC236}">
                <a16:creationId xmlns:a16="http://schemas.microsoft.com/office/drawing/2014/main" id="{A9A15AFC-9F77-4102-ABA3-81EB0515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57625"/>
            <a:ext cx="3095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390fc85124df2">
            <a:extLst>
              <a:ext uri="{96DAC541-7B7A-43D3-8B79-37D633B846F1}">
                <asvg:svgBlip xmlns:asvg="http://schemas.microsoft.com/office/drawing/2016/SVG/main" r:embed="Rc4c3f3dbb17f42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0" y="3983692"/>
            <a:ext cx="2714625" cy="4146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26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LEONTIEF INVERSE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One inverse sums every intermediary path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PAPER EQUATION (1)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EQUIVALENT ULTIMATE-OWNER BLOCK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a92e42ff245d7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9a99218db4aeb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block solve is the paper's full-matrix series restricted to claims that terminate at owners.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 2.2 and Equation (1).</a:t>
            </a:r>
          </a:p>
        </p:txBody>
      </p:sp>
      <p:sp>
        <p:nvSpPr>
          <p:cNvPr id="19" name="paper-leontief-surface">
            <a:extLst xmlns:a="http://schemas.openxmlformats.org/drawingml/2006/main">
              <a:ext uri="{FF2B5EF4-FFF2-40B4-BE49-F238E27FC236}">
                <a16:creationId xmlns:a16="http://schemas.microsoft.com/office/drawing/2014/main" id="{B7F73AA8-5EBC-4B29-8242-EB563126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905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e92cc34eb44af">
            <a:extLst>
              <a:ext uri="{96DAC541-7B7A-43D3-8B79-37D633B846F1}">
                <asvg:svgBlip xmlns:asvg="http://schemas.microsoft.com/office/drawing/2016/SVG/main" r:embed="R561c63e9db3b47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321189"/>
            <a:ext cx="4524375" cy="262997"/>
          </a:xfrm>
          <a:prstGeom xmlns:a="http://schemas.openxmlformats.org/drawingml/2006/main" prst="rect">
            <a:avLst/>
          </a:prstGeom>
        </p:spPr>
      </p:pic>
      <p:sp>
        <p:nvSpPr>
          <p:cNvPr id="21" name="short-paper-copy">
            <a:extLst xmlns:a="http://schemas.openxmlformats.org/drawingml/2006/main">
              <a:ext uri="{FF2B5EF4-FFF2-40B4-BE49-F238E27FC236}">
                <a16:creationId xmlns:a16="http://schemas.microsoft.com/office/drawing/2014/main" id="{9B8299AE-4608-4122-83BA-21547FA2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M̄ₜ is the full unveiled ownership matrix.</a:t>
            </a:r>
          </a:p>
        </p:txBody>
      </p:sp>
      <p:sp>
        <p:nvSpPr>
          <p:cNvPr id="22" name="terminal-m-surface">
            <a:extLst xmlns:a="http://schemas.openxmlformats.org/drawingml/2006/main">
              <a:ext uri="{FF2B5EF4-FFF2-40B4-BE49-F238E27FC236}">
                <a16:creationId xmlns:a16="http://schemas.microsoft.com/office/drawing/2014/main" id="{F9300B95-2848-43DC-BCC9-92FE4D44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4812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68dbc506b46d8">
            <a:extLst>
              <a:ext uri="{96DAC541-7B7A-43D3-8B79-37D633B846F1}">
                <asvg:svgBlip xmlns:asvg="http://schemas.microsoft.com/office/drawing/2016/SVG/main" r:embed="R9e6926fd370a42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77350" y="4143375"/>
            <a:ext cx="1027051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short-leontief-surface">
            <a:extLst xmlns:a="http://schemas.openxmlformats.org/drawingml/2006/main">
              <a:ext uri="{FF2B5EF4-FFF2-40B4-BE49-F238E27FC236}">
                <a16:creationId xmlns:a16="http://schemas.microsoft.com/office/drawing/2014/main" id="{775B6AB2-4A04-42EB-81AF-303A98BD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429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6daa9e05c4c76">
            <a:extLst>
              <a:ext uri="{96DAC541-7B7A-43D3-8B79-37D633B846F1}">
                <asvg:svgBlip xmlns:asvg="http://schemas.microsoft.com/office/drawing/2016/SVG/main" r:embed="R36e86e0a0c5849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34200" y="2185141"/>
            <a:ext cx="3895725" cy="506519"/>
          </a:xfrm>
          <a:prstGeom xmlns:a="http://schemas.openxmlformats.org/drawingml/2006/main" prst="rect">
            <a:avLst/>
          </a:prstGeom>
        </p:spPr>
      </p:pic>
      <p:sp>
        <p:nvSpPr>
          <p:cNvPr id="26" name="short-block-defs">
            <a:extLst xmlns:a="http://schemas.openxmlformats.org/drawingml/2006/main">
              <a:ext uri="{FF2B5EF4-FFF2-40B4-BE49-F238E27FC236}">
                <a16:creationId xmlns:a16="http://schemas.microsoft.com/office/drawing/2014/main" id="{6CF7C471-603C-49C9-A717-BC0017E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238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direct exits from intermediaries to owners.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Qₜ: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ownership that remains inside intermediaries.</a:t>
            </a:r>
          </a:p>
        </p:txBody>
      </p:sp>
      <p:sp>
        <p:nvSpPr>
          <p:cNvPr id="27" name="spectral-surface">
            <a:extLst xmlns:a="http://schemas.openxmlformats.org/drawingml/2006/main">
              <a:ext uri="{FF2B5EF4-FFF2-40B4-BE49-F238E27FC236}">
                <a16:creationId xmlns:a16="http://schemas.microsoft.com/office/drawing/2014/main" id="{C42D9D4A-F1F3-4FFE-920E-93AA3536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2714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34458b2af4ed6">
            <a:extLst>
              <a:ext uri="{96DAC541-7B7A-43D3-8B79-37D633B846F1}">
                <asvg:svgBlip xmlns:asvg="http://schemas.microsoft.com/office/drawing/2016/SVG/main" r:embed="R61cf04b0f2a742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39597" y="4333875"/>
            <a:ext cx="1284931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26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WORKED NETWORK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A four-sector network makes every path auditable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DIRECT-OWNERSHIP GRAPH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EDGE MEANING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33de2488f4856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6a9da85e949d3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reciprocal bank–fund link creates infinitely many paths, all with economically readable weights.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worked example; edge labels are direct liability shares.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15211ab5144b7"/>
          <a:stretch xmlns:a="http://schemas.openxmlformats.org/drawingml/2006/main"/>
        </p:blipFill>
        <p:spPr>
          <a:xfrm xmlns:a="http://schemas.openxmlformats.org/drawingml/2006/main">
            <a:off x="978169" y="1619250"/>
            <a:ext cx="4358736" cy="3095625"/>
          </a:xfrm>
          <a:prstGeom xmlns:a="http://schemas.openxmlformats.org/drawingml/2006/main" prst="rect">
            <a:avLst/>
          </a:prstGeom>
        </p:spPr>
      </p:pic>
      <p:sp>
        <p:nvSpPr>
          <p:cNvPr id="20" name="short-edge-list">
            <a:extLst xmlns:a="http://schemas.openxmlformats.org/drawingml/2006/main">
              <a:ext uri="{FF2B5EF4-FFF2-40B4-BE49-F238E27FC236}">
                <a16:creationId xmlns:a16="http://schemas.microsoft.com/office/drawing/2014/main" id="{618BFCD0-3F0F-46F6-A559-925F45F4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Bank row:</a:t>
            </a: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 20%, G 10%, F 70%.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Fund row:</a:t>
            </a: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 60%, G 20%, B 20%.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Arrow i → j:</a:t>
            </a: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j holds i's liability.</a:t>
            </a:r>
          </a:p>
        </p:txBody>
      </p:sp>
      <p:sp>
        <p:nvSpPr>
          <p:cNvPr id="21" name="short-loop">
            <a:extLst xmlns:a="http://schemas.openxmlformats.org/drawingml/2006/main">
              <a:ext uri="{FF2B5EF4-FFF2-40B4-BE49-F238E27FC236}">
                <a16:creationId xmlns:a16="http://schemas.microsoft.com/office/drawing/2014/main" id="{525DCAFF-C537-4CD2-BF84-6F12C590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3714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RECIPROCAL INTERMEDIATION: B ↔ F</a:t>
            </a:r>
          </a:p>
        </p:txBody>
      </p:sp>
    </p:spTree>
    <p:extLst>
      <p:ext uri="{BB962C8B-B14F-4D97-AF65-F5344CB8AC3E}">
        <p14:creationId xmlns:p14="http://schemas.microsoft.com/office/powerpoint/2010/main" val="710926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WORKED RESULT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Direct 20% becomes ultimate household ownership of 72.093%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FIXED-POINT LOGIC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DIRECT + INDIRECT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c96be28534b5f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2be0ac36f4318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additional 52.093 percentage points are the bank's household claim carried through the fund and every reciprocal loop.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worked example; values are percentage shares of the bank's liabilities.</a:t>
            </a:r>
          </a:p>
        </p:txBody>
      </p:sp>
      <p:sp>
        <p:nvSpPr>
          <p:cNvPr id="19" name="bank-hh-surface">
            <a:extLst xmlns:a="http://schemas.openxmlformats.org/drawingml/2006/main">
              <a:ext uri="{FF2B5EF4-FFF2-40B4-BE49-F238E27FC236}">
                <a16:creationId xmlns:a16="http://schemas.microsoft.com/office/drawing/2014/main" id="{3E2351DB-75AB-4CC6-8902-6E299FB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cfe822a7e4633">
            <a:extLst>
              <a:ext uri="{96DAC541-7B7A-43D3-8B79-37D633B846F1}">
                <asvg:svgBlip xmlns:asvg="http://schemas.microsoft.com/office/drawing/2016/SVG/main" r:embed="R5802900ef10e48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2152902"/>
            <a:ext cx="4229100" cy="342396"/>
          </a:xfrm>
          <a:prstGeom xmlns:a="http://schemas.openxmlformats.org/drawingml/2006/main" prst="rect">
            <a:avLst/>
          </a:prstGeom>
        </p:spPr>
      </p:pic>
      <p:sp>
        <p:nvSpPr>
          <p:cNvPr id="21" name="fund-hh-surface">
            <a:extLst xmlns:a="http://schemas.openxmlformats.org/drawingml/2006/main">
              <a:ext uri="{FF2B5EF4-FFF2-40B4-BE49-F238E27FC236}">
                <a16:creationId xmlns:a16="http://schemas.microsoft.com/office/drawing/2014/main" id="{DCAC5895-9BE6-43FA-87C9-2B0D1E0C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2faf3f161413d">
            <a:extLst>
              <a:ext uri="{96DAC541-7B7A-43D3-8B79-37D633B846F1}">
                <asvg:svgBlip xmlns:asvg="http://schemas.microsoft.com/office/drawing/2016/SVG/main" r:embed="R64a67a2a8eee43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200652"/>
            <a:ext cx="4229100" cy="342396"/>
          </a:xfrm>
          <a:prstGeom xmlns:a="http://schemas.openxmlformats.org/drawingml/2006/main" prst="rect">
            <a:avLst/>
          </a:prstGeom>
        </p:spPr>
      </p:pic>
      <p:sp>
        <p:nvSpPr>
          <p:cNvPr id="23" name="result-surface">
            <a:extLst xmlns:a="http://schemas.openxmlformats.org/drawingml/2006/main">
              <a:ext uri="{FF2B5EF4-FFF2-40B4-BE49-F238E27FC236}">
                <a16:creationId xmlns:a16="http://schemas.microsoft.com/office/drawing/2014/main" id="{1395D496-E35F-4CDB-A1D2-2887F58A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3857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942ea45c04a8e">
            <a:extLst>
              <a:ext uri="{96DAC541-7B7A-43D3-8B79-37D633B846F1}">
                <asvg:svgBlip xmlns:asvg="http://schemas.microsoft.com/office/drawing/2016/SVG/main" r:embed="R9ea6816930e643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43050" y="4290525"/>
            <a:ext cx="3248025" cy="315301"/>
          </a:xfrm>
          <a:prstGeom xmlns:a="http://schemas.openxmlformats.org/drawingml/2006/main" prst="rect">
            <a:avLst/>
          </a:prstGeom>
        </p:spPr>
      </p:pic>
      <p:sp>
        <p:nvSpPr>
          <p:cNvPr id="25" name="short-bar-title">
            <a:extLst xmlns:a="http://schemas.openxmlformats.org/drawingml/2006/main">
              <a:ext uri="{FF2B5EF4-FFF2-40B4-BE49-F238E27FC236}">
                <a16:creationId xmlns:a16="http://schemas.microsoft.com/office/drawing/2014/main" id="{BCE0075A-FA05-496B-B31A-63422ECD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Household share of bank liabilities</a:t>
            </a:r>
          </a:p>
        </p:txBody>
      </p:sp>
      <p:sp>
        <p:nvSpPr>
          <p:cNvPr id="26" name="short-bar-direct">
            <a:extLst xmlns:a="http://schemas.openxmlformats.org/drawingml/2006/main">
              <a:ext uri="{FF2B5EF4-FFF2-40B4-BE49-F238E27FC236}">
                <a16:creationId xmlns:a16="http://schemas.microsoft.com/office/drawing/2014/main" id="{09D90224-3F3C-4DC7-A298-EFF16798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11811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E5B88"/>
          </a:solidFill>
          <a:ln xmlns:a="http://schemas.openxmlformats.org/drawingml/2006/main" w="9525">
            <a:solidFill>
              <a:srgbClr val="2E5B88"/>
            </a:solidFill>
            <a:prstDash val="solid"/>
          </a:ln>
        </p:spPr>
      </p:sp>
      <p:sp>
        <p:nvSpPr>
          <p:cNvPr id="27" name="short-bar-indirect">
            <a:extLst xmlns:a="http://schemas.openxmlformats.org/drawingml/2006/main">
              <a:ext uri="{FF2B5EF4-FFF2-40B4-BE49-F238E27FC236}">
                <a16:creationId xmlns:a16="http://schemas.microsoft.com/office/drawing/2014/main" id="{B0589555-CD00-4B8F-B2F8-47F2A6C0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14625"/>
            <a:ext cx="30099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sp>
        <p:nvSpPr>
          <p:cNvPr id="28" name="short-direct-label">
            <a:extLst xmlns:a="http://schemas.openxmlformats.org/drawingml/2006/main">
              <a:ext uri="{FF2B5EF4-FFF2-40B4-BE49-F238E27FC236}">
                <a16:creationId xmlns:a16="http://schemas.microsoft.com/office/drawing/2014/main" id="{D88FA9CB-437F-49DD-AD22-851FD83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20.0%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direct</a:t>
            </a:r>
          </a:p>
        </p:txBody>
      </p:sp>
      <p:sp>
        <p:nvSpPr>
          <p:cNvPr id="29" name="short-indirect-label">
            <a:extLst xmlns:a="http://schemas.openxmlformats.org/drawingml/2006/main">
              <a:ext uri="{FF2B5EF4-FFF2-40B4-BE49-F238E27FC236}">
                <a16:creationId xmlns:a16="http://schemas.microsoft.com/office/drawing/2014/main" id="{369A9FC2-68F3-4FFD-A65A-618C653E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09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52.093% indirect</a:t>
            </a:r>
          </a:p>
        </p:txBody>
      </p:sp>
      <p:sp>
        <p:nvSpPr>
          <p:cNvPr id="30" name="total-household-surface">
            <a:extLst xmlns:a="http://schemas.openxmlformats.org/drawingml/2006/main">
              <a:ext uri="{FF2B5EF4-FFF2-40B4-BE49-F238E27FC236}">
                <a16:creationId xmlns:a16="http://schemas.microsoft.com/office/drawing/2014/main" id="{0A040904-23D1-4613-9010-EFB61657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333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05cbb39604bfd">
            <a:extLst>
              <a:ext uri="{96DAC541-7B7A-43D3-8B79-37D633B846F1}">
                <asvg:svgBlip xmlns:asvg="http://schemas.microsoft.com/office/drawing/2016/SVG/main" r:embed="R116147f5933b4a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3800" y="4112938"/>
            <a:ext cx="2724150" cy="3656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26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REPLICATION CHOICE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2021 rounds are not a fixed-Q truncation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AUTHORS' 2021 STAGE-SPECIFIC PIPELINE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2025 METHOD AND OUR IMPLEMENTATION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b879888594d1e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87115785e4470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They share proportional allocation logic; equivalence requires the same fixed matrix in every round.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2021 replication kit; July 2025 paper; docs/methods/leontief-unveiling.md.</a:t>
            </a:r>
          </a:p>
        </p:txBody>
      </p:sp>
      <p:sp>
        <p:nvSpPr>
          <p:cNvPr id="19" name="seven-sum-surface">
            <a:extLst xmlns:a="http://schemas.openxmlformats.org/drawingml/2006/main">
              <a:ext uri="{FF2B5EF4-FFF2-40B4-BE49-F238E27FC236}">
                <a16:creationId xmlns:a16="http://schemas.microsoft.com/office/drawing/2014/main" id="{3F74E429-9F59-4687-903E-63A42CA6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667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0e23dd4a8421b">
            <a:extLst>
              <a:ext uri="{96DAC541-7B7A-43D3-8B79-37D633B846F1}">
                <asvg:svgBlip xmlns:asvg="http://schemas.microsoft.com/office/drawing/2016/SVG/main" r:embed="Ra44e4957e8f5459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2500" y="2266950"/>
            <a:ext cx="4381500" cy="438150"/>
          </a:xfrm>
          <a:prstGeom xmlns:a="http://schemas.openxmlformats.org/drawingml/2006/main" prst="rect">
            <a:avLst/>
          </a:prstGeom>
        </p:spPr>
      </p:pic>
      <p:sp>
        <p:nvSpPr>
          <p:cNvPr id="21" name="short-seven-copy">
            <a:extLst xmlns:a="http://schemas.openxmlformats.org/drawingml/2006/main">
              <a:ext uri="{FF2B5EF4-FFF2-40B4-BE49-F238E27FC236}">
                <a16:creationId xmlns:a16="http://schemas.microsoft.com/office/drawing/2014/main" id="{95833F1B-BEAA-42A7-9790-3D0F000E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Seven stages change instruments, adjustments, and residual rules.</a:t>
            </a:r>
          </a:p>
        </p:txBody>
      </p:sp>
      <p:sp>
        <p:nvSpPr>
          <p:cNvPr id="22" name="infinite-solve-surface">
            <a:extLst xmlns:a="http://schemas.openxmlformats.org/drawingml/2006/main">
              <a:ext uri="{FF2B5EF4-FFF2-40B4-BE49-F238E27FC236}">
                <a16:creationId xmlns:a16="http://schemas.microsoft.com/office/drawing/2014/main" id="{8ED1E445-9A03-4651-B2B5-0A0C7C58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47875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df5cf83e544b4">
            <a:extLst>
              <a:ext uri="{96DAC541-7B7A-43D3-8B79-37D633B846F1}">
                <asvg:svgBlip xmlns:asvg="http://schemas.microsoft.com/office/drawing/2016/SVG/main" r:embed="R04ab4c54af6e41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38975" y="2227338"/>
            <a:ext cx="3686175" cy="479273"/>
          </a:xfrm>
          <a:prstGeom xmlns:a="http://schemas.openxmlformats.org/drawingml/2006/main" prst="rect">
            <a:avLst/>
          </a:prstGeom>
        </p:spPr>
      </p:pic>
      <p:sp>
        <p:nvSpPr>
          <p:cNvPr id="24" name="short-invariants">
            <a:extLst xmlns:a="http://schemas.openxmlformats.org/drawingml/2006/main">
              <a:ext uri="{FF2B5EF4-FFF2-40B4-BE49-F238E27FC236}">
                <a16:creationId xmlns:a16="http://schemas.microsoft.com/office/drawing/2014/main" id="{753E4025-966D-4C03-A281-8FB4733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Convergence: ρ(Qₜ) &lt; 1.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Conservation: Ωₜ1ₘ = 1ₖ.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Implementation: solve the linear system directly.</a:t>
            </a:r>
          </a:p>
        </p:txBody>
      </p:sp>
    </p:spTree>
    <p:extLst>
      <p:ext uri="{BB962C8B-B14F-4D97-AF65-F5344CB8AC3E}">
        <p14:creationId xmlns:p14="http://schemas.microsoft.com/office/powerpoint/2010/main" val="710926485"/>
      </p:ext>
    </p:extLst>
  </p:cSld>
</p:sld>
</file>

<file path=ppt/theme/theme1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2026-08-10T15:29:54.6160000Z</dcterms:created>
  <dcterms:modified xsi:type="dcterms:W3CDTF">2026-08-10T15:29:54.6160000Z</dcterms:modified>
</coreProperties>
</file>
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3252ce5bc248df" /><Relationship Type="http://schemas.openxmlformats.org/officeDocument/2006/relationships/extended-properties" Target="/docProps/app.xml" Id="R518dcd9c916d4337" /><Relationship Type="http://schemas.openxmlformats.org/officeDocument/2006/relationships/officeDocument" Target="/ppt/presentation.xml" Id="Rcf4d1684e48440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5de10982c440a8"/>
  </p:sldMasterIdLst>
  <p:notesMasterIdLst>
    <p:notesMasterId xmlns:r="http://schemas.openxmlformats.org/officeDocument/2006/relationships" r:id="Rb0d92dbf1811462b"/>
  </p:notesMasterIdLst>
  <p:sldIdLst>
    <p:sldId xmlns:r="http://schemas.openxmlformats.org/officeDocument/2006/relationships" id="256" r:id="R5219d21714954a53"/>
    <p:sldId xmlns:r="http://schemas.openxmlformats.org/officeDocument/2006/relationships" id="257" r:id="R82ffa5d5b3324850"/>
    <p:sldId xmlns:r="http://schemas.openxmlformats.org/officeDocument/2006/relationships" id="258" r:id="Rd4f451282d6f4d8e"/>
    <p:sldId xmlns:r="http://schemas.openxmlformats.org/officeDocument/2006/relationships" id="259" r:id="Rf80b7847ded44255"/>
    <p:sldId xmlns:r="http://schemas.openxmlformats.org/officeDocument/2006/relationships" id="260" r:id="R5a864849d9b449f1"/>
    <p:sldId xmlns:r="http://schemas.openxmlformats.org/officeDocument/2006/relationships" id="261" r:id="R36193fde03b3416a"/>
    <p:sldId xmlns:r="http://schemas.openxmlformats.org/officeDocument/2006/relationships" id="262" r:id="Rf60a6db337274a9c"/>
    <p:sldId xmlns:r="http://schemas.openxmlformats.org/officeDocument/2006/relationships" id="263" r:id="Rf005935ede1144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09bbc047474abf" /><Relationship Type="http://schemas.openxmlformats.org/officeDocument/2006/relationships/slideMaster" Target="/ppt/slideMasters/slideMaster1.xml" Id="R995de10982c440a8" /><Relationship Type="http://schemas.openxmlformats.org/officeDocument/2006/relationships/notesMaster" Target="/ppt/notesMasters/notesMaster1.xml" Id="Rb0d92dbf1811462b" /><Relationship Type="http://schemas.openxmlformats.org/officeDocument/2006/relationships/presProps" Target="/ppt/presProps.xml" Id="R8c52c33ebd3e490d" /><Relationship Type="http://schemas.openxmlformats.org/officeDocument/2006/relationships/tableStyles" Target="/ppt/tableStyles.xml" Id="Rd77b790118b94952" /><Relationship Type="http://schemas.openxmlformats.org/officeDocument/2006/relationships/slide" Target="/ppt/slides/slide1.xml" Id="R5219d21714954a53" /><Relationship Type="http://schemas.openxmlformats.org/officeDocument/2006/relationships/slide" Target="/ppt/slides/slide2.xml" Id="R82ffa5d5b3324850" /><Relationship Type="http://schemas.openxmlformats.org/officeDocument/2006/relationships/slide" Target="/ppt/slides/slide3.xml" Id="Rd4f451282d6f4d8e" /><Relationship Type="http://schemas.openxmlformats.org/officeDocument/2006/relationships/slide" Target="/ppt/slides/slide4.xml" Id="Rf80b7847ded44255" /><Relationship Type="http://schemas.openxmlformats.org/officeDocument/2006/relationships/slide" Target="/ppt/slides/slide5.xml" Id="R5a864849d9b449f1" /><Relationship Type="http://schemas.openxmlformats.org/officeDocument/2006/relationships/slide" Target="/ppt/slides/slide6.xml" Id="R36193fde03b3416a" /><Relationship Type="http://schemas.openxmlformats.org/officeDocument/2006/relationships/slide" Target="/ppt/slides/slide7.xml" Id="Rf60a6db337274a9c" /><Relationship Type="http://schemas.openxmlformats.org/officeDocument/2006/relationships/slide" Target="/ppt/slides/slide8.xml" Id="Rf005935ede1144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b2072a8974b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2ca76c08464a48" /><Relationship Type="http://schemas.openxmlformats.org/officeDocument/2006/relationships/notesMaster" Target="/ppt/notesMasters/notesMaster1.xml" Id="R331b86feb0374a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f435d06a3f4cbb" /><Relationship Type="http://schemas.openxmlformats.org/officeDocument/2006/relationships/notesMaster" Target="/ppt/notesMasters/notesMaster1.xml" Id="Re462ac86d61a47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8a4590ff1f4ea0" /><Relationship Type="http://schemas.openxmlformats.org/officeDocument/2006/relationships/notesMaster" Target="/ppt/notesMasters/notesMaster1.xml" Id="Rd59dfe26b69d4a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c677426b4c4b49" /><Relationship Type="http://schemas.openxmlformats.org/officeDocument/2006/relationships/notesMaster" Target="/ppt/notesMasters/notesMaster1.xml" Id="R34bcc53ac52f4c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5012220da64e5f" /><Relationship Type="http://schemas.openxmlformats.org/officeDocument/2006/relationships/notesMaster" Target="/ppt/notesMasters/notesMaster1.xml" Id="Rb368cd44c6c042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3be46a26f94c56" /><Relationship Type="http://schemas.openxmlformats.org/officeDocument/2006/relationships/notesMaster" Target="/ppt/notesMasters/notesMaster1.xml" Id="R53a08972d5ad4b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e46056a3cf469b" /><Relationship Type="http://schemas.openxmlformats.org/officeDocument/2006/relationships/notesMaster" Target="/ppt/notesMasters/notesMaster1.xml" Id="R57ffa73c688d49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46672f5fec4ee2" /><Relationship Type="http://schemas.openxmlformats.org/officeDocument/2006/relationships/notesMaster" Target="/ppt/notesMasters/notesMaster1.xml" Id="Rb0565f7df2254d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docs/project/tasks/figure8-replication.md</a:t>
            </a:r>
          </a:p>
          <a:p xmlns:a="http://schemas.openxmlformats.org/drawingml/2006/main">
            <a:r>
              <a:t>- docs/data/figure8-public-fwtw-data.md</a:t>
            </a:r>
          </a:p>
          <a:p xmlns:a="http://schemas.openxmlformats.org/drawingml/2006/main">
            <a:r>
              <a:t>- Presentation/4_figure_comparison/presentation.pptx (visual source)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4.1–4.2 and Figure 8</a:t>
            </a:r>
          </a:p>
          <a:p xmlns:a="http://schemas.openxmlformats.org/drawingml/2006/main">
            <a:r>
              <a:t>- Code/unveiling/figure8_public_fwtw.py</a:t>
            </a:r>
          </a:p>
          <a:p xmlns:a="http://schemas.openxmlformats.org/drawingml/2006/main">
            <a:r>
              <a:t>- Code/unveiling/figure8_authors.py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2.2 and 4.1; Table A1</a:t>
            </a:r>
          </a:p>
          <a:p xmlns:a="http://schemas.openxmlformats.org/drawingml/2006/main">
            <a:r>
              <a:t>- Data/raw/fwtw/fwtw_data_2026-06-18.csv</a:t>
            </a:r>
          </a:p>
          <a:p xmlns:a="http://schemas.openxmlformats.org/drawingml/2006/main">
            <a:r>
              <a:t>- docs/data/figure8-public-fwtw-data.md</a:t>
            </a:r>
          </a:p>
          <a:p xmlns:a="http://schemas.openxmlformats.org/drawingml/2006/main">
            <a:r>
              <a:t>- docs/data/figure8-data.md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equations (1), (3), and (4); Sections 4.1–4.2</a:t>
            </a:r>
          </a:p>
          <a:p xmlns:a="http://schemas.openxmlformats.org/drawingml/2006/main">
            <a:r>
              <a:t>- Code/unveiling/figure8_public_fwtw.py</a:t>
            </a:r>
          </a:p>
          <a:p xmlns:a="http://schemas.openxmlformats.org/drawingml/2006/main">
            <a:r>
              <a:t>- Data/interim/figure8_public_fwtw_network_diagnostics.csv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 2.2</a:t>
            </a:r>
          </a:p>
          <a:p xmlns:a="http://schemas.openxmlformats.org/drawingml/2006/main">
            <a:r>
              <a:t>- https://www.federalreserve.gov/releases/efa/fwtw.htm</a:t>
            </a:r>
          </a:p>
          <a:p xmlns:a="http://schemas.openxmlformats.org/drawingml/2006/main">
            <a:r>
              <a:t>- https://www.federalreserve.gov/releases/efa/fwtw_announcements.htm</a:t>
            </a:r>
          </a:p>
          <a:p xmlns:a="http://schemas.openxmlformats.org/drawingml/2006/main">
            <a:r>
              <a:t>- Data/raw/README.md</a:t>
            </a:r>
          </a:p>
          <a:p xmlns:a="http://schemas.openxmlformats.org/drawingml/2006/main">
            <a:r>
              <a:t>- docs/data/figure8-public-fwtw-data.md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8, physical page 29; digitized benchmark</a:t>
            </a:r>
          </a:p>
          <a:p xmlns:a="http://schemas.openxmlformats.org/drawingml/2006/main">
            <a:r>
              <a:t>- Results_Proposal/figures/figure8_method_comparison_top1.png</a:t>
            </a:r>
          </a:p>
          <a:p xmlns:a="http://schemas.openxmlformats.org/drawingml/2006/main">
            <a:r>
              <a:t>- Results_Proposal/figures/figure8_method_comparison_bottom99.png</a:t>
            </a:r>
          </a:p>
          <a:p xmlns:a="http://schemas.openxmlformats.org/drawingml/2006/main">
            <a:r>
              <a:t>- Data/processed/figure8_method_comparison_metrics.csv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Results_Proposal/figures/figure8_public_fwtw_full_leontief.png</a:t>
            </a:r>
          </a:p>
          <a:p xmlns:a="http://schemas.openxmlformats.org/drawingml/2006/main">
            <a:r>
              <a:t>- Results_Proposal/figures/figure8_public_fwtw_sensitivity.png</a:t>
            </a:r>
          </a:p>
          <a:p xmlns:a="http://schemas.openxmlformats.org/drawingml/2006/main">
            <a:r>
              <a:t>- Data/interim/figure8_public_fwtw_network_diagnostics.csv</a:t>
            </a:r>
          </a:p>
          <a:p xmlns:a="http://schemas.openxmlformats.org/drawingml/2006/main">
            <a:r>
              <a:t>- https://www.federalreserve.gov/releases/efa/fwtw.htm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docs/project/tasks/figure8-replication.md</a:t>
            </a:r>
          </a:p>
          <a:p xmlns:a="http://schemas.openxmlformats.org/drawingml/2006/main">
            <a:r>
              <a:t>- docs/data/figure8-public-fwtw-data.md</a:t>
            </a:r>
          </a:p>
          <a:p xmlns:a="http://schemas.openxmlformats.org/drawingml/2006/main">
            <a:r>
              <a:t>- Data/processed/figure8_method_comparison_metrics.csv</a:t>
            </a:r>
          </a:p>
          <a:p xmlns:a="http://schemas.openxmlformats.org/drawingml/2006/main">
            <a:r>
              <a:t>- MSS_SGR_July242025.pdf, Figure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0c186dafe4a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e957316c584c9e" /><Relationship Type="http://schemas.openxmlformats.org/officeDocument/2006/relationships/slideLayout" Target="/ppt/slideLayouts/slideLayout1.xml" Id="R991437bdbc1c42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1437bdbc1c42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2b18aca6b4948" /><Relationship Type="http://schemas.openxmlformats.org/officeDocument/2006/relationships/notesSlide" Target="/ppt/notesSlides/notesSlide1.xml" Id="R1dbb70b7b7bf46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ec84443e94553" /><Relationship Type="http://schemas.openxmlformats.org/officeDocument/2006/relationships/notesSlide" Target="/ppt/notesSlides/notesSlide2.xml" Id="Rdc9fe09d4a374c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00db57b694a2d" /><Relationship Type="http://schemas.openxmlformats.org/officeDocument/2006/relationships/notesSlide" Target="/ppt/notesSlides/notesSlide3.xml" Id="R485540b38eb14e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bbe94bd7c4390" /><Relationship Type="http://schemas.openxmlformats.org/officeDocument/2006/relationships/notesSlide" Target="/ppt/notesSlides/notesSlide4.xml" Id="R825cc041b6ef41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a6a0d50d84b05" /><Relationship Type="http://schemas.openxmlformats.org/officeDocument/2006/relationships/notesSlide" Target="/ppt/notesSlides/notesSlide5.xml" Id="Rc9e76a41f99b4f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8450c11694038" /><Relationship Type="http://schemas.openxmlformats.org/officeDocument/2006/relationships/image" Target="/ppt/media/image.png" Id="R06a0b480ed4f438e" /><Relationship Type="http://schemas.openxmlformats.org/officeDocument/2006/relationships/image" Target="/ppt/media/image2.png" Id="R0bc73c2b587749df" /><Relationship Type="http://schemas.openxmlformats.org/officeDocument/2006/relationships/notesSlide" Target="/ppt/notesSlides/notesSlide6.xml" Id="Rf2a59a7a28eb4b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f2d342dfa4e19" /><Relationship Type="http://schemas.openxmlformats.org/officeDocument/2006/relationships/image" Target="/ppt/media/image3.png" Id="R254c2310974a4f6c" /><Relationship Type="http://schemas.openxmlformats.org/officeDocument/2006/relationships/image" Target="/ppt/media/image4.png" Id="Rbf98e4755b294c00" /><Relationship Type="http://schemas.openxmlformats.org/officeDocument/2006/relationships/notesSlide" Target="/ppt/notesSlides/notesSlide7.xml" Id="Rf33cb3d1f73a43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bba14c2424843" /><Relationship Type="http://schemas.openxmlformats.org/officeDocument/2006/relationships/notesSlide" Target="/ppt/notesSlides/notesSlide8.xml" Id="Ra870d2961db24b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69941DB9-9128-4CC6-96D4-76F2DED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E7C051A-E968-48D4-932F-BE04BBAA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65D16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FIGURE 8 METHOD COMPARISON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9C12F6-118A-41FC-9B31-6EE8D81D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096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Two routes to unveiled net household debt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69E33F4-CEE0-4100-92AF-B6E5F46A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Same 2025 estimand; different upstream data and network operators</a:t>
            </a:r>
          </a:p>
        </p:txBody>
      </p:sp>
      <p:sp>
        <p:nvSpPr>
          <p:cNvPr id="5" name="legend-2021">
            <a:extLst xmlns:a="http://schemas.openxmlformats.org/drawingml/2006/main">
              <a:ext uri="{FF2B5EF4-FFF2-40B4-BE49-F238E27FC236}">
                <a16:creationId xmlns:a16="http://schemas.microsoft.com/office/drawing/2014/main" id="{04EB5C43-CA63-49BC-BC30-BC9BE88C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gend-2021-text">
            <a:extLst xmlns:a="http://schemas.openxmlformats.org/drawingml/2006/main">
              <a:ext uri="{FF2B5EF4-FFF2-40B4-BE49-F238E27FC236}">
                <a16:creationId xmlns:a16="http://schemas.microsoft.com/office/drawing/2014/main" id="{C9C3AB10-5751-4F82-8A86-8D819F2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Preferred: public FWTW + full Leontief reconstruction</a:t>
            </a:r>
          </a:p>
        </p:txBody>
      </p:sp>
      <p:sp>
        <p:nvSpPr>
          <p:cNvPr id="7" name="legend-2025">
            <a:extLst xmlns:a="http://schemas.openxmlformats.org/drawingml/2006/main">
              <a:ext uri="{FF2B5EF4-FFF2-40B4-BE49-F238E27FC236}">
                <a16:creationId xmlns:a16="http://schemas.microsoft.com/office/drawing/2014/main" id="{B87B36AA-45A7-426E-9A02-DB03462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gend-2025-text">
            <a:extLst xmlns:a="http://schemas.openxmlformats.org/drawingml/2006/main">
              <a:ext uri="{FF2B5EF4-FFF2-40B4-BE49-F238E27FC236}">
                <a16:creationId xmlns:a16="http://schemas.microsoft.com/office/drawing/2014/main" id="{391AA843-EE9C-4B5B-9375-1CFEC09F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387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Retained: 2021-kit + seven-round proxy</a:t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086423BF-9FA1-4716-82E0-A79C2563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13 August 2026</a:t>
            </a:r>
          </a:p>
        </p:txBody>
      </p:sp>
    </p:spTree>
    <p:extLst>
      <p:ext uri="{BB962C8B-B14F-4D97-AF65-F5344CB8AC3E}">
        <p14:creationId xmlns:p14="http://schemas.microsoft.com/office/powerpoint/2010/main" val="1771765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COMMON TARGET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Both routes estimate the same net-debt object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02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2025 Figure 8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ND(g,t) = household-debt assets − debt owed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Scale by national income; subtract 1982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Paper target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Augment the household owner by wealth group, fully unveil the network, then isolate household debt.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Preferred route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Published FWTW bilateral levels + 2021 DINA/NIPA + full Leontief inverse.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Retained route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Authors’ final seven-round debt positions + the same group, sign, scale, and base rule.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Naming rule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Call the new result a public-FWTW full-Leontief reconstruction—not an exact reproduction of the unavailable authors’ 2025 vintage.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CCDADAC1-8C4D-48E3-9BDE-7D0105C4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TWO APPROACHES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18D928-06E0-42B3-830B-D127EF4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Only the new route rebuilds the direct network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5EE02D2-197F-445F-A35C-2EA6263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1C9E1B-0054-453E-9D94-C8D5FAD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03</a:t>
            </a:r>
          </a:p>
        </p:txBody>
      </p:sp>
      <p:sp>
        <p:nvSpPr>
          <p:cNvPr id="5" name="table-header-bg">
            <a:extLst xmlns:a="http://schemas.openxmlformats.org/drawingml/2006/main">
              <a:ext uri="{FF2B5EF4-FFF2-40B4-BE49-F238E27FC236}">
                <a16:creationId xmlns:a16="http://schemas.microsoft.com/office/drawing/2014/main" id="{9277E0ED-F6C4-4149-A42A-9164840C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erdict-cell-0-0">
            <a:extLst xmlns:a="http://schemas.openxmlformats.org/drawingml/2006/main">
              <a:ext uri="{FF2B5EF4-FFF2-40B4-BE49-F238E27FC236}">
                <a16:creationId xmlns:a16="http://schemas.microsoft.com/office/drawing/2014/main" id="{A8B3D9D6-0512-4FCA-B5B6-F04A51B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Object</a:t>
            </a:r>
          </a:p>
        </p:txBody>
      </p:sp>
      <p:sp>
        <p:nvSpPr>
          <p:cNvPr id="7" name="verdict-cell-0-1">
            <a:extLst xmlns:a="http://schemas.openxmlformats.org/drawingml/2006/main">
              <a:ext uri="{FF2B5EF4-FFF2-40B4-BE49-F238E27FC236}">
                <a16:creationId xmlns:a16="http://schemas.microsoft.com/office/drawing/2014/main" id="{314D8280-1229-4323-953B-267191AC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295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verdict-cell-0-2">
            <a:extLst xmlns:a="http://schemas.openxmlformats.org/drawingml/2006/main">
              <a:ext uri="{FF2B5EF4-FFF2-40B4-BE49-F238E27FC236}">
                <a16:creationId xmlns:a16="http://schemas.microsoft.com/office/drawing/2014/main" id="{B1830714-8E8C-4575-B98C-D8D61A38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9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Operator</a:t>
            </a:r>
          </a:p>
        </p:txBody>
      </p:sp>
      <p:sp>
        <p:nvSpPr>
          <p:cNvPr id="9" name="verdict-cell-0-3">
            <a:extLst xmlns:a="http://schemas.openxmlformats.org/drawingml/2006/main">
              <a:ext uri="{FF2B5EF4-FFF2-40B4-BE49-F238E27FC236}">
                <a16:creationId xmlns:a16="http://schemas.microsoft.com/office/drawing/2014/main" id="{D2F375CA-13C8-44A6-967B-F9B7854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95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Interpretation / boundary</a:t>
            </a:r>
          </a:p>
        </p:txBody>
      </p:sp>
      <p:sp>
        <p:nvSpPr>
          <p:cNvPr id="10" name="verdict-cell-1-0">
            <a:extLst xmlns:a="http://schemas.openxmlformats.org/drawingml/2006/main">
              <a:ext uri="{FF2B5EF4-FFF2-40B4-BE49-F238E27FC236}">
                <a16:creationId xmlns:a16="http://schemas.microsoft.com/office/drawing/2014/main" id="{0B2DF458-B966-4124-8D83-B884464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2025 target</a:t>
            </a:r>
          </a:p>
        </p:txBody>
      </p:sp>
      <p:sp>
        <p:nvSpPr>
          <p:cNvPr id="11" name="verdict-cell-1-1">
            <a:extLst xmlns:a="http://schemas.openxmlformats.org/drawingml/2006/main">
              <a:ext uri="{FF2B5EF4-FFF2-40B4-BE49-F238E27FC236}">
                <a16:creationId xmlns:a16="http://schemas.microsoft.com/office/drawing/2014/main" id="{90201C83-A6F1-4206-A7C6-167E1526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097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Custom 2019 vintage</a:t>
            </a:r>
          </a:p>
        </p:txBody>
      </p:sp>
      <p:sp>
        <p:nvSpPr>
          <p:cNvPr id="12" name="verdict-cell-1-2">
            <a:extLst xmlns:a="http://schemas.openxmlformats.org/drawingml/2006/main">
              <a:ext uri="{FF2B5EF4-FFF2-40B4-BE49-F238E27FC236}">
                <a16:creationId xmlns:a16="http://schemas.microsoft.com/office/drawing/2014/main" id="{32DE5752-BAC4-4A32-BB68-29A994CD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Full inverse</a:t>
            </a:r>
          </a:p>
        </p:txBody>
      </p:sp>
      <p:sp>
        <p:nvSpPr>
          <p:cNvPr id="13" name="verdict-cell-1-3">
            <a:extLst xmlns:a="http://schemas.openxmlformats.org/drawingml/2006/main">
              <a:ext uri="{FF2B5EF4-FFF2-40B4-BE49-F238E27FC236}">
                <a16:creationId xmlns:a16="http://schemas.microsoft.com/office/drawing/2014/main" id="{9AAA378F-92D9-4D55-8C4B-8AA6453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34 instruments; 23 intermediaries + 4 owners; custom equity extension</a:t>
            </a:r>
          </a:p>
        </p:txBody>
      </p:sp>
      <p:sp>
        <p:nvSpPr>
          <p:cNvPr id="14" name="verdict-line-1">
            <a:extLst xmlns:a="http://schemas.openxmlformats.org/drawingml/2006/main">
              <a:ext uri="{FF2B5EF4-FFF2-40B4-BE49-F238E27FC236}">
                <a16:creationId xmlns:a16="http://schemas.microsoft.com/office/drawing/2014/main" id="{36D0BA28-40E0-46FA-B98A-F40D165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erdict-cell-2-0">
            <a:extLst xmlns:a="http://schemas.openxmlformats.org/drawingml/2006/main">
              <a:ext uri="{FF2B5EF4-FFF2-40B4-BE49-F238E27FC236}">
                <a16:creationId xmlns:a16="http://schemas.microsoft.com/office/drawing/2014/main" id="{D6B34A90-10B7-43E7-A9CA-72853317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Old proxy</a:t>
            </a:r>
          </a:p>
        </p:txBody>
      </p:sp>
      <p:sp>
        <p:nvSpPr>
          <p:cNvPr id="16" name="verdict-cell-2-1">
            <a:extLst xmlns:a="http://schemas.openxmlformats.org/drawingml/2006/main">
              <a:ext uri="{FF2B5EF4-FFF2-40B4-BE49-F238E27FC236}">
                <a16:creationId xmlns:a16="http://schemas.microsoft.com/office/drawing/2014/main" id="{8FB108DE-6582-4A49-AA6A-28A3F5C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90775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2021 final file</a:t>
            </a:r>
          </a:p>
        </p:txBody>
      </p:sp>
      <p:sp>
        <p:nvSpPr>
          <p:cNvPr id="17" name="verdict-cell-2-2">
            <a:extLst xmlns:a="http://schemas.openxmlformats.org/drawingml/2006/main">
              <a:ext uri="{FF2B5EF4-FFF2-40B4-BE49-F238E27FC236}">
                <a16:creationId xmlns:a16="http://schemas.microsoft.com/office/drawing/2014/main" id="{E40E8BB3-FA57-431A-B616-28D444DF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B83232"/>
                </a:solidFill>
              </a:rPr>
              <a:t>Seven rounds</a:t>
            </a:r>
          </a:p>
        </p:txBody>
      </p:sp>
      <p:sp>
        <p:nvSpPr>
          <p:cNvPr id="18" name="verdict-cell-2-3">
            <a:extLst xmlns:a="http://schemas.openxmlformats.org/drawingml/2006/main">
              <a:ext uri="{FF2B5EF4-FFF2-40B4-BE49-F238E27FC236}">
                <a16:creationId xmlns:a16="http://schemas.microsoft.com/office/drawing/2014/main" id="{8E4FAC62-7FB5-4C1D-A366-D2800068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Starts after old unveiling; applies revised net-debt display rule</a:t>
            </a:r>
          </a:p>
        </p:txBody>
      </p:sp>
      <p:sp>
        <p:nvSpPr>
          <p:cNvPr id="19" name="verdict-line-2">
            <a:extLst xmlns:a="http://schemas.openxmlformats.org/drawingml/2006/main">
              <a:ext uri="{FF2B5EF4-FFF2-40B4-BE49-F238E27FC236}">
                <a16:creationId xmlns:a16="http://schemas.microsoft.com/office/drawing/2014/main" id="{D6F3C624-5E2D-4D0C-9EBC-23391BE6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verdict-cell-3-0">
            <a:extLst xmlns:a="http://schemas.openxmlformats.org/drawingml/2006/main">
              <a:ext uri="{FF2B5EF4-FFF2-40B4-BE49-F238E27FC236}">
                <a16:creationId xmlns:a16="http://schemas.microsoft.com/office/drawing/2014/main" id="{7F3B4CD4-3510-4A32-AB75-15AFD905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New rebuild</a:t>
            </a:r>
          </a:p>
        </p:txBody>
      </p:sp>
      <p:sp>
        <p:nvSpPr>
          <p:cNvPr id="21" name="verdict-cell-3-1">
            <a:extLst xmlns:a="http://schemas.openxmlformats.org/drawingml/2006/main">
              <a:ext uri="{FF2B5EF4-FFF2-40B4-BE49-F238E27FC236}">
                <a16:creationId xmlns:a16="http://schemas.microsoft.com/office/drawing/2014/main" id="{E8119FEB-B719-44B6-B3F2-CFDE374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718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2026 public FWTW</a:t>
            </a:r>
          </a:p>
        </p:txBody>
      </p:sp>
      <p:sp>
        <p:nvSpPr>
          <p:cNvPr id="22" name="verdict-cell-3-2">
            <a:extLst xmlns:a="http://schemas.openxmlformats.org/drawingml/2006/main">
              <a:ext uri="{FF2B5EF4-FFF2-40B4-BE49-F238E27FC236}">
                <a16:creationId xmlns:a16="http://schemas.microsoft.com/office/drawing/2014/main" id="{02EFC022-659F-4B94-988B-60DD62A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2E5B88"/>
                </a:solidFill>
              </a:rPr>
              <a:t>Full inverse</a:t>
            </a:r>
          </a:p>
        </p:txBody>
      </p:sp>
      <p:sp>
        <p:nvSpPr>
          <p:cNvPr id="23" name="verdict-cell-3-3">
            <a:extLst xmlns:a="http://schemas.openxmlformats.org/drawingml/2006/main">
              <a:ext uri="{FF2B5EF4-FFF2-40B4-BE49-F238E27FC236}">
                <a16:creationId xmlns:a16="http://schemas.microsoft.com/office/drawing/2014/main" id="{7BB53762-4019-4FC9-81A9-83ECF6C1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31 instruments; 25 substantive sectors; 2021 DINA/NIPA to 2016</a:t>
            </a:r>
          </a:p>
        </p:txBody>
      </p:sp>
      <p:sp>
        <p:nvSpPr>
          <p:cNvPr id="24" name="verdict-line-3">
            <a:extLst xmlns:a="http://schemas.openxmlformats.org/drawingml/2006/main">
              <a:ext uri="{FF2B5EF4-FFF2-40B4-BE49-F238E27FC236}">
                <a16:creationId xmlns:a16="http://schemas.microsoft.com/office/drawing/2014/main" id="{E118DD39-E35D-440D-8DAA-C42E439D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verdict-cell-4-0">
            <a:extLst xmlns:a="http://schemas.openxmlformats.org/drawingml/2006/main">
              <a:ext uri="{FF2B5EF4-FFF2-40B4-BE49-F238E27FC236}">
                <a16:creationId xmlns:a16="http://schemas.microsoft.com/office/drawing/2014/main" id="{0915FE12-C5CA-49A5-97AB-B2BD4E2E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Household split</a:t>
            </a:r>
          </a:p>
        </p:txBody>
      </p:sp>
      <p:sp>
        <p:nvSpPr>
          <p:cNvPr id="26" name="verdict-cell-4-1">
            <a:extLst xmlns:a="http://schemas.openxmlformats.org/drawingml/2006/main">
              <a:ext uri="{FF2B5EF4-FFF2-40B4-BE49-F238E27FC236}">
                <a16:creationId xmlns:a16="http://schemas.microsoft.com/office/drawing/2014/main" id="{E991A379-21C6-40AF-9F5D-8AA6C7C9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52825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Fine DINA shares</a:t>
            </a:r>
          </a:p>
        </p:txBody>
      </p:sp>
      <p:sp>
        <p:nvSpPr>
          <p:cNvPr id="27" name="verdict-cell-4-2">
            <a:extLst xmlns:a="http://schemas.openxmlformats.org/drawingml/2006/main">
              <a:ext uri="{FF2B5EF4-FFF2-40B4-BE49-F238E27FC236}">
                <a16:creationId xmlns:a16="http://schemas.microsoft.com/office/drawing/2014/main" id="{4B0A6676-7676-44BB-AAD9-8C49E9FC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5282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2F855A"/>
                </a:solidFill>
              </a:rPr>
              <a:t>Before solve</a:t>
            </a:r>
          </a:p>
        </p:txBody>
      </p:sp>
      <p:sp>
        <p:nvSpPr>
          <p:cNvPr id="28" name="verdict-cell-4-3">
            <a:extLst xmlns:a="http://schemas.openxmlformats.org/drawingml/2006/main">
              <a:ext uri="{FF2B5EF4-FFF2-40B4-BE49-F238E27FC236}">
                <a16:creationId xmlns:a16="http://schemas.microsoft.com/office/drawing/2014/main" id="{9973B27A-479C-4CC7-B8D8-7DC7CF47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52825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Asset-class shares split every direct household-holder cell by wealth group</a:t>
            </a:r>
          </a:p>
        </p:txBody>
      </p:sp>
      <p:sp>
        <p:nvSpPr>
          <p:cNvPr id="29" name="verdict-line-4">
            <a:extLst xmlns:a="http://schemas.openxmlformats.org/drawingml/2006/main">
              <a:ext uri="{FF2B5EF4-FFF2-40B4-BE49-F238E27FC236}">
                <a16:creationId xmlns:a16="http://schemas.microsoft.com/office/drawing/2014/main" id="{84F5ECF9-057D-418A-B1F9-411A9AAD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verdict-cell-5-0">
            <a:extLst xmlns:a="http://schemas.openxmlformats.org/drawingml/2006/main">
              <a:ext uri="{FF2B5EF4-FFF2-40B4-BE49-F238E27FC236}">
                <a16:creationId xmlns:a16="http://schemas.microsoft.com/office/drawing/2014/main" id="{E2E677CE-CA94-4502-BF76-461C588D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Debt owed</a:t>
            </a:r>
          </a:p>
        </p:txBody>
      </p:sp>
      <p:sp>
        <p:nvSpPr>
          <p:cNvPr id="31" name="verdict-cell-5-1">
            <a:extLst xmlns:a="http://schemas.openxmlformats.org/drawingml/2006/main">
              <a:ext uri="{FF2B5EF4-FFF2-40B4-BE49-F238E27FC236}">
                <a16:creationId xmlns:a16="http://schemas.microsoft.com/office/drawing/2014/main" id="{4DC3A0C4-FE6D-4DF9-B2A1-2F556A1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338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Public FWTW totals</a:t>
            </a:r>
          </a:p>
        </p:txBody>
      </p:sp>
      <p:sp>
        <p:nvSpPr>
          <p:cNvPr id="32" name="verdict-cell-5-2">
            <a:extLst xmlns:a="http://schemas.openxmlformats.org/drawingml/2006/main">
              <a:ext uri="{FF2B5EF4-FFF2-40B4-BE49-F238E27FC236}">
                <a16:creationId xmlns:a16="http://schemas.microsoft.com/office/drawing/2014/main" id="{07019A80-EDEE-486E-B2D1-F93AA2D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3385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3232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DINA split</a:t>
            </a:r>
          </a:p>
        </p:txBody>
      </p:sp>
      <p:sp>
        <p:nvSpPr>
          <p:cNvPr id="33" name="verdict-cell-5-3">
            <a:extLst xmlns:a="http://schemas.openxmlformats.org/drawingml/2006/main">
              <a:ext uri="{FF2B5EF4-FFF2-40B4-BE49-F238E27FC236}">
                <a16:creationId xmlns:a16="http://schemas.microsoft.com/office/drawing/2014/main" id="{8B3EFD13-83E1-4486-AA68-56C55EB2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Owner-mortgage shares + nonmortgage shares; five debt instruments</a:t>
            </a:r>
          </a:p>
        </p:txBody>
      </p:sp>
      <p:sp>
        <p:nvSpPr>
          <p:cNvPr id="34" name="verdict-line-5">
            <a:extLst xmlns:a="http://schemas.openxmlformats.org/drawingml/2006/main">
              <a:ext uri="{FF2B5EF4-FFF2-40B4-BE49-F238E27FC236}">
                <a16:creationId xmlns:a16="http://schemas.microsoft.com/office/drawing/2014/main" id="{1BB7F304-F599-4808-9888-64494CD1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verdict-cell-6-0">
            <a:extLst xmlns:a="http://schemas.openxmlformats.org/drawingml/2006/main">
              <a:ext uri="{FF2B5EF4-FFF2-40B4-BE49-F238E27FC236}">
                <a16:creationId xmlns:a16="http://schemas.microsoft.com/office/drawing/2014/main" id="{75B66E9E-9A08-4F65-8C04-69435F39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Main test</a:t>
            </a:r>
          </a:p>
        </p:txBody>
      </p:sp>
      <p:sp>
        <p:nvSpPr>
          <p:cNvPr id="36" name="verdict-cell-6-1">
            <a:extLst xmlns:a="http://schemas.openxmlformats.org/drawingml/2006/main">
              <a:ext uri="{FF2B5EF4-FFF2-40B4-BE49-F238E27FC236}">
                <a16:creationId xmlns:a16="http://schemas.microsoft.com/office/drawing/2014/main" id="{13C0A687-EF0A-4230-8C81-CD3663E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14875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Both vs paper</a:t>
            </a:r>
          </a:p>
        </p:txBody>
      </p:sp>
      <p:sp>
        <p:nvSpPr>
          <p:cNvPr id="37" name="verdict-cell-6-2">
            <a:extLst xmlns:a="http://schemas.openxmlformats.org/drawingml/2006/main">
              <a:ext uri="{FF2B5EF4-FFF2-40B4-BE49-F238E27FC236}">
                <a16:creationId xmlns:a16="http://schemas.microsoft.com/office/drawing/2014/main" id="{C203F508-9E22-4D53-8A5F-7C87E396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148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627D98"/>
                </a:solidFill>
              </a:rPr>
              <a:t>Diagnostic</a:t>
            </a:r>
          </a:p>
        </p:txBody>
      </p:sp>
      <p:sp>
        <p:nvSpPr>
          <p:cNvPr id="38" name="verdict-cell-6-3">
            <a:extLst xmlns:a="http://schemas.openxmlformats.org/drawingml/2006/main">
              <a:ext uri="{FF2B5EF4-FFF2-40B4-BE49-F238E27FC236}">
                <a16:creationId xmlns:a16="http://schemas.microsoft.com/office/drawing/2014/main" id="{5CEB16EC-EBA3-4D0B-92C4-8B65DD42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Operator and vintage change together; do not read the gap as causal</a:t>
            </a:r>
          </a:p>
        </p:txBody>
      </p:sp>
      <p:sp>
        <p:nvSpPr>
          <p:cNvPr id="39" name="verdict-line-6">
            <a:extLst xmlns:a="http://schemas.openxmlformats.org/drawingml/2006/main">
              <a:ext uri="{FF2B5EF4-FFF2-40B4-BE49-F238E27FC236}">
                <a16:creationId xmlns:a16="http://schemas.microsoft.com/office/drawing/2014/main" id="{835E53B7-4377-445E-B666-317B36E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akeaway">
            <a:extLst xmlns:a="http://schemas.openxmlformats.org/drawingml/2006/main">
              <a:ext uri="{FF2B5EF4-FFF2-40B4-BE49-F238E27FC236}">
                <a16:creationId xmlns:a16="http://schemas.microsoft.com/office/drawing/2014/main" id="{8BAB41DD-3568-4699-A969-60527F9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773F5E13-B739-44D4-9FD3-C4EE0132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Rule</a:t>
            </a:r>
          </a:p>
        </p:txBody>
      </p:sp>
      <p:sp>
        <p:nvSpPr>
          <p:cNvPr id="42" name="takeaway-body">
            <a:extLst xmlns:a="http://schemas.openxmlformats.org/drawingml/2006/main">
              <a:ext uri="{FF2B5EF4-FFF2-40B4-BE49-F238E27FC236}">
                <a16:creationId xmlns:a16="http://schemas.microsoft.com/office/drawing/2014/main" id="{D8EA2B6A-DE5B-46BD-89DB-2AE9BB69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38800"/>
            <a:ext cx="885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Use the new route for the final replication result; keep the old route as a transparent lineage benchmark.</a:t>
            </a:r>
          </a:p>
        </p:txBody>
      </p:sp>
    </p:spTree>
    <p:extLst>
      <p:ext uri="{BB962C8B-B14F-4D97-AF65-F5344CB8AC3E}">
        <p14:creationId xmlns:p14="http://schemas.microsoft.com/office/powerpoint/2010/main" val="391599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PREFERRED IMPLEMENTATION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public FWTW route follows the 2025 operator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04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Question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Who ultimately owns household debt after every intermediary chain?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1 · Expand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Map each FWTW instrument to DINA; split the direct household holder into four wealth groups.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2 · Unveil all chains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Sum instruments, row-normalize, then solve Ω = (I − Q)⁻¹B.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3 · Form net debt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Allocate household-debt assets through Omega; subtract mortgage and nonmortgage liabilities.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Invariant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Every direct and unveiled row sums to one; all-owner debt assets and household-group liabilities each close to aggregate debt.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DATA AND TAXONOMY BOUNDARY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method is close; the exact 2025 vintage is unavailable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05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Classification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Mixed-vintage method reconstruction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Not an exact numerical reproduction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1 · Public FWTW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Completed bilateral estimates: 31 instruments, 25 substantive sectors, June 2026 vintage.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2 · Distributional layer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Fine DINA asset and liability shares plus authors-kit national income, 1963–2016.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3 · Signed levels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Negative positions reverse direction per the Fed note; zero clipping is a sensitivity.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Vintage gap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paper’s 34-instrument, 27-sector matrices, exact crosswalk, and through-2019 extension were not recovered.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8 METHOD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Full unveiling improves top-1 fit, not every level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06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Top 1% · 2025 paper vs both implementations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Bottom 99% · 2025 paper vs both implementations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MIXED IMPROVEMENT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Top-1 MAE: 2.12 pp new vs 2.41 proxy. Bottom-99 MAE: 1.98 pp new vs 1.38 proxy.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Top-1 correlation rises to 0.998. The 2007 new result is +12.28 / −44.31 pp versus paper +18.02 / −38.76 pp.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0b480ed4f438e"/>
          <a:stretch xmlns:a="http://schemas.openxmlformats.org/drawingml/2006/main"/>
        </p:blipFill>
        <p:spPr>
          <a:xfrm xmlns:a="http://schemas.openxmlformats.org/drawingml/2006/main" flipH="0" flipV="0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73c2b587749df"/>
          <a:stretch xmlns:a="http://schemas.openxmlformats.org/drawingml/2006/main"/>
        </p:blipFill>
        <p:spPr>
          <a:xfrm xmlns:a="http://schemas.openxmlformats.org/drawingml/2006/main" flipH="0" flipV="0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VALIDATION AND SENSITIVITY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preferred result is stable to negative-cell treatment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07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Preferred reconstruction · five wealth groups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Reorient negative positions vs clip to zero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ACCOUNTING CLOSES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Max spectral radius 0.504; direct, unveiled, and primary-asset closure errors below 9×10⁻¹⁶.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Reorientation vs clipping changes top 1% by at most 0.09 pp and bottom 99% by at most 0.17 pp.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c2310974a4f6c"/>
          <a:stretch xmlns:a="http://schemas.openxmlformats.org/drawingml/2006/main"/>
        </p:blipFill>
        <p:spPr>
          <a:xfrm xmlns:a="http://schemas.openxmlformats.org/drawingml/2006/main" flipH="0" flipV="0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8e4755b294c00"/>
          <a:stretch xmlns:a="http://schemas.openxmlformats.org/drawingml/2006/main"/>
        </p:blipFill>
        <p:spPr>
          <a:xfrm xmlns:a="http://schemas.openxmlformats.org/drawingml/2006/main" flipH="0" flipV="0">
            <a:off x="6400802" y="1776603"/>
            <a:ext cx="5257795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REPLICATION SYNTHESIS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Use the full-Leontief result; retain the proxy as lineage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08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Submission choice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Lead with the new method reconstruction; show the old proxy as an audit.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Preferred result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Public completed FWTW + DINA/NIPA + full 2025 Leontief operator, 1963–2016.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Supporting result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2021-kit seven-round proxy preserves the older authors’ pipeline and downstream benchmark.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Interpretation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Both reproduce the central split: rising top-1 lending and bottom-99 borrowing after 1982.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Report explicitly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Operator, public vintage, taxonomy, and sample endpoint change together; the remaining paper gap is not a pure code effect.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theme/theme1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2026-08-13T20:53:04.6410000Z</dcterms:created>
  <dcterms:modified xsi:type="dcterms:W3CDTF">2026-08-13T20:53:04.6410000Z</dcterms:modified>
</coreProperties>
</file>
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aebc295c7ff4994" /><Relationship Type="http://schemas.openxmlformats.org/officeDocument/2006/relationships/extended-properties" Target="/docProps/app.xml" Id="R63bfe1f65e6c4131" /><Relationship Type="http://schemas.openxmlformats.org/officeDocument/2006/relationships/officeDocument" Target="/ppt/presentation.xml" Id="R7a4c7c580b6041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b4164fdcfc04f14"/>
  </p:sldMasterIdLst>
  <p:notesMasterIdLst>
    <p:notesMasterId xmlns:r="http://schemas.openxmlformats.org/officeDocument/2006/relationships" r:id="R32674529eafb4d9f"/>
  </p:notesMasterIdLst>
  <p:sldIdLst>
    <p:sldId xmlns:r="http://schemas.openxmlformats.org/officeDocument/2006/relationships" id="256" r:id="R75c00d5e719b4a6e"/>
    <p:sldId xmlns:r="http://schemas.openxmlformats.org/officeDocument/2006/relationships" id="257" r:id="Rd54b0e7aa5484aef"/>
    <p:sldId xmlns:r="http://schemas.openxmlformats.org/officeDocument/2006/relationships" id="258" r:id="R5511eee0c4734e20"/>
    <p:sldId xmlns:r="http://schemas.openxmlformats.org/officeDocument/2006/relationships" id="259" r:id="Rb9038c46540c43b7"/>
    <p:sldId xmlns:r="http://schemas.openxmlformats.org/officeDocument/2006/relationships" id="260" r:id="R2841a861ea2b490d"/>
    <p:sldId xmlns:r="http://schemas.openxmlformats.org/officeDocument/2006/relationships" id="261" r:id="Rc355bb02c577443b"/>
    <p:sldId xmlns:r="http://schemas.openxmlformats.org/officeDocument/2006/relationships" id="262" r:id="R29ae884459c94cde"/>
    <p:sldId xmlns:r="http://schemas.openxmlformats.org/officeDocument/2006/relationships" id="263" r:id="R7680a5b86b714aa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2d0cf3c5d144a5a" /><Relationship Type="http://schemas.openxmlformats.org/officeDocument/2006/relationships/slideMaster" Target="/ppt/slideMasters/slideMaster1.xml" Id="R1b4164fdcfc04f14" /><Relationship Type="http://schemas.openxmlformats.org/officeDocument/2006/relationships/notesMaster" Target="/ppt/notesMasters/notesMaster1.xml" Id="R32674529eafb4d9f" /><Relationship Type="http://schemas.openxmlformats.org/officeDocument/2006/relationships/presProps" Target="/ppt/presProps.xml" Id="Re0b5e256a2044b83" /><Relationship Type="http://schemas.openxmlformats.org/officeDocument/2006/relationships/tableStyles" Target="/ppt/tableStyles.xml" Id="Rb5c85c64ee6945ef" /><Relationship Type="http://schemas.openxmlformats.org/officeDocument/2006/relationships/slide" Target="/ppt/slides/slide1.xml" Id="R75c00d5e719b4a6e" /><Relationship Type="http://schemas.openxmlformats.org/officeDocument/2006/relationships/slide" Target="/ppt/slides/slide2.xml" Id="Rd54b0e7aa5484aef" /><Relationship Type="http://schemas.openxmlformats.org/officeDocument/2006/relationships/slide" Target="/ppt/slides/slide3.xml" Id="R5511eee0c4734e20" /><Relationship Type="http://schemas.openxmlformats.org/officeDocument/2006/relationships/slide" Target="/ppt/slides/slide4.xml" Id="Rb9038c46540c43b7" /><Relationship Type="http://schemas.openxmlformats.org/officeDocument/2006/relationships/slide" Target="/ppt/slides/slide5.xml" Id="R2841a861ea2b490d" /><Relationship Type="http://schemas.openxmlformats.org/officeDocument/2006/relationships/slide" Target="/ppt/slides/slide6.xml" Id="Rc355bb02c577443b" /><Relationship Type="http://schemas.openxmlformats.org/officeDocument/2006/relationships/slide" Target="/ppt/slides/slide7.xml" Id="R29ae884459c94cde" /><Relationship Type="http://schemas.openxmlformats.org/officeDocument/2006/relationships/slide" Target="/ppt/slides/slide8.xml" Id="R7680a5b86b714aa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9c39917a76d43f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Replication validation">
      <a:dk1>
        <a:srgbClr val="000000"/>
      </a:dk1>
      <a:lt1>
        <a:srgbClr val="FFFFFF"/>
      </a:lt1>
      <a:dk2>
        <a:srgbClr val="102A43"/>
      </a:dk2>
      <a:lt2>
        <a:srgbClr val="D8E1E8"/>
      </a:lt2>
      <a:accent1>
        <a:srgbClr val="2E5B88"/>
      </a:accent1>
      <a:accent2>
        <a:srgbClr val="C65D16"/>
      </a:accent2>
      <a:accent3>
        <a:srgbClr val="2F855A"/>
      </a:accent3>
      <a:accent4>
        <a:srgbClr val="B83232"/>
      </a:accent4>
      <a:accent5>
        <a:srgbClr val="B7791F"/>
      </a:accent5>
      <a:accent6>
        <a:srgbClr val="627D98"/>
      </a:accent6>
      <a:hlink>
        <a:srgbClr val="2E5B88"/>
      </a:hlink>
      <a:folHlink>
        <a:srgbClr val="C65D16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Replication validati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2aa9b3b4f80477a" /><Relationship Type="http://schemas.openxmlformats.org/officeDocument/2006/relationships/notesMaster" Target="/ppt/notesMasters/notesMaster1.xml" Id="R8e87ff5670c34a7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20230b0a5a44e79" /><Relationship Type="http://schemas.openxmlformats.org/officeDocument/2006/relationships/notesMaster" Target="/ppt/notesMasters/notesMaster1.xml" Id="Rbd0dcb1d254b408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515487af1854666" /><Relationship Type="http://schemas.openxmlformats.org/officeDocument/2006/relationships/notesMaster" Target="/ppt/notesMasters/notesMaster1.xml" Id="Rf8e7088ac888481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d2bf8733f90462f" /><Relationship Type="http://schemas.openxmlformats.org/officeDocument/2006/relationships/notesMaster" Target="/ppt/notesMasters/notesMaster1.xml" Id="Rd42a018335a94fd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b79431e319a444d" /><Relationship Type="http://schemas.openxmlformats.org/officeDocument/2006/relationships/notesMaster" Target="/ppt/notesMasters/notesMaster1.xml" Id="R5375fea3cbf3451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e10c07f61d84b5a" /><Relationship Type="http://schemas.openxmlformats.org/officeDocument/2006/relationships/notesMaster" Target="/ppt/notesMasters/notesMaster1.xml" Id="Ree7e4d832c334c5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3e0aa00cf47459b" /><Relationship Type="http://schemas.openxmlformats.org/officeDocument/2006/relationships/notesMaster" Target="/ppt/notesMasters/notesMaster1.xml" Id="R7866296ecbba460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651cf936a584447" /><Relationship Type="http://schemas.openxmlformats.org/officeDocument/2006/relationships/notesMaster" Target="/ppt/notesMasters/notesMaster1.xml" Id="R188cabbc122c4bb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docs/project/tasks/figure8-replication.md</a:t>
            </a:r>
          </a:p>
          <a:p xmlns:a="http://schemas.openxmlformats.org/drawingml/2006/main">
            <a:r>
              <a:t>- docs/data/figure8-2021-direct-data.md</a:t>
            </a:r>
          </a:p>
          <a:p xmlns:a="http://schemas.openxmlformats.org/drawingml/2006/main">
            <a:r>
              <a:t>- docs/data/figure8-public-fwtw-data.md</a:t>
            </a:r>
          </a:p>
          <a:p xmlns:a="http://schemas.openxmlformats.org/drawingml/2006/main">
            <a:r>
              <a:t>- Presentation/4_figure_comparison/presentation.pptx (visual source)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Sections 4.1–4.2 and Figure 8</a:t>
            </a:r>
          </a:p>
          <a:p xmlns:a="http://schemas.openxmlformats.org/drawingml/2006/main">
            <a:r>
              <a:t>- Code/unveiling/figure8_authors.py</a:t>
            </a:r>
          </a:p>
          <a:p xmlns:a="http://schemas.openxmlformats.org/drawingml/2006/main">
            <a:r>
              <a:t>- Code/unveiling/figure8_2021_direct.py</a:t>
            </a:r>
          </a:p>
          <a:p xmlns:a="http://schemas.openxmlformats.org/drawingml/2006/main">
            <a:r>
              <a:t>- Code/unveiling/figure8_public_fwtw.py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Sections 2.2 and 4.1; Table A1</a:t>
            </a:r>
          </a:p>
          <a:p xmlns:a="http://schemas.openxmlformats.org/drawingml/2006/main">
            <a:r>
              <a:t>- docs/data/figure8-data.md</a:t>
            </a:r>
          </a:p>
          <a:p xmlns:a="http://schemas.openxmlformats.org/drawingml/2006/main">
            <a:r>
              <a:t>- docs/data/figure8-2021-direct-data.md</a:t>
            </a:r>
          </a:p>
          <a:p xmlns:a="http://schemas.openxmlformats.org/drawingml/2006/main">
            <a:r>
              <a:t>- docs/data/figure8-public-fwtw-data.md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equations (1), (3), and (4); Sections 4.1–4.2</a:t>
            </a:r>
          </a:p>
          <a:p xmlns:a="http://schemas.openxmlformats.org/drawingml/2006/main">
            <a:r>
              <a:t>- Code/unveiling/figure8_2021_direct.py</a:t>
            </a:r>
          </a:p>
          <a:p xmlns:a="http://schemas.openxmlformats.org/drawingml/2006/main">
            <a:r>
              <a:t>- Data/interim/figure8_2021_direct_network_diagnostics.csv</a:t>
            </a:r>
          </a:p>
          <a:p xmlns:a="http://schemas.openxmlformats.org/drawingml/2006/main">
            <a:r>
              <a:t>- Data/interim/figure8_2021_direct_component_diagnostics.csv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Section 2.2</a:t>
            </a:r>
          </a:p>
          <a:p xmlns:a="http://schemas.openxmlformats.org/drawingml/2006/main">
            <a:r>
              <a:t>- https://www.federalreserve.gov/releases/efa/fwtw.htm</a:t>
            </a:r>
          </a:p>
          <a:p xmlns:a="http://schemas.openxmlformats.org/drawingml/2006/main">
            <a:r>
              <a:t>- https://www.federalreserve.gov/releases/efa/fwtw_announcements.htm</a:t>
            </a:r>
          </a:p>
          <a:p xmlns:a="http://schemas.openxmlformats.org/drawingml/2006/main">
            <a:r>
              <a:t>- Data/raw/README.md</a:t>
            </a:r>
          </a:p>
          <a:p xmlns:a="http://schemas.openxmlformats.org/drawingml/2006/main">
            <a:r>
              <a:t>- docs/data/figure8-public-fwtw-data.md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Figure 8, physical page 29; digitized benchmark</a:t>
            </a:r>
          </a:p>
          <a:p xmlns:a="http://schemas.openxmlformats.org/drawingml/2006/main">
            <a:r>
              <a:t>- Results_Proposal/figures/figure8_method_comparison_top1.png</a:t>
            </a:r>
          </a:p>
          <a:p xmlns:a="http://schemas.openxmlformats.org/drawingml/2006/main">
            <a:r>
              <a:t>- Results_Proposal/figures/figure8_method_comparison_bottom99.png</a:t>
            </a:r>
          </a:p>
          <a:p xmlns:a="http://schemas.openxmlformats.org/drawingml/2006/main">
            <a:r>
              <a:t>- Data/processed/figure8_method_comparison_metrics.csv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Results_Proposal/figures/figure8_2021_operator_comparison.png</a:t>
            </a:r>
          </a:p>
          <a:p xmlns:a="http://schemas.openxmlformats.org/drawingml/2006/main">
            <a:r>
              <a:t>- Results_Proposal/figures/figure8_2021_direct_full_leontief.png</a:t>
            </a:r>
          </a:p>
          <a:p xmlns:a="http://schemas.openxmlformats.org/drawingml/2006/main">
            <a:r>
              <a:t>- Data/processed/figure8_2021_operator_comparison_metrics.csv</a:t>
            </a:r>
          </a:p>
          <a:p xmlns:a="http://schemas.openxmlformats.org/drawingml/2006/main">
            <a:r>
              <a:t>- Data/interim/figure8_2021_direct_network_diagnostics.csv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docs/project/tasks/figure8-replication.md</a:t>
            </a:r>
          </a:p>
          <a:p xmlns:a="http://schemas.openxmlformats.org/drawingml/2006/main">
            <a:r>
              <a:t>- docs/data/figure8-2021-direct-data.md</a:t>
            </a:r>
          </a:p>
          <a:p xmlns:a="http://schemas.openxmlformats.org/drawingml/2006/main">
            <a:r>
              <a:t>- docs/data/figure8-public-fwtw-data.md</a:t>
            </a:r>
          </a:p>
          <a:p xmlns:a="http://schemas.openxmlformats.org/drawingml/2006/main">
            <a:r>
              <a:t>- Data/processed/figure8_method_comparison_metrics.csv</a:t>
            </a:r>
          </a:p>
          <a:p xmlns:a="http://schemas.openxmlformats.org/drawingml/2006/main">
            <a:r>
              <a:t>- MSS_SGR_July242025.pdf, Figure 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1030fcb77c44f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243d492ff0242f9" /><Relationship Type="http://schemas.openxmlformats.org/officeDocument/2006/relationships/slideLayout" Target="/ppt/slideLayouts/slideLayout1.xml" Id="Re63d642f7ab4466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63d642f7ab4466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Replication validation">
      <a:dk1>
        <a:srgbClr val="000000"/>
      </a:dk1>
      <a:lt1>
        <a:srgbClr val="FFFFFF"/>
      </a:lt1>
      <a:dk2>
        <a:srgbClr val="102A43"/>
      </a:dk2>
      <a:lt2>
        <a:srgbClr val="D8E1E8"/>
      </a:lt2>
      <a:accent1>
        <a:srgbClr val="2E5B88"/>
      </a:accent1>
      <a:accent2>
        <a:srgbClr val="C65D16"/>
      </a:accent2>
      <a:accent3>
        <a:srgbClr val="2F855A"/>
      </a:accent3>
      <a:accent4>
        <a:srgbClr val="B83232"/>
      </a:accent4>
      <a:accent5>
        <a:srgbClr val="B7791F"/>
      </a:accent5>
      <a:accent6>
        <a:srgbClr val="627D98"/>
      </a:accent6>
      <a:hlink>
        <a:srgbClr val="2E5B88"/>
      </a:hlink>
      <a:folHlink>
        <a:srgbClr val="C65D16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Replication validati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7d679de9764b67" /><Relationship Type="http://schemas.openxmlformats.org/officeDocument/2006/relationships/notesSlide" Target="/ppt/notesSlides/notesSlide1.xml" Id="R5638ca5c03294a1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54a87e8b3d43c3" /><Relationship Type="http://schemas.openxmlformats.org/officeDocument/2006/relationships/notesSlide" Target="/ppt/notesSlides/notesSlide2.xml" Id="R01e6fa26a0a14c6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e3a4494fac48f4" /><Relationship Type="http://schemas.openxmlformats.org/officeDocument/2006/relationships/notesSlide" Target="/ppt/notesSlides/notesSlide3.xml" Id="Raf8f664d80c64ca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4d33efb4a54466" /><Relationship Type="http://schemas.openxmlformats.org/officeDocument/2006/relationships/notesSlide" Target="/ppt/notesSlides/notesSlide4.xml" Id="R58001b2661fa408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98b4ccff9b41c5" /><Relationship Type="http://schemas.openxmlformats.org/officeDocument/2006/relationships/notesSlide" Target="/ppt/notesSlides/notesSlide5.xml" Id="Rf87496d7f188456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55304dad85468f" /><Relationship Type="http://schemas.openxmlformats.org/officeDocument/2006/relationships/image" Target="/ppt/media/image.png" Id="Re01f842d57d14f4d" /><Relationship Type="http://schemas.openxmlformats.org/officeDocument/2006/relationships/image" Target="/ppt/media/image2.png" Id="R99fe566bdaee4e4d" /><Relationship Type="http://schemas.openxmlformats.org/officeDocument/2006/relationships/notesSlide" Target="/ppt/notesSlides/notesSlide6.xml" Id="R16898c99becd480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34152692274294" /><Relationship Type="http://schemas.openxmlformats.org/officeDocument/2006/relationships/image" Target="/ppt/media/image3.png" Id="Rf1110c8e16664e61" /><Relationship Type="http://schemas.openxmlformats.org/officeDocument/2006/relationships/image" Target="/ppt/media/image4.png" Id="R59cb072834964e28" /><Relationship Type="http://schemas.openxmlformats.org/officeDocument/2006/relationships/notesSlide" Target="/ppt/notesSlides/notesSlide7.xml" Id="Rfb93ee386708430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6cd16585724bb5" /><Relationship Type="http://schemas.openxmlformats.org/officeDocument/2006/relationships/notesSlide" Target="/ppt/notesSlides/notesSlide8.xml" Id="R32cc20ae52ee490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eft-band">
            <a:extLst xmlns:a="http://schemas.openxmlformats.org/drawingml/2006/main">
              <a:ext uri="{FF2B5EF4-FFF2-40B4-BE49-F238E27FC236}">
                <a16:creationId xmlns:a16="http://schemas.microsoft.com/office/drawing/2014/main" id="{69941DB9-9128-4CC6-96D4-76F2DED61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0E7C051A-E968-48D4-932F-BE04BBAA7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04875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65D16"/>
                </a:solidFill>
              </a:defRPr>
            </a:pPr>
            <a:r>
              <a:rPr sz="1275" b="1">
                <a:solidFill>
                  <a:srgbClr val="C65D16"/>
                </a:solidFill>
              </a:rPr>
              <a:t>FIGURE 8 METHOD COMPARISON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59C12F6-118A-41FC-9B31-6EE8D81DD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09700"/>
            <a:ext cx="100965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Three routes to unveiled net household debt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369E33F4-CEE0-4100-92AF-B6E5F46A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33750"/>
            <a:ext cx="876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Separate the data vintage from the network operator</a:t>
            </a:r>
          </a:p>
        </p:txBody>
      </p:sp>
      <p:sp>
        <p:nvSpPr>
          <p:cNvPr id="5" name="legend-2021">
            <a:extLst xmlns:a="http://schemas.openxmlformats.org/drawingml/2006/main">
              <a:ext uri="{FF2B5EF4-FFF2-40B4-BE49-F238E27FC236}">
                <a16:creationId xmlns:a16="http://schemas.microsoft.com/office/drawing/2014/main" id="{04EB5C43-CA63-49BC-BC30-BC9BE88C8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6725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legend-2021-text">
            <a:extLst xmlns:a="http://schemas.openxmlformats.org/drawingml/2006/main">
              <a:ext uri="{FF2B5EF4-FFF2-40B4-BE49-F238E27FC236}">
                <a16:creationId xmlns:a16="http://schemas.microsoft.com/office/drawing/2014/main" id="{C9C3AB10-5751-4F82-8A86-8D819F264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101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Full inverse: B · 2021 direct cells   C · public FWTW</a:t>
            </a:r>
          </a:p>
        </p:txBody>
      </p:sp>
      <p:sp>
        <p:nvSpPr>
          <p:cNvPr id="7" name="legend-2025">
            <a:extLst xmlns:a="http://schemas.openxmlformats.org/drawingml/2006/main">
              <a:ext uri="{FF2B5EF4-FFF2-40B4-BE49-F238E27FC236}">
                <a16:creationId xmlns:a16="http://schemas.microsoft.com/office/drawing/2014/main" id="{B87B36AA-45A7-426E-9A02-DB03462E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958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legend-2025-text">
            <a:extLst xmlns:a="http://schemas.openxmlformats.org/drawingml/2006/main">
              <a:ext uri="{FF2B5EF4-FFF2-40B4-BE49-F238E27FC236}">
                <a16:creationId xmlns:a16="http://schemas.microsoft.com/office/drawing/2014/main" id="{391AA843-EE9C-4B5B-9375-1CFEC09F5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03872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Seven rounds: A · 2021 final-file benchmark</a:t>
            </a:r>
          </a:p>
        </p:txBody>
      </p:sp>
      <p:sp>
        <p:nvSpPr>
          <p:cNvPr id="9" name="date">
            <a:extLst xmlns:a="http://schemas.openxmlformats.org/drawingml/2006/main">
              <a:ext uri="{FF2B5EF4-FFF2-40B4-BE49-F238E27FC236}">
                <a16:creationId xmlns:a16="http://schemas.microsoft.com/office/drawing/2014/main" id="{086423BF-9FA1-4716-82E0-A79C25634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912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D98"/>
                </a:solidFill>
              </a:defRPr>
            </a:pPr>
            <a:r>
              <a:rPr sz="1125" b="0">
                <a:solidFill>
                  <a:srgbClr val="627D98"/>
                </a:solidFill>
              </a:rPr>
              <a:t>14 August 2026</a:t>
            </a:r>
          </a:p>
        </p:txBody>
      </p:sp>
    </p:spTree>
    <p:extLst>
      <p:ext uri="{BB962C8B-B14F-4D97-AF65-F5344CB8AC3E}">
        <p14:creationId xmlns:p14="http://schemas.microsoft.com/office/powerpoint/2010/main" val="17717655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">
            <a:extLst xmlns:a="http://schemas.openxmlformats.org/drawingml/2006/main">
              <a:ext uri="{FF2B5EF4-FFF2-40B4-BE49-F238E27FC236}">
                <a16:creationId xmlns:a16="http://schemas.microsoft.com/office/drawing/2014/main" id="{4DBD74DF-ED28-4EE9-8535-9E366A67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COMMON TARGET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994307-319F-4EAA-8D7C-9E832F7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One estimand, three deliberately separate routes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304C898-8A92-4A39-A7EB-64A10035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4772364-3993-46C7-BB6A-7696849F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02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1C4CBB66-390B-40CA-9A94-F3B655FA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2025 Figure 8</a:t>
            </a:r>
          </a:p>
        </p:txBody>
      </p:sp>
      <p:sp>
        <p:nvSpPr>
          <p:cNvPr id="6" name="question-body">
            <a:extLst xmlns:a="http://schemas.openxmlformats.org/drawingml/2006/main">
              <a:ext uri="{FF2B5EF4-FFF2-40B4-BE49-F238E27FC236}">
                <a16:creationId xmlns:a16="http://schemas.microsoft.com/office/drawing/2014/main" id="{C7924291-5CE5-45A7-9502-25780E87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38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ND(g,t) = household-debt assets − debt owed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Scale by national income; subtract 1982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F04E65CB-1300-417C-A552-521BE008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285875"/>
            <a:ext cx="190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trong precursor-bar">
            <a:extLst xmlns:a="http://schemas.openxmlformats.org/drawingml/2006/main">
              <a:ext uri="{FF2B5EF4-FFF2-40B4-BE49-F238E27FC236}">
                <a16:creationId xmlns:a16="http://schemas.microsoft.com/office/drawing/2014/main" id="{80A9BBD5-0978-4A47-9DE6-A7D2756C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335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96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rong precursor-label">
            <a:extLst xmlns:a="http://schemas.openxmlformats.org/drawingml/2006/main">
              <a:ext uri="{FF2B5EF4-FFF2-40B4-BE49-F238E27FC236}">
                <a16:creationId xmlns:a16="http://schemas.microsoft.com/office/drawing/2014/main" id="{51CC7C6F-9EBD-42A3-9CD8-DD0C6EE9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71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627D98"/>
                </a:solidFill>
              </a:rPr>
              <a:t>A · Old benchmark</a:t>
            </a:r>
          </a:p>
        </p:txBody>
      </p:sp>
      <p:sp>
        <p:nvSpPr>
          <p:cNvPr id="10" name="Strong precursor-body">
            <a:extLst xmlns:a="http://schemas.openxmlformats.org/drawingml/2006/main">
              <a:ext uri="{FF2B5EF4-FFF2-40B4-BE49-F238E27FC236}">
                <a16:creationId xmlns:a16="http://schemas.microsoft.com/office/drawing/2014/main" id="{244FF233-0930-4770-ADF3-1B1A9250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049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2021 final debt positions after the authors’ seven-round unveiling; revised display rule only.</a:t>
            </a:r>
          </a:p>
        </p:txBody>
      </p:sp>
      <p:sp>
        <p:nvSpPr>
          <p:cNvPr id="11" name="Partial match-bar">
            <a:extLst xmlns:a="http://schemas.openxmlformats.org/drawingml/2006/main">
              <a:ext uri="{FF2B5EF4-FFF2-40B4-BE49-F238E27FC236}">
                <a16:creationId xmlns:a16="http://schemas.microsoft.com/office/drawing/2014/main" id="{F0181655-D030-45C0-A3E0-D81445F8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0985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artial match-label">
            <a:extLst xmlns:a="http://schemas.openxmlformats.org/drawingml/2006/main">
              <a:ext uri="{FF2B5EF4-FFF2-40B4-BE49-F238E27FC236}">
                <a16:creationId xmlns:a16="http://schemas.microsoft.com/office/drawing/2014/main" id="{217D0269-3366-4106-A614-BFB2DD0B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47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2E5B88"/>
                </a:solidFill>
              </a:rPr>
              <a:t>B · Primary test</a:t>
            </a:r>
          </a:p>
        </p:txBody>
      </p:sp>
      <p:sp>
        <p:nvSpPr>
          <p:cNvPr id="13" name="Partial match-body">
            <a:extLst xmlns:a="http://schemas.openxmlformats.org/drawingml/2006/main">
              <a:ext uri="{FF2B5EF4-FFF2-40B4-BE49-F238E27FC236}">
                <a16:creationId xmlns:a16="http://schemas.microsoft.com/office/drawing/2014/main" id="{00ABC748-B2B5-4893-8CE6-FDE63773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813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2021 direct/pre-unveiling cells, reconstructed network, and the 2025 full Leontief operator.</a:t>
            </a:r>
          </a:p>
        </p:txBody>
      </p:sp>
      <p:sp>
        <p:nvSpPr>
          <p:cNvPr id="14" name="Context only-bar">
            <a:extLst xmlns:a="http://schemas.openxmlformats.org/drawingml/2006/main">
              <a:ext uri="{FF2B5EF4-FFF2-40B4-BE49-F238E27FC236}">
                <a16:creationId xmlns:a16="http://schemas.microsoft.com/office/drawing/2014/main" id="{A567A865-2022-41CE-BB30-AB58E2C2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862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ntext only-label">
            <a:extLst xmlns:a="http://schemas.openxmlformats.org/drawingml/2006/main">
              <a:ext uri="{FF2B5EF4-FFF2-40B4-BE49-F238E27FC236}">
                <a16:creationId xmlns:a16="http://schemas.microsoft.com/office/drawing/2014/main" id="{58F96603-D508-40F6-A485-776B0AF5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C65D16"/>
                </a:solidFill>
              </a:rPr>
              <a:t>C · Public robustness</a:t>
            </a:r>
          </a:p>
        </p:txBody>
      </p:sp>
      <p:sp>
        <p:nvSpPr>
          <p:cNvPr id="16" name="Context only-body">
            <a:extLst xmlns:a="http://schemas.openxmlformats.org/drawingml/2006/main">
              <a:ext uri="{FF2B5EF4-FFF2-40B4-BE49-F238E27FC236}">
                <a16:creationId xmlns:a16="http://schemas.microsoft.com/office/drawing/2014/main" id="{005F9EA7-5FC9-4084-B230-06E7E891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Current public FWTW bilateral levels plus 2021 DINA/NIPA and the same full operator.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79FA2934-1CA8-49CA-B94B-8B94B201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4381500" cy="180975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90F1D0FA-121D-4208-9F34-9DE0662D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83232"/>
                </a:solidFill>
              </a:defRPr>
            </a:pPr>
            <a:r>
              <a:rPr sz="1575" b="1">
                <a:solidFill>
                  <a:srgbClr val="B83232"/>
                </a:solidFill>
              </a:rPr>
              <a:t>Why three?</a:t>
            </a:r>
          </a:p>
        </p:txBody>
      </p:sp>
      <p:sp>
        <p:nvSpPr>
          <p:cNvPr id="19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DF98F5D6-9D18-45C9-8820-2EA73D0D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A→B changes the operator while holding the old vintage as close as saved inputs permit; C tests the method on an independent public network.</a:t>
            </a:r>
          </a:p>
        </p:txBody>
      </p:sp>
    </p:spTree>
    <p:extLst>
      <p:ext uri="{BB962C8B-B14F-4D97-AF65-F5344CB8AC3E}">
        <p14:creationId xmlns:p14="http://schemas.microsoft.com/office/powerpoint/2010/main" val="2211895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kicker">
            <a:extLst xmlns:a="http://schemas.openxmlformats.org/drawingml/2006/main">
              <a:ext uri="{FF2B5EF4-FFF2-40B4-BE49-F238E27FC236}">
                <a16:creationId xmlns:a16="http://schemas.microsoft.com/office/drawing/2014/main" id="{CCDADAC1-8C4D-48E3-9BDE-7D0105C42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METHOD CROSSWALK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C18D928-06E0-42B3-830B-D127EF4CF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Data and operator choices are now visible separately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D5EE02D2-197F-445F-A35C-2EA62634A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521C9E1B-0054-453E-9D94-C8D5FAD94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03</a:t>
            </a:r>
          </a:p>
        </p:txBody>
      </p:sp>
      <p:sp>
        <p:nvSpPr>
          <p:cNvPr id="5" name="table-header-bg">
            <a:extLst xmlns:a="http://schemas.openxmlformats.org/drawingml/2006/main">
              <a:ext uri="{FF2B5EF4-FFF2-40B4-BE49-F238E27FC236}">
                <a16:creationId xmlns:a16="http://schemas.microsoft.com/office/drawing/2014/main" id="{9277E0ED-F6C4-4149-A42A-9164840C6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19200"/>
            <a:ext cx="11277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verdict-cell-0-0">
            <a:extLst xmlns:a="http://schemas.openxmlformats.org/drawingml/2006/main">
              <a:ext uri="{FF2B5EF4-FFF2-40B4-BE49-F238E27FC236}">
                <a16:creationId xmlns:a16="http://schemas.microsoft.com/office/drawing/2014/main" id="{A8B3D9D6-0512-4FCA-B5B6-F04A51B4D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954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Object</a:t>
            </a:r>
          </a:p>
        </p:txBody>
      </p:sp>
      <p:sp>
        <p:nvSpPr>
          <p:cNvPr id="7" name="verdict-cell-0-1">
            <a:extLst xmlns:a="http://schemas.openxmlformats.org/drawingml/2006/main">
              <a:ext uri="{FF2B5EF4-FFF2-40B4-BE49-F238E27FC236}">
                <a16:creationId xmlns:a16="http://schemas.microsoft.com/office/drawing/2014/main" id="{314D8280-1229-4323-953B-267191AC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12954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Input</a:t>
            </a:r>
          </a:p>
        </p:txBody>
      </p:sp>
      <p:sp>
        <p:nvSpPr>
          <p:cNvPr id="8" name="verdict-cell-0-2">
            <a:extLst xmlns:a="http://schemas.openxmlformats.org/drawingml/2006/main">
              <a:ext uri="{FF2B5EF4-FFF2-40B4-BE49-F238E27FC236}">
                <a16:creationId xmlns:a16="http://schemas.microsoft.com/office/drawing/2014/main" id="{B1830714-8E8C-4575-B98C-D8D61A38E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29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Operator</a:t>
            </a:r>
          </a:p>
        </p:txBody>
      </p:sp>
      <p:sp>
        <p:nvSpPr>
          <p:cNvPr id="9" name="verdict-cell-0-3">
            <a:extLst xmlns:a="http://schemas.openxmlformats.org/drawingml/2006/main">
              <a:ext uri="{FF2B5EF4-FFF2-40B4-BE49-F238E27FC236}">
                <a16:creationId xmlns:a16="http://schemas.microsoft.com/office/drawing/2014/main" id="{D2F375CA-13C8-44A6-967B-F9B785411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295400"/>
            <a:ext cx="490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Interpretation / boundary</a:t>
            </a:r>
          </a:p>
        </p:txBody>
      </p:sp>
      <p:sp>
        <p:nvSpPr>
          <p:cNvPr id="10" name="verdict-cell-1-0">
            <a:extLst xmlns:a="http://schemas.openxmlformats.org/drawingml/2006/main">
              <a:ext uri="{FF2B5EF4-FFF2-40B4-BE49-F238E27FC236}">
                <a16:creationId xmlns:a16="http://schemas.microsoft.com/office/drawing/2014/main" id="{0B2DF458-B966-4124-8D83-B8844640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2025 target</a:t>
            </a:r>
          </a:p>
        </p:txBody>
      </p:sp>
      <p:sp>
        <p:nvSpPr>
          <p:cNvPr id="11" name="verdict-cell-1-1">
            <a:extLst xmlns:a="http://schemas.openxmlformats.org/drawingml/2006/main">
              <a:ext uri="{FF2B5EF4-FFF2-40B4-BE49-F238E27FC236}">
                <a16:creationId xmlns:a16="http://schemas.microsoft.com/office/drawing/2014/main" id="{90201C83-A6F1-4206-A7C6-167E15262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1809750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Authors’ 2019 vintage</a:t>
            </a:r>
          </a:p>
        </p:txBody>
      </p:sp>
      <p:sp>
        <p:nvSpPr>
          <p:cNvPr id="12" name="verdict-cell-1-2">
            <a:extLst xmlns:a="http://schemas.openxmlformats.org/drawingml/2006/main">
              <a:ext uri="{FF2B5EF4-FFF2-40B4-BE49-F238E27FC236}">
                <a16:creationId xmlns:a16="http://schemas.microsoft.com/office/drawing/2014/main" id="{32DE5752-BAC4-4A32-BB68-29A994CD9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09750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F855A"/>
                </a:solidFill>
              </a:defRPr>
            </a:pPr>
            <a:r>
              <a:rPr sz="1275" b="1">
                <a:solidFill>
                  <a:srgbClr val="C65D16"/>
                </a:solidFill>
              </a:rPr>
              <a:t>Full inverse</a:t>
            </a:r>
          </a:p>
        </p:txBody>
      </p:sp>
      <p:sp>
        <p:nvSpPr>
          <p:cNvPr id="13" name="verdict-cell-1-3">
            <a:extLst xmlns:a="http://schemas.openxmlformats.org/drawingml/2006/main">
              <a:ext uri="{FF2B5EF4-FFF2-40B4-BE49-F238E27FC236}">
                <a16:creationId xmlns:a16="http://schemas.microsoft.com/office/drawing/2014/main" id="{9AAA378F-92D9-4D55-8C4B-8AA64536E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34 instruments; 23 intermediaries + 4 owners; custom equity extension</a:t>
            </a:r>
          </a:p>
        </p:txBody>
      </p:sp>
      <p:sp>
        <p:nvSpPr>
          <p:cNvPr id="14" name="verdict-line-1">
            <a:extLst xmlns:a="http://schemas.openxmlformats.org/drawingml/2006/main">
              <a:ext uri="{FF2B5EF4-FFF2-40B4-BE49-F238E27FC236}">
                <a16:creationId xmlns:a16="http://schemas.microsoft.com/office/drawing/2014/main" id="{36D0BA28-40E0-46FA-B98A-F40D16595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verdict-cell-2-0">
            <a:extLst xmlns:a="http://schemas.openxmlformats.org/drawingml/2006/main">
              <a:ext uri="{FF2B5EF4-FFF2-40B4-BE49-F238E27FC236}">
                <a16:creationId xmlns:a16="http://schemas.microsoft.com/office/drawing/2014/main" id="{D6B34A90-10B7-43E7-A9CA-72853317E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90775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A · Old benchmark</a:t>
            </a:r>
          </a:p>
        </p:txBody>
      </p:sp>
      <p:sp>
        <p:nvSpPr>
          <p:cNvPr id="16" name="verdict-cell-2-1">
            <a:extLst xmlns:a="http://schemas.openxmlformats.org/drawingml/2006/main">
              <a:ext uri="{FF2B5EF4-FFF2-40B4-BE49-F238E27FC236}">
                <a16:creationId xmlns:a16="http://schemas.microsoft.com/office/drawing/2014/main" id="{8FB108DE-6582-4A49-AA6A-28A3F5C60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390775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2021 final file</a:t>
            </a:r>
          </a:p>
        </p:txBody>
      </p:sp>
      <p:sp>
        <p:nvSpPr>
          <p:cNvPr id="17" name="verdict-cell-2-2">
            <a:extLst xmlns:a="http://schemas.openxmlformats.org/drawingml/2006/main">
              <a:ext uri="{FF2B5EF4-FFF2-40B4-BE49-F238E27FC236}">
                <a16:creationId xmlns:a16="http://schemas.microsoft.com/office/drawing/2014/main" id="{E40E8BB3-FA57-431A-B616-28D444DF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390775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F855A"/>
                </a:solidFill>
              </a:defRPr>
            </a:pPr>
            <a:r>
              <a:rPr sz="1275" b="1">
                <a:solidFill>
                  <a:srgbClr val="B83232"/>
                </a:solidFill>
              </a:rPr>
              <a:t>Seven rounds</a:t>
            </a:r>
          </a:p>
        </p:txBody>
      </p:sp>
      <p:sp>
        <p:nvSpPr>
          <p:cNvPr id="18" name="verdict-cell-2-3">
            <a:extLst xmlns:a="http://schemas.openxmlformats.org/drawingml/2006/main">
              <a:ext uri="{FF2B5EF4-FFF2-40B4-BE49-F238E27FC236}">
                <a16:creationId xmlns:a16="http://schemas.microsoft.com/office/drawing/2014/main" id="{8E4FAC62-7FB5-4C1D-A366-D28000686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90775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Starts after old unveiling; validates the older supplied pipeline</a:t>
            </a:r>
          </a:p>
        </p:txBody>
      </p:sp>
      <p:sp>
        <p:nvSpPr>
          <p:cNvPr id="19" name="verdict-line-2">
            <a:extLst xmlns:a="http://schemas.openxmlformats.org/drawingml/2006/main">
              <a:ext uri="{FF2B5EF4-FFF2-40B4-BE49-F238E27FC236}">
                <a16:creationId xmlns:a16="http://schemas.microsoft.com/office/drawing/2014/main" id="{D6F3C624-5E2D-4D0C-9EBC-23391BE68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670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verdict-cell-3-0">
            <a:extLst xmlns:a="http://schemas.openxmlformats.org/drawingml/2006/main">
              <a:ext uri="{FF2B5EF4-FFF2-40B4-BE49-F238E27FC236}">
                <a16:creationId xmlns:a16="http://schemas.microsoft.com/office/drawing/2014/main" id="{7F3B4CD4-3510-4A32-AB75-15AFD905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71800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B · Primary test</a:t>
            </a:r>
          </a:p>
        </p:txBody>
      </p:sp>
      <p:sp>
        <p:nvSpPr>
          <p:cNvPr id="21" name="verdict-cell-3-1">
            <a:extLst xmlns:a="http://schemas.openxmlformats.org/drawingml/2006/main">
              <a:ext uri="{FF2B5EF4-FFF2-40B4-BE49-F238E27FC236}">
                <a16:creationId xmlns:a16="http://schemas.microsoft.com/office/drawing/2014/main" id="{E8119FEB-B719-44B6-B3F2-CFDE3746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971800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2021 direct cells</a:t>
            </a:r>
          </a:p>
        </p:txBody>
      </p:sp>
      <p:sp>
        <p:nvSpPr>
          <p:cNvPr id="22" name="verdict-cell-3-2">
            <a:extLst xmlns:a="http://schemas.openxmlformats.org/drawingml/2006/main">
              <a:ext uri="{FF2B5EF4-FFF2-40B4-BE49-F238E27FC236}">
                <a16:creationId xmlns:a16="http://schemas.microsoft.com/office/drawing/2014/main" id="{02EFC022-659F-4B94-988B-60DD62AF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971800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B7791F"/>
                </a:solidFill>
              </a:defRPr>
            </a:pPr>
            <a:r>
              <a:rPr sz="1275" b="1">
                <a:solidFill>
                  <a:srgbClr val="2E5B88"/>
                </a:solidFill>
              </a:rPr>
              <a:t>Full inverse</a:t>
            </a:r>
          </a:p>
        </p:txBody>
      </p:sp>
      <p:sp>
        <p:nvSpPr>
          <p:cNvPr id="23" name="verdict-cell-3-3">
            <a:extLst xmlns:a="http://schemas.openxmlformats.org/drawingml/2006/main">
              <a:ext uri="{FF2B5EF4-FFF2-40B4-BE49-F238E27FC236}">
                <a16:creationId xmlns:a16="http://schemas.microsoft.com/office/drawing/2014/main" id="{7BB53762-4019-4FC9-81A9-83ECF6C17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71800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351 saved direct fields; eight coarsened intermediary rows; no round fields read</a:t>
            </a:r>
          </a:p>
        </p:txBody>
      </p:sp>
      <p:sp>
        <p:nvSpPr>
          <p:cNvPr id="24" name="verdict-line-3">
            <a:extLst xmlns:a="http://schemas.openxmlformats.org/drawingml/2006/main">
              <a:ext uri="{FF2B5EF4-FFF2-40B4-BE49-F238E27FC236}">
                <a16:creationId xmlns:a16="http://schemas.microsoft.com/office/drawing/2014/main" id="{E118DD39-E35D-440D-8DAA-C42E439DB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48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verdict-cell-4-0">
            <a:extLst xmlns:a="http://schemas.openxmlformats.org/drawingml/2006/main">
              <a:ext uri="{FF2B5EF4-FFF2-40B4-BE49-F238E27FC236}">
                <a16:creationId xmlns:a16="http://schemas.microsoft.com/office/drawing/2014/main" id="{0915FE12-C5CA-49A5-97AB-B2BD4E2EA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52825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C · Robustness</a:t>
            </a:r>
          </a:p>
        </p:txBody>
      </p:sp>
      <p:sp>
        <p:nvSpPr>
          <p:cNvPr id="26" name="verdict-cell-4-1">
            <a:extLst xmlns:a="http://schemas.openxmlformats.org/drawingml/2006/main">
              <a:ext uri="{FF2B5EF4-FFF2-40B4-BE49-F238E27FC236}">
                <a16:creationId xmlns:a16="http://schemas.microsoft.com/office/drawing/2014/main" id="{E991A379-21C6-40AF-9F5D-8AA6C7C9C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552825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Public 2026 FWTW</a:t>
            </a:r>
          </a:p>
        </p:txBody>
      </p:sp>
      <p:sp>
        <p:nvSpPr>
          <p:cNvPr id="27" name="verdict-cell-4-2">
            <a:extLst xmlns:a="http://schemas.openxmlformats.org/drawingml/2006/main">
              <a:ext uri="{FF2B5EF4-FFF2-40B4-BE49-F238E27FC236}">
                <a16:creationId xmlns:a16="http://schemas.microsoft.com/office/drawing/2014/main" id="{4B0A6676-7676-44BB-AAD9-8C49E9FCE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552825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F855A"/>
                </a:solidFill>
              </a:defRPr>
            </a:pPr>
            <a:r>
              <a:rPr sz="1275" b="1">
                <a:solidFill>
                  <a:srgbClr val="2F855A"/>
                </a:solidFill>
              </a:rPr>
              <a:t>Full inverse</a:t>
            </a:r>
          </a:p>
        </p:txBody>
      </p:sp>
      <p:sp>
        <p:nvSpPr>
          <p:cNvPr id="28" name="verdict-cell-4-3">
            <a:extLst xmlns:a="http://schemas.openxmlformats.org/drawingml/2006/main">
              <a:ext uri="{FF2B5EF4-FFF2-40B4-BE49-F238E27FC236}">
                <a16:creationId xmlns:a16="http://schemas.microsoft.com/office/drawing/2014/main" id="{9973B27A-479C-4CC7-B8D8-7DC7CF473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52825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31 instruments; 25 substantive sectors; independent current taxonomy</a:t>
            </a:r>
          </a:p>
        </p:txBody>
      </p:sp>
      <p:sp>
        <p:nvSpPr>
          <p:cNvPr id="29" name="verdict-line-4">
            <a:extLst xmlns:a="http://schemas.openxmlformats.org/drawingml/2006/main">
              <a:ext uri="{FF2B5EF4-FFF2-40B4-BE49-F238E27FC236}">
                <a16:creationId xmlns:a16="http://schemas.microsoft.com/office/drawing/2014/main" id="{84F5ECF9-057D-418A-B1F9-411A9AAD7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2907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verdict-cell-5-0">
            <a:extLst xmlns:a="http://schemas.openxmlformats.org/drawingml/2006/main">
              <a:ext uri="{FF2B5EF4-FFF2-40B4-BE49-F238E27FC236}">
                <a16:creationId xmlns:a16="http://schemas.microsoft.com/office/drawing/2014/main" id="{E2E677CE-CA94-4502-BF76-461C588D8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33850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Common layer</a:t>
            </a:r>
          </a:p>
        </p:txBody>
      </p:sp>
      <p:sp>
        <p:nvSpPr>
          <p:cNvPr id="31" name="verdict-cell-5-1">
            <a:extLst xmlns:a="http://schemas.openxmlformats.org/drawingml/2006/main">
              <a:ext uri="{FF2B5EF4-FFF2-40B4-BE49-F238E27FC236}">
                <a16:creationId xmlns:a16="http://schemas.microsoft.com/office/drawing/2014/main" id="{4DC3A0C4-FE6D-4DF9-B2A1-2F556A132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133850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2021 DINA/NIPA</a:t>
            </a:r>
          </a:p>
        </p:txBody>
      </p:sp>
      <p:sp>
        <p:nvSpPr>
          <p:cNvPr id="32" name="verdict-cell-5-2">
            <a:extLst xmlns:a="http://schemas.openxmlformats.org/drawingml/2006/main">
              <a:ext uri="{FF2B5EF4-FFF2-40B4-BE49-F238E27FC236}">
                <a16:creationId xmlns:a16="http://schemas.microsoft.com/office/drawing/2014/main" id="{07019A80-EDEE-486E-B2D1-F93AA2D70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133850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B83232"/>
                </a:solidFill>
              </a:defRPr>
            </a:pPr>
            <a:r>
              <a:rPr sz="1275" b="1">
                <a:solidFill>
                  <a:srgbClr val="C65D16"/>
                </a:solidFill>
              </a:rPr>
              <a:t>Through 2016</a:t>
            </a:r>
          </a:p>
        </p:txBody>
      </p:sp>
      <p:sp>
        <p:nvSpPr>
          <p:cNvPr id="33" name="verdict-cell-5-3">
            <a:extLst xmlns:a="http://schemas.openxmlformats.org/drawingml/2006/main">
              <a:ext uri="{FF2B5EF4-FFF2-40B4-BE49-F238E27FC236}">
                <a16:creationId xmlns:a16="http://schemas.microsoft.com/office/drawing/2014/main" id="{8B3EFD13-83E1-4486-AA68-56C55EB2D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33850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Same groups, net-debt sign, national-income scale, and 1982 base</a:t>
            </a:r>
          </a:p>
        </p:txBody>
      </p:sp>
      <p:sp>
        <p:nvSpPr>
          <p:cNvPr id="34" name="verdict-line-5">
            <a:extLst xmlns:a="http://schemas.openxmlformats.org/drawingml/2006/main">
              <a:ext uri="{FF2B5EF4-FFF2-40B4-BE49-F238E27FC236}">
                <a16:creationId xmlns:a16="http://schemas.microsoft.com/office/drawing/2014/main" id="{1BB7F304-F599-4808-9888-64494CD11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01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verdict-cell-6-0">
            <a:extLst xmlns:a="http://schemas.openxmlformats.org/drawingml/2006/main">
              <a:ext uri="{FF2B5EF4-FFF2-40B4-BE49-F238E27FC236}">
                <a16:creationId xmlns:a16="http://schemas.microsoft.com/office/drawing/2014/main" id="{75B66E9E-9A08-4F65-8C04-69435F395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14875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Identification</a:t>
            </a:r>
          </a:p>
        </p:txBody>
      </p:sp>
      <p:sp>
        <p:nvSpPr>
          <p:cNvPr id="36" name="verdict-cell-6-1">
            <a:extLst xmlns:a="http://schemas.openxmlformats.org/drawingml/2006/main">
              <a:ext uri="{FF2B5EF4-FFF2-40B4-BE49-F238E27FC236}">
                <a16:creationId xmlns:a16="http://schemas.microsoft.com/office/drawing/2014/main" id="{13C0A687-EF0A-4230-8C81-CD3663E62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714875"/>
            <a:ext cx="1905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A versus B</a:t>
            </a:r>
          </a:p>
        </p:txBody>
      </p:sp>
      <p:sp>
        <p:nvSpPr>
          <p:cNvPr id="37" name="verdict-cell-6-2">
            <a:extLst xmlns:a="http://schemas.openxmlformats.org/drawingml/2006/main">
              <a:ext uri="{FF2B5EF4-FFF2-40B4-BE49-F238E27FC236}">
                <a16:creationId xmlns:a16="http://schemas.microsoft.com/office/drawing/2014/main" id="{C203F508-9E22-4D53-8A5F-7C87E396C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714875"/>
            <a:ext cx="1809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B7791F"/>
                </a:solidFill>
              </a:defRPr>
            </a:pPr>
            <a:r>
              <a:rPr sz="1275" b="1">
                <a:solidFill>
                  <a:srgbClr val="627D98"/>
                </a:solidFill>
              </a:rPr>
              <a:t>Closest operator test</a:t>
            </a:r>
          </a:p>
        </p:txBody>
      </p:sp>
      <p:sp>
        <p:nvSpPr>
          <p:cNvPr id="38" name="verdict-cell-6-3">
            <a:extLst xmlns:a="http://schemas.openxmlformats.org/drawingml/2006/main">
              <a:ext uri="{FF2B5EF4-FFF2-40B4-BE49-F238E27FC236}">
                <a16:creationId xmlns:a16="http://schemas.microsoft.com/office/drawing/2014/main" id="{5CEB16EC-EBA3-4D0B-92C4-8B65DD42B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14875"/>
            <a:ext cx="49053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43B53"/>
                </a:solidFill>
              </a:defRPr>
            </a:pPr>
            <a:r>
              <a:rPr sz="1275" b="0">
                <a:solidFill>
                  <a:srgbClr val="243B53"/>
                </a:solidFill>
              </a:rPr>
              <a:t>Not exact: the kit does not save the full 34×27 annual direct cube</a:t>
            </a:r>
          </a:p>
        </p:txBody>
      </p:sp>
      <p:sp>
        <p:nvSpPr>
          <p:cNvPr id="39" name="verdict-line-6">
            <a:extLst xmlns:a="http://schemas.openxmlformats.org/drawingml/2006/main">
              <a:ext uri="{FF2B5EF4-FFF2-40B4-BE49-F238E27FC236}">
                <a16:creationId xmlns:a16="http://schemas.microsoft.com/office/drawing/2014/main" id="{835E53B7-4377-445E-B666-317B36E9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911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takeaway">
            <a:extLst xmlns:a="http://schemas.openxmlformats.org/drawingml/2006/main">
              <a:ext uri="{FF2B5EF4-FFF2-40B4-BE49-F238E27FC236}">
                <a16:creationId xmlns:a16="http://schemas.microsoft.com/office/drawing/2014/main" id="{8BAB41DD-3568-4699-A969-60527F9D4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14975"/>
            <a:ext cx="11277600" cy="962025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takeaway-title">
            <a:extLst xmlns:a="http://schemas.openxmlformats.org/drawingml/2006/main">
              <a:ext uri="{FF2B5EF4-FFF2-40B4-BE49-F238E27FC236}">
                <a16:creationId xmlns:a16="http://schemas.microsoft.com/office/drawing/2014/main" id="{773F5E13-B739-44D4-9FD3-C4EE0132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1809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Hierarchy</a:t>
            </a:r>
          </a:p>
        </p:txBody>
      </p:sp>
      <p:sp>
        <p:nvSpPr>
          <p:cNvPr id="42" name="takeaway-body">
            <a:extLst xmlns:a="http://schemas.openxmlformats.org/drawingml/2006/main">
              <a:ext uri="{FF2B5EF4-FFF2-40B4-BE49-F238E27FC236}">
                <a16:creationId xmlns:a16="http://schemas.microsoft.com/office/drawing/2014/main" id="{D8EA2B6A-DE5B-46BD-89DB-2AE9BB69A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5638800"/>
            <a:ext cx="8858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43B53"/>
                </a:solidFill>
              </a:defRPr>
            </a:pPr>
            <a:r>
              <a:rPr sz="1425" b="0">
                <a:solidFill>
                  <a:srgbClr val="243B53"/>
                </a:solidFill>
              </a:rPr>
              <a:t>Lead with B; use A as the older-code benchmark and C as a public-data robustness check.</a:t>
            </a:r>
          </a:p>
        </p:txBody>
      </p:sp>
    </p:spTree>
    <p:extLst>
      <p:ext uri="{BB962C8B-B14F-4D97-AF65-F5344CB8AC3E}">
        <p14:creationId xmlns:p14="http://schemas.microsoft.com/office/powerpoint/2010/main" val="3915997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">
            <a:extLst xmlns:a="http://schemas.openxmlformats.org/drawingml/2006/main">
              <a:ext uri="{FF2B5EF4-FFF2-40B4-BE49-F238E27FC236}">
                <a16:creationId xmlns:a16="http://schemas.microsoft.com/office/drawing/2014/main" id="{4DBD74DF-ED28-4EE9-8535-9E366A67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PRIMARY IMPLEMENTATION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994307-319F-4EAA-8D7C-9E832F7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Restart upstream, then replace seven rounds with the full inverse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304C898-8A92-4A39-A7EB-64A10035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4772364-3993-46C7-BB6A-7696849F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04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1C4CBB66-390B-40CA-9A94-F3B655FA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Question</a:t>
            </a:r>
          </a:p>
        </p:txBody>
      </p:sp>
      <p:sp>
        <p:nvSpPr>
          <p:cNvPr id="6" name="question-body">
            <a:extLst xmlns:a="http://schemas.openxmlformats.org/drawingml/2006/main">
              <a:ext uri="{FF2B5EF4-FFF2-40B4-BE49-F238E27FC236}">
                <a16:creationId xmlns:a16="http://schemas.microsoft.com/office/drawing/2014/main" id="{C7924291-5CE5-45A7-9502-25780E87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38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Can the 2021 direct vintage support the 2025 operator without using any seven-round outputs?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F04E65CB-1300-417C-A552-521BE008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285875"/>
            <a:ext cx="190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trong precursor-bar">
            <a:extLst xmlns:a="http://schemas.openxmlformats.org/drawingml/2006/main">
              <a:ext uri="{FF2B5EF4-FFF2-40B4-BE49-F238E27FC236}">
                <a16:creationId xmlns:a16="http://schemas.microsoft.com/office/drawing/2014/main" id="{80A9BBD5-0978-4A47-9DE6-A7D2756C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335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96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rong precursor-label">
            <a:extLst xmlns:a="http://schemas.openxmlformats.org/drawingml/2006/main">
              <a:ext uri="{FF2B5EF4-FFF2-40B4-BE49-F238E27FC236}">
                <a16:creationId xmlns:a16="http://schemas.microsoft.com/office/drawing/2014/main" id="{51CC7C6F-9EBD-42A3-9CD8-DD0C6EE9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71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627D98"/>
                </a:solidFill>
              </a:rPr>
              <a:t>1 · Recover cells</a:t>
            </a:r>
          </a:p>
        </p:txBody>
      </p:sp>
      <p:sp>
        <p:nvSpPr>
          <p:cNvPr id="10" name="Strong precursor-body">
            <a:extLst xmlns:a="http://schemas.openxmlformats.org/drawingml/2006/main">
              <a:ext uri="{FF2B5EF4-FFF2-40B4-BE49-F238E27FC236}">
                <a16:creationId xmlns:a16="http://schemas.microsoft.com/office/drawing/2014/main" id="{244FF233-0930-4770-ADF3-1B1A9250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049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Read 351 pre-unveiling fields; rebuild mutual-fund allocation and eight intermediary rows.</a:t>
            </a:r>
          </a:p>
        </p:txBody>
      </p:sp>
      <p:sp>
        <p:nvSpPr>
          <p:cNvPr id="11" name="Partial match-bar">
            <a:extLst xmlns:a="http://schemas.openxmlformats.org/drawingml/2006/main">
              <a:ext uri="{FF2B5EF4-FFF2-40B4-BE49-F238E27FC236}">
                <a16:creationId xmlns:a16="http://schemas.microsoft.com/office/drawing/2014/main" id="{F0181655-D030-45C0-A3E0-D81445F8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0985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artial match-label">
            <a:extLst xmlns:a="http://schemas.openxmlformats.org/drawingml/2006/main">
              <a:ext uri="{FF2B5EF4-FFF2-40B4-BE49-F238E27FC236}">
                <a16:creationId xmlns:a16="http://schemas.microsoft.com/office/drawing/2014/main" id="{217D0269-3366-4106-A614-BFB2DD0B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47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2E5B88"/>
                </a:solidFill>
              </a:rPr>
              <a:t>2 · Complete network</a:t>
            </a:r>
          </a:p>
        </p:txBody>
      </p:sp>
      <p:sp>
        <p:nvSpPr>
          <p:cNvPr id="13" name="Partial match-body">
            <a:extLst xmlns:a="http://schemas.openxmlformats.org/drawingml/2006/main">
              <a:ext uri="{FF2B5EF4-FFF2-40B4-BE49-F238E27FC236}">
                <a16:creationId xmlns:a16="http://schemas.microsoft.com/office/drawing/2014/main" id="{00ABC748-B2B5-4893-8CE6-FDE63773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813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Clip signed artifacts, balance to kit margins, split households by DINA, solve Ω = (I − Q)⁻¹B.</a:t>
            </a:r>
          </a:p>
        </p:txBody>
      </p:sp>
      <p:sp>
        <p:nvSpPr>
          <p:cNvPr id="14" name="Context only-bar">
            <a:extLst xmlns:a="http://schemas.openxmlformats.org/drawingml/2006/main">
              <a:ext uri="{FF2B5EF4-FFF2-40B4-BE49-F238E27FC236}">
                <a16:creationId xmlns:a16="http://schemas.microsoft.com/office/drawing/2014/main" id="{A567A865-2022-41CE-BB30-AB58E2C2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862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ntext only-label">
            <a:extLst xmlns:a="http://schemas.openxmlformats.org/drawingml/2006/main">
              <a:ext uri="{FF2B5EF4-FFF2-40B4-BE49-F238E27FC236}">
                <a16:creationId xmlns:a16="http://schemas.microsoft.com/office/drawing/2014/main" id="{58F96603-D508-40F6-A485-776B0AF5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C65D16"/>
                </a:solidFill>
              </a:rPr>
              <a:t>3 · Net debt</a:t>
            </a:r>
          </a:p>
        </p:txBody>
      </p:sp>
      <p:sp>
        <p:nvSpPr>
          <p:cNvPr id="16" name="Context only-body">
            <a:extLst xmlns:a="http://schemas.openxmlformats.org/drawingml/2006/main">
              <a:ext uri="{FF2B5EF4-FFF2-40B4-BE49-F238E27FC236}">
                <a16:creationId xmlns:a16="http://schemas.microsoft.com/office/drawing/2014/main" id="{005F9EA7-5FC9-4084-B230-06E7E891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Trace household-debt assets to ultimate owners; subtract group mortgage and nonmortgage debt.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79FA2934-1CA8-49CA-B94B-8B94B201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4381500" cy="180975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90F1D0FA-121D-4208-9F34-9DE0662D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83232"/>
                </a:solidFill>
              </a:defRPr>
            </a:pPr>
            <a:r>
              <a:rPr sz="1575" b="1">
                <a:solidFill>
                  <a:srgbClr val="B83232"/>
                </a:solidFill>
              </a:rPr>
              <a:t>Verified boundary</a:t>
            </a:r>
          </a:p>
        </p:txBody>
      </p:sp>
      <p:sp>
        <p:nvSpPr>
          <p:cNvPr id="19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DF98F5D6-9D18-45C9-8820-2EA73D0D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Zero seven-round variables read; source debt margins close within $2 million and unveiled ownership rows within 4.5×10⁻¹⁶.</a:t>
            </a:r>
          </a:p>
        </p:txBody>
      </p:sp>
    </p:spTree>
    <p:extLst>
      <p:ext uri="{BB962C8B-B14F-4D97-AF65-F5344CB8AC3E}">
        <p14:creationId xmlns:p14="http://schemas.microsoft.com/office/powerpoint/2010/main" val="2211895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">
            <a:extLst xmlns:a="http://schemas.openxmlformats.org/drawingml/2006/main">
              <a:ext uri="{FF2B5EF4-FFF2-40B4-BE49-F238E27FC236}">
                <a16:creationId xmlns:a16="http://schemas.microsoft.com/office/drawing/2014/main" id="{4DBD74DF-ED28-4EE9-8535-9E366A67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PUBLIC-DATA ROBUSTNESS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994307-319F-4EAA-8D7C-9E832F7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Public FWTW tests portability—not a same-vintage effect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304C898-8A92-4A39-A7EB-64A10035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4772364-3993-46C7-BB6A-7696849F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05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1C4CBB66-390B-40CA-9A94-F3B655FA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Classification</a:t>
            </a:r>
          </a:p>
        </p:txBody>
      </p:sp>
      <p:sp>
        <p:nvSpPr>
          <p:cNvPr id="6" name="question-body">
            <a:extLst xmlns:a="http://schemas.openxmlformats.org/drawingml/2006/main">
              <a:ext uri="{FF2B5EF4-FFF2-40B4-BE49-F238E27FC236}">
                <a16:creationId xmlns:a16="http://schemas.microsoft.com/office/drawing/2014/main" id="{C7924291-5CE5-45A7-9502-25780E87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38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Same full operator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Different completed direct matrix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F04E65CB-1300-417C-A552-521BE008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285875"/>
            <a:ext cx="190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trong precursor-bar">
            <a:extLst xmlns:a="http://schemas.openxmlformats.org/drawingml/2006/main">
              <a:ext uri="{FF2B5EF4-FFF2-40B4-BE49-F238E27FC236}">
                <a16:creationId xmlns:a16="http://schemas.microsoft.com/office/drawing/2014/main" id="{80A9BBD5-0978-4A47-9DE6-A7D2756C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335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96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rong precursor-label">
            <a:extLst xmlns:a="http://schemas.openxmlformats.org/drawingml/2006/main">
              <a:ext uri="{FF2B5EF4-FFF2-40B4-BE49-F238E27FC236}">
                <a16:creationId xmlns:a16="http://schemas.microsoft.com/office/drawing/2014/main" id="{51CC7C6F-9EBD-42A3-9CD8-DD0C6EE9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71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627D98"/>
                </a:solidFill>
              </a:rPr>
              <a:t>1 · Public FWTW</a:t>
            </a:r>
          </a:p>
        </p:txBody>
      </p:sp>
      <p:sp>
        <p:nvSpPr>
          <p:cNvPr id="10" name="Strong precursor-body">
            <a:extLst xmlns:a="http://schemas.openxmlformats.org/drawingml/2006/main">
              <a:ext uri="{FF2B5EF4-FFF2-40B4-BE49-F238E27FC236}">
                <a16:creationId xmlns:a16="http://schemas.microsoft.com/office/drawing/2014/main" id="{244FF233-0930-4770-ADF3-1B1A9250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049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June 2026 release: 31 instruments and 25 substantive sectors, already completed by the Fed.</a:t>
            </a:r>
          </a:p>
        </p:txBody>
      </p:sp>
      <p:sp>
        <p:nvSpPr>
          <p:cNvPr id="11" name="Partial match-bar">
            <a:extLst xmlns:a="http://schemas.openxmlformats.org/drawingml/2006/main">
              <a:ext uri="{FF2B5EF4-FFF2-40B4-BE49-F238E27FC236}">
                <a16:creationId xmlns:a16="http://schemas.microsoft.com/office/drawing/2014/main" id="{F0181655-D030-45C0-A3E0-D81445F8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0985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artial match-label">
            <a:extLst xmlns:a="http://schemas.openxmlformats.org/drawingml/2006/main">
              <a:ext uri="{FF2B5EF4-FFF2-40B4-BE49-F238E27FC236}">
                <a16:creationId xmlns:a16="http://schemas.microsoft.com/office/drawing/2014/main" id="{217D0269-3366-4106-A614-BFB2DD0B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47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2E5B88"/>
                </a:solidFill>
              </a:rPr>
              <a:t>2 · Common layer</a:t>
            </a:r>
          </a:p>
        </p:txBody>
      </p:sp>
      <p:sp>
        <p:nvSpPr>
          <p:cNvPr id="13" name="Partial match-body">
            <a:extLst xmlns:a="http://schemas.openxmlformats.org/drawingml/2006/main">
              <a:ext uri="{FF2B5EF4-FFF2-40B4-BE49-F238E27FC236}">
                <a16:creationId xmlns:a16="http://schemas.microsoft.com/office/drawing/2014/main" id="{00ABC748-B2B5-4893-8CE6-FDE63773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813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Reuse 2021 DINA group shares and authors-kit national income; stop in 2016.</a:t>
            </a:r>
          </a:p>
        </p:txBody>
      </p:sp>
      <p:sp>
        <p:nvSpPr>
          <p:cNvPr id="14" name="Context only-bar">
            <a:extLst xmlns:a="http://schemas.openxmlformats.org/drawingml/2006/main">
              <a:ext uri="{FF2B5EF4-FFF2-40B4-BE49-F238E27FC236}">
                <a16:creationId xmlns:a16="http://schemas.microsoft.com/office/drawing/2014/main" id="{A567A865-2022-41CE-BB30-AB58E2C2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862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ntext only-label">
            <a:extLst xmlns:a="http://schemas.openxmlformats.org/drawingml/2006/main">
              <a:ext uri="{FF2B5EF4-FFF2-40B4-BE49-F238E27FC236}">
                <a16:creationId xmlns:a16="http://schemas.microsoft.com/office/drawing/2014/main" id="{58F96603-D508-40F6-A485-776B0AF5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C65D16"/>
                </a:solidFill>
              </a:rPr>
              <a:t>3 · Full solve</a:t>
            </a:r>
          </a:p>
        </p:txBody>
      </p:sp>
      <p:sp>
        <p:nvSpPr>
          <p:cNvPr id="16" name="Context only-body">
            <a:extLst xmlns:a="http://schemas.openxmlformats.org/drawingml/2006/main">
              <a:ext uri="{FF2B5EF4-FFF2-40B4-BE49-F238E27FC236}">
                <a16:creationId xmlns:a16="http://schemas.microsoft.com/office/drawing/2014/main" id="{005F9EA7-5FC9-4084-B230-06E7E891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Split household holders, reorient negative positions, and apply the same Leontief operator.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79FA2934-1CA8-49CA-B94B-8B94B201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4381500" cy="180975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90F1D0FA-121D-4208-9F34-9DE0662D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83232"/>
                </a:solidFill>
              </a:defRPr>
            </a:pPr>
            <a:r>
              <a:rPr sz="1575" b="1">
                <a:solidFill>
                  <a:srgbClr val="B83232"/>
                </a:solidFill>
              </a:rPr>
              <a:t>Interpretation</a:t>
            </a:r>
          </a:p>
        </p:txBody>
      </p:sp>
      <p:sp>
        <p:nvSpPr>
          <p:cNvPr id="19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DF98F5D6-9D18-45C9-8820-2EA73D0D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Useful robustness, but operator, vintage, taxonomy, completion algorithm, and corporate-equity coverage differ from the paper.</a:t>
            </a:r>
          </a:p>
        </p:txBody>
      </p:sp>
    </p:spTree>
    <p:extLst>
      <p:ext uri="{BB962C8B-B14F-4D97-AF65-F5344CB8AC3E}">
        <p14:creationId xmlns:p14="http://schemas.microsoft.com/office/powerpoint/2010/main" val="22118952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A955CD9-B4EF-4E20-A3FC-1D7B4F59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FIGURE 8 METHOD COMPARISON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E8A36E9-77A3-4197-AAEB-944D96A2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All routes recover the split; level gaps remain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14C6BB1-D2D7-4502-B63E-CB46F522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846DD66-DAE1-4F4D-9638-E1108AC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06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AC7EBFD9-49FB-40B3-B7BA-0564A41A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Top 1% · paper plus three routes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D7EBD11C-5C33-487B-AFE7-65F7CD7D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Bottom 99% · paper plus three routes</a:t>
            </a:r>
          </a:p>
        </p:txBody>
      </p:sp>
      <p:sp>
        <p:nvSpPr>
          <p:cNvPr id="7" name="Regenerated 2021 safe-asset demand figure-frame">
            <a:extLst xmlns:a="http://schemas.openxmlformats.org/drawingml/2006/main">
              <a:ext uri="{FF2B5EF4-FFF2-40B4-BE49-F238E27FC236}">
                <a16:creationId xmlns:a16="http://schemas.microsoft.com/office/drawing/2014/main" id="{1442A94D-98B9-4DC6-8E97-11AE6BD7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9" name="2025 Figure 10 safe-asset demand-frame">
            <a:extLst xmlns:a="http://schemas.openxmlformats.org/drawingml/2006/main">
              <a:ext uri="{FF2B5EF4-FFF2-40B4-BE49-F238E27FC236}">
                <a16:creationId xmlns:a16="http://schemas.microsoft.com/office/drawing/2014/main" id="{98F7C92D-66A0-4F20-83BF-E349E5E8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8E0201B9-6249-4F69-8DD3-3C91F0AF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6607933-8AC4-4796-94EB-F2FB6C08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AEE4CAF-C158-4F1E-AF88-9B2A7277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TREND ROBUST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F5E1C807-0687-4A75-8864-05548460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Top-1 MAE: 2.33 pp for 2021-direct/full vs 2.41 proxy; public/full is 2.12 pp.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9E94ECB7-8637-4F89-9ABB-1A8B2FEF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Bottom-99 MAE: 1.31 pp for 2021-direct/full vs 1.38 proxy; public/full is 1.98 pp.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1f842d57d14f4d"/>
          <a:stretch xmlns:a="http://schemas.openxmlformats.org/drawingml/2006/main"/>
        </p:blipFill>
        <p:spPr>
          <a:xfrm xmlns:a="http://schemas.openxmlformats.org/drawingml/2006/main" flipH="0" flipV="0">
            <a:off x="632746" y="1552099"/>
            <a:ext cx="5059204" cy="3372802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fe566bdaee4e4d"/>
          <a:stretch xmlns:a="http://schemas.openxmlformats.org/drawingml/2006/main"/>
        </p:blipFill>
        <p:spPr>
          <a:xfrm xmlns:a="http://schemas.openxmlformats.org/drawingml/2006/main" flipH="0" flipV="0">
            <a:off x="6450393" y="1776603"/>
            <a:ext cx="5158614" cy="29236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3300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">
            <a:extLst xmlns:a="http://schemas.openxmlformats.org/drawingml/2006/main">
              <a:ext uri="{FF2B5EF4-FFF2-40B4-BE49-F238E27FC236}">
                <a16:creationId xmlns:a16="http://schemas.microsoft.com/office/drawing/2014/main" id="{AA955CD9-B4EF-4E20-A3FC-1D7B4F59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SAME-VINTAGE OPERATOR TEST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E8A36E9-77A3-4197-AAEB-944D96A2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The full inverse changes the old network only modestly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14C6BB1-D2D7-4502-B63E-CB46F522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846DD66-DAE1-4F4D-9638-E1108AC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07</a:t>
            </a:r>
          </a:p>
        </p:txBody>
      </p:sp>
      <p:sp>
        <p:nvSpPr>
          <p:cNvPr id="5" name="left-label">
            <a:extLst xmlns:a="http://schemas.openxmlformats.org/drawingml/2006/main">
              <a:ext uri="{FF2B5EF4-FFF2-40B4-BE49-F238E27FC236}">
                <a16:creationId xmlns:a16="http://schemas.microsoft.com/office/drawing/2014/main" id="{AC7EBFD9-49FB-40B3-B7BA-0564A41A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E5B88"/>
                </a:solidFill>
              </a:defRPr>
            </a:pPr>
            <a:r>
              <a:rPr sz="1350" b="1">
                <a:solidFill>
                  <a:srgbClr val="2E5B88"/>
                </a:solidFill>
              </a:rPr>
              <a:t>B minus A · full inverse minus seven rounds</a:t>
            </a:r>
          </a:p>
        </p:txBody>
      </p:sp>
      <p:sp>
        <p:nvSpPr>
          <p:cNvPr id="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D7EBD11C-5C33-487B-AFE7-65F7CD7D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1239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65D16"/>
                </a:solidFill>
              </a:defRPr>
            </a:pPr>
            <a:r>
              <a:rPr sz="1350" b="1">
                <a:solidFill>
                  <a:srgbClr val="C65D16"/>
                </a:solidFill>
              </a:rPr>
              <a:t>B · 2021 direct cells + full inverse</a:t>
            </a:r>
          </a:p>
        </p:txBody>
      </p:sp>
      <p:sp>
        <p:nvSpPr>
          <p:cNvPr id="7" name="Regenerated 2021 safe-asset demand figure-frame">
            <a:extLst xmlns:a="http://schemas.openxmlformats.org/drawingml/2006/main">
              <a:ext uri="{FF2B5EF4-FFF2-40B4-BE49-F238E27FC236}">
                <a16:creationId xmlns:a16="http://schemas.microsoft.com/office/drawing/2014/main" id="{1442A94D-98B9-4DC6-8E97-11AE6BD7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9" name="2025 Figure 10 safe-asset demand-frame">
            <a:extLst xmlns:a="http://schemas.openxmlformats.org/drawingml/2006/main">
              <a:ext uri="{FF2B5EF4-FFF2-40B4-BE49-F238E27FC236}">
                <a16:creationId xmlns:a16="http://schemas.microsoft.com/office/drawing/2014/main" id="{98F7C92D-66A0-4F20-83BF-E349E5E8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28750"/>
            <a:ext cx="5410200" cy="3638550"/>
          </a:xfrm>
          <a:prstGeom xmlns:a="http://schemas.openxmlformats.org/drawingml/2006/main" prst="roundRect">
            <a:avLst>
              <a:gd name="adj" fmla="val 10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8"/>
            </a:solidFill>
            <a:prstDash val="solid"/>
          </a:ln>
        </p:spPr>
      </p:sp>
      <p:sp>
        <p:nvSpPr>
          <p:cNvPr id="11" name="assessment-band">
            <a:extLst xmlns:a="http://schemas.openxmlformats.org/drawingml/2006/main">
              <a:ext uri="{FF2B5EF4-FFF2-40B4-BE49-F238E27FC236}">
                <a16:creationId xmlns:a16="http://schemas.microsoft.com/office/drawing/2014/main" id="{8E0201B9-6249-4F69-8DD3-3C91F0AF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12192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ssessment-accent">
            <a:extLst xmlns:a="http://schemas.openxmlformats.org/drawingml/2006/main">
              <a:ext uri="{FF2B5EF4-FFF2-40B4-BE49-F238E27FC236}">
                <a16:creationId xmlns:a16="http://schemas.microsoft.com/office/drawing/2014/main" id="{E6607933-8AC4-4796-94EB-F2FB6C08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erdict">
            <a:extLst xmlns:a="http://schemas.openxmlformats.org/drawingml/2006/main">
              <a:ext uri="{FF2B5EF4-FFF2-40B4-BE49-F238E27FC236}">
                <a16:creationId xmlns:a16="http://schemas.microsoft.com/office/drawing/2014/main" id="{DAEE4CAF-C158-4F1E-AF88-9B2A7277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314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2F855A"/>
                </a:solidFill>
              </a:rPr>
              <a:t>TRUNCATION IS NOT THE MAIN GAP</a:t>
            </a:r>
          </a:p>
        </p:txBody>
      </p:sp>
      <p:sp>
        <p:nvSpPr>
          <p:cNvPr id="14" name="assessment">
            <a:extLst xmlns:a="http://schemas.openxmlformats.org/drawingml/2006/main">
              <a:ext uri="{FF2B5EF4-FFF2-40B4-BE49-F238E27FC236}">
                <a16:creationId xmlns:a16="http://schemas.microsoft.com/office/drawing/2014/main" id="{F5E1C807-0687-4A75-8864-05548460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3340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Mean |B−A|: 0.26 pp top 1% and 0.75 pp bottom 99%; 2007 differences are −0.56 and −2.15 pp.</a:t>
            </a:r>
          </a:p>
        </p:txBody>
      </p:sp>
      <p:sp>
        <p:nvSpPr>
          <p:cNvPr id="15" name="difference">
            <a:extLst xmlns:a="http://schemas.openxmlformats.org/drawingml/2006/main">
              <a:ext uri="{FF2B5EF4-FFF2-40B4-BE49-F238E27FC236}">
                <a16:creationId xmlns:a16="http://schemas.microsoft.com/office/drawing/2014/main" id="{9E94ECB7-8637-4F89-9ABB-1A8B2FEF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D98"/>
                </a:solidFill>
              </a:defRPr>
            </a:pPr>
            <a:r>
              <a:rPr sz="1200" b="0">
                <a:solidFill>
                  <a:srgbClr val="627D98"/>
                </a:solidFill>
              </a:rPr>
              <a:t>Caveat: signed-cell clipping absorbs 8.5–37.8% of gross debt-cell mass; 3.2–10.0% remains unassigned after coarsening.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110c8e16664e61"/>
          <a:stretch xmlns:a="http://schemas.openxmlformats.org/drawingml/2006/main"/>
        </p:blipFill>
        <p:spPr>
          <a:xfrm xmlns:a="http://schemas.openxmlformats.org/drawingml/2006/main" flipH="0" flipV="0">
            <a:off x="632746" y="1552099"/>
            <a:ext cx="5059204" cy="3372802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cb072834964e28"/>
          <a:stretch xmlns:a="http://schemas.openxmlformats.org/drawingml/2006/main"/>
        </p:blipFill>
        <p:spPr>
          <a:xfrm xmlns:a="http://schemas.openxmlformats.org/drawingml/2006/main" flipH="0" flipV="0">
            <a:off x="6400802" y="1776603"/>
            <a:ext cx="5257795" cy="29236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33000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">
            <a:extLst xmlns:a="http://schemas.openxmlformats.org/drawingml/2006/main">
              <a:ext uri="{FF2B5EF4-FFF2-40B4-BE49-F238E27FC236}">
                <a16:creationId xmlns:a16="http://schemas.microsoft.com/office/drawing/2014/main" id="{4DBD74DF-ED28-4EE9-8535-9E366A67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65D16"/>
                </a:solidFill>
              </a:defRPr>
            </a:pPr>
            <a:r>
              <a:rPr sz="1050" b="1">
                <a:solidFill>
                  <a:srgbClr val="C65D16"/>
                </a:solidFill>
              </a:rPr>
              <a:t>REPLICATION SYNTHESIS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994307-319F-4EAA-8D7C-9E832F7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A43"/>
                </a:solidFill>
              </a:defRPr>
            </a:pPr>
            <a:r>
              <a:rPr sz="2700" b="1">
                <a:solidFill>
                  <a:srgbClr val="102A43"/>
                </a:solidFill>
              </a:rPr>
              <a:t>Lead with the same-vintage test; keep both comparators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304C898-8A92-4A39-A7EB-64A10035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4772364-3993-46C7-BB6A-7696849F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667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27D98"/>
                </a:solidFill>
              </a:defRPr>
            </a:pPr>
            <a:r>
              <a:rPr sz="1050" b="1">
                <a:solidFill>
                  <a:srgbClr val="627D98"/>
                </a:solidFill>
              </a:rPr>
              <a:t>08</a:t>
            </a:r>
          </a:p>
        </p:txBody>
      </p:sp>
      <p:sp>
        <p:nvSpPr>
          <p:cNvPr id="5" name="question">
            <a:extLst xmlns:a="http://schemas.openxmlformats.org/drawingml/2006/main">
              <a:ext uri="{FF2B5EF4-FFF2-40B4-BE49-F238E27FC236}">
                <a16:creationId xmlns:a16="http://schemas.microsoft.com/office/drawing/2014/main" id="{1C4CBB66-390B-40CA-9A94-F3B655FA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Submission choice</a:t>
            </a:r>
          </a:p>
        </p:txBody>
      </p:sp>
      <p:sp>
        <p:nvSpPr>
          <p:cNvPr id="6" name="question-body">
            <a:extLst xmlns:a="http://schemas.openxmlformats.org/drawingml/2006/main">
              <a:ext uri="{FF2B5EF4-FFF2-40B4-BE49-F238E27FC236}">
                <a16:creationId xmlns:a16="http://schemas.microsoft.com/office/drawing/2014/main" id="{C7924291-5CE5-45A7-9502-25780E87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38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Primary: 2021 direct cells + full inverse.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243B53"/>
                </a:solidFill>
              </a:defRPr>
            </a:pPr>
            <a:r>
              <a:rPr sz="1875" b="0">
                <a:solidFill>
                  <a:srgbClr val="243B53"/>
                </a:solidFill>
              </a:rPr>
              <a:t>Benchmarks: old final file and public FWTW.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F04E65CB-1300-417C-A552-521BE008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285875"/>
            <a:ext cx="190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trong precursor-bar">
            <a:extLst xmlns:a="http://schemas.openxmlformats.org/drawingml/2006/main">
              <a:ext uri="{FF2B5EF4-FFF2-40B4-BE49-F238E27FC236}">
                <a16:creationId xmlns:a16="http://schemas.microsoft.com/office/drawing/2014/main" id="{80A9BBD5-0978-4A47-9DE6-A7D2756C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335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rong precursor-label">
            <a:extLst xmlns:a="http://schemas.openxmlformats.org/drawingml/2006/main">
              <a:ext uri="{FF2B5EF4-FFF2-40B4-BE49-F238E27FC236}">
                <a16:creationId xmlns:a16="http://schemas.microsoft.com/office/drawing/2014/main" id="{51CC7C6F-9EBD-42A3-9CD8-DD0C6EE9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71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F855A"/>
                </a:solidFill>
              </a:defRPr>
            </a:pPr>
            <a:r>
              <a:rPr sz="1725" b="1">
                <a:solidFill>
                  <a:srgbClr val="C65D16"/>
                </a:solidFill>
              </a:rPr>
              <a:t>Main result</a:t>
            </a:r>
          </a:p>
        </p:txBody>
      </p:sp>
      <p:sp>
        <p:nvSpPr>
          <p:cNvPr id="10" name="Strong precursor-body">
            <a:extLst xmlns:a="http://schemas.openxmlformats.org/drawingml/2006/main">
              <a:ext uri="{FF2B5EF4-FFF2-40B4-BE49-F238E27FC236}">
                <a16:creationId xmlns:a16="http://schemas.microsoft.com/office/drawing/2014/main" id="{244FF233-0930-4770-ADF3-1B1A9250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049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Route B restarts before unveiling and applies the 2025 operator to the old data vintage through 2016.</a:t>
            </a:r>
          </a:p>
        </p:txBody>
      </p:sp>
      <p:sp>
        <p:nvSpPr>
          <p:cNvPr id="11" name="Partial match-bar">
            <a:extLst xmlns:a="http://schemas.openxmlformats.org/drawingml/2006/main">
              <a:ext uri="{FF2B5EF4-FFF2-40B4-BE49-F238E27FC236}">
                <a16:creationId xmlns:a16="http://schemas.microsoft.com/office/drawing/2014/main" id="{F0181655-D030-45C0-A3E0-D81445F8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0985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7D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artial match-label">
            <a:extLst xmlns:a="http://schemas.openxmlformats.org/drawingml/2006/main">
              <a:ext uri="{FF2B5EF4-FFF2-40B4-BE49-F238E27FC236}">
                <a16:creationId xmlns:a16="http://schemas.microsoft.com/office/drawing/2014/main" id="{217D0269-3366-4106-A614-BFB2DD0B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47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7791F"/>
                </a:solidFill>
              </a:defRPr>
            </a:pPr>
            <a:r>
              <a:rPr sz="1725" b="1">
                <a:solidFill>
                  <a:srgbClr val="627D98"/>
                </a:solidFill>
              </a:rPr>
              <a:t>Two distinct checks</a:t>
            </a:r>
          </a:p>
        </p:txBody>
      </p:sp>
      <p:sp>
        <p:nvSpPr>
          <p:cNvPr id="13" name="Partial match-body">
            <a:extLst xmlns:a="http://schemas.openxmlformats.org/drawingml/2006/main">
              <a:ext uri="{FF2B5EF4-FFF2-40B4-BE49-F238E27FC236}">
                <a16:creationId xmlns:a16="http://schemas.microsoft.com/office/drawing/2014/main" id="{00ABC748-B2B5-4893-8CE6-FDE63773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813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Route A validates the supplied older pipeline; Route C tests the method on current public bilateral data.</a:t>
            </a:r>
          </a:p>
        </p:txBody>
      </p:sp>
      <p:sp>
        <p:nvSpPr>
          <p:cNvPr id="14" name="Context only-bar">
            <a:extLst xmlns:a="http://schemas.openxmlformats.org/drawingml/2006/main">
              <a:ext uri="{FF2B5EF4-FFF2-40B4-BE49-F238E27FC236}">
                <a16:creationId xmlns:a16="http://schemas.microsoft.com/office/drawing/2014/main" id="{A567A865-2022-41CE-BB30-AB58E2C2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86200"/>
            <a:ext cx="762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B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ntext only-label">
            <a:extLst xmlns:a="http://schemas.openxmlformats.org/drawingml/2006/main">
              <a:ext uri="{FF2B5EF4-FFF2-40B4-BE49-F238E27FC236}">
                <a16:creationId xmlns:a16="http://schemas.microsoft.com/office/drawing/2014/main" id="{58F96603-D508-40F6-A485-776B0AF5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83232"/>
                </a:solidFill>
              </a:defRPr>
            </a:pPr>
            <a:r>
              <a:rPr sz="1725" b="1">
                <a:solidFill>
                  <a:srgbClr val="2E5B88"/>
                </a:solidFill>
              </a:rPr>
              <a:t>Economic conclusion</a:t>
            </a:r>
          </a:p>
        </p:txBody>
      </p:sp>
      <p:sp>
        <p:nvSpPr>
          <p:cNvPr id="16" name="Context only-body">
            <a:extLst xmlns:a="http://schemas.openxmlformats.org/drawingml/2006/main">
              <a:ext uri="{FF2B5EF4-FFF2-40B4-BE49-F238E27FC236}">
                <a16:creationId xmlns:a16="http://schemas.microsoft.com/office/drawing/2014/main" id="{005F9EA7-5FC9-4084-B230-06E7E891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All three show rising top-1 net lending and increasingly negative bottom-99 net debt after 1982.</a:t>
            </a:r>
          </a:p>
        </p:txBody>
      </p:sp>
      <p:sp>
        <p:nvSpPr>
          <p:cNvPr id="17" name="boundary">
            <a:extLst xmlns:a="http://schemas.openxmlformats.org/drawingml/2006/main">
              <a:ext uri="{FF2B5EF4-FFF2-40B4-BE49-F238E27FC236}">
                <a16:creationId xmlns:a16="http://schemas.microsoft.com/office/drawing/2014/main" id="{79FA2934-1CA8-49CA-B94B-8B94B201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4381500" cy="180975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oundary-title">
            <a:extLst xmlns:a="http://schemas.openxmlformats.org/drawingml/2006/main">
              <a:ext uri="{FF2B5EF4-FFF2-40B4-BE49-F238E27FC236}">
                <a16:creationId xmlns:a16="http://schemas.microsoft.com/office/drawing/2014/main" id="{90F1D0FA-121D-4208-9F34-9DE0662D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83232"/>
                </a:solidFill>
              </a:defRPr>
            </a:pPr>
            <a:r>
              <a:rPr sz="1575" b="1">
                <a:solidFill>
                  <a:srgbClr val="B83232"/>
                </a:solidFill>
              </a:rPr>
              <a:t>Report explicitly</a:t>
            </a:r>
          </a:p>
        </p:txBody>
      </p:sp>
      <p:sp>
        <p:nvSpPr>
          <p:cNvPr id="19" name="boundary-body">
            <a:extLst xmlns:a="http://schemas.openxmlformats.org/drawingml/2006/main">
              <a:ext uri="{FF2B5EF4-FFF2-40B4-BE49-F238E27FC236}">
                <a16:creationId xmlns:a16="http://schemas.microsoft.com/office/drawing/2014/main" id="{DF98F5D6-9D18-45C9-8820-2EA73D0D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3B53"/>
                </a:solidFill>
              </a:defRPr>
            </a:pPr>
            <a:r>
              <a:rPr sz="1350" b="0">
                <a:solidFill>
                  <a:srgbClr val="243B53"/>
                </a:solidFill>
              </a:rPr>
              <a:t>The small A→B gap suggests seven-round truncation is not the main paper discrepancy; matrix coverage, completion, taxonomy, and wealth mapping remain.</a:t>
            </a:r>
          </a:p>
        </p:txBody>
      </p:sp>
    </p:spTree>
    <p:extLst>
      <p:ext uri="{BB962C8B-B14F-4D97-AF65-F5344CB8AC3E}">
        <p14:creationId xmlns:p14="http://schemas.microsoft.com/office/powerpoint/2010/main" val="221189521"/>
      </p:ext>
    </p:extLst>
  </p:cSld>
</p:sld>
</file>

<file path=ppt/theme/theme1.xml><?xml version="1.0" encoding="utf-8"?>
<a:theme xmlns:a="http://schemas.openxmlformats.org/drawingml/2006/main" name="ChatGPT">
  <a:themeElements>
    <a:clrScheme name="Replication validation">
      <a:dk1>
        <a:srgbClr val="000000"/>
      </a:dk1>
      <a:lt1>
        <a:srgbClr val="FFFFFF"/>
      </a:lt1>
      <a:dk2>
        <a:srgbClr val="102A43"/>
      </a:dk2>
      <a:lt2>
        <a:srgbClr val="D8E1E8"/>
      </a:lt2>
      <a:accent1>
        <a:srgbClr val="2E5B88"/>
      </a:accent1>
      <a:accent2>
        <a:srgbClr val="C65D16"/>
      </a:accent2>
      <a:accent3>
        <a:srgbClr val="2F855A"/>
      </a:accent3>
      <a:accent4>
        <a:srgbClr val="B83232"/>
      </a:accent4>
      <a:accent5>
        <a:srgbClr val="B7791F"/>
      </a:accent5>
      <a:accent6>
        <a:srgbClr val="627D98"/>
      </a:accent6>
      <a:hlink>
        <a:srgbClr val="2E5B88"/>
      </a:hlink>
      <a:folHlink>
        <a:srgbClr val="C65D16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Replication validati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2026-08-13T23:40:47.9170000Z</dcterms:created>
  <dcterms:modified xsi:type="dcterms:W3CDTF">2026-08-13T23:40:47.9170000Z</dcterms:modified>
</coreProperties>
</file>
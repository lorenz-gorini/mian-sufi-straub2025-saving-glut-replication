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2d7f81cd642e4" /><Relationship Type="http://schemas.openxmlformats.org/officeDocument/2006/relationships/extended-properties" Target="/docProps/app.xml" Id="R8e5a625319474a49" /><Relationship Type="http://schemas.openxmlformats.org/officeDocument/2006/relationships/officeDocument" Target="/ppt/presentation.xml" Id="R44152a2901fe47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a19b782b0e44a5"/>
  </p:sldMasterIdLst>
  <p:notesMasterIdLst>
    <p:notesMasterId xmlns:r="http://schemas.openxmlformats.org/officeDocument/2006/relationships" r:id="R79d0963524134519"/>
  </p:notesMasterIdLst>
  <p:sldIdLst>
    <p:sldId xmlns:r="http://schemas.openxmlformats.org/officeDocument/2006/relationships" id="256" r:id="Re1cbfe52922c4ad4"/>
    <p:sldId xmlns:r="http://schemas.openxmlformats.org/officeDocument/2006/relationships" id="257" r:id="R84cf1157c28d4a17"/>
    <p:sldId xmlns:r="http://schemas.openxmlformats.org/officeDocument/2006/relationships" id="258" r:id="R5365fd975e7e4a3d"/>
    <p:sldId xmlns:r="http://schemas.openxmlformats.org/officeDocument/2006/relationships" id="259" r:id="R02912d1d134e4f4b"/>
    <p:sldId xmlns:r="http://schemas.openxmlformats.org/officeDocument/2006/relationships" id="260" r:id="Rfadfa80ad0f24c16"/>
    <p:sldId xmlns:r="http://schemas.openxmlformats.org/officeDocument/2006/relationships" id="261" r:id="Rd3599ef1b858412d"/>
    <p:sldId xmlns:r="http://schemas.openxmlformats.org/officeDocument/2006/relationships" id="262" r:id="Rb2659b6725e148e0"/>
    <p:sldId xmlns:r="http://schemas.openxmlformats.org/officeDocument/2006/relationships" id="263" r:id="Rb50e2c8c83864d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f07313a2a04a5e" /><Relationship Type="http://schemas.openxmlformats.org/officeDocument/2006/relationships/slideMaster" Target="/ppt/slideMasters/slideMaster1.xml" Id="R0da19b782b0e44a5" /><Relationship Type="http://schemas.openxmlformats.org/officeDocument/2006/relationships/notesMaster" Target="/ppt/notesMasters/notesMaster1.xml" Id="R79d0963524134519" /><Relationship Type="http://schemas.openxmlformats.org/officeDocument/2006/relationships/presProps" Target="/ppt/presProps.xml" Id="R391f68177dc24cbc" /><Relationship Type="http://schemas.openxmlformats.org/officeDocument/2006/relationships/tableStyles" Target="/ppt/tableStyles.xml" Id="R2aad210deb6043ca" /><Relationship Type="http://schemas.openxmlformats.org/officeDocument/2006/relationships/slide" Target="/ppt/slides/slide1.xml" Id="Re1cbfe52922c4ad4" /><Relationship Type="http://schemas.openxmlformats.org/officeDocument/2006/relationships/slide" Target="/ppt/slides/slide2.xml" Id="R84cf1157c28d4a17" /><Relationship Type="http://schemas.openxmlformats.org/officeDocument/2006/relationships/slide" Target="/ppt/slides/slide3.xml" Id="R5365fd975e7e4a3d" /><Relationship Type="http://schemas.openxmlformats.org/officeDocument/2006/relationships/slide" Target="/ppt/slides/slide4.xml" Id="R02912d1d134e4f4b" /><Relationship Type="http://schemas.openxmlformats.org/officeDocument/2006/relationships/slide" Target="/ppt/slides/slide5.xml" Id="Rfadfa80ad0f24c16" /><Relationship Type="http://schemas.openxmlformats.org/officeDocument/2006/relationships/slide" Target="/ppt/slides/slide6.xml" Id="Rd3599ef1b858412d" /><Relationship Type="http://schemas.openxmlformats.org/officeDocument/2006/relationships/slide" Target="/ppt/slides/slide7.xml" Id="Rb2659b6725e148e0" /><Relationship Type="http://schemas.openxmlformats.org/officeDocument/2006/relationships/slide" Target="/ppt/slides/slide8.xml" Id="Rb50e2c8c83864d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e9a0c076fd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6bd95ede3748df" /><Relationship Type="http://schemas.openxmlformats.org/officeDocument/2006/relationships/notesMaster" Target="/ppt/notesMasters/notesMaster1.xml" Id="R3a89805df4784b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beb52273d04b63" /><Relationship Type="http://schemas.openxmlformats.org/officeDocument/2006/relationships/notesMaster" Target="/ppt/notesMasters/notesMaster1.xml" Id="Rc22eb6764d2844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6d2a155f3f4899" /><Relationship Type="http://schemas.openxmlformats.org/officeDocument/2006/relationships/notesMaster" Target="/ppt/notesMasters/notesMaster1.xml" Id="Ra22882a35ace48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9aed7cf4d046b4" /><Relationship Type="http://schemas.openxmlformats.org/officeDocument/2006/relationships/notesMaster" Target="/ppt/notesMasters/notesMaster1.xml" Id="R4f4eae0b81cf42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17596d024b45d6" /><Relationship Type="http://schemas.openxmlformats.org/officeDocument/2006/relationships/notesMaster" Target="/ppt/notesMasters/notesMaster1.xml" Id="R7cf4a732395e44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0df29a5acd4820" /><Relationship Type="http://schemas.openxmlformats.org/officeDocument/2006/relationships/notesMaster" Target="/ppt/notesMasters/notesMaster1.xml" Id="R6ee1f26718d641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f2440b4db94370" /><Relationship Type="http://schemas.openxmlformats.org/officeDocument/2006/relationships/notesMaster" Target="/ppt/notesMasters/notesMaster1.xml" Id="R509ad47dde2449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328f8a436d4d73" /><Relationship Type="http://schemas.openxmlformats.org/officeDocument/2006/relationships/notesMaster" Target="/ppt/notesMasters/notesMaster1.xml" Id="R750cfefd73d249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docs/project/tasks/figure1-replication.md</a:t>
            </a:r>
          </a:p>
          <a:p xmlns:a="http://schemas.openxmlformats.org/drawingml/2006/main">
            <a:r>
              <a:t>- docs/project/tasks/figure5-replication.md</a:t>
            </a:r>
          </a:p>
          <a:p xmlns:a="http://schemas.openxmlformats.org/drawingml/2006/main">
            <a:r>
              <a:t>- docs/project/tasks/figure6-replication.md</a:t>
            </a:r>
          </a:p>
          <a:p xmlns:a="http://schemas.openxmlformats.org/drawingml/2006/main">
            <a:r>
              <a:t>- docs/project/tasks/figure8-replication.md</a:t>
            </a:r>
          </a:p>
          <a:p xmlns:a="http://schemas.openxmlformats.org/drawingml/2006/main">
            <a:r>
              <a:t>- Presentation/1_replication_package_validation/replication_package_validation.pptx (visual source)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Figures 1, 5, 6, and 8</a:t>
            </a:r>
          </a:p>
          <a:p xmlns:a="http://schemas.openxmlformats.org/drawingml/2006/main">
            <a:r>
              <a:t>- docs/project/tasks/result-selection.md</a:t>
            </a:r>
          </a:p>
          <a:p xmlns:a="http://schemas.openxmlformats.org/drawingml/2006/main">
            <a:r>
              <a:t>- Results_Proposal/major_results.md, R-001 to R-003</a:t>
            </a:r>
          </a:p>
          <a:p xmlns:a="http://schemas.openxmlformats.org/drawingml/2006/main">
            <a:r>
              <a:t>- docs/project/tasks/figure8-replication.md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Sections 2.2 and 4.1</a:t>
            </a:r>
          </a:p>
          <a:p xmlns:a="http://schemas.openxmlformats.org/drawingml/2006/main">
            <a:r>
              <a:t>- https://www.federalreserve.gov/releases/efa/fwtw.htm</a:t>
            </a:r>
          </a:p>
          <a:p xmlns:a="http://schemas.openxmlformats.org/drawingml/2006/main">
            <a:r>
              <a:t>- Data/raw/fwtw/fwtw_data_2026-06-18.csv</a:t>
            </a:r>
          </a:p>
          <a:p xmlns:a="http://schemas.openxmlformats.org/drawingml/2006/main">
            <a:r>
              <a:t>- docs/data/figure1-data.md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 3.4 and Figure 5, physical PDF page 22</a:t>
            </a:r>
          </a:p>
          <a:p xmlns:a="http://schemas.openxmlformats.org/drawingml/2006/main">
            <a:r>
              <a:t>- MSS2021Febreplicationkit/code/build_wealth_saving_data.do</a:t>
            </a:r>
          </a:p>
          <a:p xmlns:a="http://schemas.openxmlformats.org/drawingml/2006/main">
            <a:r>
              <a:t>- docs/data/figure5-data.md</a:t>
            </a:r>
          </a:p>
          <a:p xmlns:a="http://schemas.openxmlformats.org/drawingml/2006/main">
            <a:r>
              <a:t>- Code/unveiling/figure5_authors.py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Sections 4.1–4.2 and Figure 8</a:t>
            </a:r>
          </a:p>
          <a:p xmlns:a="http://schemas.openxmlformats.org/drawingml/2006/main">
            <a:r>
              <a:t>- https://www.federalreserve.gov/releases/efa/fwtw.htm</a:t>
            </a:r>
          </a:p>
          <a:p xmlns:a="http://schemas.openxmlformats.org/drawingml/2006/main">
            <a:r>
              <a:t>- docs/project/tasks/figure8-replication.md</a:t>
            </a:r>
          </a:p>
          <a:p xmlns:a="http://schemas.openxmlformats.org/drawingml/2006/main">
            <a:r>
              <a:t>- docs/data/figure8-data.md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8, physical PDF page 29; embedded chart extracted without caption</a:t>
            </a:r>
          </a:p>
          <a:p xmlns:a="http://schemas.openxmlformats.org/drawingml/2006/main">
            <a:r>
              <a:t>- Results_Proposal/figures/figure8_authors_proxy.png</a:t>
            </a:r>
          </a:p>
          <a:p xmlns:a="http://schemas.openxmlformats.org/drawingml/2006/main">
            <a:r>
              <a:t>- Data/processed/figure8_authors_proxy_comparison.csv</a:t>
            </a:r>
          </a:p>
          <a:p xmlns:a="http://schemas.openxmlformats.org/drawingml/2006/main">
            <a:r>
              <a:t>- docs/project/tasks/figure8-replication.md, Verification and result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1, physical PDF page 11; chart cropped without caption</a:t>
            </a:r>
          </a:p>
          <a:p xmlns:a="http://schemas.openxmlformats.org/drawingml/2006/main">
            <a:r>
              <a:t>- Results_Proposal/figures/figure1_authors_data_reconstruction.png</a:t>
            </a:r>
          </a:p>
          <a:p xmlns:a="http://schemas.openxmlformats.org/drawingml/2006/main">
            <a:r>
              <a:t>- Data/processed/figure1_authors_comparison.csv</a:t>
            </a:r>
          </a:p>
          <a:p xmlns:a="http://schemas.openxmlformats.org/drawingml/2006/main">
            <a:r>
              <a:t>- docs/project/tasks/figure1-replication.md,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Results_Proposal/major_results.md, R-001 to R-003</a:t>
            </a:r>
          </a:p>
          <a:p xmlns:a="http://schemas.openxmlformats.org/drawingml/2006/main">
            <a:r>
              <a:t>- docs/project/tasks/figure1-replication.md</a:t>
            </a:r>
          </a:p>
          <a:p xmlns:a="http://schemas.openxmlformats.org/drawingml/2006/main">
            <a:r>
              <a:t>- docs/project/tasks/figure5-replication.md</a:t>
            </a:r>
          </a:p>
          <a:p xmlns:a="http://schemas.openxmlformats.org/drawingml/2006/main">
            <a:r>
              <a:t>- docs/project/tasks/figure6-replication.md</a:t>
            </a:r>
          </a:p>
          <a:p xmlns:a="http://schemas.openxmlformats.org/drawingml/2006/main">
            <a:r>
              <a:t>- docs/project/tasks/figure8-replication.md</a:t>
            </a:r>
          </a:p>
          <a:p xmlns:a="http://schemas.openxmlformats.org/drawingml/2006/main">
            <a:r>
              <a:t>- https://www.federalreserve.gov/releases/efa/fwtw.htm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8fec8540114e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957a79ac19422c" /><Relationship Type="http://schemas.openxmlformats.org/officeDocument/2006/relationships/slideLayout" Target="/ppt/slideLayouts/slideLayout1.xml" Id="Rd862409ffbfb4f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62409ffbfb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b0164187e4154" /><Relationship Type="http://schemas.openxmlformats.org/officeDocument/2006/relationships/notesSlide" Target="/ppt/notesSlides/notesSlide1.xml" Id="R349511e7826c42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488e5a01431d" /><Relationship Type="http://schemas.openxmlformats.org/officeDocument/2006/relationships/notesSlide" Target="/ppt/notesSlides/notesSlide2.xml" Id="R6d5696c3ec9e45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18e225bdf4662" /><Relationship Type="http://schemas.openxmlformats.org/officeDocument/2006/relationships/notesSlide" Target="/ppt/notesSlides/notesSlide3.xml" Id="R17a45e98a28946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f13b5de34455d" /><Relationship Type="http://schemas.openxmlformats.org/officeDocument/2006/relationships/notesSlide" Target="/ppt/notesSlides/notesSlide4.xml" Id="Rbc330456303141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9130404824618" /><Relationship Type="http://schemas.openxmlformats.org/officeDocument/2006/relationships/notesSlide" Target="/ppt/notesSlides/notesSlide5.xml" Id="R6441e5e4eb0541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bfa25eccd490a" /><Relationship Type="http://schemas.openxmlformats.org/officeDocument/2006/relationships/image" Target="/ppt/media/image.png" Id="R2c6f98006d2c40d0" /><Relationship Type="http://schemas.openxmlformats.org/officeDocument/2006/relationships/image" Target="/ppt/media/image2.png" Id="Rfc318809e72843a2" /><Relationship Type="http://schemas.openxmlformats.org/officeDocument/2006/relationships/notesSlide" Target="/ppt/notesSlides/notesSlide6.xml" Id="R2a6f1d8f40de47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2bc70333f4b6a" /><Relationship Type="http://schemas.openxmlformats.org/officeDocument/2006/relationships/image" Target="/ppt/media/image3.png" Id="Rcf3850360b1e4670" /><Relationship Type="http://schemas.openxmlformats.org/officeDocument/2006/relationships/image" Target="/ppt/media/image4.png" Id="Re29777ea825b45f9" /><Relationship Type="http://schemas.openxmlformats.org/officeDocument/2006/relationships/notesSlide" Target="/ppt/notesSlides/notesSlide7.xml" Id="R33d3fdfc75f149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de9246cb54d1d" /><Relationship Type="http://schemas.openxmlformats.org/officeDocument/2006/relationships/notesSlide" Target="/ppt/notesSlides/notesSlide8.xml" Id="R5b1f37bd49eb44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69941DB9-9128-4CC6-96D4-76F2DED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E7C051A-E968-48D4-932F-BE04BBAA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65D16"/>
                </a:solidFill>
              </a:defRPr>
            </a:pPr>
            <a:r>
              <a:rPr sz="1275" b="1">
                <a:solidFill>
                  <a:srgbClr val="C65D16"/>
                </a:solidFill>
              </a:rPr>
              <a:t>CORE FIGURE COMPARISON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9C12F6-118A-41FC-9B31-6EE8D81D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096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Four figures, one evidence hierarchy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69E33F4-CEE0-4100-92AF-B6E5F46A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Compare only the objects that the February 2021 inputs actually identify</a:t>
            </a:r>
          </a:p>
        </p:txBody>
      </p:sp>
      <p:sp>
        <p:nvSpPr>
          <p:cNvPr id="5" name="legend-2021">
            <a:extLst xmlns:a="http://schemas.openxmlformats.org/drawingml/2006/main">
              <a:ext uri="{FF2B5EF4-FFF2-40B4-BE49-F238E27FC236}">
                <a16:creationId xmlns:a16="http://schemas.microsoft.com/office/drawing/2014/main" id="{04EB5C43-CA63-49BC-BC30-BC9BE88C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gend-2021-text">
            <a:extLst xmlns:a="http://schemas.openxmlformats.org/drawingml/2006/main">
              <a:ext uri="{FF2B5EF4-FFF2-40B4-BE49-F238E27FC236}">
                <a16:creationId xmlns:a16="http://schemas.microsoft.com/office/drawing/2014/main" id="{C9C3AB10-5751-4F82-8A86-8D819F2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Primary: our old-input implementation versus the 2025 paper</a:t>
            </a:r>
          </a:p>
        </p:txBody>
      </p:sp>
      <p:sp>
        <p:nvSpPr>
          <p:cNvPr id="7" name="legend-2025">
            <a:extLst xmlns:a="http://schemas.openxmlformats.org/drawingml/2006/main">
              <a:ext uri="{FF2B5EF4-FFF2-40B4-BE49-F238E27FC236}">
                <a16:creationId xmlns:a16="http://schemas.microsoft.com/office/drawing/2014/main" id="{B87B36AA-45A7-426E-9A02-DB03462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gend-2025-text">
            <a:extLst xmlns:a="http://schemas.openxmlformats.org/drawingml/2006/main">
              <a:ext uri="{FF2B5EF4-FFF2-40B4-BE49-F238E27FC236}">
                <a16:creationId xmlns:a16="http://schemas.microsoft.com/office/drawing/2014/main" id="{391AA843-EE9C-4B5B-9375-1CFEC09F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387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Supporting: older Stata lineage and public-data robustness</a:t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086423BF-9FA1-4716-82E0-A79C2563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12 August 2026</a:t>
            </a:r>
          </a:p>
        </p:txBody>
      </p:sp>
    </p:spTree>
    <p:extLst>
      <p:ext uri="{BB962C8B-B14F-4D97-AF65-F5344CB8AC3E}">
        <p14:creationId xmlns:p14="http://schemas.microsoft.com/office/powerpoint/2010/main" val="1771765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EVIDENCE ROLES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One label cannot mean the same thing across all four figures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02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2025 targets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Figures 1, 5, 6, and 8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Revised definitions through 2019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Authors-old (2021)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Exact for the older paper; precursor evidence only for revised exhibits.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Ours-public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Figure 1 only: a later public vintage tests broad trend robustness.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Ours-authors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Figures 1, 5, and 6: reconstructions. Figure 8: current proxy; full-method rerun planned.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Naming rule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Call a result a reconstruction only when the supplied inputs identify the revised object. Otherwise retain the word proxy.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CCDADAC1-8C4D-48E3-9BDE-7D0105C4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METHOD CROSSWALK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18D928-06E0-42B3-830B-D127EF4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Inputs, methods, and estimands change together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5EE02D2-197F-445F-A35C-2EA6263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1C9E1B-0054-453E-9D94-C8D5FAD9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03</a:t>
            </a:r>
          </a:p>
        </p:txBody>
      </p:sp>
      <p:sp>
        <p:nvSpPr>
          <p:cNvPr id="5" name="table-header-bg">
            <a:extLst xmlns:a="http://schemas.openxmlformats.org/drawingml/2006/main">
              <a:ext uri="{FF2B5EF4-FFF2-40B4-BE49-F238E27FC236}">
                <a16:creationId xmlns:a16="http://schemas.microsoft.com/office/drawing/2014/main" id="{9277E0ED-F6C4-4149-A42A-9164840C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erdict-cell-0-0">
            <a:extLst xmlns:a="http://schemas.openxmlformats.org/drawingml/2006/main">
              <a:ext uri="{FF2B5EF4-FFF2-40B4-BE49-F238E27FC236}">
                <a16:creationId xmlns:a16="http://schemas.microsoft.com/office/drawing/2014/main" id="{A8B3D9D6-0512-4FCA-B5B6-F04A51B4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7" name="verdict-cell-0-1">
            <a:extLst xmlns:a="http://schemas.openxmlformats.org/drawingml/2006/main">
              <a:ext uri="{FF2B5EF4-FFF2-40B4-BE49-F238E27FC236}">
                <a16:creationId xmlns:a16="http://schemas.microsoft.com/office/drawing/2014/main" id="{314D8280-1229-4323-953B-267191AC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295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8" name="verdict-cell-0-2">
            <a:extLst xmlns:a="http://schemas.openxmlformats.org/drawingml/2006/main">
              <a:ext uri="{FF2B5EF4-FFF2-40B4-BE49-F238E27FC236}">
                <a16:creationId xmlns:a16="http://schemas.microsoft.com/office/drawing/2014/main" id="{B1830714-8E8C-4575-B98C-D8D61A38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9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9" name="verdict-cell-0-3">
            <a:extLst xmlns:a="http://schemas.openxmlformats.org/drawingml/2006/main">
              <a:ext uri="{FF2B5EF4-FFF2-40B4-BE49-F238E27FC236}">
                <a16:creationId xmlns:a16="http://schemas.microsoft.com/office/drawing/2014/main" id="{D2F375CA-13C8-44A6-967B-F9B7854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95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Procedure / boundary</a:t>
            </a:r>
          </a:p>
        </p:txBody>
      </p:sp>
      <p:sp>
        <p:nvSpPr>
          <p:cNvPr id="10" name="verdict-cell-1-0">
            <a:extLst xmlns:a="http://schemas.openxmlformats.org/drawingml/2006/main">
              <a:ext uri="{FF2B5EF4-FFF2-40B4-BE49-F238E27FC236}">
                <a16:creationId xmlns:a16="http://schemas.microsoft.com/office/drawing/2014/main" id="{0B2DF458-B966-4124-8D83-B884464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1 · 2025 paper</a:t>
            </a:r>
          </a:p>
        </p:txBody>
      </p:sp>
      <p:sp>
        <p:nvSpPr>
          <p:cNvPr id="11" name="verdict-cell-1-1">
            <a:extLst xmlns:a="http://schemas.openxmlformats.org/drawingml/2006/main">
              <a:ext uri="{FF2B5EF4-FFF2-40B4-BE49-F238E27FC236}">
                <a16:creationId xmlns:a16="http://schemas.microsoft.com/office/drawing/2014/main" id="{90201C83-A6F1-4206-A7C6-167E1526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0975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Revised to 2019</a:t>
            </a:r>
          </a:p>
        </p:txBody>
      </p:sp>
      <p:sp>
        <p:nvSpPr>
          <p:cNvPr id="12" name="verdict-cell-1-2">
            <a:extLst xmlns:a="http://schemas.openxmlformats.org/drawingml/2006/main">
              <a:ext uri="{FF2B5EF4-FFF2-40B4-BE49-F238E27FC236}">
                <a16:creationId xmlns:a16="http://schemas.microsoft.com/office/drawing/2014/main" id="{32DE5752-BAC4-4A32-BB68-29A994CD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C65D16"/>
                </a:solidFill>
              </a:rPr>
              <a:t>Benchmark</a:t>
            </a:r>
          </a:p>
        </p:txBody>
      </p:sp>
      <p:sp>
        <p:nvSpPr>
          <p:cNvPr id="13" name="verdict-cell-1-3">
            <a:extLst xmlns:a="http://schemas.openxmlformats.org/drawingml/2006/main">
              <a:ext uri="{FF2B5EF4-FFF2-40B4-BE49-F238E27FC236}">
                <a16:creationId xmlns:a16="http://schemas.microsoft.com/office/drawing/2014/main" id="{9AAA378F-92D9-4D55-8C4B-8AA64536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34 instruments; 23 intermediaries + 4 owners; matrix/Leontief method; exact code unavailable</a:t>
            </a:r>
          </a:p>
        </p:txBody>
      </p:sp>
      <p:sp>
        <p:nvSpPr>
          <p:cNvPr id="14" name="verdict-line-1">
            <a:extLst xmlns:a="http://schemas.openxmlformats.org/drawingml/2006/main">
              <a:ext uri="{FF2B5EF4-FFF2-40B4-BE49-F238E27FC236}">
                <a16:creationId xmlns:a16="http://schemas.microsoft.com/office/drawing/2014/main" id="{36D0BA28-40E0-46FA-B98A-F40D165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erdict-cell-2-0">
            <a:extLst xmlns:a="http://schemas.openxmlformats.org/drawingml/2006/main">
              <a:ext uri="{FF2B5EF4-FFF2-40B4-BE49-F238E27FC236}">
                <a16:creationId xmlns:a16="http://schemas.microsoft.com/office/drawing/2014/main" id="{D6B34A90-10B7-43E7-A9CA-72853317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2 · 2021 Stata</a:t>
            </a:r>
          </a:p>
        </p:txBody>
      </p:sp>
      <p:sp>
        <p:nvSpPr>
          <p:cNvPr id="16" name="verdict-cell-2-1">
            <a:extLst xmlns:a="http://schemas.openxmlformats.org/drawingml/2006/main">
              <a:ext uri="{FF2B5EF4-FFF2-40B4-BE49-F238E27FC236}">
                <a16:creationId xmlns:a16="http://schemas.microsoft.com/office/drawing/2014/main" id="{8FB108DE-6582-4A49-AA6A-28A3F5C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90775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Feb. 2021 kit</a:t>
            </a:r>
          </a:p>
        </p:txBody>
      </p:sp>
      <p:sp>
        <p:nvSpPr>
          <p:cNvPr id="17" name="verdict-cell-2-2">
            <a:extLst xmlns:a="http://schemas.openxmlformats.org/drawingml/2006/main">
              <a:ext uri="{FF2B5EF4-FFF2-40B4-BE49-F238E27FC236}">
                <a16:creationId xmlns:a16="http://schemas.microsoft.com/office/drawing/2014/main" id="{E40E8BB3-FA57-431A-B616-28D444DF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B83232"/>
                </a:solidFill>
              </a:rPr>
              <a:t>Context</a:t>
            </a:r>
          </a:p>
        </p:txBody>
      </p:sp>
      <p:sp>
        <p:nvSpPr>
          <p:cNvPr id="18" name="verdict-cell-2-3">
            <a:extLst xmlns:a="http://schemas.openxmlformats.org/drawingml/2006/main">
              <a:ext uri="{FF2B5EF4-FFF2-40B4-BE49-F238E27FC236}">
                <a16:creationId xmlns:a16="http://schemas.microsoft.com/office/drawing/2014/main" id="{8E4FAC62-7FB5-4C1D-A366-D2800068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Old Figure 6 composition; staged round-by-round debt allocation</a:t>
            </a:r>
          </a:p>
        </p:txBody>
      </p:sp>
      <p:sp>
        <p:nvSpPr>
          <p:cNvPr id="19" name="verdict-line-2">
            <a:extLst xmlns:a="http://schemas.openxmlformats.org/drawingml/2006/main">
              <a:ext uri="{FF2B5EF4-FFF2-40B4-BE49-F238E27FC236}">
                <a16:creationId xmlns:a16="http://schemas.microsoft.com/office/drawing/2014/main" id="{D6F3C624-5E2D-4D0C-9EBC-23391BE6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7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verdict-cell-3-0">
            <a:extLst xmlns:a="http://schemas.openxmlformats.org/drawingml/2006/main">
              <a:ext uri="{FF2B5EF4-FFF2-40B4-BE49-F238E27FC236}">
                <a16:creationId xmlns:a16="http://schemas.microsoft.com/office/drawing/2014/main" id="{7F3B4CD4-3510-4A32-AB75-15AFD905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3 · Ours-public</a:t>
            </a:r>
          </a:p>
        </p:txBody>
      </p:sp>
      <p:sp>
        <p:nvSpPr>
          <p:cNvPr id="21" name="verdict-cell-3-1">
            <a:extLst xmlns:a="http://schemas.openxmlformats.org/drawingml/2006/main">
              <a:ext uri="{FF2B5EF4-FFF2-40B4-BE49-F238E27FC236}">
                <a16:creationId xmlns:a16="http://schemas.microsoft.com/office/drawing/2014/main" id="{E8119FEB-B719-44B6-B3F2-CFDE374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718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2026 public</a:t>
            </a:r>
          </a:p>
        </p:txBody>
      </p:sp>
      <p:sp>
        <p:nvSpPr>
          <p:cNvPr id="22" name="verdict-cell-3-2">
            <a:extLst xmlns:a="http://schemas.openxmlformats.org/drawingml/2006/main">
              <a:ext uri="{FF2B5EF4-FFF2-40B4-BE49-F238E27FC236}">
                <a16:creationId xmlns:a16="http://schemas.microsoft.com/office/drawing/2014/main" id="{02EFC022-659F-4B94-988B-60DD62A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2E5B88"/>
                </a:solidFill>
              </a:rPr>
              <a:t>Robustness</a:t>
            </a:r>
          </a:p>
        </p:txBody>
      </p:sp>
      <p:sp>
        <p:nvSpPr>
          <p:cNvPr id="23" name="verdict-cell-3-3">
            <a:extLst xmlns:a="http://schemas.openxmlformats.org/drawingml/2006/main">
              <a:ext uri="{FF2B5EF4-FFF2-40B4-BE49-F238E27FC236}">
                <a16:creationId xmlns:a16="http://schemas.microsoft.com/office/drawing/2014/main" id="{7BB53762-4019-4FC9-81A9-83ECF6C1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31 instruments; 25 substantive sectors; completed public FWTW; 1963–2019</a:t>
            </a:r>
          </a:p>
        </p:txBody>
      </p:sp>
      <p:sp>
        <p:nvSpPr>
          <p:cNvPr id="24" name="verdict-line-3">
            <a:extLst xmlns:a="http://schemas.openxmlformats.org/drawingml/2006/main">
              <a:ext uri="{FF2B5EF4-FFF2-40B4-BE49-F238E27FC236}">
                <a16:creationId xmlns:a16="http://schemas.microsoft.com/office/drawing/2014/main" id="{E118DD39-E35D-440D-8DAA-C42E439D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verdict-cell-4-0">
            <a:extLst xmlns:a="http://schemas.openxmlformats.org/drawingml/2006/main">
              <a:ext uri="{FF2B5EF4-FFF2-40B4-BE49-F238E27FC236}">
                <a16:creationId xmlns:a16="http://schemas.microsoft.com/office/drawing/2014/main" id="{0915FE12-C5CA-49A5-97AB-B2BD4E2E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4 · Ours-authors</a:t>
            </a:r>
          </a:p>
        </p:txBody>
      </p:sp>
      <p:sp>
        <p:nvSpPr>
          <p:cNvPr id="26" name="verdict-cell-4-1">
            <a:extLst xmlns:a="http://schemas.openxmlformats.org/drawingml/2006/main">
              <a:ext uri="{FF2B5EF4-FFF2-40B4-BE49-F238E27FC236}">
                <a16:creationId xmlns:a16="http://schemas.microsoft.com/office/drawing/2014/main" id="{E991A379-21C6-40AF-9F5D-8AA6C7C9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52825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Feb. 2021 kit</a:t>
            </a:r>
          </a:p>
        </p:txBody>
      </p:sp>
      <p:sp>
        <p:nvSpPr>
          <p:cNvPr id="27" name="verdict-cell-4-2">
            <a:extLst xmlns:a="http://schemas.openxmlformats.org/drawingml/2006/main">
              <a:ext uri="{FF2B5EF4-FFF2-40B4-BE49-F238E27FC236}">
                <a16:creationId xmlns:a16="http://schemas.microsoft.com/office/drawing/2014/main" id="{4B0A6676-7676-44BB-AAD9-8C49E9FC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5282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2F855A"/>
                </a:solidFill>
              </a:rPr>
              <a:t>Primary</a:t>
            </a:r>
          </a:p>
        </p:txBody>
      </p:sp>
      <p:sp>
        <p:nvSpPr>
          <p:cNvPr id="28" name="verdict-cell-4-3">
            <a:extLst xmlns:a="http://schemas.openxmlformats.org/drawingml/2006/main">
              <a:ext uri="{FF2B5EF4-FFF2-40B4-BE49-F238E27FC236}">
                <a16:creationId xmlns:a16="http://schemas.microsoft.com/office/drawing/2014/main" id="{9973B27A-479C-4CC7-B8D8-7DC7CF47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52825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Rebuild intermediary claims; 2025 Figure 1 definition; 1963-2016</a:t>
            </a:r>
          </a:p>
        </p:txBody>
      </p:sp>
      <p:sp>
        <p:nvSpPr>
          <p:cNvPr id="29" name="verdict-line-4">
            <a:extLst xmlns:a="http://schemas.openxmlformats.org/drawingml/2006/main">
              <a:ext uri="{FF2B5EF4-FFF2-40B4-BE49-F238E27FC236}">
                <a16:creationId xmlns:a16="http://schemas.microsoft.com/office/drawing/2014/main" id="{84F5ECF9-057D-418A-B1F9-411A9AAD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verdict-cell-5-0">
            <a:extLst xmlns:a="http://schemas.openxmlformats.org/drawingml/2006/main">
              <a:ext uri="{FF2B5EF4-FFF2-40B4-BE49-F238E27FC236}">
                <a16:creationId xmlns:a16="http://schemas.microsoft.com/office/drawing/2014/main" id="{E2E677CE-CA94-4502-BF76-461C588D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PRIMARY TEST</a:t>
            </a:r>
          </a:p>
        </p:txBody>
      </p:sp>
      <p:sp>
        <p:nvSpPr>
          <p:cNvPr id="31" name="verdict-cell-5-1">
            <a:extLst xmlns:a="http://schemas.openxmlformats.org/drawingml/2006/main">
              <a:ext uri="{FF2B5EF4-FFF2-40B4-BE49-F238E27FC236}">
                <a16:creationId xmlns:a16="http://schemas.microsoft.com/office/drawing/2014/main" id="{4DC3A0C4-FE6D-4DF9-B2A1-2F556A1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3385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#4 versus #1</a:t>
            </a:r>
          </a:p>
        </p:txBody>
      </p:sp>
      <p:sp>
        <p:nvSpPr>
          <p:cNvPr id="32" name="verdict-cell-5-2">
            <a:extLst xmlns:a="http://schemas.openxmlformats.org/drawingml/2006/main">
              <a:ext uri="{FF2B5EF4-FFF2-40B4-BE49-F238E27FC236}">
                <a16:creationId xmlns:a16="http://schemas.microsoft.com/office/drawing/2014/main" id="{07019A80-EDEE-486E-B2D1-F93AA2D7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33850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83232"/>
                </a:solidFill>
              </a:defRPr>
            </a:pPr>
            <a:r>
              <a:rPr sz="1275" b="1">
                <a:solidFill>
                  <a:srgbClr val="C65D16"/>
                </a:solidFill>
              </a:rPr>
              <a:t>Main result</a:t>
            </a:r>
          </a:p>
        </p:txBody>
      </p:sp>
      <p:sp>
        <p:nvSpPr>
          <p:cNvPr id="33" name="verdict-cell-5-3">
            <a:extLst xmlns:a="http://schemas.openxmlformats.org/drawingml/2006/main">
              <a:ext uri="{FF2B5EF4-FFF2-40B4-BE49-F238E27FC236}">
                <a16:creationId xmlns:a16="http://schemas.microsoft.com/office/drawing/2014/main" id="{8B3EFD13-83E1-4486-AA68-56C55EB2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Same target object; different vintage and incomplete old-kit denominator</a:t>
            </a:r>
          </a:p>
        </p:txBody>
      </p:sp>
      <p:sp>
        <p:nvSpPr>
          <p:cNvPr id="34" name="verdict-line-5">
            <a:extLst xmlns:a="http://schemas.openxmlformats.org/drawingml/2006/main">
              <a:ext uri="{FF2B5EF4-FFF2-40B4-BE49-F238E27FC236}">
                <a16:creationId xmlns:a16="http://schemas.microsoft.com/office/drawing/2014/main" id="{1BB7F304-F599-4808-9888-64494CD1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verdict-cell-6-0">
            <a:extLst xmlns:a="http://schemas.openxmlformats.org/drawingml/2006/main">
              <a:ext uri="{FF2B5EF4-FFF2-40B4-BE49-F238E27FC236}">
                <a16:creationId xmlns:a16="http://schemas.microsoft.com/office/drawing/2014/main" id="{75B66E9E-9A08-4F65-8C04-69435F39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SUPPORTING</a:t>
            </a:r>
          </a:p>
        </p:txBody>
      </p:sp>
      <p:sp>
        <p:nvSpPr>
          <p:cNvPr id="36" name="verdict-cell-6-1">
            <a:extLst xmlns:a="http://schemas.openxmlformats.org/drawingml/2006/main">
              <a:ext uri="{FF2B5EF4-FFF2-40B4-BE49-F238E27FC236}">
                <a16:creationId xmlns:a16="http://schemas.microsoft.com/office/drawing/2014/main" id="{13C0A687-EF0A-4230-8C81-CD3663E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14875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#4 vs #2 / #3</a:t>
            </a:r>
          </a:p>
        </p:txBody>
      </p:sp>
      <p:sp>
        <p:nvSpPr>
          <p:cNvPr id="37" name="verdict-cell-6-2">
            <a:extLst xmlns:a="http://schemas.openxmlformats.org/drawingml/2006/main">
              <a:ext uri="{FF2B5EF4-FFF2-40B4-BE49-F238E27FC236}">
                <a16:creationId xmlns:a16="http://schemas.microsoft.com/office/drawing/2014/main" id="{C203F508-9E22-4D53-8A5F-7C87E396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148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627D98"/>
                </a:solidFill>
              </a:rPr>
              <a:t>Diagnostics</a:t>
            </a:r>
          </a:p>
        </p:txBody>
      </p:sp>
      <p:sp>
        <p:nvSpPr>
          <p:cNvPr id="38" name="verdict-cell-6-3">
            <a:extLst xmlns:a="http://schemas.openxmlformats.org/drawingml/2006/main">
              <a:ext uri="{FF2B5EF4-FFF2-40B4-BE49-F238E27FC236}">
                <a16:creationId xmlns:a16="http://schemas.microsoft.com/office/drawing/2014/main" id="{5CEB16EC-EBA3-4D0B-92C4-8B65DD42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Method lineage and public-vintage robustness; never pool the series</a:t>
            </a:r>
          </a:p>
        </p:txBody>
      </p:sp>
      <p:sp>
        <p:nvSpPr>
          <p:cNvPr id="39" name="verdict-line-6">
            <a:extLst xmlns:a="http://schemas.openxmlformats.org/drawingml/2006/main">
              <a:ext uri="{FF2B5EF4-FFF2-40B4-BE49-F238E27FC236}">
                <a16:creationId xmlns:a16="http://schemas.microsoft.com/office/drawing/2014/main" id="{835E53B7-4377-445E-B666-317B36E9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akeaway">
            <a:extLst xmlns:a="http://schemas.openxmlformats.org/drawingml/2006/main">
              <a:ext uri="{FF2B5EF4-FFF2-40B4-BE49-F238E27FC236}">
                <a16:creationId xmlns:a16="http://schemas.microsoft.com/office/drawing/2014/main" id="{8BAB41DD-3568-4699-A969-60527F9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773F5E13-B739-44D4-9FD3-C4EE0132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Rule</a:t>
            </a:r>
          </a:p>
        </p:txBody>
      </p:sp>
      <p:sp>
        <p:nvSpPr>
          <p:cNvPr id="42" name="takeaway-body">
            <a:extLst xmlns:a="http://schemas.openxmlformats.org/drawingml/2006/main">
              <a:ext uri="{FF2B5EF4-FFF2-40B4-BE49-F238E27FC236}">
                <a16:creationId xmlns:a16="http://schemas.microsoft.com/office/drawing/2014/main" id="{D8EA2B6A-DE5B-46BD-89DB-2AE9BB69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38800"/>
            <a:ext cx="885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Only #4 versus #1 answers the project's central replication question. #2 and #3 explain lineage and robustness; they do not replace the benchmark.</a:t>
            </a:r>
          </a:p>
        </p:txBody>
      </p:sp>
    </p:spTree>
    <p:extLst>
      <p:ext uri="{BB962C8B-B14F-4D97-AF65-F5344CB8AC3E}">
        <p14:creationId xmlns:p14="http://schemas.microsoft.com/office/powerpoint/2010/main" val="391599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5 IDENTIFICATION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2021 wealth pipeline identifies revised saving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09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Target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2025 Figure 5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Saving contribution by wealth group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1 · Allocate wealth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B.101 totals × fine DINA shares for four groups and 29 balance-sheet categories.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2 · Remove valuations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Housing gains + debt write-downs; residual equity return closes to NIPA.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3 · Match display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Trailing 10-year mean of saving / national income, less its 1982 value.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Classification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Reconstruction: wealth, valuation, fine-share, and NIPA inputs are supplied through 2016.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8 FEASIBILITY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exact 2025 vintage is missing—not the method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16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Target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2025 Figure 8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Net household debt by wealth group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1 · Exact-vintage gap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Authors’ completed matrices, equity split, and exact crosswalk are not in the 2021 kit.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2 · Available now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Public completed FWTW plus 2021 DINA/NIPA support a full-Leontief mixed-vintage rerun.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3 · Current graph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Still uses seven-round debt assets with the 2025 group, sign, scale, and base.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Classification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Current plotted result: proxy. Planned public-FWTW rerun: method reconstruction with explicit vintage/taxonomy caveats.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8 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proxy reproduces borrowing, but understates top-1 lending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17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ratio axis (0.10 = 10 pp)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proxy · percentage-point axis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CLOSE PROXY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2007: bottom 99% -38.88 pp proxy vs -38.76 paper; top 1% +12.03 vs +18.02.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Correlations: 0.993 / 0.995 (top 1% / bottom 99%). Exact-vintage inputs are missing; public FWTW supports a separate method rerun.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f98006d2c40d0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18809e72843a2"/>
          <a:stretch xmlns:a="http://schemas.openxmlformats.org/drawingml/2006/main"/>
        </p:blipFill>
        <p:spPr>
          <a:xfrm xmlns:a="http://schemas.openxmlformats.org/drawingml/2006/main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Our old-input reconstruction tracks the 2025 Figure 1 pattern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05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Figure 1 · PDF p. 11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implementation · 2021 authors' inputs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CLOSE LEVEL MATCH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national-income-normalized level has correlation 0.995 and MAE 5.3 pp against the digitized 2025 curve over 1963-2016.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The paper caption is removed from the image and restated here: the lines report the stock-to-income level and household-financial-asset share held indirectly.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850360b1e4670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777ea825b45f9"/>
          <a:stretch xmlns:a="http://schemas.openxmlformats.org/drawingml/2006/main"/>
        </p:blipFill>
        <p:spPr>
          <a:xfrm xmlns:a="http://schemas.openxmlformats.org/drawingml/2006/main">
            <a:off x="6400802" y="1776603"/>
            <a:ext cx="5257795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REPLICATION SYNTHESIS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Figure 8 has a proxy today—and a full-method rerun path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18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Conclusion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What did the 2021 kit let us test?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Figure 1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Close stock reconstruction; share denominator remains version-specific.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Figures 5–6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High-fidelity saving-flow and saving-rate reconstructions through 2016.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Figure 8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Current proxy matches direction; public FWTW enables the next full-Leontief, mixed-vintage reconstruction.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Main lesson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2021 inputs establish old-vintage evidence. For Figure 8, current public FWTW can test the 2025 operator, but not reproduce the authors’ exact vintage.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theme/theme1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2026-08-13T20:34:10.6000000Z</dcterms:created>
  <dcterms:modified xsi:type="dcterms:W3CDTF">2026-08-13T20:34:10.6000000Z</dcterms:modified>
</coreProperties>
</file>
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e94912e48475a" /><Relationship Type="http://schemas.openxmlformats.org/officeDocument/2006/relationships/extended-properties" Target="/docProps/app.xml" Id="R33552a43d95d41e0" /><Relationship Type="http://schemas.openxmlformats.org/officeDocument/2006/relationships/officeDocument" Target="/ppt/presentation.xml" Id="R90064c2c0506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752583daa64df6"/>
  </p:sldMasterIdLst>
  <p:notesMasterIdLst>
    <p:notesMasterId xmlns:r="http://schemas.openxmlformats.org/officeDocument/2006/relationships" r:id="R4d1eabbf5cad4b5e"/>
  </p:notesMasterIdLst>
  <p:sldIdLst>
    <p:sldId xmlns:r="http://schemas.openxmlformats.org/officeDocument/2006/relationships" id="256" r:id="R5bd4df81240b4477"/>
    <p:sldId xmlns:r="http://schemas.openxmlformats.org/officeDocument/2006/relationships" id="257" r:id="R2297aab9daa14e7d"/>
    <p:sldId xmlns:r="http://schemas.openxmlformats.org/officeDocument/2006/relationships" id="258" r:id="R159311c39e4b4ae4"/>
    <p:sldId xmlns:r="http://schemas.openxmlformats.org/officeDocument/2006/relationships" id="259" r:id="Raf5c3f476bf24f06"/>
    <p:sldId xmlns:r="http://schemas.openxmlformats.org/officeDocument/2006/relationships" id="260" r:id="R6cf5d7887c1040b0"/>
    <p:sldId xmlns:r="http://schemas.openxmlformats.org/officeDocument/2006/relationships" id="261" r:id="R9bba8e9de16842c0"/>
    <p:sldId xmlns:r="http://schemas.openxmlformats.org/officeDocument/2006/relationships" id="262" r:id="Rcaff1e931f4e451e"/>
    <p:sldId xmlns:r="http://schemas.openxmlformats.org/officeDocument/2006/relationships" id="263" r:id="R09aff67ab60f49c2"/>
    <p:sldId xmlns:r="http://schemas.openxmlformats.org/officeDocument/2006/relationships" id="264" r:id="R2d25e8ca9790490b"/>
    <p:sldId xmlns:r="http://schemas.openxmlformats.org/officeDocument/2006/relationships" id="265" r:id="R1d507c69f20e429b"/>
    <p:sldId xmlns:r="http://schemas.openxmlformats.org/officeDocument/2006/relationships" id="266" r:id="Raa078ab60ad94b3d"/>
    <p:sldId xmlns:r="http://schemas.openxmlformats.org/officeDocument/2006/relationships" id="267" r:id="R8ec403e28e1d417d"/>
    <p:sldId xmlns:r="http://schemas.openxmlformats.org/officeDocument/2006/relationships" id="268" r:id="R68d0fb88296b475d"/>
    <p:sldId xmlns:r="http://schemas.openxmlformats.org/officeDocument/2006/relationships" id="269" r:id="Rc11f4e947870494f"/>
    <p:sldId xmlns:r="http://schemas.openxmlformats.org/officeDocument/2006/relationships" id="270" r:id="R64580ce4e84749f0"/>
    <p:sldId xmlns:r="http://schemas.openxmlformats.org/officeDocument/2006/relationships" id="271" r:id="Re1837553583e4f7a"/>
    <p:sldId xmlns:r="http://schemas.openxmlformats.org/officeDocument/2006/relationships" id="272" r:id="R92114e932620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e972ed71ad49f2" /><Relationship Type="http://schemas.openxmlformats.org/officeDocument/2006/relationships/slideMaster" Target="/ppt/slideMasters/slideMaster1.xml" Id="R52752583daa64df6" /><Relationship Type="http://schemas.openxmlformats.org/officeDocument/2006/relationships/notesMaster" Target="/ppt/notesMasters/notesMaster1.xml" Id="R4d1eabbf5cad4b5e" /><Relationship Type="http://schemas.openxmlformats.org/officeDocument/2006/relationships/presProps" Target="/ppt/presProps.xml" Id="Rce02fada91704249" /><Relationship Type="http://schemas.openxmlformats.org/officeDocument/2006/relationships/tableStyles" Target="/ppt/tableStyles.xml" Id="R6e8587b6f14e4470" /><Relationship Type="http://schemas.openxmlformats.org/officeDocument/2006/relationships/slide" Target="/ppt/slides/slide1.xml" Id="R5bd4df81240b4477" /><Relationship Type="http://schemas.openxmlformats.org/officeDocument/2006/relationships/slide" Target="/ppt/slides/slide2.xml" Id="R2297aab9daa14e7d" /><Relationship Type="http://schemas.openxmlformats.org/officeDocument/2006/relationships/slide" Target="/ppt/slides/slide3.xml" Id="R159311c39e4b4ae4" /><Relationship Type="http://schemas.openxmlformats.org/officeDocument/2006/relationships/slide" Target="/ppt/slides/slide4.xml" Id="Raf5c3f476bf24f06" /><Relationship Type="http://schemas.openxmlformats.org/officeDocument/2006/relationships/slide" Target="/ppt/slides/slide5.xml" Id="R6cf5d7887c1040b0" /><Relationship Type="http://schemas.openxmlformats.org/officeDocument/2006/relationships/slide" Target="/ppt/slides/slide6.xml" Id="R9bba8e9de16842c0" /><Relationship Type="http://schemas.openxmlformats.org/officeDocument/2006/relationships/slide" Target="/ppt/slides/slide7.xml" Id="Rcaff1e931f4e451e" /><Relationship Type="http://schemas.openxmlformats.org/officeDocument/2006/relationships/slide" Target="/ppt/slides/slide8.xml" Id="R09aff67ab60f49c2" /><Relationship Type="http://schemas.openxmlformats.org/officeDocument/2006/relationships/slide" Target="/ppt/slides/slide9.xml" Id="R2d25e8ca9790490b" /><Relationship Type="http://schemas.openxmlformats.org/officeDocument/2006/relationships/slide" Target="/ppt/slides/slide10.xml" Id="R1d507c69f20e429b" /><Relationship Type="http://schemas.openxmlformats.org/officeDocument/2006/relationships/slide" Target="/ppt/slides/slide11.xml" Id="Raa078ab60ad94b3d" /><Relationship Type="http://schemas.openxmlformats.org/officeDocument/2006/relationships/slide" Target="/ppt/slides/slide12.xml" Id="R8ec403e28e1d417d" /><Relationship Type="http://schemas.openxmlformats.org/officeDocument/2006/relationships/slide" Target="/ppt/slides/slide13.xml" Id="R68d0fb88296b475d" /><Relationship Type="http://schemas.openxmlformats.org/officeDocument/2006/relationships/slide" Target="/ppt/slides/slide14.xml" Id="Rc11f4e947870494f" /><Relationship Type="http://schemas.openxmlformats.org/officeDocument/2006/relationships/slide" Target="/ppt/slides/slide15.xml" Id="R64580ce4e84749f0" /><Relationship Type="http://schemas.openxmlformats.org/officeDocument/2006/relationships/slide" Target="/ppt/slides/slide16.xml" Id="Re1837553583e4f7a" /><Relationship Type="http://schemas.openxmlformats.org/officeDocument/2006/relationships/slide" Target="/ppt/slides/slide17.xml" Id="R92114e932620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123bf28fa1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c0f84fe1944df" /><Relationship Type="http://schemas.openxmlformats.org/officeDocument/2006/relationships/notesMaster" Target="/ppt/notesMasters/notesMaster1.xml" Id="R6e6cb73ef64a45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38e81eb21943f5" /><Relationship Type="http://schemas.openxmlformats.org/officeDocument/2006/relationships/notesMaster" Target="/ppt/notesMasters/notesMaster1.xml" Id="Red0d84f5b997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770fefed884e2f" /><Relationship Type="http://schemas.openxmlformats.org/officeDocument/2006/relationships/notesMaster" Target="/ppt/notesMasters/notesMaster1.xml" Id="Re524e5186f474f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55368af498436f" /><Relationship Type="http://schemas.openxmlformats.org/officeDocument/2006/relationships/notesMaster" Target="/ppt/notesMasters/notesMaster1.xml" Id="Rc8b7d0f9e5b14a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a98e71937b4a86" /><Relationship Type="http://schemas.openxmlformats.org/officeDocument/2006/relationships/notesMaster" Target="/ppt/notesMasters/notesMaster1.xml" Id="R9ff04b747b8e47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c61ed8af914ca6" /><Relationship Type="http://schemas.openxmlformats.org/officeDocument/2006/relationships/notesMaster" Target="/ppt/notesMasters/notesMaster1.xml" Id="Rc7662e1b27c146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8f61281eef4187" /><Relationship Type="http://schemas.openxmlformats.org/officeDocument/2006/relationships/notesMaster" Target="/ppt/notesMasters/notesMaster1.xml" Id="R29526a70e68b47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ef10fb651d4b0b" /><Relationship Type="http://schemas.openxmlformats.org/officeDocument/2006/relationships/notesMaster" Target="/ppt/notesMasters/notesMaster1.xml" Id="R20c054e8eb5d4b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2a342b55ae4445" /><Relationship Type="http://schemas.openxmlformats.org/officeDocument/2006/relationships/notesMaster" Target="/ppt/notesMasters/notesMaster1.xml" Id="Rade5fed2540c4f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507475190e4c13" /><Relationship Type="http://schemas.openxmlformats.org/officeDocument/2006/relationships/notesMaster" Target="/ppt/notesMasters/notesMaster1.xml" Id="R88ef3597504e42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c7da514a7c425e" /><Relationship Type="http://schemas.openxmlformats.org/officeDocument/2006/relationships/notesMaster" Target="/ppt/notesMasters/notesMaster1.xml" Id="R5ef79e2eb9ce42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e2d7574d454b17" /><Relationship Type="http://schemas.openxmlformats.org/officeDocument/2006/relationships/notesMaster" Target="/ppt/notesMasters/notesMaster1.xml" Id="Red285bb1e6504b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b4685351fb46f0" /><Relationship Type="http://schemas.openxmlformats.org/officeDocument/2006/relationships/notesMaster" Target="/ppt/notesMasters/notesMaster1.xml" Id="R1d957fc4bd7d4b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667e7392204c33" /><Relationship Type="http://schemas.openxmlformats.org/officeDocument/2006/relationships/notesMaster" Target="/ppt/notesMasters/notesMaster1.xml" Id="R93d2b6495d584b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a659f0c54b4390" /><Relationship Type="http://schemas.openxmlformats.org/officeDocument/2006/relationships/notesMaster" Target="/ppt/notesMasters/notesMaster1.xml" Id="R74315074999a46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6dee720fe4499e" /><Relationship Type="http://schemas.openxmlformats.org/officeDocument/2006/relationships/notesMaster" Target="/ppt/notesMasters/notesMaster1.xml" Id="R1330e3d0301249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01c3352e4547ca" /><Relationship Type="http://schemas.openxmlformats.org/officeDocument/2006/relationships/notesMaster" Target="/ppt/notesMasters/notesMaster1.xml" Id="Rd34222513e1244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 (target paper)</a:t>
            </a:r>
          </a:p>
          <a:p xmlns:a="http://schemas.openxmlformats.org/drawingml/2006/main">
            <a:r>
              <a:t>- MSS2021Febreplicationkit/readme.pdf (available authors’ package)</a:t>
            </a:r>
          </a:p>
          <a:p xmlns:a="http://schemas.openxmlformats.org/drawingml/2006/main">
            <a:r>
              <a:t>- NotebookLM-Present-Unveiling_the_Rich_Saving_Glut.pdf, pp. 1–6 (orientation and visual inspiration only)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Unveiling follows every liability until the claim reaches a terminal owner.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Sections 2.1–2.2.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Aggregate instrument positions in dollars, then divide each issuer row by its own liabilities.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2.1 and Equation (4).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block solve is the paper's full-matrix series restricted to claims that terminate at owners.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2.2 and Equation (1).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reciprocal bank–fund link creates infinitely many paths, all with economically readable weights.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Replication/Code/examples/leontief_unveiling.py.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additional 52.093 percentage points are the bank's household claim carried through the fund and every reciprocal loop.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Replication/Code/examples/leontief_unveiling.py.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They share proportional allocation logic; equivalence requires the same fixed matrix in every round.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Replication/MSS2021Febreplicationkit/code/build_fa_unveiling_data.do.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Replication/MSS_SGR_July242025.pdf, Section 2.2.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Replication/docs/methods/leontief-unveiling.md.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Stocks, counterparties, household groups, and flows are distinct dimensions that must be combined explicitly.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Replication/docs/data/author-kit-data-map.md.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data appendix.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change in wealth is not saving unless capital gains, write-downs, and other valuation effects are removed.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saving methodology and Figure 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figures share distributional inputs, but each one requires a different economic object and transformation chain.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Figures 1, 5, and 8.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Replication/docs/project/tasks/result-selection.md.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2.2 and 4.1</a:t>
            </a:r>
          </a:p>
          <a:p xmlns:a="http://schemas.openxmlformats.org/drawingml/2006/main">
            <a:r>
              <a:t>- https://www.federalreserve.gov/releases/efa/fwtw.htm</a:t>
            </a:r>
          </a:p>
          <a:p xmlns:a="http://schemas.openxmlformats.org/drawingml/2006/main">
            <a:r>
              <a:t>- https://www.federalreserve.gov/releases/efa/fwtw_announcements.htm</a:t>
            </a:r>
          </a:p>
          <a:p xmlns:a="http://schemas.openxmlformats.org/drawingml/2006/main">
            <a:r>
              <a:t>- Data/raw/fwtw/fwtw_data_2026-06-18.csv</a:t>
            </a:r>
          </a:p>
          <a:p xmlns:a="http://schemas.openxmlformats.org/drawingml/2006/main">
            <a:r>
              <a:t>- docs/data/figure1-data.md</a:t>
            </a:r>
          </a:p>
          <a:p xmlns:a="http://schemas.openxmlformats.org/drawingml/2006/main">
            <a:r>
              <a:t>- docs/project/tasks/figure8-replication.md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AGENTS.md, independent-replication layers</a:t>
            </a:r>
          </a:p>
          <a:p xmlns:a="http://schemas.openxmlformats.org/drawingml/2006/main">
            <a:r>
              <a:t>- docs/data/data-guide.md</a:t>
            </a:r>
          </a:p>
          <a:p xmlns:a="http://schemas.openxmlformats.org/drawingml/2006/main">
            <a:r>
              <a:t>- docs/data/figure1-data.md</a:t>
            </a:r>
          </a:p>
          <a:p xmlns:a="http://schemas.openxmlformats.org/drawingml/2006/main">
            <a:r>
              <a:t>- docs/data/figure8-data.md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1, physical PDF page 11; chart cropped without caption</a:t>
            </a:r>
          </a:p>
          <a:p xmlns:a="http://schemas.openxmlformats.org/drawingml/2006/main">
            <a:r>
              <a:t>- Results_Proposal/figures/figure1_authors_data_reconstruction.png</a:t>
            </a:r>
          </a:p>
          <a:p xmlns:a="http://schemas.openxmlformats.org/drawingml/2006/main">
            <a:r>
              <a:t>- Data/processed/figure1_authors_comparison.csv</a:t>
            </a:r>
          </a:p>
          <a:p xmlns:a="http://schemas.openxmlformats.org/drawingml/2006/main">
            <a:r>
              <a:t>- docs/project/tasks/figure1-replication.md,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5, physical PDF page 22; embedded chart extracted without caption</a:t>
            </a:r>
          </a:p>
          <a:p xmlns:a="http://schemas.openxmlformats.org/drawingml/2006/main">
            <a:r>
              <a:t>- Results_Proposal/figures/figure5_authors_data_reconstruction.png</a:t>
            </a:r>
          </a:p>
          <a:p xmlns:a="http://schemas.openxmlformats.org/drawingml/2006/main">
            <a:r>
              <a:t>- Data/processed/figure5_authors_comparison.csv</a:t>
            </a:r>
          </a:p>
          <a:p xmlns:a="http://schemas.openxmlformats.org/drawingml/2006/main">
            <a:r>
              <a:t>- docs/project/tasks/figure5-replication.md, Verification and result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4.1–4.2 and Figure 8</a:t>
            </a:r>
          </a:p>
          <a:p xmlns:a="http://schemas.openxmlformats.org/drawingml/2006/main">
            <a:r>
              <a:t>- https://www.federalreserve.gov/releases/efa/fwtw.htm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docs/data/figure8-data.md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8, physical PDF page 29; embedded chart extracted without caption</a:t>
            </a:r>
          </a:p>
          <a:p xmlns:a="http://schemas.openxmlformats.org/drawingml/2006/main">
            <a:r>
              <a:t>- Results_Proposal/figures/figure8_authors_proxy.png</a:t>
            </a:r>
          </a:p>
          <a:p xmlns:a="http://schemas.openxmlformats.org/drawingml/2006/main">
            <a:r>
              <a:t>- Data/processed/figure8_authors_proxy_comparison.csv</a:t>
            </a:r>
          </a:p>
          <a:p xmlns:a="http://schemas.openxmlformats.org/drawingml/2006/main">
            <a:r>
              <a:t>- docs/project/tasks/figure8-replication.md, Verification and result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Results_Proposal/major_results.md, R-001 to R-003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docs/project/tasks/figure5-replication.md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https://www.federalreserve.gov/releases/efa/fwtw.htm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7a75efde542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7b1f434b8441b0" /><Relationship Type="http://schemas.openxmlformats.org/officeDocument/2006/relationships/slideLayout" Target="/ppt/slideLayouts/slideLayout1.xml" Id="Rcbe485efa8f7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e485efa8f7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ed144b54b41b9" /><Relationship Type="http://schemas.openxmlformats.org/officeDocument/2006/relationships/notesSlide" Target="/ppt/notesSlides/notesSlide1.xml" Id="R87aacb2524754a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38f6f7fd94add" /><Relationship Type="http://schemas.openxmlformats.org/officeDocument/2006/relationships/image" Target="/ppt/media/image.png" Id="R5b51f91c450646d3" /><Relationship Type="http://schemas.openxmlformats.org/officeDocument/2006/relationships/image" Target="/ppt/media/image2.png" Id="Ra3c595c8d3ff4995" /><Relationship Type="http://schemas.openxmlformats.org/officeDocument/2006/relationships/image" Target="/ppt/media/image3.png" Id="R2e628034c14c4d3a" /><Relationship Type="http://schemas.openxmlformats.org/officeDocument/2006/relationships/notesSlide" Target="/ppt/notesSlides/notesSlide2.xml" Id="Rb0666487c3a642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51f2b22364614" /><Relationship Type="http://schemas.openxmlformats.org/officeDocument/2006/relationships/image" Target="/ppt/media/image.png" Id="R7c197454a68649e1" /><Relationship Type="http://schemas.openxmlformats.org/officeDocument/2006/relationships/image" Target="/ppt/media/image2.png" Id="R39b1efe69d114fc0" /><Relationship Type="http://schemas.openxmlformats.org/officeDocument/2006/relationships/image" Target="/ppt/media/image.svg" Id="Rb697b7a2cd01445f" /><Relationship Type="http://schemas.openxmlformats.org/officeDocument/2006/relationships/image" Target="/ppt/media/image2.svg" Id="Rb0bb45fff3764492" /><Relationship Type="http://schemas.openxmlformats.org/officeDocument/2006/relationships/notesSlide" Target="/ppt/notesSlides/notesSlide3.xml" Id="Rdb7b0a0d515a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e0e60a7d64034" /><Relationship Type="http://schemas.openxmlformats.org/officeDocument/2006/relationships/image" Target="/ppt/media/image.png" Id="R9b14171515b349bf" /><Relationship Type="http://schemas.openxmlformats.org/officeDocument/2006/relationships/image" Target="/ppt/media/image2.png" Id="R2493c8ff51b14658" /><Relationship Type="http://schemas.openxmlformats.org/officeDocument/2006/relationships/image" Target="/ppt/media/image3.svg" Id="R7111e9d4cf7948c6" /><Relationship Type="http://schemas.openxmlformats.org/officeDocument/2006/relationships/image" Target="/ppt/media/image3.png" Id="R8168bde09f06417c" /><Relationship Type="http://schemas.openxmlformats.org/officeDocument/2006/relationships/image" Target="/ppt/media/image4.png" Id="R01188473532b46d4" /><Relationship Type="http://schemas.openxmlformats.org/officeDocument/2006/relationships/image" Target="/ppt/media/image4.svg" Id="R72770014c5dc4d38" /><Relationship Type="http://schemas.openxmlformats.org/officeDocument/2006/relationships/image" Target="/ppt/media/image5.png" Id="R92aa4365d31c4a23" /><Relationship Type="http://schemas.openxmlformats.org/officeDocument/2006/relationships/image" Target="/ppt/media/image5.svg" Id="R75a94f00f7474089" /><Relationship Type="http://schemas.openxmlformats.org/officeDocument/2006/relationships/image" Target="/ppt/media/image6.png" Id="R18ce2c3fa1774994" /><Relationship Type="http://schemas.openxmlformats.org/officeDocument/2006/relationships/image" Target="/ppt/media/image6.svg" Id="R551b14b4e25e43b2" /><Relationship Type="http://schemas.openxmlformats.org/officeDocument/2006/relationships/notesSlide" Target="/ppt/notesSlides/notesSlide4.xml" Id="Ra699c85f367f44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c2c27c4fb415e" /><Relationship Type="http://schemas.openxmlformats.org/officeDocument/2006/relationships/image" Target="/ppt/media/image.png" Id="R838e2790738042f3" /><Relationship Type="http://schemas.openxmlformats.org/officeDocument/2006/relationships/image" Target="/ppt/media/image2.png" Id="R3431b938e1fb46cd" /><Relationship Type="http://schemas.openxmlformats.org/officeDocument/2006/relationships/image" Target="/ppt/media/image7.png" Id="Rdfdda5b6bdca45a3" /><Relationship Type="http://schemas.openxmlformats.org/officeDocument/2006/relationships/notesSlide" Target="/ppt/notesSlides/notesSlide5.xml" Id="R1eabda88dc69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5ed98299d42d1" /><Relationship Type="http://schemas.openxmlformats.org/officeDocument/2006/relationships/image" Target="/ppt/media/image.png" Id="Rd8e6a77903024e9b" /><Relationship Type="http://schemas.openxmlformats.org/officeDocument/2006/relationships/image" Target="/ppt/media/image2.png" Id="Rfd3cf4da6f414d00" /><Relationship Type="http://schemas.openxmlformats.org/officeDocument/2006/relationships/image" Target="/ppt/media/image7.svg" Id="R140b9f03bb6b4b73" /><Relationship Type="http://schemas.openxmlformats.org/officeDocument/2006/relationships/image" Target="/ppt/media/image7.png" Id="R0921c17678f74e6b" /><Relationship Type="http://schemas.openxmlformats.org/officeDocument/2006/relationships/image" Target="/ppt/media/image8.png" Id="Ra5ed78a6514e4d88" /><Relationship Type="http://schemas.openxmlformats.org/officeDocument/2006/relationships/image" Target="/ppt/media/image8.svg" Id="Rff4cf530b16f4944" /><Relationship Type="http://schemas.openxmlformats.org/officeDocument/2006/relationships/image" Target="/ppt/media/image9.png" Id="R52aac827527c4188" /><Relationship Type="http://schemas.openxmlformats.org/officeDocument/2006/relationships/image" Target="/ppt/media/image9.svg" Id="R147f768014624eba" /><Relationship Type="http://schemas.openxmlformats.org/officeDocument/2006/relationships/image" Target="/ppt/media/image10.png" Id="R4e800d032ef74330" /><Relationship Type="http://schemas.openxmlformats.org/officeDocument/2006/relationships/image" Target="/ppt/media/image10.svg" Id="Reafa1ff9781046bb" /><Relationship Type="http://schemas.openxmlformats.org/officeDocument/2006/relationships/notesSlide" Target="/ppt/notesSlides/notesSlide6.xml" Id="R0476a829ce4d4c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e4799587d413b" /><Relationship Type="http://schemas.openxmlformats.org/officeDocument/2006/relationships/image" Target="/ppt/media/image.png" Id="R98687467b3584db9" /><Relationship Type="http://schemas.openxmlformats.org/officeDocument/2006/relationships/image" Target="/ppt/media/image2.png" Id="Rc2fafbd076a74b20" /><Relationship Type="http://schemas.openxmlformats.org/officeDocument/2006/relationships/image" Target="/ppt/media/image11.png" Id="R529383fbba314778" /><Relationship Type="http://schemas.openxmlformats.org/officeDocument/2006/relationships/image" Target="/ppt/media/image11.svg" Id="R858c46dda67e41b5" /><Relationship Type="http://schemas.openxmlformats.org/officeDocument/2006/relationships/image" Target="/ppt/media/image12.png" Id="Rac5bce36fe30487c" /><Relationship Type="http://schemas.openxmlformats.org/officeDocument/2006/relationships/image" Target="/ppt/media/image12.svg" Id="R912155d714304c48" /><Relationship Type="http://schemas.openxmlformats.org/officeDocument/2006/relationships/notesSlide" Target="/ppt/notesSlides/notesSlide7.xml" Id="R65b20780c2da4d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de71adbac40db" /><Relationship Type="http://schemas.openxmlformats.org/officeDocument/2006/relationships/image" Target="/ppt/media/image.png" Id="R93dfd356a2da4096" /><Relationship Type="http://schemas.openxmlformats.org/officeDocument/2006/relationships/notesSlide" Target="/ppt/notesSlides/notesSlide8.xml" Id="R09a5348e2c294e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ff4ad16974b74" /><Relationship Type="http://schemas.openxmlformats.org/officeDocument/2006/relationships/image" Target="/ppt/media/image.png" Id="R42bea45cd6ce4dc1" /><Relationship Type="http://schemas.openxmlformats.org/officeDocument/2006/relationships/image" Target="/ppt/media/image13.png" Id="Ra0fd09d944af411d" /><Relationship Type="http://schemas.openxmlformats.org/officeDocument/2006/relationships/image" Target="/ppt/media/image13.svg" Id="Rf31947ee8b944740" /><Relationship Type="http://schemas.openxmlformats.org/officeDocument/2006/relationships/notesSlide" Target="/ppt/notesSlides/notesSlide9.xml" Id="R1f79ebdfeeb04e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6f73f9ecd4727" /><Relationship Type="http://schemas.openxmlformats.org/officeDocument/2006/relationships/image" Target="/ppt/media/image.png" Id="R29e384b5df704e31" /><Relationship Type="http://schemas.openxmlformats.org/officeDocument/2006/relationships/notesSlide" Target="/ppt/notesSlides/notesSlide10.xml" Id="R5f96cda847ff4c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d7640dbf04040" /><Relationship Type="http://schemas.openxmlformats.org/officeDocument/2006/relationships/image" Target="/ppt/media/image.png" Id="R2ccbe9e60dc24311" /><Relationship Type="http://schemas.openxmlformats.org/officeDocument/2006/relationships/notesSlide" Target="/ppt/notesSlides/notesSlide11.xml" Id="R60e05c36a2d6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02be82fae4471" /><Relationship Type="http://schemas.openxmlformats.org/officeDocument/2006/relationships/image" Target="/ppt/media/image.png" Id="Rec56747fe9f24f59" /><Relationship Type="http://schemas.openxmlformats.org/officeDocument/2006/relationships/notesSlide" Target="/ppt/notesSlides/notesSlide12.xml" Id="Rf1b3690c4ee848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9404588154049" /><Relationship Type="http://schemas.openxmlformats.org/officeDocument/2006/relationships/image" Target="/ppt/media/image14.png" Id="Rcf44ca27fa634745" /><Relationship Type="http://schemas.openxmlformats.org/officeDocument/2006/relationships/image" Target="/ppt/media/image15.png" Id="R7dbde287bf6842a1" /><Relationship Type="http://schemas.openxmlformats.org/officeDocument/2006/relationships/notesSlide" Target="/ppt/notesSlides/notesSlide13.xml" Id="R77de5a11e92a42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50a2ffbfa45c3" /><Relationship Type="http://schemas.openxmlformats.org/officeDocument/2006/relationships/image" Target="/ppt/media/image16.png" Id="R558260786a8e4062" /><Relationship Type="http://schemas.openxmlformats.org/officeDocument/2006/relationships/image" Target="/ppt/media/image17.png" Id="Rd8681ded049c4d16" /><Relationship Type="http://schemas.openxmlformats.org/officeDocument/2006/relationships/notesSlide" Target="/ppt/notesSlides/notesSlide14.xml" Id="R912ab3c1fdf14a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b6a48e91b4861" /><Relationship Type="http://schemas.openxmlformats.org/officeDocument/2006/relationships/notesSlide" Target="/ppt/notesSlides/notesSlide15.xml" Id="Rc73a689ab10940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feea53e184842" /><Relationship Type="http://schemas.openxmlformats.org/officeDocument/2006/relationships/image" Target="/ppt/media/image18.png" Id="R283ed7612ff949ca" /><Relationship Type="http://schemas.openxmlformats.org/officeDocument/2006/relationships/image" Target="/ppt/media/image19.png" Id="R16599a5ccc374620" /><Relationship Type="http://schemas.openxmlformats.org/officeDocument/2006/relationships/notesSlide" Target="/ppt/notesSlides/notesSlide16.xml" Id="R12e75be28cb943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dd54a9a444853" /><Relationship Type="http://schemas.openxmlformats.org/officeDocument/2006/relationships/notesSlide" Target="/ppt/notesSlides/notesSlide17.xml" Id="Rb42b00e5072941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69941DB9-9128-4CC6-96D4-76F2DED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7C051A-E968-48D4-932F-BE04BBAA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REPLICATION PACKAGE · METHODOLOGY, DATA, RESULTS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C12F6-118A-41FC-9B31-6EE8D81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Replicating the Saving Glut of the Rich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69E33F4-CEE0-4100-92AF-B6E5F46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 transparent reconstruction of Mian, Straub, and Sufi (2025) from the February 2021 authors’ package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04EB5C43-CA63-49BC-BC30-BC9BE88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C9C3AB10-5751-4F82-8A86-8D819F2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B87B36AA-45A7-426E-9A02-DB03462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391AA843-EE9C-4B5B-9375-1CFEC09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086423BF-9FA1-4716-82E0-A79C256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13 August 2026</a:t>
            </a:r>
          </a:p>
        </p:txBody>
      </p:sp>
      <p:sp>
        <p:nvSpPr>
          <p:cNvPr id="11" name="cover-rule">
            <a:extLst xmlns:a="http://schemas.openxmlformats.org/drawingml/2006/main">
              <a:ext uri="{FF2B5EF4-FFF2-40B4-BE49-F238E27FC236}">
                <a16:creationId xmlns:a16="http://schemas.microsoft.com/office/drawing/2014/main" id="{369B74CE-011E-413C-8B3E-388828D9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8"/>
            </a:solidFill>
            <a:prstDash val="solid"/>
          </a:ln>
        </p:spPr>
      </p:sp>
      <p:sp>
        <p:nvSpPr>
          <p:cNvPr id="12" name="cover-thesis-label">
            <a:extLst xmlns:a="http://schemas.openxmlformats.org/drawingml/2006/main">
              <a:ext uri="{FF2B5EF4-FFF2-40B4-BE49-F238E27FC236}">
                <a16:creationId xmlns:a16="http://schemas.microsoft.com/office/drawing/2014/main" id="{7222C5D8-9165-4722-8E76-87F6A3F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SUBMISSION QUESTION</a:t>
            </a:r>
          </a:p>
        </p:txBody>
      </p:sp>
      <p:sp>
        <p:nvSpPr>
          <p:cNvPr id="1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2830B1D3-553C-4D22-8FD8-8F15641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Which claims can the available data reproduce—and which remain version-bound?</a:t>
            </a:r>
          </a:p>
        </p:txBody>
      </p:sp>
    </p:spTree>
    <p:extLst>
      <p:ext uri="{BB962C8B-B14F-4D97-AF65-F5344CB8AC3E}">
        <p14:creationId xmlns:p14="http://schemas.microsoft.com/office/powerpoint/2010/main" val="2026081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THE ECONOMIC PROBLEM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Intermediation hides the ultimate owner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OBSERVED BALANCE-SHEET CHAIN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ECONOMIC INCIDENCE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1f91c450646d3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595c8d3ff4995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Unveiling follows every liability until the claim reaches a terminal owner.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Sections 2.1–2.2.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28034c14c4d3a"/>
          <a:stretch xmlns:a="http://schemas.openxmlformats.org/drawingml/2006/main"/>
        </p:blipFill>
        <p:spPr>
          <a:xfrm xmlns:a="http://schemas.openxmlformats.org/drawingml/2006/main">
            <a:off x="723900" y="2694831"/>
            <a:ext cx="4905375" cy="801589"/>
          </a:xfrm>
          <a:prstGeom xmlns:a="http://schemas.openxmlformats.org/drawingml/2006/main" prst="rect">
            <a:avLst/>
          </a:prstGeom>
        </p:spPr>
      </p:pic>
      <p:sp>
        <p:nvSpPr>
          <p:cNvPr id="20" name="short-recorded">
            <a:extLst xmlns:a="http://schemas.openxmlformats.org/drawingml/2006/main">
              <a:ext uri="{FF2B5EF4-FFF2-40B4-BE49-F238E27FC236}">
                <a16:creationId xmlns:a16="http://schemas.microsoft.com/office/drawing/2014/main" id="{75CA0C52-2813-4BCA-9633-CDF28DBB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What accounts record</a:t>
            </a:r>
          </a:p>
        </p:txBody>
      </p:sp>
      <p:sp>
        <p:nvSpPr>
          <p:cNvPr id="21" name="short-recorded-copy">
            <a:extLst xmlns:a="http://schemas.openxmlformats.org/drawingml/2006/main">
              <a:ext uri="{FF2B5EF4-FFF2-40B4-BE49-F238E27FC236}">
                <a16:creationId xmlns:a16="http://schemas.microsoft.com/office/drawing/2014/main" id="{553F42A2-8446-4388-8239-8E0495B7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Primary asset → bank → fund → household</a:t>
            </a:r>
          </a:p>
        </p:txBody>
      </p:sp>
      <p:sp>
        <p:nvSpPr>
          <p:cNvPr id="22" name="short-chain-divider">
            <a:extLst xmlns:a="http://schemas.openxmlformats.org/drawingml/2006/main">
              <a:ext uri="{FF2B5EF4-FFF2-40B4-BE49-F238E27FC236}">
                <a16:creationId xmlns:a16="http://schemas.microsoft.com/office/drawing/2014/main" id="{4FA05298-D084-421E-BC8B-8AEE64A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short-incidence">
            <a:extLst xmlns:a="http://schemas.openxmlformats.org/drawingml/2006/main">
              <a:ext uri="{FF2B5EF4-FFF2-40B4-BE49-F238E27FC236}">
                <a16:creationId xmlns:a16="http://schemas.microsoft.com/office/drawing/2014/main" id="{786CC233-F69D-4D8D-844D-B3B082C0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What incidence asks</a:t>
            </a:r>
          </a:p>
        </p:txBody>
      </p:sp>
      <p:sp>
        <p:nvSpPr>
          <p:cNvPr id="24" name="short-incidence-copy">
            <a:extLst xmlns:a="http://schemas.openxmlformats.org/drawingml/2006/main">
              <a:ext uri="{FF2B5EF4-FFF2-40B4-BE49-F238E27FC236}">
                <a16:creationId xmlns:a16="http://schemas.microsoft.com/office/drawing/2014/main" id="{5EAE878C-445F-4024-987B-DCDAB9CB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Which terminal sector ultimately owns the primary claim?</a:t>
            </a:r>
          </a:p>
        </p:txBody>
      </p:sp>
    </p:spTree>
    <p:extLst>
      <p:ext uri="{BB962C8B-B14F-4D97-AF65-F5344CB8AC3E}">
        <p14:creationId xmlns:p14="http://schemas.microsoft.com/office/powerpoint/2010/main" val="2026081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DIRECT OWNERSHIP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Rows issue liabilities; columns hold them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PAPER EQUATION (4)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ORIENTATION AND INVARIANT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97454a68649e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1efe69d114fc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Build the direct network from instrument claims; Figure 1 counts household claims on intermediary issuers before the solve.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2.1 and Equation (4).</a:t>
            </a:r>
          </a:p>
        </p:txBody>
      </p:sp>
      <p:sp>
        <p:nvSpPr>
          <p:cNvPr id="19" name="short-eq4-surface">
            <a:extLst xmlns:a="http://schemas.openxmlformats.org/drawingml/2006/main">
              <a:ext uri="{FF2B5EF4-FFF2-40B4-BE49-F238E27FC236}">
                <a16:creationId xmlns:a16="http://schemas.microsoft.com/office/drawing/2014/main" id="{7E26CB99-C4CE-458D-A34A-6526A711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97454a68649e1">
            <a:extLst>
              <a:ext uri="{96DAC541-7B7A-43D3-8B79-37D633B846F1}">
                <asvg:svgBlip xmlns:asvg="http://schemas.microsoft.com/office/drawing/2016/SVG/main" r:embed="Rb697b7a2cd0144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3153" y="2143125"/>
            <a:ext cx="4157343" cy="714375"/>
          </a:xfrm>
          <a:prstGeom xmlns:a="http://schemas.openxmlformats.org/drawingml/2006/main" prst="rect">
            <a:avLst/>
          </a:prstGeom>
        </p:spPr>
      </p:pic>
      <p:sp>
        <p:nvSpPr>
          <p:cNvPr id="21" name="short-eq4-defs">
            <a:extLst xmlns:a="http://schemas.openxmlformats.org/drawingml/2006/main">
              <a:ext uri="{FF2B5EF4-FFF2-40B4-BE49-F238E27FC236}">
                <a16:creationId xmlns:a16="http://schemas.microsoft.com/office/drawing/2014/main" id="{4B6B4D50-0A10-4C9E-A1A4-A82218E5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Mₕ,ₜ: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dollar matrix for instrument h.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liabilities issued by each sector.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⊙: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elementwise row scaling.</a:t>
            </a:r>
          </a:p>
        </p:txBody>
      </p:sp>
      <p:sp>
        <p:nvSpPr>
          <p:cNvPr id="22" name="row-def-surface">
            <a:extLst xmlns:a="http://schemas.openxmlformats.org/drawingml/2006/main">
              <a:ext uri="{FF2B5EF4-FFF2-40B4-BE49-F238E27FC236}">
                <a16:creationId xmlns:a16="http://schemas.microsoft.com/office/drawing/2014/main" id="{7C36510E-314A-48EC-AD3F-5CCAAAAF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57375"/>
            <a:ext cx="4333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row-def">
            <a:extLst xmlns:a="http://schemas.openxmlformats.org/drawingml/2006/main">
              <a:ext uri="{FF2B5EF4-FFF2-40B4-BE49-F238E27FC236}">
                <a16:creationId xmlns:a16="http://schemas.microsoft.com/office/drawing/2014/main" id="{DB3419E4-4B2D-42C0-BCD9-D1607F45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71675"/>
            <a:ext cx="4067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row i = issuer / borrower</a:t>
            </a:r>
          </a:p>
        </p:txBody>
      </p:sp>
      <p:sp>
        <p:nvSpPr>
          <p:cNvPr id="24" name="col-def-surface">
            <a:extLst xmlns:a="http://schemas.openxmlformats.org/drawingml/2006/main">
              <a:ext uri="{FF2B5EF4-FFF2-40B4-BE49-F238E27FC236}">
                <a16:creationId xmlns:a16="http://schemas.microsoft.com/office/drawing/2014/main" id="{1F962B3E-FD79-46C2-9417-949B7160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4333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col-def">
            <a:extLst xmlns:a="http://schemas.openxmlformats.org/drawingml/2006/main">
              <a:ext uri="{FF2B5EF4-FFF2-40B4-BE49-F238E27FC236}">
                <a16:creationId xmlns:a16="http://schemas.microsoft.com/office/drawing/2014/main" id="{0EB1B40C-03C8-4607-87CB-4C42C5B6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76550"/>
            <a:ext cx="4067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column j = holder / lender</a:t>
            </a:r>
          </a:p>
        </p:txBody>
      </p:sp>
      <p:sp>
        <p:nvSpPr>
          <p:cNvPr id="26" name="row-invariant-surface">
            <a:extLst xmlns:a="http://schemas.openxmlformats.org/drawingml/2006/main">
              <a:ext uri="{FF2B5EF4-FFF2-40B4-BE49-F238E27FC236}">
                <a16:creationId xmlns:a16="http://schemas.microsoft.com/office/drawing/2014/main" id="{A9A15AFC-9F77-4102-ABA3-81EB0515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57625"/>
            <a:ext cx="30956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1efe69d114fc0">
            <a:extLst>
              <a:ext uri="{96DAC541-7B7A-43D3-8B79-37D633B846F1}">
                <asvg:svgBlip xmlns:asvg="http://schemas.microsoft.com/office/drawing/2016/SVG/main" r:embed="Rb0bb45fff37644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0" y="3983692"/>
            <a:ext cx="2714625" cy="4146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1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LEONTIEF INVERSE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One inverse sums every intermediary path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PAPER EQUATION (1)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EQUIVALENT ULTIMATE-OWNER BLOCK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4171515b349b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3c8ff51b14658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block solve is the paper's full-matrix series restricted to claims that terminate at owners.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2.2 and Equation (1).</a:t>
            </a:r>
          </a:p>
        </p:txBody>
      </p:sp>
      <p:sp>
        <p:nvSpPr>
          <p:cNvPr id="19" name="paper-leontief-surface">
            <a:extLst xmlns:a="http://schemas.openxmlformats.org/drawingml/2006/main">
              <a:ext uri="{FF2B5EF4-FFF2-40B4-BE49-F238E27FC236}">
                <a16:creationId xmlns:a16="http://schemas.microsoft.com/office/drawing/2014/main" id="{B7F73AA8-5EBC-4B29-8242-EB563126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905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8bde09f06417c">
            <a:extLst>
              <a:ext uri="{96DAC541-7B7A-43D3-8B79-37D633B846F1}">
                <asvg:svgBlip xmlns:asvg="http://schemas.microsoft.com/office/drawing/2016/SVG/main" r:embed="R7111e9d4cf7948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21189"/>
            <a:ext cx="4524375" cy="262997"/>
          </a:xfrm>
          <a:prstGeom xmlns:a="http://schemas.openxmlformats.org/drawingml/2006/main" prst="rect">
            <a:avLst/>
          </a:prstGeom>
        </p:spPr>
      </p:pic>
      <p:sp>
        <p:nvSpPr>
          <p:cNvPr id="21" name="short-paper-copy">
            <a:extLst xmlns:a="http://schemas.openxmlformats.org/drawingml/2006/main">
              <a:ext uri="{FF2B5EF4-FFF2-40B4-BE49-F238E27FC236}">
                <a16:creationId xmlns:a16="http://schemas.microsoft.com/office/drawing/2014/main" id="{9B8299AE-4608-4122-83BA-21547FA2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M̄ₜ is the full unveiled ownership matrix.</a:t>
            </a:r>
          </a:p>
        </p:txBody>
      </p:sp>
      <p:sp>
        <p:nvSpPr>
          <p:cNvPr id="22" name="terminal-m-surface">
            <a:extLst xmlns:a="http://schemas.openxmlformats.org/drawingml/2006/main">
              <a:ext uri="{FF2B5EF4-FFF2-40B4-BE49-F238E27FC236}">
                <a16:creationId xmlns:a16="http://schemas.microsoft.com/office/drawing/2014/main" id="{F9300B95-2848-43DC-BCC9-92FE4D4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4812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88473532b46d4">
            <a:extLst>
              <a:ext uri="{96DAC541-7B7A-43D3-8B79-37D633B846F1}">
                <asvg:svgBlip xmlns:asvg="http://schemas.microsoft.com/office/drawing/2016/SVG/main" r:embed="R72770014c5dc4d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77350" y="4143375"/>
            <a:ext cx="1027051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short-leontief-surface">
            <a:extLst xmlns:a="http://schemas.openxmlformats.org/drawingml/2006/main">
              <a:ext uri="{FF2B5EF4-FFF2-40B4-BE49-F238E27FC236}">
                <a16:creationId xmlns:a16="http://schemas.microsoft.com/office/drawing/2014/main" id="{775B6AB2-4A04-42EB-81AF-303A98BD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429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a4365d31c4a23">
            <a:extLst>
              <a:ext uri="{96DAC541-7B7A-43D3-8B79-37D633B846F1}">
                <asvg:svgBlip xmlns:asvg="http://schemas.microsoft.com/office/drawing/2016/SVG/main" r:embed="R75a94f00f74740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34200" y="2185141"/>
            <a:ext cx="3895725" cy="506519"/>
          </a:xfrm>
          <a:prstGeom xmlns:a="http://schemas.openxmlformats.org/drawingml/2006/main" prst="rect">
            <a:avLst/>
          </a:prstGeom>
        </p:spPr>
      </p:pic>
      <p:sp>
        <p:nvSpPr>
          <p:cNvPr id="26" name="short-block-defs">
            <a:extLst xmlns:a="http://schemas.openxmlformats.org/drawingml/2006/main">
              <a:ext uri="{FF2B5EF4-FFF2-40B4-BE49-F238E27FC236}">
                <a16:creationId xmlns:a16="http://schemas.microsoft.com/office/drawing/2014/main" id="{6CF7C471-603C-49C9-A717-BC0017E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238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direct exits from intermediaries to owners.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Qₜ: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ownership that remains inside intermediaries.</a:t>
            </a:r>
          </a:p>
        </p:txBody>
      </p:sp>
      <p:sp>
        <p:nvSpPr>
          <p:cNvPr id="27" name="spectral-surface">
            <a:extLst xmlns:a="http://schemas.openxmlformats.org/drawingml/2006/main">
              <a:ext uri="{FF2B5EF4-FFF2-40B4-BE49-F238E27FC236}">
                <a16:creationId xmlns:a16="http://schemas.microsoft.com/office/drawing/2014/main" id="{C42D9D4A-F1F3-4FFE-920E-93AA3536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27146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e2c3fa1774994">
            <a:extLst>
              <a:ext uri="{96DAC541-7B7A-43D3-8B79-37D633B846F1}">
                <asvg:svgBlip xmlns:asvg="http://schemas.microsoft.com/office/drawing/2016/SVG/main" r:embed="R551b14b4e25e43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39597" y="4333875"/>
            <a:ext cx="1284931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1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WORKED NETWORK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A four-sector network makes every path auditable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DIRECT-OWNERSHIP GRAPH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EDGE MEANING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e2790738042f3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1b938e1fb46cd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reciprocal bank–fund link creates infinitely many paths, all with economically readable weights.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worked example; edge labels are direct liability shares.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da5b6bdca45a3"/>
          <a:stretch xmlns:a="http://schemas.openxmlformats.org/drawingml/2006/main"/>
        </p:blipFill>
        <p:spPr>
          <a:xfrm xmlns:a="http://schemas.openxmlformats.org/drawingml/2006/main">
            <a:off x="978169" y="1619250"/>
            <a:ext cx="4358736" cy="3095625"/>
          </a:xfrm>
          <a:prstGeom xmlns:a="http://schemas.openxmlformats.org/drawingml/2006/main" prst="rect">
            <a:avLst/>
          </a:prstGeom>
        </p:spPr>
      </p:pic>
      <p:sp>
        <p:nvSpPr>
          <p:cNvPr id="20" name="short-edge-list">
            <a:extLst xmlns:a="http://schemas.openxmlformats.org/drawingml/2006/main">
              <a:ext uri="{FF2B5EF4-FFF2-40B4-BE49-F238E27FC236}">
                <a16:creationId xmlns:a16="http://schemas.microsoft.com/office/drawing/2014/main" id="{618BFCD0-3F0F-46F6-A559-925F45F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Bank row:</a:t>
            </a: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 20%, G 10%, F 70%.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Fund row:</a:t>
            </a: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 60%, G 20%, B 20%.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Arrow i → j:</a:t>
            </a: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j holds i's liability.</a:t>
            </a:r>
          </a:p>
        </p:txBody>
      </p:sp>
      <p:sp>
        <p:nvSpPr>
          <p:cNvPr id="21" name="short-loop">
            <a:extLst xmlns:a="http://schemas.openxmlformats.org/drawingml/2006/main">
              <a:ext uri="{FF2B5EF4-FFF2-40B4-BE49-F238E27FC236}">
                <a16:creationId xmlns:a16="http://schemas.microsoft.com/office/drawing/2014/main" id="{525DCAFF-C537-4CD2-BF84-6F12C590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3714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RECIPROCAL INTERMEDIATION: B ↔ F</a:t>
            </a:r>
          </a:p>
        </p:txBody>
      </p:sp>
    </p:spTree>
    <p:extLst>
      <p:ext uri="{BB962C8B-B14F-4D97-AF65-F5344CB8AC3E}">
        <p14:creationId xmlns:p14="http://schemas.microsoft.com/office/powerpoint/2010/main" val="2026081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WORKED RESULT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Direct 20% becomes ultimate household ownership of 72.093%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FIXED-POINT LOGIC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DIRECT + INDIRECT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6a77903024e9b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cf4da6f414d0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additional 52.093 percentage points are the bank's household claim carried through the fund and every reciprocal loop.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worked example; values are percentage shares of the bank's liabilities.</a:t>
            </a:r>
          </a:p>
        </p:txBody>
      </p:sp>
      <p:sp>
        <p:nvSpPr>
          <p:cNvPr id="19" name="bank-hh-surface">
            <a:extLst xmlns:a="http://schemas.openxmlformats.org/drawingml/2006/main">
              <a:ext uri="{FF2B5EF4-FFF2-40B4-BE49-F238E27FC236}">
                <a16:creationId xmlns:a16="http://schemas.microsoft.com/office/drawing/2014/main" id="{3E2351DB-75AB-4CC6-8902-6E299FB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1c17678f74e6b">
            <a:extLst>
              <a:ext uri="{96DAC541-7B7A-43D3-8B79-37D633B846F1}">
                <asvg:svgBlip xmlns:asvg="http://schemas.microsoft.com/office/drawing/2016/SVG/main" r:embed="R140b9f03bb6b4b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2152902"/>
            <a:ext cx="4229100" cy="342396"/>
          </a:xfrm>
          <a:prstGeom xmlns:a="http://schemas.openxmlformats.org/drawingml/2006/main" prst="rect">
            <a:avLst/>
          </a:prstGeom>
        </p:spPr>
      </p:pic>
      <p:sp>
        <p:nvSpPr>
          <p:cNvPr id="21" name="fund-hh-surface">
            <a:extLst xmlns:a="http://schemas.openxmlformats.org/drawingml/2006/main">
              <a:ext uri="{FF2B5EF4-FFF2-40B4-BE49-F238E27FC236}">
                <a16:creationId xmlns:a16="http://schemas.microsoft.com/office/drawing/2014/main" id="{DCAC5895-9BE6-43FA-87C9-2B0D1E0C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d78a6514e4d88">
            <a:extLst>
              <a:ext uri="{96DAC541-7B7A-43D3-8B79-37D633B846F1}">
                <asvg:svgBlip xmlns:asvg="http://schemas.microsoft.com/office/drawing/2016/SVG/main" r:embed="Rff4cf530b16f49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200652"/>
            <a:ext cx="4229100" cy="342396"/>
          </a:xfrm>
          <a:prstGeom xmlns:a="http://schemas.openxmlformats.org/drawingml/2006/main" prst="rect">
            <a:avLst/>
          </a:prstGeom>
        </p:spPr>
      </p:pic>
      <p:sp>
        <p:nvSpPr>
          <p:cNvPr id="23" name="result-surface">
            <a:extLst xmlns:a="http://schemas.openxmlformats.org/drawingml/2006/main">
              <a:ext uri="{FF2B5EF4-FFF2-40B4-BE49-F238E27FC236}">
                <a16:creationId xmlns:a16="http://schemas.microsoft.com/office/drawing/2014/main" id="{1395D496-E35F-4CDB-A1D2-2887F58A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3857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ac827527c4188">
            <a:extLst>
              <a:ext uri="{96DAC541-7B7A-43D3-8B79-37D633B846F1}">
                <asvg:svgBlip xmlns:asvg="http://schemas.microsoft.com/office/drawing/2016/SVG/main" r:embed="R147f768014624e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43050" y="4290525"/>
            <a:ext cx="3248025" cy="315301"/>
          </a:xfrm>
          <a:prstGeom xmlns:a="http://schemas.openxmlformats.org/drawingml/2006/main" prst="rect">
            <a:avLst/>
          </a:prstGeom>
        </p:spPr>
      </p:pic>
      <p:sp>
        <p:nvSpPr>
          <p:cNvPr id="25" name="short-bar-title">
            <a:extLst xmlns:a="http://schemas.openxmlformats.org/drawingml/2006/main">
              <a:ext uri="{FF2B5EF4-FFF2-40B4-BE49-F238E27FC236}">
                <a16:creationId xmlns:a16="http://schemas.microsoft.com/office/drawing/2014/main" id="{BCE0075A-FA05-496B-B31A-63422ECD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Household share of bank liabilities</a:t>
            </a:r>
          </a:p>
        </p:txBody>
      </p:sp>
      <p:sp>
        <p:nvSpPr>
          <p:cNvPr id="26" name="short-bar-direct">
            <a:extLst xmlns:a="http://schemas.openxmlformats.org/drawingml/2006/main">
              <a:ext uri="{FF2B5EF4-FFF2-40B4-BE49-F238E27FC236}">
                <a16:creationId xmlns:a16="http://schemas.microsoft.com/office/drawing/2014/main" id="{09D90224-3F3C-4DC7-A298-EFF16798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11811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E5B88"/>
          </a:solidFill>
          <a:ln xmlns:a="http://schemas.openxmlformats.org/drawingml/2006/main" w="9525">
            <a:solidFill>
              <a:srgbClr val="2E5B88"/>
            </a:solidFill>
            <a:prstDash val="solid"/>
          </a:ln>
        </p:spPr>
      </p:sp>
      <p:sp>
        <p:nvSpPr>
          <p:cNvPr id="27" name="short-bar-indirect">
            <a:extLst xmlns:a="http://schemas.openxmlformats.org/drawingml/2006/main">
              <a:ext uri="{FF2B5EF4-FFF2-40B4-BE49-F238E27FC236}">
                <a16:creationId xmlns:a16="http://schemas.microsoft.com/office/drawing/2014/main" id="{B0589555-CD00-4B8F-B2F8-47F2A6C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14625"/>
            <a:ext cx="30099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sp>
        <p:nvSpPr>
          <p:cNvPr id="28" name="short-direct-label">
            <a:extLst xmlns:a="http://schemas.openxmlformats.org/drawingml/2006/main">
              <a:ext uri="{FF2B5EF4-FFF2-40B4-BE49-F238E27FC236}">
                <a16:creationId xmlns:a16="http://schemas.microsoft.com/office/drawing/2014/main" id="{D88FA9CB-437F-49DD-AD22-851FD83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03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20.0%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direct</a:t>
            </a:r>
          </a:p>
        </p:txBody>
      </p:sp>
      <p:sp>
        <p:nvSpPr>
          <p:cNvPr id="29" name="short-indirect-label">
            <a:extLst xmlns:a="http://schemas.openxmlformats.org/drawingml/2006/main">
              <a:ext uri="{FF2B5EF4-FFF2-40B4-BE49-F238E27FC236}">
                <a16:creationId xmlns:a16="http://schemas.microsoft.com/office/drawing/2014/main" id="{369A9FC2-68F3-4FFD-A65A-618C653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09875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52.093% indirect</a:t>
            </a:r>
          </a:p>
        </p:txBody>
      </p:sp>
      <p:sp>
        <p:nvSpPr>
          <p:cNvPr id="30" name="total-household-surface">
            <a:extLst xmlns:a="http://schemas.openxmlformats.org/drawingml/2006/main">
              <a:ext uri="{FF2B5EF4-FFF2-40B4-BE49-F238E27FC236}">
                <a16:creationId xmlns:a16="http://schemas.microsoft.com/office/drawing/2014/main" id="{0A040904-23D1-4613-9010-EFB6165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00d032ef74330">
            <a:extLst>
              <a:ext uri="{96DAC541-7B7A-43D3-8B79-37D633B846F1}">
                <asvg:svgBlip xmlns:asvg="http://schemas.microsoft.com/office/drawing/2016/SVG/main" r:embed="Reafa1ff9781046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800" y="4112938"/>
            <a:ext cx="2724150" cy="3656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1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REPLICATION CHOICE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2021 rounds are not a fixed-Q truncation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AUTHORS' 2021 STAGE-SPECIFIC PIPELINE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2025 METHOD AND OUR IMPLEMENTATION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87467b3584db9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afbd076a74b20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They share proportional allocation logic; equivalence requires the same fixed matrix in every round.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2021 replication kit; July 2025 paper; docs/methods/leontief-unveiling.md.</a:t>
            </a:r>
          </a:p>
        </p:txBody>
      </p:sp>
      <p:sp>
        <p:nvSpPr>
          <p:cNvPr id="19" name="seven-sum-surface">
            <a:extLst xmlns:a="http://schemas.openxmlformats.org/drawingml/2006/main">
              <a:ext uri="{FF2B5EF4-FFF2-40B4-BE49-F238E27FC236}">
                <a16:creationId xmlns:a16="http://schemas.microsoft.com/office/drawing/2014/main" id="{3F74E429-9F59-4687-903E-63A42CA6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4667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383fbba314778">
            <a:extLst>
              <a:ext uri="{96DAC541-7B7A-43D3-8B79-37D633B846F1}">
                <asvg:svgBlip xmlns:asvg="http://schemas.microsoft.com/office/drawing/2016/SVG/main" r:embed="R858c46dda67e41b5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2500" y="2266950"/>
            <a:ext cx="4381500" cy="438150"/>
          </a:xfrm>
          <a:prstGeom xmlns:a="http://schemas.openxmlformats.org/drawingml/2006/main" prst="rect">
            <a:avLst/>
          </a:prstGeom>
        </p:spPr>
      </p:pic>
      <p:sp>
        <p:nvSpPr>
          <p:cNvPr id="21" name="short-seven-copy">
            <a:extLst xmlns:a="http://schemas.openxmlformats.org/drawingml/2006/main">
              <a:ext uri="{FF2B5EF4-FFF2-40B4-BE49-F238E27FC236}">
                <a16:creationId xmlns:a16="http://schemas.microsoft.com/office/drawing/2014/main" id="{95833F1B-BEAA-42A7-9790-3D0F000E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Seven stages change instruments, adjustments, and residual rules.</a:t>
            </a:r>
          </a:p>
        </p:txBody>
      </p:sp>
      <p:sp>
        <p:nvSpPr>
          <p:cNvPr id="22" name="infinite-solve-surface">
            <a:extLst xmlns:a="http://schemas.openxmlformats.org/drawingml/2006/main">
              <a:ext uri="{FF2B5EF4-FFF2-40B4-BE49-F238E27FC236}">
                <a16:creationId xmlns:a16="http://schemas.microsoft.com/office/drawing/2014/main" id="{8ED1E445-9A03-4651-B2B5-0A0C7C58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47875"/>
            <a:ext cx="4333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bce36fe30487c">
            <a:extLst>
              <a:ext uri="{96DAC541-7B7A-43D3-8B79-37D633B846F1}">
                <asvg:svgBlip xmlns:asvg="http://schemas.microsoft.com/office/drawing/2016/SVG/main" r:embed="R912155d714304c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38975" y="2227338"/>
            <a:ext cx="3686175" cy="479273"/>
          </a:xfrm>
          <a:prstGeom xmlns:a="http://schemas.openxmlformats.org/drawingml/2006/main" prst="rect">
            <a:avLst/>
          </a:prstGeom>
        </p:spPr>
      </p:pic>
      <p:sp>
        <p:nvSpPr>
          <p:cNvPr id="24" name="short-invariants">
            <a:extLst xmlns:a="http://schemas.openxmlformats.org/drawingml/2006/main">
              <a:ext uri="{FF2B5EF4-FFF2-40B4-BE49-F238E27FC236}">
                <a16:creationId xmlns:a16="http://schemas.microsoft.com/office/drawing/2014/main" id="{753E4025-966D-4C03-A281-8FB4733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Convergence: ρ(Qₜ) &lt; 1.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Conservation: Ωₜ1ₘ = 1ₖ.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Implementation: solve the linear system directly.</a:t>
            </a:r>
          </a:p>
        </p:txBody>
      </p:sp>
    </p:spTree>
    <p:extLst>
      <p:ext uri="{BB962C8B-B14F-4D97-AF65-F5344CB8AC3E}">
        <p14:creationId xmlns:p14="http://schemas.microsoft.com/office/powerpoint/2010/main" val="2026081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IDENTIFICATION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No dataset identifies the entire object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NETWORK STOCKS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GROUP ALLOCATION AND FLOWS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6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fd356a2da4096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8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fd356a2da4096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Stocks, counterparties, household groups, and flows are distinct dimensions that must be combined explicitly.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data appendix; project author-kit data map.</a:t>
            </a:r>
          </a:p>
        </p:txBody>
      </p:sp>
      <p:sp>
        <p:nvSpPr>
          <p:cNvPr id="19" name="fwtw-b-badge">
            <a:extLst xmlns:a="http://schemas.openxmlformats.org/drawingml/2006/main">
              <a:ext uri="{FF2B5EF4-FFF2-40B4-BE49-F238E27FC236}">
                <a16:creationId xmlns:a16="http://schemas.microsoft.com/office/drawing/2014/main" id="{758D5FF3-0A3E-4E25-8415-961F305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619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E5B88"/>
          </a:solidFill>
          <a:ln xmlns:a="http://schemas.openxmlformats.org/drawingml/2006/main" w="9525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 / FWTW</a:t>
            </a:r>
          </a:p>
        </p:txBody>
      </p:sp>
      <p:sp>
        <p:nvSpPr>
          <p:cNvPr id="20" name="fwtw-copy">
            <a:extLst xmlns:a="http://schemas.openxmlformats.org/drawingml/2006/main">
              <a:ext uri="{FF2B5EF4-FFF2-40B4-BE49-F238E27FC236}">
                <a16:creationId xmlns:a16="http://schemas.microsoft.com/office/drawing/2014/main" id="{BE8F55DB-7963-4E0C-A778-5FCC84E0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Sector-by-sector financial stocks and instrument-level bilateral positions.</a:t>
            </a:r>
          </a:p>
        </p:txBody>
      </p:sp>
      <p:sp>
        <p:nvSpPr>
          <p:cNvPr id="21" name="fwtw-q">
            <a:extLst xmlns:a="http://schemas.openxmlformats.org/drawingml/2006/main">
              <a:ext uri="{FF2B5EF4-FFF2-40B4-BE49-F238E27FC236}">
                <a16:creationId xmlns:a16="http://schemas.microsoft.com/office/drawing/2014/main" id="{0657E351-364D-4654-A7F4-0B1753A7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Who holds whose liability?</a:t>
            </a:r>
          </a:p>
        </p:txBody>
      </p:sp>
      <p:sp>
        <p:nvSpPr>
          <p:cNvPr id="22" name="dina-b-badge">
            <a:extLst xmlns:a="http://schemas.openxmlformats.org/drawingml/2006/main">
              <a:ext uri="{FF2B5EF4-FFF2-40B4-BE49-F238E27FC236}">
                <a16:creationId xmlns:a16="http://schemas.microsoft.com/office/drawing/2014/main" id="{23A2DF4A-E591-44CD-AF5C-18724E3D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11430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DINA</a:t>
            </a:r>
          </a:p>
        </p:txBody>
      </p:sp>
      <p:sp>
        <p:nvSpPr>
          <p:cNvPr id="23" name="dina-copy">
            <a:extLst xmlns:a="http://schemas.openxmlformats.org/drawingml/2006/main">
              <a:ext uri="{FF2B5EF4-FFF2-40B4-BE49-F238E27FC236}">
                <a16:creationId xmlns:a16="http://schemas.microsoft.com/office/drawing/2014/main" id="{BBF2F8D9-9A28-460F-84BC-680FB70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Household assets and liabilities distributed across income or wealth groups.</a:t>
            </a:r>
          </a:p>
        </p:txBody>
      </p:sp>
      <p:sp>
        <p:nvSpPr>
          <p:cNvPr id="24" name="nipa-divider">
            <a:extLst xmlns:a="http://schemas.openxmlformats.org/drawingml/2006/main">
              <a:ext uri="{FF2B5EF4-FFF2-40B4-BE49-F238E27FC236}">
                <a16:creationId xmlns:a16="http://schemas.microsoft.com/office/drawing/2014/main" id="{5D2946F2-0A8E-43C0-AB0D-F857C6F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nipa-b-badge">
            <a:extLst xmlns:a="http://schemas.openxmlformats.org/drawingml/2006/main">
              <a:ext uri="{FF2B5EF4-FFF2-40B4-BE49-F238E27FC236}">
                <a16:creationId xmlns:a16="http://schemas.microsoft.com/office/drawing/2014/main" id="{AF7575F9-7EA4-4F32-8110-D297311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11430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A7F7F"/>
          </a:solidFill>
          <a:ln xmlns:a="http://schemas.openxmlformats.org/drawingml/2006/main" w="9525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NIPA</a:t>
            </a:r>
          </a:p>
        </p:txBody>
      </p:sp>
      <p:sp>
        <p:nvSpPr>
          <p:cNvPr id="26" name="nipa-copy">
            <a:extLst xmlns:a="http://schemas.openxmlformats.org/drawingml/2006/main">
              <a:ext uri="{FF2B5EF4-FFF2-40B4-BE49-F238E27FC236}">
                <a16:creationId xmlns:a16="http://schemas.microsoft.com/office/drawing/2014/main" id="{9CB4D4B0-4908-4721-8E4A-153BB973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442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Aggregate income, saving, and national-account closure—not bilateral ownership.</a:t>
            </a:r>
          </a:p>
        </p:txBody>
      </p:sp>
    </p:spTree>
    <p:extLst>
      <p:ext uri="{BB962C8B-B14F-4D97-AF65-F5344CB8AC3E}">
        <p14:creationId xmlns:p14="http://schemas.microsoft.com/office/powerpoint/2010/main" val="2026081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SAVING VS. VALUATION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Valuation data separate saving from capital gains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GROUP SAVING EQUATION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DATA ROLES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4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ea45cd6ce4dc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6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ea45cd6ce4dc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 change in wealth is not saving unless capital gains, write-downs, and other valuation effects are removed.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saving methodology and data appendix; Figure 5 baseline is wealth-ranked.</a:t>
            </a:r>
          </a:p>
        </p:txBody>
      </p:sp>
      <p:sp>
        <p:nvSpPr>
          <p:cNvPr id="19" name="saving-surface">
            <a:extLst xmlns:a="http://schemas.openxmlformats.org/drawingml/2006/main">
              <a:ext uri="{FF2B5EF4-FFF2-40B4-BE49-F238E27FC236}">
                <a16:creationId xmlns:a16="http://schemas.microsoft.com/office/drawing/2014/main" id="{C22DE885-2561-4B90-86C6-0731DF10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93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Graphic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d09d944af411d">
            <a:extLst>
              <a:ext uri="{96DAC541-7B7A-43D3-8B79-37D633B846F1}">
                <asvg:svgBlip xmlns:asvg="http://schemas.microsoft.com/office/drawing/2016/SVG/main" r:embed="Rf31947ee8b9447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105963"/>
            <a:ext cx="4552950" cy="626774"/>
          </a:xfrm>
          <a:prstGeom xmlns:a="http://schemas.openxmlformats.org/drawingml/2006/main" prst="rect">
            <a:avLst/>
          </a:prstGeom>
        </p:spPr>
      </p:pic>
      <p:sp>
        <p:nvSpPr>
          <p:cNvPr id="21" name="saving-def">
            <a:extLst xmlns:a="http://schemas.openxmlformats.org/drawingml/2006/main">
              <a:ext uri="{FF2B5EF4-FFF2-40B4-BE49-F238E27FC236}">
                <a16:creationId xmlns:a16="http://schemas.microsoft.com/office/drawing/2014/main" id="{4596C7A5-997E-40C4-B07F-83D1591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86125"/>
            <a:ext cx="4429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Δ</a:t>
            </a: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wealth: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observed change in asset holdings.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πᵃ_tWᵃ_g,t−1: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passive valuation gain.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Θ_g,t</a:t>
            </a: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active saving flow.</a:t>
            </a:r>
          </a:p>
        </p:txBody>
      </p:sp>
      <p:sp>
        <p:nvSpPr>
          <p:cNvPr id="22" name="valuation-data">
            <a:extLst xmlns:a="http://schemas.openxmlformats.org/drawingml/2006/main">
              <a:ext uri="{FF2B5EF4-FFF2-40B4-BE49-F238E27FC236}">
                <a16:creationId xmlns:a16="http://schemas.microsoft.com/office/drawing/2014/main" id="{BA91113A-0D0C-4EBF-8E95-03D008AD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429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DINA × B101: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wealth levels by group and asset.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JST / FA: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market returns and balance-sheet values.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Write-down data: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credit losses and defaults.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NIPA: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aggregate saving/income closure.</a:t>
            </a:r>
          </a:p>
        </p:txBody>
      </p:sp>
      <p:sp>
        <p:nvSpPr>
          <p:cNvPr id="23" name="wealth-rank">
            <a:extLst xmlns:a="http://schemas.openxmlformats.org/drawingml/2006/main">
              <a:ext uri="{FF2B5EF4-FFF2-40B4-BE49-F238E27FC236}">
                <a16:creationId xmlns:a16="http://schemas.microsoft.com/office/drawing/2014/main" id="{B96F0D30-6A1C-46A4-A24F-EA8FFBBB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Figure 5 baseline: groups ranked by wealth</a:t>
            </a:r>
          </a:p>
        </p:txBody>
      </p:sp>
    </p:spTree>
    <p:extLst>
      <p:ext uri="{BB962C8B-B14F-4D97-AF65-F5344CB8AC3E}">
        <p14:creationId xmlns:p14="http://schemas.microsoft.com/office/powerpoint/2010/main" val="2026081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FIGURE LINEAGE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Figures 1, 5, and 8 use different data branches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NETWORK AND SAVING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DEBT DISTRIBUTION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384b5df704e3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Pictur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384b5df704e3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figures share distributional inputs, but each one requires a different economic object and transformation chain.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July 2025 paper methods and project figure-lineage records.</a:t>
            </a:r>
          </a:p>
        </p:txBody>
      </p:sp>
      <p:sp>
        <p:nvSpPr>
          <p:cNvPr id="19" name="fig1-surface">
            <a:extLst xmlns:a="http://schemas.openxmlformats.org/drawingml/2006/main">
              <a:ext uri="{FF2B5EF4-FFF2-40B4-BE49-F238E27FC236}">
                <a16:creationId xmlns:a16="http://schemas.microsoft.com/office/drawing/2014/main" id="{CC4A62F3-960C-4A72-B5AE-4AF90E5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857750" cy="1143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ig1-number">
            <a:extLst xmlns:a="http://schemas.openxmlformats.org/drawingml/2006/main">
              <a:ext uri="{FF2B5EF4-FFF2-40B4-BE49-F238E27FC236}">
                <a16:creationId xmlns:a16="http://schemas.microsoft.com/office/drawing/2014/main" id="{1E4984C9-8432-4699-89D6-2B7B9A0E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fig1-title">
            <a:extLst xmlns:a="http://schemas.openxmlformats.org/drawingml/2006/main">
              <a:ext uri="{FF2B5EF4-FFF2-40B4-BE49-F238E27FC236}">
                <a16:creationId xmlns:a16="http://schemas.microsoft.com/office/drawing/2014/main" id="{801A444E-C815-435D-8C71-7EBB2CD9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Figure 1 · indirect ownership</a:t>
            </a:r>
          </a:p>
        </p:txBody>
      </p:sp>
      <p:sp>
        <p:nvSpPr>
          <p:cNvPr id="22" name="fig1-detail">
            <a:extLst xmlns:a="http://schemas.openxmlformats.org/drawingml/2006/main">
              <a:ext uri="{FF2B5EF4-FFF2-40B4-BE49-F238E27FC236}">
                <a16:creationId xmlns:a16="http://schemas.microsoft.com/office/drawing/2014/main" id="{A78F95EE-DCA4-45F8-B1CC-1C291EA0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405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FA/FWTW matrices → normalize → unveil.</a:t>
            </a:r>
          </a:p>
        </p:txBody>
      </p:sp>
      <p:sp>
        <p:nvSpPr>
          <p:cNvPr id="23" name="fig5-surface">
            <a:extLst xmlns:a="http://schemas.openxmlformats.org/drawingml/2006/main">
              <a:ext uri="{FF2B5EF4-FFF2-40B4-BE49-F238E27FC236}">
                <a16:creationId xmlns:a16="http://schemas.microsoft.com/office/drawing/2014/main" id="{36385974-C805-4315-830E-320C4545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857750" cy="1143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fig5-number">
            <a:extLst xmlns:a="http://schemas.openxmlformats.org/drawingml/2006/main">
              <a:ext uri="{FF2B5EF4-FFF2-40B4-BE49-F238E27FC236}">
                <a16:creationId xmlns:a16="http://schemas.microsoft.com/office/drawing/2014/main" id="{DE14F88B-4290-469F-8058-F2EFD62E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fig5-title">
            <a:extLst xmlns:a="http://schemas.openxmlformats.org/drawingml/2006/main">
              <a:ext uri="{FF2B5EF4-FFF2-40B4-BE49-F238E27FC236}">
                <a16:creationId xmlns:a16="http://schemas.microsoft.com/office/drawing/2014/main" id="{C752629A-087D-4929-B554-246443FB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7660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Figure 5 · saving glut</a:t>
            </a:r>
          </a:p>
        </p:txBody>
      </p:sp>
      <p:sp>
        <p:nvSpPr>
          <p:cNvPr id="26" name="fig5-detail">
            <a:extLst xmlns:a="http://schemas.openxmlformats.org/drawingml/2006/main">
              <a:ext uri="{FF2B5EF4-FFF2-40B4-BE49-F238E27FC236}">
                <a16:creationId xmlns:a16="http://schemas.microsoft.com/office/drawing/2014/main" id="{DC919614-88FE-4EB4-904F-98B722F3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71875"/>
            <a:ext cx="405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DINA × B101 + valuations + NIPA closure.</a:t>
            </a:r>
          </a:p>
        </p:txBody>
      </p:sp>
      <p:sp>
        <p:nvSpPr>
          <p:cNvPr id="27" name="fig8-surface">
            <a:extLst xmlns:a="http://schemas.openxmlformats.org/drawingml/2006/main">
              <a:ext uri="{FF2B5EF4-FFF2-40B4-BE49-F238E27FC236}">
                <a16:creationId xmlns:a16="http://schemas.microsoft.com/office/drawing/2014/main" id="{E49DB955-50E3-434E-B1AA-F134DCFA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429125" cy="13335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fig8-number">
            <a:extLst xmlns:a="http://schemas.openxmlformats.org/drawingml/2006/main">
              <a:ext uri="{FF2B5EF4-FFF2-40B4-BE49-F238E27FC236}">
                <a16:creationId xmlns:a16="http://schemas.microsoft.com/office/drawing/2014/main" id="{09E476C5-BBF1-4C22-B3E7-6B5D53E4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9" name="fig8-title">
            <a:extLst xmlns:a="http://schemas.openxmlformats.org/drawingml/2006/main">
              <a:ext uri="{FF2B5EF4-FFF2-40B4-BE49-F238E27FC236}">
                <a16:creationId xmlns:a16="http://schemas.microsoft.com/office/drawing/2014/main" id="{3EB2AB8A-0F48-4626-816E-3E17A99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2410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Figure 8 · net household debt</a:t>
            </a:r>
          </a:p>
        </p:txBody>
      </p:sp>
      <p:sp>
        <p:nvSpPr>
          <p:cNvPr id="30" name="fig8-detail">
            <a:extLst xmlns:a="http://schemas.openxmlformats.org/drawingml/2006/main">
              <a:ext uri="{FF2B5EF4-FFF2-40B4-BE49-F238E27FC236}">
                <a16:creationId xmlns:a16="http://schemas.microsoft.com/office/drawing/2014/main" id="{4F3F5DE1-292A-48A8-B052-2F4E980C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19375"/>
            <a:ext cx="3629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Augmented ownership matrix + DINA liabilities.</a:t>
            </a:r>
          </a:p>
        </p:txBody>
      </p:sp>
      <p:sp>
        <p:nvSpPr>
          <p:cNvPr id="31" name="fig8-copy">
            <a:extLst xmlns:a="http://schemas.openxmlformats.org/drawingml/2006/main">
              <a:ext uri="{FF2B5EF4-FFF2-40B4-BE49-F238E27FC236}">
                <a16:creationId xmlns:a16="http://schemas.microsoft.com/office/drawing/2014/main" id="{D871D0CB-3322-4518-8C61-24FE3D8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57625"/>
            <a:ext cx="3952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This branch needs both the financial-network allocation and group-specific balance-sheet liabilities.</a:t>
            </a:r>
          </a:p>
        </p:txBody>
      </p:sp>
    </p:spTree>
    <p:extLst>
      <p:ext uri="{BB962C8B-B14F-4D97-AF65-F5344CB8AC3E}">
        <p14:creationId xmlns:p14="http://schemas.microsoft.com/office/powerpoint/2010/main" val="2026081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DATA-VINTAGE BOUNDARY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Three vintages expose different network objects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INPUT INVENTORY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WHAT WE CAN CLAIM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be9e60dc2431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be9e60dc2431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feasible rerun is mixed-source: current public network plus 2021 distributional inputs. It tests the 2025 method, not the authors’ exact values.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2025 paper; Federal Reserve FWTW release and announcements; 2021-kit audit.</a:t>
            </a:r>
          </a:p>
        </p:txBody>
      </p:sp>
      <p:sp>
        <p:nvSpPr>
          <p:cNvPr id="19" name="layer1-surface">
            <a:extLst xmlns:a="http://schemas.openxmlformats.org/drawingml/2006/main">
              <a:ext uri="{FF2B5EF4-FFF2-40B4-BE49-F238E27FC236}">
                <a16:creationId xmlns:a16="http://schemas.microsoft.com/office/drawing/2014/main" id="{BA57D17F-E44A-49B6-9DAF-4598488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layer1-number">
            <a:extLst xmlns:a="http://schemas.openxmlformats.org/drawingml/2006/main">
              <a:ext uri="{FF2B5EF4-FFF2-40B4-BE49-F238E27FC236}">
                <a16:creationId xmlns:a16="http://schemas.microsoft.com/office/drawing/2014/main" id="{A8ADF87B-988A-4262-837D-196D3828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layer1-title">
            <a:extLst xmlns:a="http://schemas.openxmlformats.org/drawingml/2006/main">
              <a:ext uri="{FF2B5EF4-FFF2-40B4-BE49-F238E27FC236}">
                <a16:creationId xmlns:a16="http://schemas.microsoft.com/office/drawing/2014/main" id="{6C6F53A0-E299-4A88-A374-4000D19E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9070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2021 package</a:t>
            </a:r>
          </a:p>
        </p:txBody>
      </p:sp>
      <p:sp>
        <p:nvSpPr>
          <p:cNvPr id="22" name="layer1-detail">
            <a:extLst xmlns:a="http://schemas.openxmlformats.org/drawingml/2006/main">
              <a:ext uri="{FF2B5EF4-FFF2-40B4-BE49-F238E27FC236}">
                <a16:creationId xmlns:a16="http://schemas.microsoft.com/office/drawing/2014/main" id="{D2CAFCFF-51E3-418E-9F2E-FFBC7E5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859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93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DINA/NIPA and old FA preparation to 2016; seven-stage routing; no Batty completion.</a:t>
            </a:r>
          </a:p>
        </p:txBody>
      </p:sp>
      <p:sp>
        <p:nvSpPr>
          <p:cNvPr id="23" name="layer2-surface">
            <a:extLst xmlns:a="http://schemas.openxmlformats.org/drawingml/2006/main">
              <a:ext uri="{FF2B5EF4-FFF2-40B4-BE49-F238E27FC236}">
                <a16:creationId xmlns:a16="http://schemas.microsoft.com/office/drawing/2014/main" id="{D33A75BB-AC53-46CB-A836-42B2C2C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layer2-number">
            <a:extLst xmlns:a="http://schemas.openxmlformats.org/drawingml/2006/main">
              <a:ext uri="{FF2B5EF4-FFF2-40B4-BE49-F238E27FC236}">
                <a16:creationId xmlns:a16="http://schemas.microsoft.com/office/drawing/2014/main" id="{81DA5561-0D65-4639-9099-8429F0D4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5" name="layer2-title">
            <a:extLst xmlns:a="http://schemas.openxmlformats.org/drawingml/2006/main">
              <a:ext uri="{FF2B5EF4-FFF2-40B4-BE49-F238E27FC236}">
                <a16:creationId xmlns:a16="http://schemas.microsoft.com/office/drawing/2014/main" id="{0A8C9545-7BDB-4E3B-9FB8-D039237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2025 target</a:t>
            </a:r>
          </a:p>
        </p:txBody>
      </p:sp>
      <p:sp>
        <p:nvSpPr>
          <p:cNvPr id="26" name="layer2-detail">
            <a:extLst xmlns:a="http://schemas.openxmlformats.org/drawingml/2006/main">
              <a:ext uri="{FF2B5EF4-FFF2-40B4-BE49-F238E27FC236}">
                <a16:creationId xmlns:a16="http://schemas.microsoft.com/office/drawing/2014/main" id="{976A2DC8-0015-4F11-B9F7-E4D5CA2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93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34 instruments; 23 intermediaries + 4 owners; authors’ Batty-based equity extension; to 2019.</a:t>
            </a:r>
          </a:p>
        </p:txBody>
      </p:sp>
      <p:sp>
        <p:nvSpPr>
          <p:cNvPr id="27" name="layer3-surface">
            <a:extLst xmlns:a="http://schemas.openxmlformats.org/drawingml/2006/main">
              <a:ext uri="{FF2B5EF4-FFF2-40B4-BE49-F238E27FC236}">
                <a16:creationId xmlns:a16="http://schemas.microsoft.com/office/drawing/2014/main" id="{21489112-9F9B-463D-A853-A94C5C83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layer3-number">
            <a:extLst xmlns:a="http://schemas.openxmlformats.org/drawingml/2006/main">
              <a:ext uri="{FF2B5EF4-FFF2-40B4-BE49-F238E27FC236}">
                <a16:creationId xmlns:a16="http://schemas.microsoft.com/office/drawing/2014/main" id="{61CE2F72-C904-4258-BD1C-4B69D5BA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layer3-title">
            <a:extLst xmlns:a="http://schemas.openxmlformats.org/drawingml/2006/main">
              <a:ext uri="{FF2B5EF4-FFF2-40B4-BE49-F238E27FC236}">
                <a16:creationId xmlns:a16="http://schemas.microsoft.com/office/drawing/2014/main" id="{FEDD66DC-D7FD-403C-B34B-110BFD63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Feasible public rerun</a:t>
            </a:r>
          </a:p>
        </p:txBody>
      </p:sp>
      <p:sp>
        <p:nvSpPr>
          <p:cNvPr id="30" name="layer3-detail">
            <a:extLst xmlns:a="http://schemas.openxmlformats.org/drawingml/2006/main">
              <a:ext uri="{FF2B5EF4-FFF2-40B4-BE49-F238E27FC236}">
                <a16:creationId xmlns:a16="http://schemas.microsoft.com/office/drawing/2014/main" id="{1E1CD187-EE9F-44D3-821B-3A6E57B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938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Current completed FWTW: 31 instruments and 25 substantive sectors; pair with 2021 DINA/NIPA.</a:t>
            </a:r>
          </a:p>
        </p:txBody>
      </p:sp>
      <p:sp>
        <p:nvSpPr>
          <p:cNvPr id="31" name="raw-immutable-badge">
            <a:extLst xmlns:a="http://schemas.openxmlformats.org/drawingml/2006/main">
              <a:ext uri="{FF2B5EF4-FFF2-40B4-BE49-F238E27FC236}">
                <a16:creationId xmlns:a16="http://schemas.microsoft.com/office/drawing/2014/main" id="{0B0A0500-0C36-44BC-8962-F09A636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2000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 REPLICATION</a:t>
            </a:r>
          </a:p>
        </p:txBody>
      </p:sp>
      <p:sp>
        <p:nvSpPr>
          <p:cNvPr id="32" name="storage-list">
            <a:extLst xmlns:a="http://schemas.openxmlformats.org/drawingml/2006/main">
              <a:ext uri="{FF2B5EF4-FFF2-40B4-BE49-F238E27FC236}">
                <a16:creationId xmlns:a16="http://schemas.microsoft.com/office/drawing/2014/main" id="{8D1E82F5-4CAD-4A1A-B5E6-F4AD3A9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429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• Complete instrument-level dollar matrices.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• Row-normalize direct ownership.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• Add DINA wealth-group columns.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• Apply the full Leontief solve.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• Report taxonomy and end-year gaps.</a:t>
            </a:r>
          </a:p>
        </p:txBody>
      </p:sp>
    </p:spTree>
    <p:extLst>
      <p:ext uri="{BB962C8B-B14F-4D97-AF65-F5344CB8AC3E}">
        <p14:creationId xmlns:p14="http://schemas.microsoft.com/office/powerpoint/2010/main" val="2026081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REPLICATION STRATEGY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Use the earliest source that identifies each object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THREE EVIDENCE LAYERS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STORAGE POLICY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747fe9f24f59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747fe9f24f59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Old-kit-only reconstruction is preferred when identified; the FWTW network requires a documented public-data supplement.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replication protocol; Figure 1 and Figure 8 data contracts.</a:t>
            </a:r>
          </a:p>
        </p:txBody>
      </p:sp>
      <p:sp>
        <p:nvSpPr>
          <p:cNvPr id="19" name="layer1-surface">
            <a:extLst xmlns:a="http://schemas.openxmlformats.org/drawingml/2006/main">
              <a:ext uri="{FF2B5EF4-FFF2-40B4-BE49-F238E27FC236}">
                <a16:creationId xmlns:a16="http://schemas.microsoft.com/office/drawing/2014/main" id="{BA57D17F-E44A-49B6-9DAF-4598488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layer1-number">
            <a:extLst xmlns:a="http://schemas.openxmlformats.org/drawingml/2006/main">
              <a:ext uri="{FF2B5EF4-FFF2-40B4-BE49-F238E27FC236}">
                <a16:creationId xmlns:a16="http://schemas.microsoft.com/office/drawing/2014/main" id="{A8ADF87B-988A-4262-837D-196D3828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layer1-title">
            <a:extLst xmlns:a="http://schemas.openxmlformats.org/drawingml/2006/main">
              <a:ext uri="{FF2B5EF4-FFF2-40B4-BE49-F238E27FC236}">
                <a16:creationId xmlns:a16="http://schemas.microsoft.com/office/drawing/2014/main" id="{6C6F53A0-E299-4A88-A374-4000D19E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9070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Benchmark</a:t>
            </a:r>
          </a:p>
        </p:txBody>
      </p:sp>
      <p:sp>
        <p:nvSpPr>
          <p:cNvPr id="22" name="layer1-detail">
            <a:extLst xmlns:a="http://schemas.openxmlformats.org/drawingml/2006/main">
              <a:ext uri="{FF2B5EF4-FFF2-40B4-BE49-F238E27FC236}">
                <a16:creationId xmlns:a16="http://schemas.microsoft.com/office/drawing/2014/main" id="{D2CAFCFF-51E3-418E-9F2E-FFBC7E5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859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Regenerate authors’ output for its own vintage.</a:t>
            </a:r>
          </a:p>
        </p:txBody>
      </p:sp>
      <p:sp>
        <p:nvSpPr>
          <p:cNvPr id="23" name="layer2-surface">
            <a:extLst xmlns:a="http://schemas.openxmlformats.org/drawingml/2006/main">
              <a:ext uri="{FF2B5EF4-FFF2-40B4-BE49-F238E27FC236}">
                <a16:creationId xmlns:a16="http://schemas.microsoft.com/office/drawing/2014/main" id="{D33A75BB-AC53-46CB-A836-42B2C2C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layer2-number">
            <a:extLst xmlns:a="http://schemas.openxmlformats.org/drawingml/2006/main">
              <a:ext uri="{FF2B5EF4-FFF2-40B4-BE49-F238E27FC236}">
                <a16:creationId xmlns:a16="http://schemas.microsoft.com/office/drawing/2014/main" id="{81DA5561-0D65-4639-9099-8429F0D4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5" name="layer2-title">
            <a:extLst xmlns:a="http://schemas.openxmlformats.org/drawingml/2006/main">
              <a:ext uri="{FF2B5EF4-FFF2-40B4-BE49-F238E27FC236}">
                <a16:creationId xmlns:a16="http://schemas.microsoft.com/office/drawing/2014/main" id="{0A8C9545-7BDB-4E3B-9FB8-D039237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Reconstruction</a:t>
            </a:r>
          </a:p>
        </p:txBody>
      </p:sp>
      <p:sp>
        <p:nvSpPr>
          <p:cNvPr id="26" name="layer2-detail">
            <a:extLst xmlns:a="http://schemas.openxmlformats.org/drawingml/2006/main">
              <a:ext uri="{FF2B5EF4-FFF2-40B4-BE49-F238E27FC236}">
                <a16:creationId xmlns:a16="http://schemas.microsoft.com/office/drawing/2014/main" id="{976A2DC8-0015-4F11-B9F7-E4D5CA2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Use the earliest input that identifies the target object.</a:t>
            </a:r>
          </a:p>
        </p:txBody>
      </p:sp>
      <p:sp>
        <p:nvSpPr>
          <p:cNvPr id="27" name="layer3-surface">
            <a:extLst xmlns:a="http://schemas.openxmlformats.org/drawingml/2006/main">
              <a:ext uri="{FF2B5EF4-FFF2-40B4-BE49-F238E27FC236}">
                <a16:creationId xmlns:a16="http://schemas.microsoft.com/office/drawing/2014/main" id="{21489112-9F9B-463D-A853-A94C5C83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857750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layer3-number">
            <a:extLst xmlns:a="http://schemas.openxmlformats.org/drawingml/2006/main">
              <a:ext uri="{FF2B5EF4-FFF2-40B4-BE49-F238E27FC236}">
                <a16:creationId xmlns:a16="http://schemas.microsoft.com/office/drawing/2014/main" id="{61CE2F72-C904-4258-BD1C-4B69D5BA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layer3-title">
            <a:extLst xmlns:a="http://schemas.openxmlformats.org/drawingml/2006/main">
              <a:ext uri="{FF2B5EF4-FFF2-40B4-BE49-F238E27FC236}">
                <a16:creationId xmlns:a16="http://schemas.microsoft.com/office/drawing/2014/main" id="{FEDD66DC-D7FD-403C-B34B-110BFD63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Robustness</a:t>
            </a:r>
          </a:p>
        </p:txBody>
      </p:sp>
      <p:sp>
        <p:nvSpPr>
          <p:cNvPr id="30" name="layer3-detail">
            <a:extLst xmlns:a="http://schemas.openxmlformats.org/drawingml/2006/main">
              <a:ext uri="{FF2B5EF4-FFF2-40B4-BE49-F238E27FC236}">
                <a16:creationId xmlns:a16="http://schemas.microsoft.com/office/drawing/2014/main" id="{1E1CD187-EE9F-44D3-821B-3A6E57B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Change vintage or taxonomy only with an explicit label.</a:t>
            </a:r>
          </a:p>
        </p:txBody>
      </p:sp>
      <p:sp>
        <p:nvSpPr>
          <p:cNvPr id="31" name="raw-immutable-badge">
            <a:extLst xmlns:a="http://schemas.openxmlformats.org/drawingml/2006/main">
              <a:ext uri="{FF2B5EF4-FFF2-40B4-BE49-F238E27FC236}">
                <a16:creationId xmlns:a16="http://schemas.microsoft.com/office/drawing/2014/main" id="{0B0A0500-0C36-44BC-8962-F09A636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2000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RAW STAYS IMMUTABLE</a:t>
            </a:r>
          </a:p>
        </p:txBody>
      </p:sp>
      <p:sp>
        <p:nvSpPr>
          <p:cNvPr id="32" name="storage-list">
            <a:extLst xmlns:a="http://schemas.openxmlformats.org/drawingml/2006/main">
              <a:ext uri="{FF2B5EF4-FFF2-40B4-BE49-F238E27FC236}">
                <a16:creationId xmlns:a16="http://schemas.microsoft.com/office/drawing/2014/main" id="{8D1E82F5-4CAD-4A1A-B5E6-F4AD3A90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429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Symlink the authors' raw-data location if needed.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Do not duplicate large raw sources.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Save only documented interim data that materially speeds reruns.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Always retain compact final matrices, figures, and diagnostics.</a:t>
            </a:r>
          </a:p>
        </p:txBody>
      </p:sp>
    </p:spTree>
    <p:extLst>
      <p:ext uri="{BB962C8B-B14F-4D97-AF65-F5344CB8AC3E}">
        <p14:creationId xmlns:p14="http://schemas.microsoft.com/office/powerpoint/2010/main" val="20260813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Our old-input reconstruction tracks the 2025 Figure 1 pattern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Figure 1 · PDF p. 11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implementation · 2021 authors' inputs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LEVEL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national-income-normalized level has correlation 0.995 and MAE 5.3 pp against the digitized 2025 curve over 1963-2016.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The paper caption is removed from the image and restated here: the lines report the stock-to-income level and household-financial-asset share held indirectly.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4ca27fa634745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de287bf6842a1"/>
          <a:stretch xmlns:a="http://schemas.openxmlformats.org/drawingml/2006/main"/>
        </p:blipFill>
        <p:spPr>
          <a:xfrm xmlns:a="http://schemas.openxmlformats.org/drawingml/2006/main">
            <a:off x="6400802" y="1776603"/>
            <a:ext cx="5257795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13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5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older inputs reproduce the saving divergence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ratio axis (0.10 = 10 pp)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reconstruction · percentage-point axis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HIGH-FIDELITY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Top 1% / bottom 99% correlations: 0.992 / 0.997; MAE: 0.40 / 0.42 pp.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2016 shifts: ours +3.25 / -7.11 pp; digitized paper +4.35 / -8.46 pp. Paper image excludes its printed caption.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260786a8e4062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81ded049c4d16"/>
          <a:stretch xmlns:a="http://schemas.openxmlformats.org/drawingml/2006/main"/>
        </p:blipFill>
        <p:spPr>
          <a:xfrm xmlns:a="http://schemas.openxmlformats.org/drawingml/2006/main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13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FEASIBILITY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exact 2025 vintage is missing—not the method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15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Target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2025 Figure 8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Net household debt by wealth group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Exact-vintage gap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Authors’ completed matrices, equity split, and exact crosswalk are not in the 2021 kit.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Available now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Public completed FWTW plus 2021 DINA/NIPA support a full-Leontief mixed-vintage rerun.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Current graph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Still uses seven-round debt assets with the 2025 group, sign, scale, and base.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Classification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Current plotted result: proxy. Planned public-FWTW rerun: method reconstruction with explicit vintage/taxonomy caveats.</a:t>
            </a:r>
          </a:p>
        </p:txBody>
      </p:sp>
    </p:spTree>
    <p:extLst>
      <p:ext uri="{BB962C8B-B14F-4D97-AF65-F5344CB8AC3E}">
        <p14:creationId xmlns:p14="http://schemas.microsoft.com/office/powerpoint/2010/main" val="2026081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proxy reproduces borrowing, but understates top-1 lending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ratio axis (0.10 = 10 pp)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proxy · percentage-point axis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PROXY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2007: bottom 99% -38.88 pp proxy vs -38.76 paper; top 1% +12.03 vs +18.02.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Correlations: 0.993 / 0.995 (top 1% / bottom 99%). Exact-vintage inputs are missing; public FWTW supports a separate method rerun.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ed7612ff949ca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99a5ccc374620"/>
          <a:stretch xmlns:a="http://schemas.openxmlformats.org/drawingml/2006/main"/>
        </p:blipFill>
        <p:spPr>
          <a:xfrm xmlns:a="http://schemas.openxmlformats.org/drawingml/2006/main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13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REPLICATION SYNTHESIS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Two reconstructions and one bounded proxy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17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Conclusion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What did the available package let us test?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Figure 1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Close stock reconstruction; the indirect-share denominator remains version-specific.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Figure 5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High-fidelity saving-flow reconstruction through 2016.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Figure 8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Current proxy matches the direction; exact revised matrices and vintage are unavailable.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Main lesson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2021 inputs identify the revised Figure 1 and Figure 5 objects far enough upstream for reconstruction. Figure 8 remains a seven-round proxy; public FWTW defines a future mixed-vintage method test, not an exact replication.</a:t>
            </a:r>
          </a:p>
        </p:txBody>
      </p:sp>
    </p:spTree>
    <p:extLst>
      <p:ext uri="{BB962C8B-B14F-4D97-AF65-F5344CB8AC3E}">
        <p14:creationId xmlns:p14="http://schemas.microsoft.com/office/powerpoint/2010/main" val="2026081317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2026-08-13T11:01:56.1320000Z</dcterms:created>
  <dcterms:modified xsi:type="dcterms:W3CDTF">2026-08-13T11:01:56.1320000Z</dcterms:modified>
</coreProperties>
</file>
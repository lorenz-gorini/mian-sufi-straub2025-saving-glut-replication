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55635cc2814f1f" /><Relationship Type="http://schemas.openxmlformats.org/officeDocument/2006/relationships/extended-properties" Target="/docProps/app.xml" Id="Rccc61fdb6aeb4b88" /><Relationship Type="http://schemas.openxmlformats.org/officeDocument/2006/relationships/officeDocument" Target="/ppt/presentation.xml" Id="R4d84b3e45deb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015c513ec34512"/>
  </p:sldMasterIdLst>
  <p:notesMasterIdLst>
    <p:notesMasterId xmlns:r="http://schemas.openxmlformats.org/officeDocument/2006/relationships" r:id="R6889059672c0405d"/>
  </p:notesMasterIdLst>
  <p:sldIdLst>
    <p:sldId xmlns:r="http://schemas.openxmlformats.org/officeDocument/2006/relationships" id="256" r:id="R57a14251982141f6"/>
    <p:sldId xmlns:r="http://schemas.openxmlformats.org/officeDocument/2006/relationships" id="257" r:id="Ra62edee50754483f"/>
    <p:sldId xmlns:r="http://schemas.openxmlformats.org/officeDocument/2006/relationships" id="258" r:id="Rc0ff0e6c97d54fa1"/>
    <p:sldId xmlns:r="http://schemas.openxmlformats.org/officeDocument/2006/relationships" id="259" r:id="R0e046be2539547ad"/>
    <p:sldId xmlns:r="http://schemas.openxmlformats.org/officeDocument/2006/relationships" id="260" r:id="Reb66c3bbf45b4ca8"/>
    <p:sldId xmlns:r="http://schemas.openxmlformats.org/officeDocument/2006/relationships" id="261" r:id="R48a21265e1e64f2b"/>
    <p:sldId xmlns:r="http://schemas.openxmlformats.org/officeDocument/2006/relationships" id="262" r:id="R284a9185fa2248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4a16d46b0b4ab9" /><Relationship Type="http://schemas.openxmlformats.org/officeDocument/2006/relationships/slideMaster" Target="/ppt/slideMasters/slideMaster1.xml" Id="Rc0015c513ec34512" /><Relationship Type="http://schemas.openxmlformats.org/officeDocument/2006/relationships/notesMaster" Target="/ppt/notesMasters/notesMaster1.xml" Id="R6889059672c0405d" /><Relationship Type="http://schemas.openxmlformats.org/officeDocument/2006/relationships/presProps" Target="/ppt/presProps.xml" Id="R00e3aa40b2fa496f" /><Relationship Type="http://schemas.openxmlformats.org/officeDocument/2006/relationships/tableStyles" Target="/ppt/tableStyles.xml" Id="R913a9a8868b94e1f" /><Relationship Type="http://schemas.openxmlformats.org/officeDocument/2006/relationships/slide" Target="/ppt/slides/slide1.xml" Id="R57a14251982141f6" /><Relationship Type="http://schemas.openxmlformats.org/officeDocument/2006/relationships/slide" Target="/ppt/slides/slide2.xml" Id="Ra62edee50754483f" /><Relationship Type="http://schemas.openxmlformats.org/officeDocument/2006/relationships/slide" Target="/ppt/slides/slide3.xml" Id="Rc0ff0e6c97d54fa1" /><Relationship Type="http://schemas.openxmlformats.org/officeDocument/2006/relationships/slide" Target="/ppt/slides/slide4.xml" Id="R0e046be2539547ad" /><Relationship Type="http://schemas.openxmlformats.org/officeDocument/2006/relationships/slide" Target="/ppt/slides/slide5.xml" Id="Reb66c3bbf45b4ca8" /><Relationship Type="http://schemas.openxmlformats.org/officeDocument/2006/relationships/slide" Target="/ppt/slides/slide6.xml" Id="R48a21265e1e64f2b" /><Relationship Type="http://schemas.openxmlformats.org/officeDocument/2006/relationships/slide" Target="/ppt/slides/slide7.xml" Id="R284a9185fa2248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33cf31870647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f110d56334aa5" /><Relationship Type="http://schemas.openxmlformats.org/officeDocument/2006/relationships/notesMaster" Target="/ppt/notesMasters/notesMaster1.xml" Id="R67d0b89eb3924f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b4e3f4e914146" /><Relationship Type="http://schemas.openxmlformats.org/officeDocument/2006/relationships/notesMaster" Target="/ppt/notesMasters/notesMaster1.xml" Id="R1bb0b655b1bb4b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65ac27c1914a9d" /><Relationship Type="http://schemas.openxmlformats.org/officeDocument/2006/relationships/notesMaster" Target="/ppt/notesMasters/notesMaster1.xml" Id="Ra62d95ddeb0c4c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280e373efe4a47" /><Relationship Type="http://schemas.openxmlformats.org/officeDocument/2006/relationships/notesMaster" Target="/ppt/notesMasters/notesMaster1.xml" Id="R036ba6e63ef64e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03bedb40684b38" /><Relationship Type="http://schemas.openxmlformats.org/officeDocument/2006/relationships/notesMaster" Target="/ppt/notesMasters/notesMaster1.xml" Id="Rc1945cd30f674a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ef40d74c3943d8" /><Relationship Type="http://schemas.openxmlformats.org/officeDocument/2006/relationships/notesMaster" Target="/ppt/notesMasters/notesMaster1.xml" Id="R23a65d444a9540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69a20b35b346ee" /><Relationship Type="http://schemas.openxmlformats.org/officeDocument/2006/relationships/notesMaster" Target="/ppt/notesMasters/notesMaster1.xml" Id="R19b32f0df39f4f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Figures 1, 5, 6, and 8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docs/project/tasks/figure5-replication.md</a:t>
            </a:r>
          </a:p>
          <a:p xmlns:a="http://schemas.openxmlformats.org/drawingml/2006/main">
            <a:r>
              <a:t>- docs/project/tasks/figure6-replication.md</a:t>
            </a:r>
          </a:p>
          <a:p xmlns:a="http://schemas.openxmlformats.org/drawingml/2006/main">
            <a:r>
              <a:t>- docs/project/tasks/figure8-replication.md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Figures 1, 5, 6, and 8</a:t>
            </a:r>
          </a:p>
          <a:p xmlns:a="http://schemas.openxmlformats.org/drawingml/2006/main">
            <a:r>
              <a:t>- docs/project/tasks/result-selection.md</a:t>
            </a:r>
          </a:p>
          <a:p xmlns:a="http://schemas.openxmlformats.org/drawingml/2006/main">
            <a:r>
              <a:t>- docs/project/tasks/figure8-replication.md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1, physical PDF page 11; chart cropped without caption</a:t>
            </a:r>
          </a:p>
          <a:p xmlns:a="http://schemas.openxmlformats.org/drawingml/2006/main">
            <a:r>
              <a:t>- Results_Proposal/figures/figure1_authors_data_reconstruction.png</a:t>
            </a:r>
          </a:p>
          <a:p xmlns:a="http://schemas.openxmlformats.org/drawingml/2006/main">
            <a:r>
              <a:t>- Data/processed/figure1_authors_comparison.csv</a:t>
            </a:r>
          </a:p>
          <a:p xmlns:a="http://schemas.openxmlformats.org/drawingml/2006/main">
            <a:r>
              <a:t>- docs/project/tasks/figure1-replication.md, Evidence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5, physical PDF page 22; embedded chart extracted without caption</a:t>
            </a:r>
          </a:p>
          <a:p xmlns:a="http://schemas.openxmlformats.org/drawingml/2006/main">
            <a:r>
              <a:t>- Results_Proposal/figures/figure5_authors_data_reconstruction.png</a:t>
            </a:r>
          </a:p>
          <a:p xmlns:a="http://schemas.openxmlformats.org/drawingml/2006/main">
            <a:r>
              <a:t>- Data/processed/figure5_authors_comparison.csv</a:t>
            </a:r>
          </a:p>
          <a:p xmlns:a="http://schemas.openxmlformats.org/drawingml/2006/main">
            <a:r>
              <a:t>- docs/project/tasks/figure5-replication.md, Verification and result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6, physical PDF page 24; embedded chart extracted without caption</a:t>
            </a:r>
          </a:p>
          <a:p xmlns:a="http://schemas.openxmlformats.org/drawingml/2006/main">
            <a:r>
              <a:t>- Results_Proposal/figures/figure6_authors_data_percentiles.png</a:t>
            </a:r>
          </a:p>
          <a:p xmlns:a="http://schemas.openxmlformats.org/drawingml/2006/main">
            <a:r>
              <a:t>- Data/processed/figure6_authors_comparison.csv</a:t>
            </a:r>
          </a:p>
          <a:p xmlns:a="http://schemas.openxmlformats.org/drawingml/2006/main">
            <a:r>
              <a:t>- Data/processed/figure6_digitization_audit.csv</a:t>
            </a:r>
          </a:p>
          <a:p xmlns:a="http://schemas.openxmlformats.org/drawingml/2006/main">
            <a:r>
              <a:t>- docs/project/tasks/figure6-replication.md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MSS_SGR_July242025.pdf, Figure 8, physical PDF page 29</a:t>
            </a:r>
          </a:p>
          <a:p xmlns:a="http://schemas.openxmlformats.org/drawingml/2006/main">
            <a:r>
              <a:t>- Results_Proposal/figures/figure8_2021_direct_full_leontief.png</a:t>
            </a:r>
          </a:p>
          <a:p xmlns:a="http://schemas.openxmlformats.org/drawingml/2006/main">
            <a:r>
              <a:t>- Data/processed/figure8_method_comparison.csv</a:t>
            </a:r>
          </a:p>
          <a:p xmlns:a="http://schemas.openxmlformats.org/drawingml/2006/main">
            <a:r>
              <a:t>- Data/processed/figure8_method_comparison_metrics.csv</a:t>
            </a:r>
          </a:p>
          <a:p xmlns:a="http://schemas.openxmlformats.org/drawingml/2006/main">
            <a:r>
              <a:t>- docs/project/tasks/figure8-replication.md</a:t>
            </a:r>
          </a:p>
          <a:p xmlns:a="http://schemas.openxmlformats.org/drawingml/2006/main">
            <a:r>
              <a:t>- Code/scripts/build_figure8_2021_direct.py</a:t>
            </a:r>
          </a:p>
          <a:p xmlns:a="http://schemas.openxmlformats.org/drawingml/2006/main">
            <a:r>
              <a:t>- Code/scripts/build_figure8_method_comparison.py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Results_Proposal/major_results.md, R-001 to R-003</a:t>
            </a:r>
          </a:p>
          <a:p xmlns:a="http://schemas.openxmlformats.org/drawingml/2006/main">
            <a:r>
              <a:t>- docs/project/tasks/figure1-replication.md</a:t>
            </a:r>
          </a:p>
          <a:p xmlns:a="http://schemas.openxmlformats.org/drawingml/2006/main">
            <a:r>
              <a:t>- docs/project/tasks/figure5-replication.md</a:t>
            </a:r>
          </a:p>
          <a:p xmlns:a="http://schemas.openxmlformats.org/drawingml/2006/main">
            <a:r>
              <a:t>- docs/project/tasks/figure6-replication.md</a:t>
            </a:r>
          </a:p>
          <a:p xmlns:a="http://schemas.openxmlformats.org/drawingml/2006/main">
            <a:r>
              <a:t>- docs/project/tasks/figure8-replication.md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3564ef2d342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7073528cf84544" /><Relationship Type="http://schemas.openxmlformats.org/officeDocument/2006/relationships/slideLayout" Target="/ppt/slideLayouts/slideLayout1.xml" Id="R2cc22bb9fe144a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c22bb9fe144a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51e26335e4d27" /><Relationship Type="http://schemas.openxmlformats.org/officeDocument/2006/relationships/notesSlide" Target="/ppt/notesSlides/notesSlide1.xml" Id="R9c2b5f09d27548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a6e202d744a1c" /><Relationship Type="http://schemas.openxmlformats.org/officeDocument/2006/relationships/notesSlide" Target="/ppt/notesSlides/notesSlide2.xml" Id="R34cd5d6b743c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cc08891434682" /><Relationship Type="http://schemas.openxmlformats.org/officeDocument/2006/relationships/image" Target="/ppt/media/image.png" Id="R56b288aab73f415b" /><Relationship Type="http://schemas.openxmlformats.org/officeDocument/2006/relationships/image" Target="/ppt/media/image2.png" Id="R859e2710e2a0486f" /><Relationship Type="http://schemas.openxmlformats.org/officeDocument/2006/relationships/notesSlide" Target="/ppt/notesSlides/notesSlide3.xml" Id="R9adc8b687d9d45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1ac205bd64e54" /><Relationship Type="http://schemas.openxmlformats.org/officeDocument/2006/relationships/image" Target="/ppt/media/image3.png" Id="R2e1b7a107e314cec" /><Relationship Type="http://schemas.openxmlformats.org/officeDocument/2006/relationships/image" Target="/ppt/media/image4.png" Id="R86eea879648e4698" /><Relationship Type="http://schemas.openxmlformats.org/officeDocument/2006/relationships/notesSlide" Target="/ppt/notesSlides/notesSlide4.xml" Id="Rbfeb7e1903ca42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a911d83554a34" /><Relationship Type="http://schemas.openxmlformats.org/officeDocument/2006/relationships/image" Target="/ppt/media/image5.png" Id="R8c21c97da858401e" /><Relationship Type="http://schemas.openxmlformats.org/officeDocument/2006/relationships/image" Target="/ppt/media/image6.png" Id="R391dfeb463cd4eef" /><Relationship Type="http://schemas.openxmlformats.org/officeDocument/2006/relationships/notesSlide" Target="/ppt/notesSlides/notesSlide5.xml" Id="R233c3f6a48ac46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0628ff39c4136" /><Relationship Type="http://schemas.openxmlformats.org/officeDocument/2006/relationships/image" Target="/ppt/media/image7.png" Id="R13d9eabdf5854ada" /><Relationship Type="http://schemas.openxmlformats.org/officeDocument/2006/relationships/image" Target="/ppt/media/image8.png" Id="R24974bf460f24915" /><Relationship Type="http://schemas.openxmlformats.org/officeDocument/2006/relationships/notesSlide" Target="/ppt/notesSlides/notesSlide6.xml" Id="R0ce0753515c34f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1cc17aacc4afc" /><Relationship Type="http://schemas.openxmlformats.org/officeDocument/2006/relationships/notesSlide" Target="/ppt/notesSlides/notesSlide7.xml" Id="R4d01445275d647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69941DB9-9128-4CC6-96D4-76F2DED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E7C051A-E968-48D4-932F-BE04BBAA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65D16"/>
                </a:solidFill>
              </a:defRPr>
            </a:pPr>
            <a:r>
              <a:rPr sz="1275" b="1">
                <a:solidFill>
                  <a:srgbClr val="C65D16"/>
                </a:solidFill>
              </a:rPr>
              <a:t>CORE FIGURE COMPARISON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C12F6-118A-41FC-9B31-6EE8D81D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096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2A43"/>
                </a:solidFill>
              </a:defRPr>
            </a:pPr>
            <a:r>
              <a:rPr sz="3900" b="1">
                <a:solidFill>
                  <a:srgbClr val="102A43"/>
                </a:solidFill>
              </a:rPr>
              <a:t>Paper figures versus our implementations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69E33F4-CEE0-4100-92AF-B6E5F46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2025 target on the left; our common-sample reconstruction on the right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04EB5C43-CA63-49BC-BC30-BC9BE88C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C9C3AB10-5751-4F82-8A86-8D819F26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0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Figures 1, 5, and 6: 2025 definitions with 2021 authors-kit inputs</a:t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B87B36AA-45A7-426E-9A02-DB03462E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391AA843-EE9C-4B5B-9375-1CFEC09F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387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Figure 8: 2021 direct cells with the full Leontief inverse</a:t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086423BF-9FA1-4716-82E0-A79C2563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D98"/>
                </a:solidFill>
              </a:defRPr>
            </a:pPr>
            <a:r>
              <a:rPr sz="1125" b="0">
                <a:solidFill>
                  <a:srgbClr val="627D98"/>
                </a:solidFill>
              </a:rPr>
              <a:t>16 August 2026</a:t>
            </a:r>
          </a:p>
        </p:txBody>
      </p:sp>
    </p:spTree>
    <p:extLst>
      <p:ext uri="{BB962C8B-B14F-4D97-AF65-F5344CB8AC3E}">
        <p14:creationId xmlns:p14="http://schemas.microsoft.com/office/powerpoint/2010/main" val="17717655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COMPARISON CONTRACT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Each slide compares the paper directly with our implementation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02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2025 targets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Figures 1, 5, 6, and 8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Revised definitions through 2019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9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Figures 1, 5, and 6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Recompute the 2025 objects with February 2021 authors-kit inputs; the available series end in 2016.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Figure 8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Restart from saved direct cells and replace seven rounds with the full Leontief inverse.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Common comparison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Same target definition, common-period fit metrics, and an explicit vintage or matrix boundary.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Reading rule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left panel is the paper target and the right panel is our implementation. Supporting diagnostics live in their method or extension decks.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Our old-input reconstruction tracks the 2025 Figure 1 pattern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Figure 1 · PDF p. 11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implementation · 2021 authors' inputs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LEVEL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national-income-normalized level has correlation 0.995 and MAE 5.3 pp against the digitized 2025 curve over 1963-2016.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The paper caption is removed from the image and restated here: the lines report the stock-to-income level and household-financial-asset share held indirectly.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288aab73f415b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e2710e2a0486f"/>
          <a:stretch xmlns:a="http://schemas.openxmlformats.org/drawingml/2006/main"/>
        </p:blipFill>
        <p:spPr>
          <a:xfrm xmlns:a="http://schemas.openxmlformats.org/drawingml/2006/main">
            <a:off x="6400802" y="1776603"/>
            <a:ext cx="5257795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5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older inputs reproduce the saving divergence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ratio axis (0.10 = 10 pp)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reconstruction · percentage-point axis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HIGH-FIDELITY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Top 1% / bottom 99% correlations: 0.992 / 0.997; MAE: 0.40 / 0.42 pp.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2016 shifts: ours +3.25 / -7.11 pp; digitized paper +4.35 / -8.46 pp. Paper image excludes its printed caption.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b7a107e314cec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ea879648e4698"/>
          <a:stretch xmlns:a="http://schemas.openxmlformats.org/drawingml/2006/main"/>
        </p:blipFill>
        <p:spPr>
          <a:xfrm xmlns:a="http://schemas.openxmlformats.org/drawingml/2006/main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6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older inputs reproduce the cross-sectional saving pattern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1963–82 and 1983–2019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reconstruction · second period ends in 2016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CLOSE SHAPE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Correlations: 0.991 / 0.969; MAE: 1.46 / 1.22 pp.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Top 1%: ours 28.8%→36.2%; paper ≈43%→54%. The old inputs end in 2016, not 2019.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21c97da858401e"/>
          <a:stretch xmlns:a="http://schemas.openxmlformats.org/drawingml/2006/main"/>
        </p:blipFill>
        <p:spPr>
          <a:xfrm xmlns:a="http://schemas.openxmlformats.org/drawingml/2006/main" flipH="0" flipV="0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dfeb463cd4eef"/>
          <a:stretch xmlns:a="http://schemas.openxmlformats.org/drawingml/2006/main"/>
        </p:blipFill>
        <p:spPr>
          <a:xfrm xmlns:a="http://schemas.openxmlformats.org/drawingml/2006/main" flipH="0" flipV="0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A955CD9-B4EF-4E20-A3FC-1D7B4F5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FIGURE 8 PRIMARY COMPARISON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E8A36E9-77A3-4197-AAEB-944D96A2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The full inverse recovers the lender–borrower split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14C6BB1-D2D7-4502-B63E-CB46F522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46DD66-DAE1-4F4D-9638-E1108AC9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AC7EBFD9-49FB-40B3-B7BA-0564A41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E5B88"/>
                </a:solidFill>
              </a:defRPr>
            </a:pPr>
            <a:r>
              <a:rPr sz="1350" b="1">
                <a:solidFill>
                  <a:srgbClr val="2E5B88"/>
                </a:solidFill>
              </a:rPr>
              <a:t>2025 paper · ratio axis (0.10 = 10 pp)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D7EBD11C-5C33-487B-AFE7-65F7CD7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23950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5D16"/>
                </a:solidFill>
              </a:defRPr>
            </a:pPr>
            <a:r>
              <a:rPr sz="1350" b="1">
                <a:solidFill>
                  <a:srgbClr val="C65D16"/>
                </a:solidFill>
              </a:rPr>
              <a:t>Our implementation · 2021 direct cells + full Leontief</a:t>
            </a:r>
          </a:p>
        </p:txBody>
      </p:sp>
      <p:sp>
        <p:nvSpPr>
          <p:cNvPr id="7" name="Regenerated 2021 safe-asset demand figure-frame">
            <a:extLst xmlns:a="http://schemas.openxmlformats.org/drawingml/2006/main">
              <a:ext uri="{FF2B5EF4-FFF2-40B4-BE49-F238E27FC236}">
                <a16:creationId xmlns:a16="http://schemas.microsoft.com/office/drawing/2014/main" id="{1442A94D-98B9-4DC6-8E97-11AE6BD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9" name="2025 Figure 10 safe-asset demand-frame">
            <a:extLst xmlns:a="http://schemas.openxmlformats.org/drawingml/2006/main">
              <a:ext uri="{FF2B5EF4-FFF2-40B4-BE49-F238E27FC236}">
                <a16:creationId xmlns:a16="http://schemas.microsoft.com/office/drawing/2014/main" id="{98F7C92D-66A0-4F20-83BF-E349E5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638550"/>
          </a:xfrm>
          <a:prstGeom xmlns:a="http://schemas.openxmlformats.org/drawingml/2006/main" prst="roundRect">
            <a:avLst>
              <a:gd name="adj" fmla="val 10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8E0201B9-6249-4F69-8DD3-3C91F0A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1219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E6607933-8AC4-4796-94EB-F2FB6C08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DAEE4CAF-C158-4F1E-AF88-9B2A7277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2F855A"/>
                </a:solidFill>
              </a:rPr>
              <a:t>FULL-INVERSE MATCH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F5E1C807-0687-4A75-8864-0554846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340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Correlations: 0.994 / 0.995 (top 1% / bottom 99%); MAE: 2.33 / 1.31 pp.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9E94ECB7-8637-4F89-9ABB-1A8B2FEF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2007: top 1% +11.47 pp versus +18.02 paper; bottom 99% −41.03 pp versus −38.76 paper. Eight coarsened intermediary blocks; ends 2016.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9eabdf5854ada"/>
          <a:stretch xmlns:a="http://schemas.openxmlformats.org/drawingml/2006/main"/>
        </p:blipFill>
        <p:spPr>
          <a:xfrm xmlns:a="http://schemas.openxmlformats.org/drawingml/2006/main">
            <a:off x="632746" y="1552099"/>
            <a:ext cx="5059204" cy="3372802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74bf460f24915"/>
          <a:stretch xmlns:a="http://schemas.openxmlformats.org/drawingml/2006/main"/>
        </p:blipFill>
        <p:spPr>
          <a:xfrm xmlns:a="http://schemas.openxmlformats.org/drawingml/2006/main" flipH="0" flipV="0">
            <a:off x="6450393" y="1776603"/>
            <a:ext cx="5158614" cy="29236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0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4DBD74DF-ED28-4EE9-8535-9E366A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</a:defRPr>
            </a:pPr>
            <a:r>
              <a:rPr sz="1050" b="1">
                <a:solidFill>
                  <a:srgbClr val="C65D16"/>
                </a:solidFill>
              </a:rPr>
              <a:t>REPLICATION SYNTHESIS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994307-319F-4EAA-8D7C-9E832F74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All four comparisons recover the paper’s central patterns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304C898-8A92-4A39-A7EB-64A10035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4772364-3993-46C7-BB6A-7696849F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66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</a:defRPr>
            </a:pPr>
            <a:r>
              <a:rPr sz="1050" b="1">
                <a:solidFill>
                  <a:srgbClr val="627D98"/>
                </a:solidFill>
              </a:rPr>
              <a:t>07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1C4CBB66-390B-40CA-9A94-F3B655F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Conclusion</a:t>
            </a:r>
          </a:p>
        </p:txBody>
      </p:sp>
      <p:sp>
        <p:nvSpPr>
          <p:cNvPr id="6" name="question-body">
            <a:extLst xmlns:a="http://schemas.openxmlformats.org/drawingml/2006/main">
              <a:ext uri="{FF2B5EF4-FFF2-40B4-BE49-F238E27FC236}">
                <a16:creationId xmlns:a16="http://schemas.microsoft.com/office/drawing/2014/main" id="{C7924291-5CE5-45A7-9502-25780E87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381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43B53"/>
                </a:solidFill>
              </a:defRPr>
            </a:pPr>
            <a:r>
              <a:rPr sz="1875" b="0">
                <a:solidFill>
                  <a:srgbClr val="243B53"/>
                </a:solidFill>
              </a:rPr>
              <a:t>What survives independent implementation?</a:t>
            </a:r>
          </a:p>
        </p:txBody>
      </p:sp>
      <p:sp>
        <p:nvSpPr>
          <p:cNvPr id="7" name="divider">
            <a:extLst xmlns:a="http://schemas.openxmlformats.org/drawingml/2006/main">
              <a:ext uri="{FF2B5EF4-FFF2-40B4-BE49-F238E27FC236}">
                <a16:creationId xmlns:a16="http://schemas.microsoft.com/office/drawing/2014/main" id="{F04E65CB-1300-417C-A552-521BE00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285875"/>
            <a:ext cx="190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rong precursor-bar">
            <a:extLst xmlns:a="http://schemas.openxmlformats.org/drawingml/2006/main">
              <a:ext uri="{FF2B5EF4-FFF2-40B4-BE49-F238E27FC236}">
                <a16:creationId xmlns:a16="http://schemas.microsoft.com/office/drawing/2014/main" id="{80A9BBD5-0978-4A47-9DE6-A7D2756C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rong precursor-label">
            <a:extLst xmlns:a="http://schemas.openxmlformats.org/drawingml/2006/main">
              <a:ext uri="{FF2B5EF4-FFF2-40B4-BE49-F238E27FC236}">
                <a16:creationId xmlns:a16="http://schemas.microsoft.com/office/drawing/2014/main" id="{51CC7C6F-9EBD-42A3-9CD8-DD0C6EE9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71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855A"/>
                </a:solidFill>
              </a:defRPr>
            </a:pPr>
            <a:r>
              <a:rPr sz="1725" b="1">
                <a:solidFill>
                  <a:srgbClr val="C65D16"/>
                </a:solidFill>
              </a:rPr>
              <a:t>Figure 1</a:t>
            </a:r>
          </a:p>
        </p:txBody>
      </p:sp>
      <p:sp>
        <p:nvSpPr>
          <p:cNvPr id="10" name="Strong precursor-body">
            <a:extLst xmlns:a="http://schemas.openxmlformats.org/drawingml/2006/main">
              <a:ext uri="{FF2B5EF4-FFF2-40B4-BE49-F238E27FC236}">
                <a16:creationId xmlns:a16="http://schemas.microsoft.com/office/drawing/2014/main" id="{244FF233-0930-4770-ADF3-1B1A9250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049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Indirect household ownership rises strongly; the reconstructed level tracks the target through 2016.</a:t>
            </a:r>
          </a:p>
        </p:txBody>
      </p:sp>
      <p:sp>
        <p:nvSpPr>
          <p:cNvPr id="11" name="Partial match-bar">
            <a:extLst xmlns:a="http://schemas.openxmlformats.org/drawingml/2006/main">
              <a:ext uri="{FF2B5EF4-FFF2-40B4-BE49-F238E27FC236}">
                <a16:creationId xmlns:a16="http://schemas.microsoft.com/office/drawing/2014/main" id="{F0181655-D030-45C0-A3E0-D81445F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985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7D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ial match-label">
            <a:extLst xmlns:a="http://schemas.openxmlformats.org/drawingml/2006/main">
              <a:ext uri="{FF2B5EF4-FFF2-40B4-BE49-F238E27FC236}">
                <a16:creationId xmlns:a16="http://schemas.microsoft.com/office/drawing/2014/main" id="{217D0269-3366-4106-A614-BFB2DD0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7791F"/>
                </a:solidFill>
              </a:defRPr>
            </a:pPr>
            <a:r>
              <a:rPr sz="1725" b="1">
                <a:solidFill>
                  <a:srgbClr val="627D98"/>
                </a:solidFill>
              </a:rPr>
              <a:t>Figures 5–6</a:t>
            </a:r>
          </a:p>
        </p:txBody>
      </p:sp>
      <p:sp>
        <p:nvSpPr>
          <p:cNvPr id="13" name="Partial match-body">
            <a:extLst xmlns:a="http://schemas.openxmlformats.org/drawingml/2006/main">
              <a:ext uri="{FF2B5EF4-FFF2-40B4-BE49-F238E27FC236}">
                <a16:creationId xmlns:a16="http://schemas.microsoft.com/office/drawing/2014/main" id="{00ABC748-B2B5-4893-8CE6-FDE6377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813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Saving-flow divergence and the cross-sectional saving-rate profile reproduce closely.</a:t>
            </a:r>
          </a:p>
        </p:txBody>
      </p:sp>
      <p:sp>
        <p:nvSpPr>
          <p:cNvPr id="14" name="Context only-bar">
            <a:extLst xmlns:a="http://schemas.openxmlformats.org/drawingml/2006/main">
              <a:ext uri="{FF2B5EF4-FFF2-40B4-BE49-F238E27FC236}">
                <a16:creationId xmlns:a16="http://schemas.microsoft.com/office/drawing/2014/main" id="{A567A865-2022-41CE-BB30-AB58E2C2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86200"/>
            <a:ext cx="76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ntext only-label">
            <a:extLst xmlns:a="http://schemas.openxmlformats.org/drawingml/2006/main">
              <a:ext uri="{FF2B5EF4-FFF2-40B4-BE49-F238E27FC236}">
                <a16:creationId xmlns:a16="http://schemas.microsoft.com/office/drawing/2014/main" id="{58F96603-D508-40F6-A485-776B0AF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3232"/>
                </a:solidFill>
              </a:defRPr>
            </a:pPr>
            <a:r>
              <a:rPr sz="1725" b="1">
                <a:solidFill>
                  <a:srgbClr val="2E5B88"/>
                </a:solidFill>
              </a:rPr>
              <a:t>Figure 8</a:t>
            </a:r>
          </a:p>
        </p:txBody>
      </p:sp>
      <p:sp>
        <p:nvSpPr>
          <p:cNvPr id="16" name="Context only-body">
            <a:extLst xmlns:a="http://schemas.openxmlformats.org/drawingml/2006/main">
              <a:ext uri="{FF2B5EF4-FFF2-40B4-BE49-F238E27FC236}">
                <a16:creationId xmlns:a16="http://schemas.microsoft.com/office/drawing/2014/main" id="{005F9EA7-5FC9-4084-B230-06E7E891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full-inverse result recovers the lender–borrower split; the top-1 level remains understated.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79FA2934-1CA8-49CA-B94B-8B94B201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38150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90F1D0FA-121D-4208-9F34-9DE0662D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83232"/>
                </a:solidFill>
              </a:defRPr>
            </a:pPr>
            <a:r>
              <a:rPr sz="1575" b="1">
                <a:solidFill>
                  <a:srgbClr val="B83232"/>
                </a:solidFill>
              </a:rPr>
              <a:t>Main lesson</a:t>
            </a:r>
          </a:p>
        </p:txBody>
      </p:sp>
      <p:sp>
        <p:nvSpPr>
          <p:cNvPr id="19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DF98F5D6-9D18-45C9-8820-2EA73D0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3905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>The 2021 inputs support high-fidelity reconstructions of the paper’s mechanisms. Remaining gaps concentrate in data vintage and financial-network detail.</a:t>
            </a:r>
          </a:p>
        </p:txBody>
      </p:sp>
    </p:spTree>
    <p:extLst>
      <p:ext uri="{BB962C8B-B14F-4D97-AF65-F5344CB8AC3E}">
        <p14:creationId xmlns:p14="http://schemas.microsoft.com/office/powerpoint/2010/main" val="221189521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2026-08-16T09:51:41.4100000Z</dcterms:created>
  <dcterms:modified xsi:type="dcterms:W3CDTF">2026-08-16T09:51:41.4100000Z</dcterms:modified>
</coreProperties>
</file>
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bd6f797997f4327" /><Relationship Type="http://schemas.openxmlformats.org/officeDocument/2006/relationships/extended-properties" Target="/docProps/app.xml" Id="Rdd996378f1cb47a5" /><Relationship Type="http://schemas.openxmlformats.org/officeDocument/2006/relationships/officeDocument" Target="/ppt/presentation.xml" Id="Rae4698cc9b4d4e4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838919981e348df"/>
  </p:sldMasterIdLst>
  <p:notesMasterIdLst>
    <p:notesMasterId xmlns:r="http://schemas.openxmlformats.org/officeDocument/2006/relationships" r:id="R605570555d5b462e"/>
  </p:notesMasterIdLst>
  <p:sldIdLst>
    <p:sldId xmlns:r="http://schemas.openxmlformats.org/officeDocument/2006/relationships" id="256" r:id="R84da1362116a4b82"/>
    <p:sldId xmlns:r="http://schemas.openxmlformats.org/officeDocument/2006/relationships" id="257" r:id="Rcadedfa889564248"/>
    <p:sldId xmlns:r="http://schemas.openxmlformats.org/officeDocument/2006/relationships" id="258" r:id="R9eb3ad82648f4ae4"/>
    <p:sldId xmlns:r="http://schemas.openxmlformats.org/officeDocument/2006/relationships" id="259" r:id="R62dfc5cca4974225"/>
    <p:sldId xmlns:r="http://schemas.openxmlformats.org/officeDocument/2006/relationships" id="260" r:id="R28ee73c8ddf34195"/>
    <p:sldId xmlns:r="http://schemas.openxmlformats.org/officeDocument/2006/relationships" id="261" r:id="R23235f2fdf5944d3"/>
    <p:sldId xmlns:r="http://schemas.openxmlformats.org/officeDocument/2006/relationships" id="262" r:id="R4264838c9bf541fd"/>
    <p:sldId xmlns:r="http://schemas.openxmlformats.org/officeDocument/2006/relationships" id="263" r:id="Rec05dabc391c41e5"/>
    <p:sldId xmlns:r="http://schemas.openxmlformats.org/officeDocument/2006/relationships" id="264" r:id="Rc0191ebf4b0d4776"/>
    <p:sldId xmlns:r="http://schemas.openxmlformats.org/officeDocument/2006/relationships" id="265" r:id="R057506c52c764860"/>
    <p:sldId xmlns:r="http://schemas.openxmlformats.org/officeDocument/2006/relationships" id="266" r:id="Rfb9f3df32da049c9"/>
    <p:sldId xmlns:r="http://schemas.openxmlformats.org/officeDocument/2006/relationships" id="267" r:id="Raf2da36407f04012"/>
    <p:sldId xmlns:r="http://schemas.openxmlformats.org/officeDocument/2006/relationships" id="268" r:id="Rab1f9779c11e4a04"/>
    <p:sldId xmlns:r="http://schemas.openxmlformats.org/officeDocument/2006/relationships" id="269" r:id="R8e5cc8f4e278455b"/>
    <p:sldId xmlns:r="http://schemas.openxmlformats.org/officeDocument/2006/relationships" id="270" r:id="R3c67d6e8237a4c28"/>
    <p:sldId xmlns:r="http://schemas.openxmlformats.org/officeDocument/2006/relationships" id="271" r:id="Rc78f4ef058d54d1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2124c8c4e6644f2" /><Relationship Type="http://schemas.openxmlformats.org/officeDocument/2006/relationships/slideMaster" Target="/ppt/slideMasters/slideMaster1.xml" Id="R1838919981e348df" /><Relationship Type="http://schemas.openxmlformats.org/officeDocument/2006/relationships/notesMaster" Target="/ppt/notesMasters/notesMaster1.xml" Id="R605570555d5b462e" /><Relationship Type="http://schemas.openxmlformats.org/officeDocument/2006/relationships/presProps" Target="/ppt/presProps.xml" Id="R3cbb85ac6bed45ad" /><Relationship Type="http://schemas.openxmlformats.org/officeDocument/2006/relationships/tableStyles" Target="/ppt/tableStyles.xml" Id="R73694c44fc8649b6" /><Relationship Type="http://schemas.openxmlformats.org/officeDocument/2006/relationships/slide" Target="/ppt/slides/slide1.xml" Id="R84da1362116a4b82" /><Relationship Type="http://schemas.openxmlformats.org/officeDocument/2006/relationships/slide" Target="/ppt/slides/slide2.xml" Id="Rcadedfa889564248" /><Relationship Type="http://schemas.openxmlformats.org/officeDocument/2006/relationships/slide" Target="/ppt/slides/slide3.xml" Id="R9eb3ad82648f4ae4" /><Relationship Type="http://schemas.openxmlformats.org/officeDocument/2006/relationships/slide" Target="/ppt/slides/slide4.xml" Id="R62dfc5cca4974225" /><Relationship Type="http://schemas.openxmlformats.org/officeDocument/2006/relationships/slide" Target="/ppt/slides/slide5.xml" Id="R28ee73c8ddf34195" /><Relationship Type="http://schemas.openxmlformats.org/officeDocument/2006/relationships/slide" Target="/ppt/slides/slide6.xml" Id="R23235f2fdf5944d3" /><Relationship Type="http://schemas.openxmlformats.org/officeDocument/2006/relationships/slide" Target="/ppt/slides/slide7.xml" Id="R4264838c9bf541fd" /><Relationship Type="http://schemas.openxmlformats.org/officeDocument/2006/relationships/slide" Target="/ppt/slides/slide8.xml" Id="Rec05dabc391c41e5" /><Relationship Type="http://schemas.openxmlformats.org/officeDocument/2006/relationships/slide" Target="/ppt/slides/slide9.xml" Id="Rc0191ebf4b0d4776" /><Relationship Type="http://schemas.openxmlformats.org/officeDocument/2006/relationships/slide" Target="/ppt/slides/slide10.xml" Id="R057506c52c764860" /><Relationship Type="http://schemas.openxmlformats.org/officeDocument/2006/relationships/slide" Target="/ppt/slides/slide11.xml" Id="Rfb9f3df32da049c9" /><Relationship Type="http://schemas.openxmlformats.org/officeDocument/2006/relationships/slide" Target="/ppt/slides/slide12.xml" Id="Raf2da36407f04012" /><Relationship Type="http://schemas.openxmlformats.org/officeDocument/2006/relationships/slide" Target="/ppt/slides/slide13.xml" Id="Rab1f9779c11e4a04" /><Relationship Type="http://schemas.openxmlformats.org/officeDocument/2006/relationships/slide" Target="/ppt/slides/slide14.xml" Id="R8e5cc8f4e278455b" /><Relationship Type="http://schemas.openxmlformats.org/officeDocument/2006/relationships/slide" Target="/ppt/slides/slide15.xml" Id="R3c67d6e8237a4c28" /><Relationship Type="http://schemas.openxmlformats.org/officeDocument/2006/relationships/slide" Target="/ppt/slides/slide16.xml" Id="Rc78f4ef058d54d1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2514c7affc24d2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Replication validation">
      <a:dk1>
        <a:srgbClr val="000000"/>
      </a:dk1>
      <a:lt1>
        <a:srgbClr val="FFFFFF"/>
      </a:lt1>
      <a:dk2>
        <a:srgbClr val="102A43"/>
      </a:dk2>
      <a:lt2>
        <a:srgbClr val="D8E1E8"/>
      </a:lt2>
      <a:accent1>
        <a:srgbClr val="2E5B88"/>
      </a:accent1>
      <a:accent2>
        <a:srgbClr val="C65D16"/>
      </a:accent2>
      <a:accent3>
        <a:srgbClr val="2F855A"/>
      </a:accent3>
      <a:accent4>
        <a:srgbClr val="B83232"/>
      </a:accent4>
      <a:accent5>
        <a:srgbClr val="B7791F"/>
      </a:accent5>
      <a:accent6>
        <a:srgbClr val="627D98"/>
      </a:accent6>
      <a:hlink>
        <a:srgbClr val="2E5B88"/>
      </a:hlink>
      <a:folHlink>
        <a:srgbClr val="C65D16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Replication validati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f76e924318f4b49" /><Relationship Type="http://schemas.openxmlformats.org/officeDocument/2006/relationships/notesMaster" Target="/ppt/notesMasters/notesMaster1.xml" Id="Rcec904c8008c48c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253c00af87a47d5" /><Relationship Type="http://schemas.openxmlformats.org/officeDocument/2006/relationships/notesMaster" Target="/ppt/notesMasters/notesMaster1.xml" Id="R3d105a55e689499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202888cf7af4637" /><Relationship Type="http://schemas.openxmlformats.org/officeDocument/2006/relationships/notesMaster" Target="/ppt/notesMasters/notesMaster1.xml" Id="R27004e1c65d2421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9cd062a7ef04a3e" /><Relationship Type="http://schemas.openxmlformats.org/officeDocument/2006/relationships/notesMaster" Target="/ppt/notesMasters/notesMaster1.xml" Id="Rc5fbd6fd23464a9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9772fb6b7524544" /><Relationship Type="http://schemas.openxmlformats.org/officeDocument/2006/relationships/notesMaster" Target="/ppt/notesMasters/notesMaster1.xml" Id="R94762a9de3db4ff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2b4e09c4db0414c" /><Relationship Type="http://schemas.openxmlformats.org/officeDocument/2006/relationships/notesMaster" Target="/ppt/notesMasters/notesMaster1.xml" Id="Rf8b20842b92f41c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9002c28749f4ea0" /><Relationship Type="http://schemas.openxmlformats.org/officeDocument/2006/relationships/notesMaster" Target="/ppt/notesMasters/notesMaster1.xml" Id="R669145f73597457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072077e36b84d96" /><Relationship Type="http://schemas.openxmlformats.org/officeDocument/2006/relationships/notesMaster" Target="/ppt/notesMasters/notesMaster1.xml" Id="R8db59cd513df48f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3f6d79e71004935" /><Relationship Type="http://schemas.openxmlformats.org/officeDocument/2006/relationships/notesMaster" Target="/ppt/notesMasters/notesMaster1.xml" Id="R334925d3b220439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7fec5aaad384ccc" /><Relationship Type="http://schemas.openxmlformats.org/officeDocument/2006/relationships/notesMaster" Target="/ppt/notesMasters/notesMaster1.xml" Id="R0848d403652f412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f41cd71604d4362" /><Relationship Type="http://schemas.openxmlformats.org/officeDocument/2006/relationships/notesMaster" Target="/ppt/notesMasters/notesMaster1.xml" Id="Rb6290e6fa0f74ce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ffae1dd275c44cd" /><Relationship Type="http://schemas.openxmlformats.org/officeDocument/2006/relationships/notesMaster" Target="/ppt/notesMasters/notesMaster1.xml" Id="R2757b8aa371940d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cbcacb981414d53" /><Relationship Type="http://schemas.openxmlformats.org/officeDocument/2006/relationships/notesMaster" Target="/ppt/notesMasters/notesMaster1.xml" Id="R2ee84b744432457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75d703ea1b34619" /><Relationship Type="http://schemas.openxmlformats.org/officeDocument/2006/relationships/notesMaster" Target="/ppt/notesMasters/notesMaster1.xml" Id="Rb7c2e42c1a5a46c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f123bfd8c934adc" /><Relationship Type="http://schemas.openxmlformats.org/officeDocument/2006/relationships/notesMaster" Target="/ppt/notesMasters/notesMaster1.xml" Id="R1e448a1e45584c1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d053ddfdc53411b" /><Relationship Type="http://schemas.openxmlformats.org/officeDocument/2006/relationships/notesMaster" Target="/ppt/notesMasters/notesMaster1.xml" Id="Rbbac3808616948b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docs/project/tasks/figure1-replication.md</a:t>
            </a:r>
          </a:p>
          <a:p xmlns:a="http://schemas.openxmlformats.org/drawingml/2006/main">
            <a:r>
              <a:t>- docs/project/tasks/figure5-replication.md</a:t>
            </a:r>
          </a:p>
          <a:p xmlns:a="http://schemas.openxmlformats.org/drawingml/2006/main">
            <a:r>
              <a:t>- docs/project/tasks/figure6-replication.md</a:t>
            </a:r>
          </a:p>
          <a:p xmlns:a="http://schemas.openxmlformats.org/drawingml/2006/main">
            <a:r>
              <a:t>- docs/project/tasks/figure8-replication.md</a:t>
            </a:r>
          </a:p>
          <a:p xmlns:a="http://schemas.openxmlformats.org/drawingml/2006/main">
            <a:r>
              <a:t>- Presentation/1_replication_package_validation/replication_package_validation.pptx (visual source)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Figures 1, 5, 6, and 8</a:t>
            </a:r>
          </a:p>
          <a:p xmlns:a="http://schemas.openxmlformats.org/drawingml/2006/main">
            <a:r>
              <a:t>- docs/project/tasks/result-selection.md, completed feasibility classification</a:t>
            </a:r>
          </a:p>
          <a:p xmlns:a="http://schemas.openxmlformats.org/drawingml/2006/main">
            <a:r>
              <a:t>- Results_Proposal/major_results.md, R-001 to R-003</a:t>
            </a:r>
          </a:p>
          <a:p xmlns:a="http://schemas.openxmlformats.org/drawingml/2006/main">
            <a:r>
              <a:t>- docs/project/tasks/figure6-replication.md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Sections 2.1-2.3 and Figure 1</a:t>
            </a:r>
          </a:p>
          <a:p xmlns:a="http://schemas.openxmlformats.org/drawingml/2006/main">
            <a:r>
              <a:t>- docs/project/tasks/figure1-replication.md</a:t>
            </a:r>
          </a:p>
          <a:p xmlns:a="http://schemas.openxmlformats.org/drawingml/2006/main">
            <a:r>
              <a:t>- docs/data/figure1-data.md, Two pipelines / version boundary</a:t>
            </a:r>
          </a:p>
          <a:p xmlns:a="http://schemas.openxmlformats.org/drawingml/2006/main">
            <a:r>
              <a:t>- MSS2021Febreplicationkit/code/build_fa_unveiling_data.do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Figure 1, physical PDF page 11; chart cropped without caption</a:t>
            </a:r>
          </a:p>
          <a:p xmlns:a="http://schemas.openxmlformats.org/drawingml/2006/main">
            <a:r>
              <a:t>- Results_Proposal/figures/figure1_authors_data_reconstruction.png</a:t>
            </a:r>
          </a:p>
          <a:p xmlns:a="http://schemas.openxmlformats.org/drawingml/2006/main">
            <a:r>
              <a:t>- Data/processed/figure1_authors_comparison.csv</a:t>
            </a:r>
          </a:p>
          <a:p xmlns:a="http://schemas.openxmlformats.org/drawingml/2006/main">
            <a:r>
              <a:t>- docs/project/tasks/figure1-replication.md, Evidence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Results_Proposal/figures/figure1_authors_data_comparison.png</a:t>
            </a:r>
          </a:p>
          <a:p xmlns:a="http://schemas.openxmlformats.org/drawingml/2006/main">
            <a:r>
              <a:t>- Data/processed/figure1_authors_comparison.csv</a:t>
            </a:r>
          </a:p>
          <a:p xmlns:a="http://schemas.openxmlformats.org/drawingml/2006/main">
            <a:r>
              <a:t>- Code/scripts/build_figure1_authors_data.py</a:t>
            </a:r>
          </a:p>
          <a:p xmlns:a="http://schemas.openxmlformats.org/drawingml/2006/main">
            <a:r>
              <a:t>- docs/project/tasks/figure1-replication.md, Evidence and limitations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MSS2021Febreplicationkit/output/fig_owndet.eps</a:t>
            </a:r>
          </a:p>
          <a:p xmlns:a="http://schemas.openxmlformats.org/drawingml/2006/main">
            <a:r>
              <a:t>- MSS2021Febreplicationkit/code/mss_analysis.do, lines 587-678</a:t>
            </a:r>
          </a:p>
          <a:p xmlns:a="http://schemas.openxmlformats.org/drawingml/2006/main">
            <a:r>
              <a:t>- Results_Proposal/figures/figure1_authors_data_reconstruction.png</a:t>
            </a:r>
          </a:p>
          <a:p xmlns:a="http://schemas.openxmlformats.org/drawingml/2006/main">
            <a:r>
              <a:t>- Results_Proposal/major_results.md, R-001 authors' implementation boundary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Results_Proposal/figures/figure1_indirect_household_ownership.png</a:t>
            </a:r>
          </a:p>
          <a:p xmlns:a="http://schemas.openxmlformats.org/drawingml/2006/main">
            <a:r>
              <a:t>- Code/scripts/build_figure1.py</a:t>
            </a:r>
          </a:p>
          <a:p xmlns:a="http://schemas.openxmlformats.org/drawingml/2006/main">
            <a:r>
              <a:t>- Data/raw/README.md (Federal Reserve FWTW and BEA/FRED provenance)</a:t>
            </a:r>
          </a:p>
          <a:p xmlns:a="http://schemas.openxmlformats.org/drawingml/2006/main">
            <a:r>
              <a:t>- docs/data/figure1-data.md, New-data robustness inputs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Section 3.4 and Figure 5, physical PDF page 22</a:t>
            </a:r>
          </a:p>
          <a:p xmlns:a="http://schemas.openxmlformats.org/drawingml/2006/main">
            <a:r>
              <a:t>- MSS2021Febreplicationkit/code/build_wealth_saving_data.do</a:t>
            </a:r>
          </a:p>
          <a:p xmlns:a="http://schemas.openxmlformats.org/drawingml/2006/main">
            <a:r>
              <a:t>- docs/data/figure5-data.md</a:t>
            </a:r>
          </a:p>
          <a:p xmlns:a="http://schemas.openxmlformats.org/drawingml/2006/main">
            <a:r>
              <a:t>- Code/unveiling/figure5_authors.py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Figure 5, physical PDF page 22; embedded chart extracted without caption</a:t>
            </a:r>
          </a:p>
          <a:p xmlns:a="http://schemas.openxmlformats.org/drawingml/2006/main">
            <a:r>
              <a:t>- Results_Proposal/figures/figure5_authors_data_reconstruction.png</a:t>
            </a:r>
          </a:p>
          <a:p xmlns:a="http://schemas.openxmlformats.org/drawingml/2006/main">
            <a:r>
              <a:t>- Data/processed/figure5_authors_comparison.csv</a:t>
            </a:r>
          </a:p>
          <a:p xmlns:a="http://schemas.openxmlformats.org/drawingml/2006/main">
            <a:r>
              <a:t>- docs/project/tasks/figure5-replication.md, Verification and result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Section 3.4 and Figure 6, physical PDF page 24</a:t>
            </a:r>
          </a:p>
          <a:p xmlns:a="http://schemas.openxmlformats.org/drawingml/2006/main">
            <a:r>
              <a:t>- docs/data/figure6-data.md</a:t>
            </a:r>
          </a:p>
          <a:p xmlns:a="http://schemas.openxmlformats.org/drawingml/2006/main">
            <a:r>
              <a:t>- docs/project/tasks/figure6-replication.md</a:t>
            </a:r>
          </a:p>
          <a:p xmlns:a="http://schemas.openxmlformats.org/drawingml/2006/main">
            <a:r>
              <a:t>- Code/unveiling/figure6_authors.py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Figure 6, physical PDF page 24; embedded chart extracted without caption</a:t>
            </a:r>
          </a:p>
          <a:p xmlns:a="http://schemas.openxmlformats.org/drawingml/2006/main">
            <a:r>
              <a:t>- Results_Proposal/figures/figure6_authors_data_percentiles.png</a:t>
            </a:r>
          </a:p>
          <a:p xmlns:a="http://schemas.openxmlformats.org/drawingml/2006/main">
            <a:r>
              <a:t>- Data/processed/figure6_authors_comparison.csv</a:t>
            </a:r>
          </a:p>
          <a:p xmlns:a="http://schemas.openxmlformats.org/drawingml/2006/main">
            <a:r>
              <a:t>- docs/project/tasks/figure6-replication.md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Results_Proposal/figures/figure6_authors_data_percentiles.png</a:t>
            </a:r>
          </a:p>
          <a:p xmlns:a="http://schemas.openxmlformats.org/drawingml/2006/main">
            <a:r>
              <a:t>- Results_Proposal/figures/figure6_authors_data_wealth_levels.png</a:t>
            </a:r>
          </a:p>
          <a:p xmlns:a="http://schemas.openxmlformats.org/drawingml/2006/main">
            <a:r>
              <a:t>- Data/processed/figure6_authors_data.csv</a:t>
            </a:r>
          </a:p>
          <a:p xmlns:a="http://schemas.openxmlformats.org/drawingml/2006/main">
            <a:r>
              <a:t>- docs/project/personal-considerations-saving-inequality.md</a:t>
            </a:r>
          </a:p>
          <a:p xmlns:a="http://schemas.openxmlformats.org/drawingml/2006/main">
            <a:r>
              <a:t>- docs/data/figure6-data.md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Data/processed/figure6_authors_rolling5.csv</a:t>
            </a:r>
          </a:p>
          <a:p xmlns:a="http://schemas.openxmlformats.org/drawingml/2006/main">
            <a:r>
              <a:t>- Results_Proposal/figures/figure6_rolling5_heatmap.png</a:t>
            </a:r>
          </a:p>
          <a:p xmlns:a="http://schemas.openxmlformats.org/drawingml/2006/main">
            <a:r>
              <a:t>- Results_Proposal/figures/figure6_rolling5_selected_percentiles.png</a:t>
            </a:r>
          </a:p>
          <a:p xmlns:a="http://schemas.openxmlformats.org/drawingml/2006/main">
            <a:r>
              <a:t>- Code/scripts/build_figure6_authors_data.py</a:t>
            </a:r>
          </a:p>
          <a:p xmlns:a="http://schemas.openxmlformats.org/drawingml/2006/main">
            <a:r>
              <a:t>- docs/data/figure6-data.md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Sections 4.1-4.2 and Figure 8, physical PDF page 29</a:t>
            </a:r>
          </a:p>
          <a:p xmlns:a="http://schemas.openxmlformats.org/drawingml/2006/main">
            <a:r>
              <a:t>- MSS2021Febreplicationkit/code/build_fa_unveiling_data.do</a:t>
            </a:r>
          </a:p>
          <a:p xmlns:a="http://schemas.openxmlformats.org/drawingml/2006/main">
            <a:r>
              <a:t>- docs/data/figure8-data.md</a:t>
            </a:r>
          </a:p>
          <a:p xmlns:a="http://schemas.openxmlformats.org/drawingml/2006/main">
            <a:r>
              <a:t>- Code/unveiling/figure8_authors.py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Figure 8, physical PDF page 29; embedded chart extracted without caption</a:t>
            </a:r>
          </a:p>
          <a:p xmlns:a="http://schemas.openxmlformats.org/drawingml/2006/main">
            <a:r>
              <a:t>- Results_Proposal/figures/figure8_authors_proxy.png</a:t>
            </a:r>
          </a:p>
          <a:p xmlns:a="http://schemas.openxmlformats.org/drawingml/2006/main">
            <a:r>
              <a:t>- Data/processed/figure8_authors_proxy_comparison.csv</a:t>
            </a:r>
          </a:p>
          <a:p xmlns:a="http://schemas.openxmlformats.org/drawingml/2006/main">
            <a:r>
              <a:t>- docs/project/tasks/figure8-replication.md, Verification and result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Results_Proposal/major_results.md, R-001 to R-003</a:t>
            </a:r>
          </a:p>
          <a:p xmlns:a="http://schemas.openxmlformats.org/drawingml/2006/main">
            <a:r>
              <a:t>- docs/project/tasks/figure1-replication.md</a:t>
            </a:r>
          </a:p>
          <a:p xmlns:a="http://schemas.openxmlformats.org/drawingml/2006/main">
            <a:r>
              <a:t>- docs/project/tasks/figure5-replication.md</a:t>
            </a:r>
          </a:p>
          <a:p xmlns:a="http://schemas.openxmlformats.org/drawingml/2006/main">
            <a:r>
              <a:t>- docs/project/tasks/figure6-replication.md</a:t>
            </a:r>
          </a:p>
          <a:p xmlns:a="http://schemas.openxmlformats.org/drawingml/2006/main">
            <a:r>
              <a:t>- docs/project/tasks/figure8-replication.md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f72a84e8094a7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89ebcdcf6e84b7e" /><Relationship Type="http://schemas.openxmlformats.org/officeDocument/2006/relationships/slideLayout" Target="/ppt/slideLayouts/slideLayout1.xml" Id="R9cabc6dfa9f443f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cabc6dfa9f443f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Replication validation">
      <a:dk1>
        <a:srgbClr val="000000"/>
      </a:dk1>
      <a:lt1>
        <a:srgbClr val="FFFFFF"/>
      </a:lt1>
      <a:dk2>
        <a:srgbClr val="102A43"/>
      </a:dk2>
      <a:lt2>
        <a:srgbClr val="D8E1E8"/>
      </a:lt2>
      <a:accent1>
        <a:srgbClr val="2E5B88"/>
      </a:accent1>
      <a:accent2>
        <a:srgbClr val="C65D16"/>
      </a:accent2>
      <a:accent3>
        <a:srgbClr val="2F855A"/>
      </a:accent3>
      <a:accent4>
        <a:srgbClr val="B83232"/>
      </a:accent4>
      <a:accent5>
        <a:srgbClr val="B7791F"/>
      </a:accent5>
      <a:accent6>
        <a:srgbClr val="627D98"/>
      </a:accent6>
      <a:hlink>
        <a:srgbClr val="2E5B88"/>
      </a:hlink>
      <a:folHlink>
        <a:srgbClr val="C65D16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Replication validati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764fde8649471d" /><Relationship Type="http://schemas.openxmlformats.org/officeDocument/2006/relationships/notesSlide" Target="/ppt/notesSlides/notesSlide1.xml" Id="Rd58ba294692d48f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6575a40c9c4392" /><Relationship Type="http://schemas.openxmlformats.org/officeDocument/2006/relationships/notesSlide" Target="/ppt/notesSlides/notesSlide2.xml" Id="R8310a6a93b57447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0d17cbcbbf475e" /><Relationship Type="http://schemas.openxmlformats.org/officeDocument/2006/relationships/notesSlide" Target="/ppt/notesSlides/notesSlide3.xml" Id="R2507bdf3a69f4e1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f8fc82f2d946cb" /><Relationship Type="http://schemas.openxmlformats.org/officeDocument/2006/relationships/image" Target="/ppt/media/image.png" Id="R6aa12b65cdca4e52" /><Relationship Type="http://schemas.openxmlformats.org/officeDocument/2006/relationships/image" Target="/ppt/media/image2.png" Id="Rdea2508236734d7e" /><Relationship Type="http://schemas.openxmlformats.org/officeDocument/2006/relationships/notesSlide" Target="/ppt/notesSlides/notesSlide4.xml" Id="Rebac8498b3c7454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2d9f7037c64b5a" /><Relationship Type="http://schemas.openxmlformats.org/officeDocument/2006/relationships/image" Target="/ppt/media/image3.png" Id="Raf6c778a46924bbb" /><Relationship Type="http://schemas.openxmlformats.org/officeDocument/2006/relationships/image" Target="/ppt/media/image4.png" Id="Rad59a0640ae5410e" /><Relationship Type="http://schemas.openxmlformats.org/officeDocument/2006/relationships/notesSlide" Target="/ppt/notesSlides/notesSlide5.xml" Id="R82745cedbf9e445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7663d4ebfa42e8" /><Relationship Type="http://schemas.openxmlformats.org/officeDocument/2006/relationships/image" Target="/ppt/media/image5.png" Id="Rdad12fba94434c25" /><Relationship Type="http://schemas.openxmlformats.org/officeDocument/2006/relationships/image" Target="/ppt/media/image6.png" Id="Rf5fc36de7a4447d3" /><Relationship Type="http://schemas.openxmlformats.org/officeDocument/2006/relationships/notesSlide" Target="/ppt/notesSlides/notesSlide6.xml" Id="Rb584a4182947485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e85bbf680141f9" /><Relationship Type="http://schemas.openxmlformats.org/officeDocument/2006/relationships/image" Target="/ppt/media/image7.png" Id="R3e40c3c5f99843e1" /><Relationship Type="http://schemas.openxmlformats.org/officeDocument/2006/relationships/notesSlide" Target="/ppt/notesSlides/notesSlide7.xml" Id="Rccbe8fbd71c9408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a1f74e0397419a" /><Relationship Type="http://schemas.openxmlformats.org/officeDocument/2006/relationships/notesSlide" Target="/ppt/notesSlides/notesSlide8.xml" Id="R408c209a55e74e6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a72dbcb0244cac" /><Relationship Type="http://schemas.openxmlformats.org/officeDocument/2006/relationships/image" Target="/ppt/media/image8.png" Id="Ra3b190a9b3c94faa" /><Relationship Type="http://schemas.openxmlformats.org/officeDocument/2006/relationships/image" Target="/ppt/media/image9.png" Id="Rd6d7e32a55d9495f" /><Relationship Type="http://schemas.openxmlformats.org/officeDocument/2006/relationships/notesSlide" Target="/ppt/notesSlides/notesSlide9.xml" Id="Ra024f6e11edd4b0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8f892107fb4ae8" /><Relationship Type="http://schemas.openxmlformats.org/officeDocument/2006/relationships/notesSlide" Target="/ppt/notesSlides/notesSlide10.xml" Id="R8991335da34b42e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bc9709c6ed4f29" /><Relationship Type="http://schemas.openxmlformats.org/officeDocument/2006/relationships/image" Target="/ppt/media/image10.png" Id="R0f0005083477437e" /><Relationship Type="http://schemas.openxmlformats.org/officeDocument/2006/relationships/image" Target="/ppt/media/image11.png" Id="R1e207e051435401b" /><Relationship Type="http://schemas.openxmlformats.org/officeDocument/2006/relationships/notesSlide" Target="/ppt/notesSlides/notesSlide11.xml" Id="Rb5125b9e868440f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0170100f584616" /><Relationship Type="http://schemas.openxmlformats.org/officeDocument/2006/relationships/image" Target="/ppt/media/image12.png" Id="R5e0396f78d1a4d55" /><Relationship Type="http://schemas.openxmlformats.org/officeDocument/2006/relationships/image" Target="/ppt/media/image13.png" Id="R0e563d3933f64e0c" /><Relationship Type="http://schemas.openxmlformats.org/officeDocument/2006/relationships/notesSlide" Target="/ppt/notesSlides/notesSlide12.xml" Id="R5a0b9c1e23d0480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f920319bd94c2b" /><Relationship Type="http://schemas.openxmlformats.org/officeDocument/2006/relationships/image" Target="/ppt/media/image14.png" Id="Ree30bd9c5b574034" /><Relationship Type="http://schemas.openxmlformats.org/officeDocument/2006/relationships/image" Target="/ppt/media/image15.png" Id="R13be0ab094e54193" /><Relationship Type="http://schemas.openxmlformats.org/officeDocument/2006/relationships/notesSlide" Target="/ppt/notesSlides/notesSlide13.xml" Id="Ra2fe73a15ea3462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6587d1ce024e18" /><Relationship Type="http://schemas.openxmlformats.org/officeDocument/2006/relationships/notesSlide" Target="/ppt/notesSlides/notesSlide14.xml" Id="Rf4b4c51e984a48a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74d2cccab346a4" /><Relationship Type="http://schemas.openxmlformats.org/officeDocument/2006/relationships/image" Target="/ppt/media/image16.png" Id="R3a9c50df4cec46a8" /><Relationship Type="http://schemas.openxmlformats.org/officeDocument/2006/relationships/image" Target="/ppt/media/image17.png" Id="R032de42980c6416c" /><Relationship Type="http://schemas.openxmlformats.org/officeDocument/2006/relationships/notesSlide" Target="/ppt/notesSlides/notesSlide15.xml" Id="R210985a670504c1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dee5c871d94fe4" /><Relationship Type="http://schemas.openxmlformats.org/officeDocument/2006/relationships/notesSlide" Target="/ppt/notesSlides/notesSlide16.xml" Id="R87020e53b65b45a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left-band">
            <a:extLst xmlns:a="http://schemas.openxmlformats.org/drawingml/2006/main">
              <a:ext uri="{FF2B5EF4-FFF2-40B4-BE49-F238E27FC236}">
                <a16:creationId xmlns:a16="http://schemas.microsoft.com/office/drawing/2014/main" id="{69941DB9-9128-4CC6-96D4-76F2DED61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0E7C051A-E968-48D4-932F-BE04BBAA7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04875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65D16"/>
                </a:solidFill>
              </a:defRPr>
            </a:pPr>
            <a:r>
              <a:rPr sz="1275" b="1">
                <a:solidFill>
                  <a:srgbClr val="C65D16"/>
                </a:solidFill>
              </a:rPr>
              <a:t>CORE FIGURE COMPARISON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59C12F6-118A-41FC-9B31-6EE8D81DD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09700"/>
            <a:ext cx="100965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Four figures, one evidence hierarchy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369E33F4-CEE0-4100-92AF-B6E5F46AF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33750"/>
            <a:ext cx="876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Compare only the objects that the February 2021 inputs actually identify</a:t>
            </a:r>
          </a:p>
        </p:txBody>
      </p:sp>
      <p:sp>
        <p:nvSpPr>
          <p:cNvPr id="5" name="legend-2021">
            <a:extLst xmlns:a="http://schemas.openxmlformats.org/drawingml/2006/main">
              <a:ext uri="{FF2B5EF4-FFF2-40B4-BE49-F238E27FC236}">
                <a16:creationId xmlns:a16="http://schemas.microsoft.com/office/drawing/2014/main" id="{04EB5C43-CA63-49BC-BC30-BC9BE88C8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6725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legend-2021-text">
            <a:extLst xmlns:a="http://schemas.openxmlformats.org/drawingml/2006/main">
              <a:ext uri="{FF2B5EF4-FFF2-40B4-BE49-F238E27FC236}">
                <a16:creationId xmlns:a16="http://schemas.microsoft.com/office/drawing/2014/main" id="{C9C3AB10-5751-4F82-8A86-8D819F264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101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Primary: our old-input implementation versus the 2025 paper</a:t>
            </a:r>
          </a:p>
        </p:txBody>
      </p:sp>
      <p:sp>
        <p:nvSpPr>
          <p:cNvPr id="7" name="legend-2025">
            <a:extLst xmlns:a="http://schemas.openxmlformats.org/drawingml/2006/main">
              <a:ext uri="{FF2B5EF4-FFF2-40B4-BE49-F238E27FC236}">
                <a16:creationId xmlns:a16="http://schemas.microsoft.com/office/drawing/2014/main" id="{B87B36AA-45A7-426E-9A02-DB03462E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958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legend-2025-text">
            <a:extLst xmlns:a="http://schemas.openxmlformats.org/drawingml/2006/main">
              <a:ext uri="{FF2B5EF4-FFF2-40B4-BE49-F238E27FC236}">
                <a16:creationId xmlns:a16="http://schemas.microsoft.com/office/drawing/2014/main" id="{391AA843-EE9C-4B5B-9375-1CFEC09F5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03872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Supporting: older Stata lineage and public-data robustness</a:t>
            </a:r>
          </a:p>
        </p:txBody>
      </p:sp>
      <p:sp>
        <p:nvSpPr>
          <p:cNvPr id="9" name="date">
            <a:extLst xmlns:a="http://schemas.openxmlformats.org/drawingml/2006/main">
              <a:ext uri="{FF2B5EF4-FFF2-40B4-BE49-F238E27FC236}">
                <a16:creationId xmlns:a16="http://schemas.microsoft.com/office/drawing/2014/main" id="{086423BF-9FA1-4716-82E0-A79C25634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912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D98"/>
                </a:solidFill>
              </a:defRPr>
            </a:pPr>
            <a:r>
              <a:rPr sz="1125" b="0">
                <a:solidFill>
                  <a:srgbClr val="627D98"/>
                </a:solidFill>
              </a:rPr>
              <a:t>11 August 2026</a:t>
            </a:r>
          </a:p>
        </p:txBody>
      </p:sp>
    </p:spTree>
    <p:extLst>
      <p:ext uri="{BB962C8B-B14F-4D97-AF65-F5344CB8AC3E}">
        <p14:creationId xmlns:p14="http://schemas.microsoft.com/office/powerpoint/2010/main" val="17717655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kicker">
            <a:extLst xmlns:a="http://schemas.openxmlformats.org/drawingml/2006/main">
              <a:ext uri="{FF2B5EF4-FFF2-40B4-BE49-F238E27FC236}">
                <a16:creationId xmlns:a16="http://schemas.microsoft.com/office/drawing/2014/main" id="{4DBD74DF-ED28-4EE9-8535-9E366A67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EVIDENCE ROLES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5994307-319F-4EAA-8D7C-9E832F74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One label cannot mean the same thing across all four figures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9304C898-8A92-4A39-A7EB-64A10035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4772364-3993-46C7-BB6A-7696849F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02</a:t>
            </a:r>
          </a:p>
        </p:txBody>
      </p:sp>
      <p:sp>
        <p:nvSpPr>
          <p:cNvPr id="5" name="question">
            <a:extLst xmlns:a="http://schemas.openxmlformats.org/drawingml/2006/main">
              <a:ext uri="{FF2B5EF4-FFF2-40B4-BE49-F238E27FC236}">
                <a16:creationId xmlns:a16="http://schemas.microsoft.com/office/drawing/2014/main" id="{1C4CBB66-390B-40CA-9A94-F3B655FA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2025 targets</a:t>
            </a:r>
          </a:p>
        </p:txBody>
      </p:sp>
      <p:sp>
        <p:nvSpPr>
          <p:cNvPr id="6" name="question-body">
            <a:extLst xmlns:a="http://schemas.openxmlformats.org/drawingml/2006/main">
              <a:ext uri="{FF2B5EF4-FFF2-40B4-BE49-F238E27FC236}">
                <a16:creationId xmlns:a16="http://schemas.microsoft.com/office/drawing/2014/main" id="{C7924291-5CE5-45A7-9502-25780E87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381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Figures 1, 5, 6, and 8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Revised definitions through 2019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F04E65CB-1300-417C-A552-521BE008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285875"/>
            <a:ext cx="190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trong precursor-bar">
            <a:extLst xmlns:a="http://schemas.openxmlformats.org/drawingml/2006/main">
              <a:ext uri="{FF2B5EF4-FFF2-40B4-BE49-F238E27FC236}">
                <a16:creationId xmlns:a16="http://schemas.microsoft.com/office/drawing/2014/main" id="{80A9BBD5-0978-4A47-9DE6-A7D2756C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3335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96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rong precursor-label">
            <a:extLst xmlns:a="http://schemas.openxmlformats.org/drawingml/2006/main">
              <a:ext uri="{FF2B5EF4-FFF2-40B4-BE49-F238E27FC236}">
                <a16:creationId xmlns:a16="http://schemas.microsoft.com/office/drawing/2014/main" id="{51CC7C6F-9EBD-42A3-9CD8-DD0C6EE9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716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627D98"/>
                </a:solidFill>
              </a:rPr>
              <a:t>Authors-old (2021)</a:t>
            </a:r>
          </a:p>
        </p:txBody>
      </p:sp>
      <p:sp>
        <p:nvSpPr>
          <p:cNvPr id="10" name="Strong precursor-body">
            <a:extLst xmlns:a="http://schemas.openxmlformats.org/drawingml/2006/main">
              <a:ext uri="{FF2B5EF4-FFF2-40B4-BE49-F238E27FC236}">
                <a16:creationId xmlns:a16="http://schemas.microsoft.com/office/drawing/2014/main" id="{244FF233-0930-4770-ADF3-1B1A9250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049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Exact for the older paper; precursor evidence only for revised exhibits.</a:t>
            </a:r>
          </a:p>
        </p:txBody>
      </p:sp>
      <p:sp>
        <p:nvSpPr>
          <p:cNvPr id="11" name="Partial match-bar">
            <a:extLst xmlns:a="http://schemas.openxmlformats.org/drawingml/2006/main">
              <a:ext uri="{FF2B5EF4-FFF2-40B4-BE49-F238E27FC236}">
                <a16:creationId xmlns:a16="http://schemas.microsoft.com/office/drawing/2014/main" id="{F0181655-D030-45C0-A3E0-D81445F8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0985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artial match-label">
            <a:extLst xmlns:a="http://schemas.openxmlformats.org/drawingml/2006/main">
              <a:ext uri="{FF2B5EF4-FFF2-40B4-BE49-F238E27FC236}">
                <a16:creationId xmlns:a16="http://schemas.microsoft.com/office/drawing/2014/main" id="{217D0269-3366-4106-A614-BFB2DD0B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479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7791F"/>
                </a:solidFill>
              </a:defRPr>
            </a:pPr>
            <a:r>
              <a:rPr sz="1725" b="1">
                <a:solidFill>
                  <a:srgbClr val="2E5B88"/>
                </a:solidFill>
              </a:rPr>
              <a:t>Ours-public</a:t>
            </a:r>
          </a:p>
        </p:txBody>
      </p:sp>
      <p:sp>
        <p:nvSpPr>
          <p:cNvPr id="13" name="Partial match-body">
            <a:extLst xmlns:a="http://schemas.openxmlformats.org/drawingml/2006/main">
              <a:ext uri="{FF2B5EF4-FFF2-40B4-BE49-F238E27FC236}">
                <a16:creationId xmlns:a16="http://schemas.microsoft.com/office/drawing/2014/main" id="{00ABC748-B2B5-4893-8CE6-FDE63773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8132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Figure 1 only: a later public vintage tests broad trend robustness.</a:t>
            </a:r>
          </a:p>
        </p:txBody>
      </p:sp>
      <p:sp>
        <p:nvSpPr>
          <p:cNvPr id="14" name="Context only-bar">
            <a:extLst xmlns:a="http://schemas.openxmlformats.org/drawingml/2006/main">
              <a:ext uri="{FF2B5EF4-FFF2-40B4-BE49-F238E27FC236}">
                <a16:creationId xmlns:a16="http://schemas.microsoft.com/office/drawing/2014/main" id="{A567A865-2022-41CE-BB30-AB58E2C2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862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ntext only-label">
            <a:extLst xmlns:a="http://schemas.openxmlformats.org/drawingml/2006/main">
              <a:ext uri="{FF2B5EF4-FFF2-40B4-BE49-F238E27FC236}">
                <a16:creationId xmlns:a16="http://schemas.microsoft.com/office/drawing/2014/main" id="{58F96603-D508-40F6-A485-776B0AF5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83232"/>
                </a:solidFill>
              </a:defRPr>
            </a:pPr>
            <a:r>
              <a:rPr sz="1725" b="1">
                <a:solidFill>
                  <a:srgbClr val="C65D16"/>
                </a:solidFill>
              </a:rPr>
              <a:t>Ours-authors</a:t>
            </a:r>
          </a:p>
        </p:txBody>
      </p:sp>
      <p:sp>
        <p:nvSpPr>
          <p:cNvPr id="16" name="Context only-body">
            <a:extLst xmlns:a="http://schemas.openxmlformats.org/drawingml/2006/main">
              <a:ext uri="{FF2B5EF4-FFF2-40B4-BE49-F238E27FC236}">
                <a16:creationId xmlns:a16="http://schemas.microsoft.com/office/drawing/2014/main" id="{005F9EA7-5FC9-4084-B230-06E7E891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576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Figures 1, 5, and 6: reconstructions. Figure 8: bounded proxy.</a:t>
            </a:r>
          </a:p>
        </p:txBody>
      </p:sp>
      <p:sp>
        <p:nvSpPr>
          <p:cNvPr id="17" name="boundary">
            <a:extLst xmlns:a="http://schemas.openxmlformats.org/drawingml/2006/main">
              <a:ext uri="{FF2B5EF4-FFF2-40B4-BE49-F238E27FC236}">
                <a16:creationId xmlns:a16="http://schemas.microsoft.com/office/drawing/2014/main" id="{79FA2934-1CA8-49CA-B94B-8B94B201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4381500" cy="1809750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boundary-title">
            <a:extLst xmlns:a="http://schemas.openxmlformats.org/drawingml/2006/main">
              <a:ext uri="{FF2B5EF4-FFF2-40B4-BE49-F238E27FC236}">
                <a16:creationId xmlns:a16="http://schemas.microsoft.com/office/drawing/2014/main" id="{90F1D0FA-121D-4208-9F34-9DE0662D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83232"/>
                </a:solidFill>
              </a:defRPr>
            </a:pPr>
            <a:r>
              <a:rPr sz="1575" b="1">
                <a:solidFill>
                  <a:srgbClr val="B83232"/>
                </a:solidFill>
              </a:rPr>
              <a:t>Naming rule</a:t>
            </a:r>
          </a:p>
        </p:txBody>
      </p:sp>
      <p:sp>
        <p:nvSpPr>
          <p:cNvPr id="19" name="boundary-body">
            <a:extLst xmlns:a="http://schemas.openxmlformats.org/drawingml/2006/main">
              <a:ext uri="{FF2B5EF4-FFF2-40B4-BE49-F238E27FC236}">
                <a16:creationId xmlns:a16="http://schemas.microsoft.com/office/drawing/2014/main" id="{DF98F5D6-9D18-45C9-8820-2EA73D0D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57625"/>
            <a:ext cx="3905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Call a result a reconstruction only when the supplied inputs identify the revised object. Otherwise retain the word proxy.</a:t>
            </a:r>
          </a:p>
        </p:txBody>
      </p:sp>
    </p:spTree>
    <p:extLst>
      <p:ext uri="{BB962C8B-B14F-4D97-AF65-F5344CB8AC3E}">
        <p14:creationId xmlns:p14="http://schemas.microsoft.com/office/powerpoint/2010/main" val="2211895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kicker">
            <a:extLst xmlns:a="http://schemas.openxmlformats.org/drawingml/2006/main">
              <a:ext uri="{FF2B5EF4-FFF2-40B4-BE49-F238E27FC236}">
                <a16:creationId xmlns:a16="http://schemas.microsoft.com/office/drawing/2014/main" id="{CCDADAC1-8C4D-48E3-9BDE-7D0105C42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METHOD CROSSWALK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C18D928-06E0-42B3-830B-D127EF4CF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Inputs, methods, and estimands change together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D5EE02D2-197F-445F-A35C-2EA62634A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521C9E1B-0054-453E-9D94-C8D5FAD94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03</a:t>
            </a:r>
          </a:p>
        </p:txBody>
      </p:sp>
      <p:sp>
        <p:nvSpPr>
          <p:cNvPr id="5" name="table-header-bg">
            <a:extLst xmlns:a="http://schemas.openxmlformats.org/drawingml/2006/main">
              <a:ext uri="{FF2B5EF4-FFF2-40B4-BE49-F238E27FC236}">
                <a16:creationId xmlns:a16="http://schemas.microsoft.com/office/drawing/2014/main" id="{9277E0ED-F6C4-4149-A42A-9164840C6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19200"/>
            <a:ext cx="11277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verdict-cell-0-0">
            <a:extLst xmlns:a="http://schemas.openxmlformats.org/drawingml/2006/main">
              <a:ext uri="{FF2B5EF4-FFF2-40B4-BE49-F238E27FC236}">
                <a16:creationId xmlns:a16="http://schemas.microsoft.com/office/drawing/2014/main" id="{A8B3D9D6-0512-4FCA-B5B6-F04A51B4D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954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Version</a:t>
            </a:r>
          </a:p>
        </p:txBody>
      </p:sp>
      <p:sp>
        <p:nvSpPr>
          <p:cNvPr id="7" name="verdict-cell-0-1">
            <a:extLst xmlns:a="http://schemas.openxmlformats.org/drawingml/2006/main">
              <a:ext uri="{FF2B5EF4-FFF2-40B4-BE49-F238E27FC236}">
                <a16:creationId xmlns:a16="http://schemas.microsoft.com/office/drawing/2014/main" id="{314D8280-1229-4323-953B-267191AC2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12954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Inputs</a:t>
            </a:r>
          </a:p>
        </p:txBody>
      </p:sp>
      <p:sp>
        <p:nvSpPr>
          <p:cNvPr id="8" name="verdict-cell-0-2">
            <a:extLst xmlns:a="http://schemas.openxmlformats.org/drawingml/2006/main">
              <a:ext uri="{FF2B5EF4-FFF2-40B4-BE49-F238E27FC236}">
                <a16:creationId xmlns:a16="http://schemas.microsoft.com/office/drawing/2014/main" id="{B1830714-8E8C-4575-B98C-D8D61A38E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295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Role</a:t>
            </a:r>
          </a:p>
        </p:txBody>
      </p:sp>
      <p:sp>
        <p:nvSpPr>
          <p:cNvPr id="9" name="verdict-cell-0-3">
            <a:extLst xmlns:a="http://schemas.openxmlformats.org/drawingml/2006/main">
              <a:ext uri="{FF2B5EF4-FFF2-40B4-BE49-F238E27FC236}">
                <a16:creationId xmlns:a16="http://schemas.microsoft.com/office/drawing/2014/main" id="{D2F375CA-13C8-44A6-967B-F9B785411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295400"/>
            <a:ext cx="490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Procedure / boundary</a:t>
            </a:r>
          </a:p>
        </p:txBody>
      </p:sp>
      <p:sp>
        <p:nvSpPr>
          <p:cNvPr id="10" name="verdict-cell-1-0">
            <a:extLst xmlns:a="http://schemas.openxmlformats.org/drawingml/2006/main">
              <a:ext uri="{FF2B5EF4-FFF2-40B4-BE49-F238E27FC236}">
                <a16:creationId xmlns:a16="http://schemas.microsoft.com/office/drawing/2014/main" id="{0B2DF458-B966-4124-8D83-B8844640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1714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1 · 2025 paper</a:t>
            </a:r>
          </a:p>
        </p:txBody>
      </p:sp>
      <p:sp>
        <p:nvSpPr>
          <p:cNvPr id="11" name="verdict-cell-1-1">
            <a:extLst xmlns:a="http://schemas.openxmlformats.org/drawingml/2006/main">
              <a:ext uri="{FF2B5EF4-FFF2-40B4-BE49-F238E27FC236}">
                <a16:creationId xmlns:a16="http://schemas.microsoft.com/office/drawing/2014/main" id="{90201C83-A6F1-4206-A7C6-167E15262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1809750"/>
            <a:ext cx="1905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Revised to 2019</a:t>
            </a:r>
          </a:p>
        </p:txBody>
      </p:sp>
      <p:sp>
        <p:nvSpPr>
          <p:cNvPr id="12" name="verdict-cell-1-2">
            <a:extLst xmlns:a="http://schemas.openxmlformats.org/drawingml/2006/main">
              <a:ext uri="{FF2B5EF4-FFF2-40B4-BE49-F238E27FC236}">
                <a16:creationId xmlns:a16="http://schemas.microsoft.com/office/drawing/2014/main" id="{32DE5752-BAC4-4A32-BB68-29A994CD9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09750"/>
            <a:ext cx="1809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F855A"/>
                </a:solidFill>
              </a:defRPr>
            </a:pPr>
            <a:r>
              <a:rPr sz="1275" b="1">
                <a:solidFill>
                  <a:srgbClr val="C65D16"/>
                </a:solidFill>
              </a:rPr>
              <a:t>Benchmark</a:t>
            </a:r>
          </a:p>
        </p:txBody>
      </p:sp>
      <p:sp>
        <p:nvSpPr>
          <p:cNvPr id="13" name="verdict-cell-1-3">
            <a:extLst xmlns:a="http://schemas.openxmlformats.org/drawingml/2006/main">
              <a:ext uri="{FF2B5EF4-FFF2-40B4-BE49-F238E27FC236}">
                <a16:creationId xmlns:a16="http://schemas.microsoft.com/office/drawing/2014/main" id="{9AAA378F-92D9-4D55-8C4B-8AA64536E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09750"/>
            <a:ext cx="49053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23 intermediaries × 34 instruments; matrix/Leontief method; exact code unavailable</a:t>
            </a:r>
          </a:p>
        </p:txBody>
      </p:sp>
      <p:sp>
        <p:nvSpPr>
          <p:cNvPr id="14" name="verdict-line-1">
            <a:extLst xmlns:a="http://schemas.openxmlformats.org/drawingml/2006/main">
              <a:ext uri="{FF2B5EF4-FFF2-40B4-BE49-F238E27FC236}">
                <a16:creationId xmlns:a16="http://schemas.microsoft.com/office/drawing/2014/main" id="{36D0BA28-40E0-46FA-B98A-F40D16595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verdict-cell-2-0">
            <a:extLst xmlns:a="http://schemas.openxmlformats.org/drawingml/2006/main">
              <a:ext uri="{FF2B5EF4-FFF2-40B4-BE49-F238E27FC236}">
                <a16:creationId xmlns:a16="http://schemas.microsoft.com/office/drawing/2014/main" id="{D6B34A90-10B7-43E7-A9CA-72853317E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90775"/>
            <a:ext cx="1714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2 · 2021 Stata</a:t>
            </a:r>
          </a:p>
        </p:txBody>
      </p:sp>
      <p:sp>
        <p:nvSpPr>
          <p:cNvPr id="16" name="verdict-cell-2-1">
            <a:extLst xmlns:a="http://schemas.openxmlformats.org/drawingml/2006/main">
              <a:ext uri="{FF2B5EF4-FFF2-40B4-BE49-F238E27FC236}">
                <a16:creationId xmlns:a16="http://schemas.microsoft.com/office/drawing/2014/main" id="{8FB108DE-6582-4A49-AA6A-28A3F5C60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390775"/>
            <a:ext cx="1905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Feb. 2021 kit</a:t>
            </a:r>
          </a:p>
        </p:txBody>
      </p:sp>
      <p:sp>
        <p:nvSpPr>
          <p:cNvPr id="17" name="verdict-cell-2-2">
            <a:extLst xmlns:a="http://schemas.openxmlformats.org/drawingml/2006/main">
              <a:ext uri="{FF2B5EF4-FFF2-40B4-BE49-F238E27FC236}">
                <a16:creationId xmlns:a16="http://schemas.microsoft.com/office/drawing/2014/main" id="{E40E8BB3-FA57-431A-B616-28D444DFE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390775"/>
            <a:ext cx="1809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F855A"/>
                </a:solidFill>
              </a:defRPr>
            </a:pPr>
            <a:r>
              <a:rPr sz="1275" b="1">
                <a:solidFill>
                  <a:srgbClr val="B83232"/>
                </a:solidFill>
              </a:rPr>
              <a:t>Context</a:t>
            </a:r>
          </a:p>
        </p:txBody>
      </p:sp>
      <p:sp>
        <p:nvSpPr>
          <p:cNvPr id="18" name="verdict-cell-2-3">
            <a:extLst xmlns:a="http://schemas.openxmlformats.org/drawingml/2006/main">
              <a:ext uri="{FF2B5EF4-FFF2-40B4-BE49-F238E27FC236}">
                <a16:creationId xmlns:a16="http://schemas.microsoft.com/office/drawing/2014/main" id="{8E4FAC62-7FB5-4C1D-A366-D28000686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90775"/>
            <a:ext cx="49053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Old Figure 6 composition; staged round-by-round debt allocation</a:t>
            </a:r>
          </a:p>
        </p:txBody>
      </p:sp>
      <p:sp>
        <p:nvSpPr>
          <p:cNvPr id="19" name="verdict-line-2">
            <a:extLst xmlns:a="http://schemas.openxmlformats.org/drawingml/2006/main">
              <a:ext uri="{FF2B5EF4-FFF2-40B4-BE49-F238E27FC236}">
                <a16:creationId xmlns:a16="http://schemas.microsoft.com/office/drawing/2014/main" id="{D6F3C624-5E2D-4D0C-9EBC-23391BE68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670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verdict-cell-3-0">
            <a:extLst xmlns:a="http://schemas.openxmlformats.org/drawingml/2006/main">
              <a:ext uri="{FF2B5EF4-FFF2-40B4-BE49-F238E27FC236}">
                <a16:creationId xmlns:a16="http://schemas.microsoft.com/office/drawing/2014/main" id="{7F3B4CD4-3510-4A32-AB75-15AFD905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71800"/>
            <a:ext cx="1714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3 · Ours-public</a:t>
            </a:r>
          </a:p>
        </p:txBody>
      </p:sp>
      <p:sp>
        <p:nvSpPr>
          <p:cNvPr id="21" name="verdict-cell-3-1">
            <a:extLst xmlns:a="http://schemas.openxmlformats.org/drawingml/2006/main">
              <a:ext uri="{FF2B5EF4-FFF2-40B4-BE49-F238E27FC236}">
                <a16:creationId xmlns:a16="http://schemas.microsoft.com/office/drawing/2014/main" id="{E8119FEB-B719-44B6-B3F2-CFDE3746A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971800"/>
            <a:ext cx="1905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2026 public</a:t>
            </a:r>
          </a:p>
        </p:txBody>
      </p:sp>
      <p:sp>
        <p:nvSpPr>
          <p:cNvPr id="22" name="verdict-cell-3-2">
            <a:extLst xmlns:a="http://schemas.openxmlformats.org/drawingml/2006/main">
              <a:ext uri="{FF2B5EF4-FFF2-40B4-BE49-F238E27FC236}">
                <a16:creationId xmlns:a16="http://schemas.microsoft.com/office/drawing/2014/main" id="{02EFC022-659F-4B94-988B-60DD62AF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971800"/>
            <a:ext cx="1809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B7791F"/>
                </a:solidFill>
              </a:defRPr>
            </a:pPr>
            <a:r>
              <a:rPr sz="1275" b="1">
                <a:solidFill>
                  <a:srgbClr val="2E5B88"/>
                </a:solidFill>
              </a:rPr>
              <a:t>Robustness</a:t>
            </a:r>
          </a:p>
        </p:txBody>
      </p:sp>
      <p:sp>
        <p:nvSpPr>
          <p:cNvPr id="23" name="verdict-cell-3-3">
            <a:extLst xmlns:a="http://schemas.openxmlformats.org/drawingml/2006/main">
              <a:ext uri="{FF2B5EF4-FFF2-40B4-BE49-F238E27FC236}">
                <a16:creationId xmlns:a16="http://schemas.microsoft.com/office/drawing/2014/main" id="{7BB53762-4019-4FC9-81A9-83ECF6C17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71800"/>
            <a:ext cx="49053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21 intermediaries; public classifications/equity; 1963-2019</a:t>
            </a:r>
          </a:p>
        </p:txBody>
      </p:sp>
      <p:sp>
        <p:nvSpPr>
          <p:cNvPr id="24" name="verdict-line-3">
            <a:extLst xmlns:a="http://schemas.openxmlformats.org/drawingml/2006/main">
              <a:ext uri="{FF2B5EF4-FFF2-40B4-BE49-F238E27FC236}">
                <a16:creationId xmlns:a16="http://schemas.microsoft.com/office/drawing/2014/main" id="{E118DD39-E35D-440D-8DAA-C42E439DB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48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verdict-cell-4-0">
            <a:extLst xmlns:a="http://schemas.openxmlformats.org/drawingml/2006/main">
              <a:ext uri="{FF2B5EF4-FFF2-40B4-BE49-F238E27FC236}">
                <a16:creationId xmlns:a16="http://schemas.microsoft.com/office/drawing/2014/main" id="{0915FE12-C5CA-49A5-97AB-B2BD4E2EA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52825"/>
            <a:ext cx="1714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4 · Ours-authors</a:t>
            </a:r>
          </a:p>
        </p:txBody>
      </p:sp>
      <p:sp>
        <p:nvSpPr>
          <p:cNvPr id="26" name="verdict-cell-4-1">
            <a:extLst xmlns:a="http://schemas.openxmlformats.org/drawingml/2006/main">
              <a:ext uri="{FF2B5EF4-FFF2-40B4-BE49-F238E27FC236}">
                <a16:creationId xmlns:a16="http://schemas.microsoft.com/office/drawing/2014/main" id="{E991A379-21C6-40AF-9F5D-8AA6C7C9C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552825"/>
            <a:ext cx="1905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Feb. 2021 kit</a:t>
            </a:r>
          </a:p>
        </p:txBody>
      </p:sp>
      <p:sp>
        <p:nvSpPr>
          <p:cNvPr id="27" name="verdict-cell-4-2">
            <a:extLst xmlns:a="http://schemas.openxmlformats.org/drawingml/2006/main">
              <a:ext uri="{FF2B5EF4-FFF2-40B4-BE49-F238E27FC236}">
                <a16:creationId xmlns:a16="http://schemas.microsoft.com/office/drawing/2014/main" id="{4B0A6676-7676-44BB-AAD9-8C49E9FCE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552825"/>
            <a:ext cx="1809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F855A"/>
                </a:solidFill>
              </a:defRPr>
            </a:pPr>
            <a:r>
              <a:rPr sz="1275" b="1">
                <a:solidFill>
                  <a:srgbClr val="2F855A"/>
                </a:solidFill>
              </a:rPr>
              <a:t>Primary</a:t>
            </a:r>
          </a:p>
        </p:txBody>
      </p:sp>
      <p:sp>
        <p:nvSpPr>
          <p:cNvPr id="28" name="verdict-cell-4-3">
            <a:extLst xmlns:a="http://schemas.openxmlformats.org/drawingml/2006/main">
              <a:ext uri="{FF2B5EF4-FFF2-40B4-BE49-F238E27FC236}">
                <a16:creationId xmlns:a16="http://schemas.microsoft.com/office/drawing/2014/main" id="{9973B27A-479C-4CC7-B8D8-7DC7CF473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52825"/>
            <a:ext cx="49053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Rebuild intermediary claims; 2025 Figure 1 definition; 1963-2016</a:t>
            </a:r>
          </a:p>
        </p:txBody>
      </p:sp>
      <p:sp>
        <p:nvSpPr>
          <p:cNvPr id="29" name="verdict-line-4">
            <a:extLst xmlns:a="http://schemas.openxmlformats.org/drawingml/2006/main">
              <a:ext uri="{FF2B5EF4-FFF2-40B4-BE49-F238E27FC236}">
                <a16:creationId xmlns:a16="http://schemas.microsoft.com/office/drawing/2014/main" id="{84F5ECF9-057D-418A-B1F9-411A9AAD7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2907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verdict-cell-5-0">
            <a:extLst xmlns:a="http://schemas.openxmlformats.org/drawingml/2006/main">
              <a:ext uri="{FF2B5EF4-FFF2-40B4-BE49-F238E27FC236}">
                <a16:creationId xmlns:a16="http://schemas.microsoft.com/office/drawing/2014/main" id="{E2E677CE-CA94-4502-BF76-461C588D8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33850"/>
            <a:ext cx="1714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PRIMARY TEST</a:t>
            </a:r>
          </a:p>
        </p:txBody>
      </p:sp>
      <p:sp>
        <p:nvSpPr>
          <p:cNvPr id="31" name="verdict-cell-5-1">
            <a:extLst xmlns:a="http://schemas.openxmlformats.org/drawingml/2006/main">
              <a:ext uri="{FF2B5EF4-FFF2-40B4-BE49-F238E27FC236}">
                <a16:creationId xmlns:a16="http://schemas.microsoft.com/office/drawing/2014/main" id="{4DC3A0C4-FE6D-4DF9-B2A1-2F556A132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133850"/>
            <a:ext cx="1905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#4 versus #1</a:t>
            </a:r>
          </a:p>
        </p:txBody>
      </p:sp>
      <p:sp>
        <p:nvSpPr>
          <p:cNvPr id="32" name="verdict-cell-5-2">
            <a:extLst xmlns:a="http://schemas.openxmlformats.org/drawingml/2006/main">
              <a:ext uri="{FF2B5EF4-FFF2-40B4-BE49-F238E27FC236}">
                <a16:creationId xmlns:a16="http://schemas.microsoft.com/office/drawing/2014/main" id="{07019A80-EDEE-486E-B2D1-F93AA2D70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133850"/>
            <a:ext cx="1809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B83232"/>
                </a:solidFill>
              </a:defRPr>
            </a:pPr>
            <a:r>
              <a:rPr sz="1275" b="1">
                <a:solidFill>
                  <a:srgbClr val="C65D16"/>
                </a:solidFill>
              </a:rPr>
              <a:t>Main result</a:t>
            </a:r>
          </a:p>
        </p:txBody>
      </p:sp>
      <p:sp>
        <p:nvSpPr>
          <p:cNvPr id="33" name="verdict-cell-5-3">
            <a:extLst xmlns:a="http://schemas.openxmlformats.org/drawingml/2006/main">
              <a:ext uri="{FF2B5EF4-FFF2-40B4-BE49-F238E27FC236}">
                <a16:creationId xmlns:a16="http://schemas.microsoft.com/office/drawing/2014/main" id="{8B3EFD13-83E1-4486-AA68-56C55EB2D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33850"/>
            <a:ext cx="49053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Same target object; different vintage and incomplete old-kit denominator</a:t>
            </a:r>
          </a:p>
        </p:txBody>
      </p:sp>
      <p:sp>
        <p:nvSpPr>
          <p:cNvPr id="34" name="verdict-line-5">
            <a:extLst xmlns:a="http://schemas.openxmlformats.org/drawingml/2006/main">
              <a:ext uri="{FF2B5EF4-FFF2-40B4-BE49-F238E27FC236}">
                <a16:creationId xmlns:a16="http://schemas.microsoft.com/office/drawing/2014/main" id="{1BB7F304-F599-4808-9888-64494CD11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01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verdict-cell-6-0">
            <a:extLst xmlns:a="http://schemas.openxmlformats.org/drawingml/2006/main">
              <a:ext uri="{FF2B5EF4-FFF2-40B4-BE49-F238E27FC236}">
                <a16:creationId xmlns:a16="http://schemas.microsoft.com/office/drawing/2014/main" id="{75B66E9E-9A08-4F65-8C04-69435F395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14875"/>
            <a:ext cx="1714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SUPPORTING</a:t>
            </a:r>
          </a:p>
        </p:txBody>
      </p:sp>
      <p:sp>
        <p:nvSpPr>
          <p:cNvPr id="36" name="verdict-cell-6-1">
            <a:extLst xmlns:a="http://schemas.openxmlformats.org/drawingml/2006/main">
              <a:ext uri="{FF2B5EF4-FFF2-40B4-BE49-F238E27FC236}">
                <a16:creationId xmlns:a16="http://schemas.microsoft.com/office/drawing/2014/main" id="{13C0A687-EF0A-4230-8C81-CD3663E62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714875"/>
            <a:ext cx="1905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#4 vs #2 / #3</a:t>
            </a:r>
          </a:p>
        </p:txBody>
      </p:sp>
      <p:sp>
        <p:nvSpPr>
          <p:cNvPr id="37" name="verdict-cell-6-2">
            <a:extLst xmlns:a="http://schemas.openxmlformats.org/drawingml/2006/main">
              <a:ext uri="{FF2B5EF4-FFF2-40B4-BE49-F238E27FC236}">
                <a16:creationId xmlns:a16="http://schemas.microsoft.com/office/drawing/2014/main" id="{C203F508-9E22-4D53-8A5F-7C87E396C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714875"/>
            <a:ext cx="1809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B7791F"/>
                </a:solidFill>
              </a:defRPr>
            </a:pPr>
            <a:r>
              <a:rPr sz="1275" b="1">
                <a:solidFill>
                  <a:srgbClr val="627D98"/>
                </a:solidFill>
              </a:rPr>
              <a:t>Diagnostics</a:t>
            </a:r>
          </a:p>
        </p:txBody>
      </p:sp>
      <p:sp>
        <p:nvSpPr>
          <p:cNvPr id="38" name="verdict-cell-6-3">
            <a:extLst xmlns:a="http://schemas.openxmlformats.org/drawingml/2006/main">
              <a:ext uri="{FF2B5EF4-FFF2-40B4-BE49-F238E27FC236}">
                <a16:creationId xmlns:a16="http://schemas.microsoft.com/office/drawing/2014/main" id="{5CEB16EC-EBA3-4D0B-92C4-8B65DD42B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14875"/>
            <a:ext cx="49053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Method lineage and public-vintage robustness; never pool the series</a:t>
            </a:r>
          </a:p>
        </p:txBody>
      </p:sp>
      <p:sp>
        <p:nvSpPr>
          <p:cNvPr id="39" name="verdict-line-6">
            <a:extLst xmlns:a="http://schemas.openxmlformats.org/drawingml/2006/main">
              <a:ext uri="{FF2B5EF4-FFF2-40B4-BE49-F238E27FC236}">
                <a16:creationId xmlns:a16="http://schemas.microsoft.com/office/drawing/2014/main" id="{835E53B7-4377-445E-B666-317B36E94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911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takeaway">
            <a:extLst xmlns:a="http://schemas.openxmlformats.org/drawingml/2006/main">
              <a:ext uri="{FF2B5EF4-FFF2-40B4-BE49-F238E27FC236}">
                <a16:creationId xmlns:a16="http://schemas.microsoft.com/office/drawing/2014/main" id="{8BAB41DD-3568-4699-A969-60527F9D4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14975"/>
            <a:ext cx="11277600" cy="962025"/>
          </a:xfrm>
          <a:prstGeom xmlns:a="http://schemas.openxmlformats.org/drawingml/2006/main" prst="roundRect">
            <a:avLst>
              <a:gd name="adj" fmla="val 3960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takeaway-title">
            <a:extLst xmlns:a="http://schemas.openxmlformats.org/drawingml/2006/main">
              <a:ext uri="{FF2B5EF4-FFF2-40B4-BE49-F238E27FC236}">
                <a16:creationId xmlns:a16="http://schemas.microsoft.com/office/drawing/2014/main" id="{773F5E13-B739-44D4-9FD3-C4EE01323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5950"/>
            <a:ext cx="1809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Rule</a:t>
            </a:r>
          </a:p>
        </p:txBody>
      </p:sp>
      <p:sp>
        <p:nvSpPr>
          <p:cNvPr id="42" name="takeaway-body">
            <a:extLst xmlns:a="http://schemas.openxmlformats.org/drawingml/2006/main">
              <a:ext uri="{FF2B5EF4-FFF2-40B4-BE49-F238E27FC236}">
                <a16:creationId xmlns:a16="http://schemas.microsoft.com/office/drawing/2014/main" id="{D8EA2B6A-DE5B-46BD-89DB-2AE9BB69A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5638800"/>
            <a:ext cx="8858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Only #4 versus #1 answers the project's central replication question. #2 and #3 explain lineage and robustness; they do not replace the benchmark.</a:t>
            </a:r>
          </a:p>
        </p:txBody>
      </p:sp>
    </p:spTree>
    <p:extLst>
      <p:ext uri="{BB962C8B-B14F-4D97-AF65-F5344CB8AC3E}">
        <p14:creationId xmlns:p14="http://schemas.microsoft.com/office/powerpoint/2010/main" val="39159974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A955CD9-B4EF-4E20-A3FC-1D7B4F59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PRIMARY COMPARISON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E8A36E9-77A3-4197-AAEB-944D96A2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Our old-input reconstruction tracks the 2025 Figure 1 pattern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514C6BB1-D2D7-4502-B63E-CB46F522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846DD66-DAE1-4F4D-9638-E1108AC9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04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AC7EBFD9-49FB-40B3-B7BA-0564A41A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2025 paper · Figure 1 · PDF p. 11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D7EBD11C-5C33-487B-AFE7-65F7CD7D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239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Our implementation · 2021 authors' inputs</a:t>
            </a:r>
          </a:p>
        </p:txBody>
      </p:sp>
      <p:sp>
        <p:nvSpPr>
          <p:cNvPr id="7" name="Regenerated 2021 safe-asset demand figure-frame">
            <a:extLst xmlns:a="http://schemas.openxmlformats.org/drawingml/2006/main">
              <a:ext uri="{FF2B5EF4-FFF2-40B4-BE49-F238E27FC236}">
                <a16:creationId xmlns:a16="http://schemas.microsoft.com/office/drawing/2014/main" id="{1442A94D-98B9-4DC6-8E97-11AE6BD7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9" name="2025 Figure 10 safe-asset demand-frame">
            <a:extLst xmlns:a="http://schemas.openxmlformats.org/drawingml/2006/main">
              <a:ext uri="{FF2B5EF4-FFF2-40B4-BE49-F238E27FC236}">
                <a16:creationId xmlns:a16="http://schemas.microsoft.com/office/drawing/2014/main" id="{98F7C92D-66A0-4F20-83BF-E349E5E8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8E0201B9-6249-4F69-8DD3-3C91F0AF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E6607933-8AC4-4796-94EB-F2FB6C08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5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DAEE4CAF-C158-4F1E-AF88-9B2A7277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314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2F855A"/>
                </a:solidFill>
              </a:rPr>
              <a:t>CLOSE LEVEL MATCH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F5E1C807-0687-4A75-8864-05548460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3340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The national-income-normalized level has correlation 0.995 and MAE 5.3 pp against the digitized 2025 curve over 1963-2016.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9E94ECB7-8637-4F89-9ABB-1A8B2FEF5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The paper caption is removed from the image and restated here: the lines report the stock-to-income level and household-financial-asset share held indirectly.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a12b65cdca4e52"/>
          <a:stretch xmlns:a="http://schemas.openxmlformats.org/drawingml/2006/main"/>
        </p:blipFill>
        <p:spPr>
          <a:xfrm xmlns:a="http://schemas.openxmlformats.org/drawingml/2006/main">
            <a:off x="632746" y="1552099"/>
            <a:ext cx="5059204" cy="3372802"/>
          </a:xfrm>
          <a:prstGeom xmlns:a="http://schemas.openxmlformats.org/drawingml/2006/main" prst="rect">
            <a:avLst/>
          </a:prstGeom>
        </p:spPr>
      </p:pic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a2508236734d7e"/>
          <a:stretch xmlns:a="http://schemas.openxmlformats.org/drawingml/2006/main"/>
        </p:blipFill>
        <p:spPr>
          <a:xfrm xmlns:a="http://schemas.openxmlformats.org/drawingml/2006/main">
            <a:off x="6400802" y="1776603"/>
            <a:ext cx="5257795" cy="29236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33000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7F0086E9-FAF6-4028-AC6E-B9647412E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1 DIAGNOSTIC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86E9C56-6638-4AEA-9D60-75E9AD968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The remaining Figure 1 gap is concentrated in the share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FD44DB27-8263-48F7-A497-B30A7CAEF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42183ED0-D88C-4E88-B76A-96D667097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05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C0E1546E-C6D6-4727-AACF-C5C1D2AF7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Level behind the veil · paper versus ours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6E70826D-DB54-4A3B-99A6-A81836907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239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Share behind the veil · denominator variants</a:t>
            </a:r>
          </a:p>
        </p:txBody>
      </p:sp>
      <p:sp>
        <p:nvSpPr>
          <p:cNvPr id="7" name="Regenerated 2021 net household debt figure-frame">
            <a:extLst xmlns:a="http://schemas.openxmlformats.org/drawingml/2006/main">
              <a:ext uri="{FF2B5EF4-FFF2-40B4-BE49-F238E27FC236}">
                <a16:creationId xmlns:a16="http://schemas.microsoft.com/office/drawing/2014/main" id="{3F047B99-64F3-4895-A54A-C471F2AFE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6c778a46924bbb"/>
          <a:stretch xmlns:a="http://schemas.openxmlformats.org/drawingml/2006/main"/>
        </p:blipFill>
        <p:spPr>
          <a:xfrm xmlns:a="http://schemas.openxmlformats.org/drawingml/2006/main">
            <a:off x="816531" y="1604963"/>
            <a:ext cx="4691538" cy="3286125"/>
          </a:xfrm>
          <a:prstGeom xmlns:a="http://schemas.openxmlformats.org/drawingml/2006/main" prst="rect">
            <a:avLst/>
          </a:prstGeom>
        </p:spPr>
      </p:pic>
      <p:sp>
        <p:nvSpPr>
          <p:cNvPr id="9" name="2025 Figure 8 net household debt by wealth group-frame">
            <a:extLst xmlns:a="http://schemas.openxmlformats.org/drawingml/2006/main">
              <a:ext uri="{FF2B5EF4-FFF2-40B4-BE49-F238E27FC236}">
                <a16:creationId xmlns:a16="http://schemas.microsoft.com/office/drawing/2014/main" id="{DC9466A9-B472-47C3-8EDD-3704637F1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59a0640ae5410e"/>
          <a:stretch xmlns:a="http://schemas.openxmlformats.org/drawingml/2006/main"/>
        </p:blipFill>
        <p:spPr>
          <a:xfrm xmlns:a="http://schemas.openxmlformats.org/drawingml/2006/main">
            <a:off x="6736939" y="1650463"/>
            <a:ext cx="4585522" cy="3195125"/>
          </a:xfrm>
          <a:prstGeom xmlns:a="http://schemas.openxmlformats.org/drawingml/2006/main" prst="rect">
            <a:avLst/>
          </a:prstGeom>
        </p:spPr>
      </p:pic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1C925110-49A5-4879-880D-164F772BA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EE9A051B-5489-4C57-A6E7-87E94B1DF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5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DB0A1B04-3F4A-46A1-90C8-063756DD4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314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2F855A"/>
                </a:solidFill>
              </a:rPr>
              <a:t>WHAT MATCHES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DAFEEB27-743A-4B0E-9669-6B80B6BF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3340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Level: 144.4% versus 148.5% in 1963; 263.9% versus 269.0% in 2016.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B270CE98-0251-4F19-9C82-CE334DFC4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Share MAE is 6.6 pp for the paper-scope proxy and 3.2 pp for the broad denominator; the latter's closer fit is not proof of conceptual equivalence.</a:t>
            </a:r>
          </a:p>
        </p:txBody>
      </p:sp>
    </p:spTree>
    <p:extLst>
      <p:ext uri="{BB962C8B-B14F-4D97-AF65-F5344CB8AC3E}">
        <p14:creationId xmlns:p14="http://schemas.microsoft.com/office/powerpoint/2010/main" val="71092648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949862FF-4E70-45EE-8D3F-EC75FE50A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AUTHORS' OLD APPROACH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B57B4CC-C0B6-43A4-98CE-FDD79FAED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The 2021 Stata output is a precursor, not the same outcome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F54495B2-65BA-48BE-A010-1B128A43A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96BAA22-FABA-4ADF-B9AC-91BC3CE05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06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EFF2FE23-8F35-47AE-97DD-4A27FF9E4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2021 package · old Figure 6 · Stata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1BD06C6C-4210-4C79-B13C-26093AC2B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239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Our Python · 2025-defined Figure 1 object</a:t>
            </a:r>
          </a:p>
        </p:txBody>
      </p:sp>
      <p:sp>
        <p:nvSpPr>
          <p:cNvPr id="7" name="Regenerated 2021 ownership-detail figure-frame">
            <a:extLst xmlns:a="http://schemas.openxmlformats.org/drawingml/2006/main">
              <a:ext uri="{FF2B5EF4-FFF2-40B4-BE49-F238E27FC236}">
                <a16:creationId xmlns:a16="http://schemas.microsoft.com/office/drawing/2014/main" id="{C5F83280-F332-41F3-91B6-FBB5CC7AF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d12fba94434c25"/>
          <a:stretch xmlns:a="http://schemas.openxmlformats.org/drawingml/2006/main"/>
        </p:blipFill>
        <p:spPr>
          <a:xfrm xmlns:a="http://schemas.openxmlformats.org/drawingml/2006/main">
            <a:off x="533400" y="1933575"/>
            <a:ext cx="5257800" cy="2628900"/>
          </a:xfrm>
          <a:prstGeom xmlns:a="http://schemas.openxmlformats.org/drawingml/2006/main" prst="rect">
            <a:avLst/>
          </a:prstGeom>
        </p:spPr>
      </p:pic>
      <p:sp>
        <p:nvSpPr>
          <p:cNvPr id="9" name="2025 Figure 1 indirect household ownership-frame">
            <a:extLst xmlns:a="http://schemas.openxmlformats.org/drawingml/2006/main">
              <a:ext uri="{FF2B5EF4-FFF2-40B4-BE49-F238E27FC236}">
                <a16:creationId xmlns:a16="http://schemas.microsoft.com/office/drawing/2014/main" id="{D7AA4A79-3DAC-4940-9455-789DBEE47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fc36de7a4447d3"/>
          <a:stretch xmlns:a="http://schemas.openxmlformats.org/drawingml/2006/main"/>
        </p:blipFill>
        <p:spPr>
          <a:xfrm xmlns:a="http://schemas.openxmlformats.org/drawingml/2006/main">
            <a:off x="6400800" y="1776649"/>
            <a:ext cx="5257800" cy="2923702"/>
          </a:xfrm>
          <a:prstGeom xmlns:a="http://schemas.openxmlformats.org/drawingml/2006/main" prst="rect">
            <a:avLst/>
          </a:prstGeom>
        </p:spPr>
      </p:pic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F9B87890-6855-4148-90A7-D62A55002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9C8ADBB0-34EF-41B0-87C6-19F75FEC3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32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2C8B987B-C68F-4FE6-9971-B5469B4EB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314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83232"/>
                </a:solidFill>
              </a:defRPr>
            </a:pPr>
            <a:r>
              <a:rPr sz="1725" b="1">
                <a:solidFill>
                  <a:srgbClr val="B83232"/>
                </a:solidFill>
              </a:rPr>
              <a:t>NOT A CONTROLLED TEST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A09CF13E-E382-44E7-8AEE-8B30C741B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3340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Both use the same broad Financial Accounts lineage, but the Stata chart decomposes increases in debt holdings; ours totals all household claims on intermediaries.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BC95876E-A4C5-4ACB-9FBE-569F32140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Different estimands plus different algorithms mean the visual gap cannot be attributed purely to the 2021 round-by-round versus 2025 matrix methodology.</a:t>
            </a:r>
          </a:p>
        </p:txBody>
      </p:sp>
    </p:spTree>
    <p:extLst>
      <p:ext uri="{BB962C8B-B14F-4D97-AF65-F5344CB8AC3E}">
        <p14:creationId xmlns:p14="http://schemas.microsoft.com/office/powerpoint/2010/main" val="202854862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kicker">
            <a:extLst xmlns:a="http://schemas.openxmlformats.org/drawingml/2006/main">
              <a:ext uri="{FF2B5EF4-FFF2-40B4-BE49-F238E27FC236}">
                <a16:creationId xmlns:a16="http://schemas.microsoft.com/office/drawing/2014/main" id="{EAB68E1F-5F14-41BF-B5B2-0B83C02C7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SECONDARY ROBUSTNESS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6B9ACAC-E63B-4F9A-A769-27A011FD5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Public data recover the broad rise through 2019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2E310BCA-30B4-4B4B-9F0D-082B1D7DE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230AEA7-5E87-4D82-B1C4-A09E0F2B1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07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433D43E3-23C7-49D8-9C90-19B44AAA1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Procedure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EBA5073A-538F-4458-851D-23CDE872E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123950"/>
            <a:ext cx="506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Our public-data Figure 1 · 1963-2019</a:t>
            </a:r>
          </a:p>
        </p:txBody>
      </p:sp>
      <p:sp>
        <p:nvSpPr>
          <p:cNvPr id="7" name="table-frame">
            <a:extLst xmlns:a="http://schemas.openxmlformats.org/drawingml/2006/main">
              <a:ext uri="{FF2B5EF4-FFF2-40B4-BE49-F238E27FC236}">
                <a16:creationId xmlns:a16="http://schemas.microsoft.com/office/drawing/2014/main" id="{DF9B9604-BE23-46D2-9562-D6BCA821E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8" name="table-title">
            <a:extLst xmlns:a="http://schemas.openxmlformats.org/drawingml/2006/main">
              <a:ext uri="{FF2B5EF4-FFF2-40B4-BE49-F238E27FC236}">
                <a16:creationId xmlns:a16="http://schemas.microsoft.com/office/drawing/2014/main" id="{081084E9-D741-43A8-900E-CF85F270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666875"/>
            <a:ext cx="485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Public-data construction</a:t>
            </a:r>
          </a:p>
        </p:txBody>
      </p:sp>
      <p:sp>
        <p:nvSpPr>
          <p:cNvPr id="9" name="cell-0-0">
            <a:extLst xmlns:a="http://schemas.openxmlformats.org/drawingml/2006/main">
              <a:ext uri="{FF2B5EF4-FFF2-40B4-BE49-F238E27FC236}">
                <a16:creationId xmlns:a16="http://schemas.microsoft.com/office/drawing/2014/main" id="{578615A5-537D-460B-8322-D66557A3B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765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Input</a:t>
            </a:r>
          </a:p>
        </p:txBody>
      </p:sp>
      <p:sp>
        <p:nvSpPr>
          <p:cNvPr id="10" name="cell-0-1">
            <a:extLst xmlns:a="http://schemas.openxmlformats.org/drawingml/2006/main">
              <a:ext uri="{FF2B5EF4-FFF2-40B4-BE49-F238E27FC236}">
                <a16:creationId xmlns:a16="http://schemas.microsoft.com/office/drawing/2014/main" id="{185BC6AA-6653-4B7B-BC03-67E44DB69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4765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Coverage</a:t>
            </a:r>
          </a:p>
        </p:txBody>
      </p:sp>
      <p:sp>
        <p:nvSpPr>
          <p:cNvPr id="11" name="cell-0-2">
            <a:extLst xmlns:a="http://schemas.openxmlformats.org/drawingml/2006/main">
              <a:ext uri="{FF2B5EF4-FFF2-40B4-BE49-F238E27FC236}">
                <a16:creationId xmlns:a16="http://schemas.microsoft.com/office/drawing/2014/main" id="{828C9540-C458-4921-8D7B-F2F3FBABB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4765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Treatment</a:t>
            </a:r>
          </a:p>
        </p:txBody>
      </p:sp>
      <p:sp>
        <p:nvSpPr>
          <p:cNvPr id="12" name="row-line-0">
            <a:extLst xmlns:a="http://schemas.openxmlformats.org/drawingml/2006/main">
              <a:ext uri="{FF2B5EF4-FFF2-40B4-BE49-F238E27FC236}">
                <a16:creationId xmlns:a16="http://schemas.microsoft.com/office/drawing/2014/main" id="{D69F3A4E-8E5A-44AE-AB89-D12450A3E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9082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ell-1-0">
            <a:extLst xmlns:a="http://schemas.openxmlformats.org/drawingml/2006/main">
              <a:ext uri="{FF2B5EF4-FFF2-40B4-BE49-F238E27FC236}">
                <a16:creationId xmlns:a16="http://schemas.microsoft.com/office/drawing/2014/main" id="{375EAF70-F87B-4459-AB19-10E3F57A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337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FWTW</a:t>
            </a:r>
          </a:p>
        </p:txBody>
      </p:sp>
      <p:sp>
        <p:nvSpPr>
          <p:cNvPr id="14" name="cell-1-1">
            <a:extLst xmlns:a="http://schemas.openxmlformats.org/drawingml/2006/main">
              <a:ext uri="{FF2B5EF4-FFF2-40B4-BE49-F238E27FC236}">
                <a16:creationId xmlns:a16="http://schemas.microsoft.com/office/drawing/2014/main" id="{DB8CB67E-0F32-4F5D-8B84-368704233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9337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1963-2019</a:t>
            </a:r>
          </a:p>
        </p:txBody>
      </p:sp>
      <p:sp>
        <p:nvSpPr>
          <p:cNvPr id="15" name="cell-1-2">
            <a:extLst xmlns:a="http://schemas.openxmlformats.org/drawingml/2006/main">
              <a:ext uri="{FF2B5EF4-FFF2-40B4-BE49-F238E27FC236}">
                <a16:creationId xmlns:a16="http://schemas.microsoft.com/office/drawing/2014/main" id="{A588232C-CDA7-48B1-B9EA-9DEFFC3AC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9337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21 sectors</a:t>
            </a:r>
          </a:p>
        </p:txBody>
      </p:sp>
      <p:sp>
        <p:nvSpPr>
          <p:cNvPr id="16" name="row-line-1">
            <a:extLst xmlns:a="http://schemas.openxmlformats.org/drawingml/2006/main">
              <a:ext uri="{FF2B5EF4-FFF2-40B4-BE49-F238E27FC236}">
                <a16:creationId xmlns:a16="http://schemas.microsoft.com/office/drawing/2014/main" id="{5DC11FF2-CA06-4350-9B7E-DAE541383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4802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cell-2-0">
            <a:extLst xmlns:a="http://schemas.openxmlformats.org/drawingml/2006/main">
              <a:ext uri="{FF2B5EF4-FFF2-40B4-BE49-F238E27FC236}">
                <a16:creationId xmlns:a16="http://schemas.microsoft.com/office/drawing/2014/main" id="{BB249022-439E-4DFD-8870-B63B9506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909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BEA/FRED</a:t>
            </a:r>
          </a:p>
        </p:txBody>
      </p:sp>
      <p:sp>
        <p:nvSpPr>
          <p:cNvPr id="18" name="cell-2-1">
            <a:extLst xmlns:a="http://schemas.openxmlformats.org/drawingml/2006/main">
              <a:ext uri="{FF2B5EF4-FFF2-40B4-BE49-F238E27FC236}">
                <a16:creationId xmlns:a16="http://schemas.microsoft.com/office/drawing/2014/main" id="{87840E93-4394-4955-914E-BD1A86341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3909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Annual</a:t>
            </a:r>
          </a:p>
        </p:txBody>
      </p:sp>
      <p:sp>
        <p:nvSpPr>
          <p:cNvPr id="19" name="cell-2-2">
            <a:extLst xmlns:a="http://schemas.openxmlformats.org/drawingml/2006/main">
              <a:ext uri="{FF2B5EF4-FFF2-40B4-BE49-F238E27FC236}">
                <a16:creationId xmlns:a16="http://schemas.microsoft.com/office/drawing/2014/main" id="{6AE24D16-27CB-4592-8B92-E7B21942B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3909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NI denominator</a:t>
            </a:r>
          </a:p>
        </p:txBody>
      </p:sp>
      <p:sp>
        <p:nvSpPr>
          <p:cNvPr id="20" name="row-line-2">
            <a:extLst xmlns:a="http://schemas.openxmlformats.org/drawingml/2006/main">
              <a:ext uri="{FF2B5EF4-FFF2-40B4-BE49-F238E27FC236}">
                <a16:creationId xmlns:a16="http://schemas.microsoft.com/office/drawing/2014/main" id="{58202A1E-47E9-4450-9AAF-4809157C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0522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cell-3-0">
            <a:extLst xmlns:a="http://schemas.openxmlformats.org/drawingml/2006/main">
              <a:ext uri="{FF2B5EF4-FFF2-40B4-BE49-F238E27FC236}">
                <a16:creationId xmlns:a16="http://schemas.microsoft.com/office/drawing/2014/main" id="{5D5C5D74-A455-4E52-8A25-CDCBC8D7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481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Equity</a:t>
            </a:r>
          </a:p>
        </p:txBody>
      </p:sp>
      <p:sp>
        <p:nvSpPr>
          <p:cNvPr id="22" name="cell-3-1">
            <a:extLst xmlns:a="http://schemas.openxmlformats.org/drawingml/2006/main">
              <a:ext uri="{FF2B5EF4-FFF2-40B4-BE49-F238E27FC236}">
                <a16:creationId xmlns:a16="http://schemas.microsoft.com/office/drawing/2014/main" id="{73DF07FB-E70E-4854-A60E-F8243C808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8481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Later vintage</a:t>
            </a:r>
          </a:p>
        </p:txBody>
      </p:sp>
      <p:sp>
        <p:nvSpPr>
          <p:cNvPr id="23" name="cell-3-2">
            <a:extLst xmlns:a="http://schemas.openxmlformats.org/drawingml/2006/main">
              <a:ext uri="{FF2B5EF4-FFF2-40B4-BE49-F238E27FC236}">
                <a16:creationId xmlns:a16="http://schemas.microsoft.com/office/drawing/2014/main" id="{3E8F525E-F811-4AC8-9E28-88298201D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8481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Public proxy</a:t>
            </a:r>
          </a:p>
        </p:txBody>
      </p:sp>
      <p:sp>
        <p:nvSpPr>
          <p:cNvPr id="24" name="row-line-3">
            <a:extLst xmlns:a="http://schemas.openxmlformats.org/drawingml/2006/main">
              <a:ext uri="{FF2B5EF4-FFF2-40B4-BE49-F238E27FC236}">
                <a16:creationId xmlns:a16="http://schemas.microsoft.com/office/drawing/2014/main" id="{818FEF36-9BF4-4EA1-976A-5EA965CA8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6242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cell-4-0">
            <a:extLst xmlns:a="http://schemas.openxmlformats.org/drawingml/2006/main">
              <a:ext uri="{FF2B5EF4-FFF2-40B4-BE49-F238E27FC236}">
                <a16:creationId xmlns:a16="http://schemas.microsoft.com/office/drawing/2014/main" id="{72CD9AF7-AAEF-488F-8615-0686F1259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053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Output</a:t>
            </a:r>
          </a:p>
        </p:txBody>
      </p:sp>
      <p:sp>
        <p:nvSpPr>
          <p:cNvPr id="26" name="cell-4-1">
            <a:extLst xmlns:a="http://schemas.openxmlformats.org/drawingml/2006/main">
              <a:ext uri="{FF2B5EF4-FFF2-40B4-BE49-F238E27FC236}">
                <a16:creationId xmlns:a16="http://schemas.microsoft.com/office/drawing/2014/main" id="{8E997FD0-B881-427E-8EA9-E24A4D126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305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Two ratios</a:t>
            </a:r>
          </a:p>
        </p:txBody>
      </p:sp>
      <p:sp>
        <p:nvSpPr>
          <p:cNvPr id="27" name="cell-4-2">
            <a:extLst xmlns:a="http://schemas.openxmlformats.org/drawingml/2006/main">
              <a:ext uri="{FF2B5EF4-FFF2-40B4-BE49-F238E27FC236}">
                <a16:creationId xmlns:a16="http://schemas.microsoft.com/office/drawing/2014/main" id="{6AE699B0-0AEF-4868-BF2E-0C8DAD10E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30530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Robustness</a:t>
            </a:r>
          </a:p>
        </p:txBody>
      </p:sp>
      <p:sp>
        <p:nvSpPr>
          <p:cNvPr id="28" name="row-line-4">
            <a:extLst xmlns:a="http://schemas.openxmlformats.org/drawingml/2006/main">
              <a:ext uri="{FF2B5EF4-FFF2-40B4-BE49-F238E27FC236}">
                <a16:creationId xmlns:a16="http://schemas.microsoft.com/office/drawing/2014/main" id="{0704D39B-5682-4E58-8970-C924CACF6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9625"/>
            <a:ext cx="447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2025 Figure 9 debt-financing flows-frame">
            <a:extLst xmlns:a="http://schemas.openxmlformats.org/drawingml/2006/main">
              <a:ext uri="{FF2B5EF4-FFF2-40B4-BE49-F238E27FC236}">
                <a16:creationId xmlns:a16="http://schemas.microsoft.com/office/drawing/2014/main" id="{219A4000-C6D6-4F3C-A70A-16384C12D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40c3c5f99843e1"/>
          <a:stretch xmlns:a="http://schemas.openxmlformats.org/drawingml/2006/main"/>
        </p:blipFill>
        <p:spPr>
          <a:xfrm xmlns:a="http://schemas.openxmlformats.org/drawingml/2006/main">
            <a:off x="6400800" y="1776685"/>
            <a:ext cx="5257800" cy="2942680"/>
          </a:xfrm>
          <a:prstGeom xmlns:a="http://schemas.openxmlformats.org/drawingml/2006/main" prst="rect">
            <a:avLst/>
          </a:prstGeom>
        </p:spPr>
      </p:pic>
      <p:sp>
        <p:nvSpPr>
          <p:cNvPr id="3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45164E07-14D9-410E-B5ED-A6A5995E5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B7340063-81CA-4574-9077-44EFF41E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verdict">
            <a:extLst xmlns:a="http://schemas.openxmlformats.org/drawingml/2006/main">
              <a:ext uri="{FF2B5EF4-FFF2-40B4-BE49-F238E27FC236}">
                <a16:creationId xmlns:a16="http://schemas.microsoft.com/office/drawing/2014/main" id="{58150FBF-9B5D-4B58-BB9C-CF5537C99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2857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7791F"/>
                </a:solidFill>
              </a:defRPr>
            </a:pPr>
            <a:r>
              <a:rPr sz="1725" b="1">
                <a:solidFill>
                  <a:srgbClr val="B7791F"/>
                </a:solidFill>
              </a:rPr>
              <a:t>TREND ROBUST</a:t>
            </a:r>
          </a:p>
        </p:txBody>
      </p:sp>
      <p:sp>
        <p:nvSpPr>
          <p:cNvPr id="34" name="assessment">
            <a:extLst xmlns:a="http://schemas.openxmlformats.org/drawingml/2006/main">
              <a:ext uri="{FF2B5EF4-FFF2-40B4-BE49-F238E27FC236}">
                <a16:creationId xmlns:a16="http://schemas.microsoft.com/office/drawing/2014/main" id="{94677C1B-710E-4943-B335-D005A436F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314950"/>
            <a:ext cx="8096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Indirect share: 47.5% in 1963, a 70.1% peak in 2009, and 66.2% in 2019.</a:t>
            </a:r>
          </a:p>
        </p:txBody>
      </p:sp>
      <p:sp>
        <p:nvSpPr>
          <p:cNvPr id="35" name="difference">
            <a:extLst xmlns:a="http://schemas.openxmlformats.org/drawingml/2006/main">
              <a:ext uri="{FF2B5EF4-FFF2-40B4-BE49-F238E27FC236}">
                <a16:creationId xmlns:a16="http://schemas.microsoft.com/office/drawing/2014/main" id="{F73CA6A4-7682-4A38-9F63-F48562BF9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15025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Later revisions, 21 rather than 23 intermediaries, and a different equity extension prevent an exact target comparison.</a:t>
            </a:r>
          </a:p>
        </p:txBody>
      </p:sp>
    </p:spTree>
    <p:extLst>
      <p:ext uri="{BB962C8B-B14F-4D97-AF65-F5344CB8AC3E}">
        <p14:creationId xmlns:p14="http://schemas.microsoft.com/office/powerpoint/2010/main" val="99600277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kicker">
            <a:extLst xmlns:a="http://schemas.openxmlformats.org/drawingml/2006/main">
              <a:ext uri="{FF2B5EF4-FFF2-40B4-BE49-F238E27FC236}">
                <a16:creationId xmlns:a16="http://schemas.microsoft.com/office/drawing/2014/main" id="{4DBD74DF-ED28-4EE9-8535-9E366A67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5 IDENTIFICATION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5994307-319F-4EAA-8D7C-9E832F74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The 2021 wealth pipeline identifies revised saving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9304C898-8A92-4A39-A7EB-64A10035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4772364-3993-46C7-BB6A-7696849F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08</a:t>
            </a:r>
          </a:p>
        </p:txBody>
      </p:sp>
      <p:sp>
        <p:nvSpPr>
          <p:cNvPr id="5" name="question">
            <a:extLst xmlns:a="http://schemas.openxmlformats.org/drawingml/2006/main">
              <a:ext uri="{FF2B5EF4-FFF2-40B4-BE49-F238E27FC236}">
                <a16:creationId xmlns:a16="http://schemas.microsoft.com/office/drawing/2014/main" id="{1C4CBB66-390B-40CA-9A94-F3B655FA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Target</a:t>
            </a:r>
          </a:p>
        </p:txBody>
      </p:sp>
      <p:sp>
        <p:nvSpPr>
          <p:cNvPr id="6" name="question-body">
            <a:extLst xmlns:a="http://schemas.openxmlformats.org/drawingml/2006/main">
              <a:ext uri="{FF2B5EF4-FFF2-40B4-BE49-F238E27FC236}">
                <a16:creationId xmlns:a16="http://schemas.microsoft.com/office/drawing/2014/main" id="{C7924291-5CE5-45A7-9502-25780E87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381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2025 Figure 5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Saving contribution by wealth group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F04E65CB-1300-417C-A552-521BE008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285875"/>
            <a:ext cx="190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trong precursor-bar">
            <a:extLst xmlns:a="http://schemas.openxmlformats.org/drawingml/2006/main">
              <a:ext uri="{FF2B5EF4-FFF2-40B4-BE49-F238E27FC236}">
                <a16:creationId xmlns:a16="http://schemas.microsoft.com/office/drawing/2014/main" id="{80A9BBD5-0978-4A47-9DE6-A7D2756C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3335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96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rong precursor-label">
            <a:extLst xmlns:a="http://schemas.openxmlformats.org/drawingml/2006/main">
              <a:ext uri="{FF2B5EF4-FFF2-40B4-BE49-F238E27FC236}">
                <a16:creationId xmlns:a16="http://schemas.microsoft.com/office/drawing/2014/main" id="{51CC7C6F-9EBD-42A3-9CD8-DD0C6EE9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716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627D98"/>
                </a:solidFill>
              </a:rPr>
              <a:t>1 · Allocate wealth</a:t>
            </a:r>
          </a:p>
        </p:txBody>
      </p:sp>
      <p:sp>
        <p:nvSpPr>
          <p:cNvPr id="10" name="Strong precursor-body">
            <a:extLst xmlns:a="http://schemas.openxmlformats.org/drawingml/2006/main">
              <a:ext uri="{FF2B5EF4-FFF2-40B4-BE49-F238E27FC236}">
                <a16:creationId xmlns:a16="http://schemas.microsoft.com/office/drawing/2014/main" id="{244FF233-0930-4770-ADF3-1B1A9250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049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B.101 totals × fine DINA shares for four groups and 29 balance-sheet categories.</a:t>
            </a:r>
          </a:p>
        </p:txBody>
      </p:sp>
      <p:sp>
        <p:nvSpPr>
          <p:cNvPr id="11" name="Partial match-bar">
            <a:extLst xmlns:a="http://schemas.openxmlformats.org/drawingml/2006/main">
              <a:ext uri="{FF2B5EF4-FFF2-40B4-BE49-F238E27FC236}">
                <a16:creationId xmlns:a16="http://schemas.microsoft.com/office/drawing/2014/main" id="{F0181655-D030-45C0-A3E0-D81445F8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0985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artial match-label">
            <a:extLst xmlns:a="http://schemas.openxmlformats.org/drawingml/2006/main">
              <a:ext uri="{FF2B5EF4-FFF2-40B4-BE49-F238E27FC236}">
                <a16:creationId xmlns:a16="http://schemas.microsoft.com/office/drawing/2014/main" id="{217D0269-3366-4106-A614-BFB2DD0B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479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7791F"/>
                </a:solidFill>
              </a:defRPr>
            </a:pPr>
            <a:r>
              <a:rPr sz="1725" b="1">
                <a:solidFill>
                  <a:srgbClr val="2E5B88"/>
                </a:solidFill>
              </a:rPr>
              <a:t>2 · Remove valuations</a:t>
            </a:r>
          </a:p>
        </p:txBody>
      </p:sp>
      <p:sp>
        <p:nvSpPr>
          <p:cNvPr id="13" name="Partial match-body">
            <a:extLst xmlns:a="http://schemas.openxmlformats.org/drawingml/2006/main">
              <a:ext uri="{FF2B5EF4-FFF2-40B4-BE49-F238E27FC236}">
                <a16:creationId xmlns:a16="http://schemas.microsoft.com/office/drawing/2014/main" id="{00ABC748-B2B5-4893-8CE6-FDE63773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8132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Housing gains + debt write-downs; residual equity return closes to NIPA.</a:t>
            </a:r>
          </a:p>
        </p:txBody>
      </p:sp>
      <p:sp>
        <p:nvSpPr>
          <p:cNvPr id="14" name="Context only-bar">
            <a:extLst xmlns:a="http://schemas.openxmlformats.org/drawingml/2006/main">
              <a:ext uri="{FF2B5EF4-FFF2-40B4-BE49-F238E27FC236}">
                <a16:creationId xmlns:a16="http://schemas.microsoft.com/office/drawing/2014/main" id="{A567A865-2022-41CE-BB30-AB58E2C2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862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ntext only-label">
            <a:extLst xmlns:a="http://schemas.openxmlformats.org/drawingml/2006/main">
              <a:ext uri="{FF2B5EF4-FFF2-40B4-BE49-F238E27FC236}">
                <a16:creationId xmlns:a16="http://schemas.microsoft.com/office/drawing/2014/main" id="{58F96603-D508-40F6-A485-776B0AF5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83232"/>
                </a:solidFill>
              </a:defRPr>
            </a:pPr>
            <a:r>
              <a:rPr sz="1725" b="1">
                <a:solidFill>
                  <a:srgbClr val="C65D16"/>
                </a:solidFill>
              </a:rPr>
              <a:t>3 · Match display</a:t>
            </a:r>
          </a:p>
        </p:txBody>
      </p:sp>
      <p:sp>
        <p:nvSpPr>
          <p:cNvPr id="16" name="Context only-body">
            <a:extLst xmlns:a="http://schemas.openxmlformats.org/drawingml/2006/main">
              <a:ext uri="{FF2B5EF4-FFF2-40B4-BE49-F238E27FC236}">
                <a16:creationId xmlns:a16="http://schemas.microsoft.com/office/drawing/2014/main" id="{005F9EA7-5FC9-4084-B230-06E7E891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576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Trailing 10-year mean of saving / national income, less its 1982 value.</a:t>
            </a:r>
          </a:p>
        </p:txBody>
      </p:sp>
      <p:sp>
        <p:nvSpPr>
          <p:cNvPr id="17" name="boundary">
            <a:extLst xmlns:a="http://schemas.openxmlformats.org/drawingml/2006/main">
              <a:ext uri="{FF2B5EF4-FFF2-40B4-BE49-F238E27FC236}">
                <a16:creationId xmlns:a16="http://schemas.microsoft.com/office/drawing/2014/main" id="{79FA2934-1CA8-49CA-B94B-8B94B201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4381500" cy="1809750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boundary-title">
            <a:extLst xmlns:a="http://schemas.openxmlformats.org/drawingml/2006/main">
              <a:ext uri="{FF2B5EF4-FFF2-40B4-BE49-F238E27FC236}">
                <a16:creationId xmlns:a16="http://schemas.microsoft.com/office/drawing/2014/main" id="{90F1D0FA-121D-4208-9F34-9DE0662D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83232"/>
                </a:solidFill>
              </a:defRPr>
            </a:pPr>
            <a:r>
              <a:rPr sz="1575" b="1">
                <a:solidFill>
                  <a:srgbClr val="B83232"/>
                </a:solidFill>
              </a:rPr>
              <a:t>Classification</a:t>
            </a:r>
          </a:p>
        </p:txBody>
      </p:sp>
      <p:sp>
        <p:nvSpPr>
          <p:cNvPr id="19" name="boundary-body">
            <a:extLst xmlns:a="http://schemas.openxmlformats.org/drawingml/2006/main">
              <a:ext uri="{FF2B5EF4-FFF2-40B4-BE49-F238E27FC236}">
                <a16:creationId xmlns:a16="http://schemas.microsoft.com/office/drawing/2014/main" id="{DF98F5D6-9D18-45C9-8820-2EA73D0D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57625"/>
            <a:ext cx="3905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Reconstruction: wealth, valuation, fine-share, and NIPA inputs are supplied through 2016.</a:t>
            </a:r>
          </a:p>
        </p:txBody>
      </p:sp>
    </p:spTree>
    <p:extLst>
      <p:ext uri="{BB962C8B-B14F-4D97-AF65-F5344CB8AC3E}">
        <p14:creationId xmlns:p14="http://schemas.microsoft.com/office/powerpoint/2010/main" val="22118952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A955CD9-B4EF-4E20-A3FC-1D7B4F59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5 PRIMARY COMPARISON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E8A36E9-77A3-4197-AAEB-944D96A2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The older inputs reproduce the saving divergence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514C6BB1-D2D7-4502-B63E-CB46F522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846DD66-DAE1-4F4D-9638-E1108AC9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09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AC7EBFD9-49FB-40B3-B7BA-0564A41A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2025 paper · ratio axis (0.10 = 10 pp)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D7EBD11C-5C33-487B-AFE7-65F7CD7D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239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Our reconstruction · percentage-point axis</a:t>
            </a:r>
          </a:p>
        </p:txBody>
      </p:sp>
      <p:sp>
        <p:nvSpPr>
          <p:cNvPr id="7" name="Regenerated 2021 safe-asset demand figure-frame">
            <a:extLst xmlns:a="http://schemas.openxmlformats.org/drawingml/2006/main">
              <a:ext uri="{FF2B5EF4-FFF2-40B4-BE49-F238E27FC236}">
                <a16:creationId xmlns:a16="http://schemas.microsoft.com/office/drawing/2014/main" id="{1442A94D-98B9-4DC6-8E97-11AE6BD7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9" name="2025 Figure 10 safe-asset demand-frame">
            <a:extLst xmlns:a="http://schemas.openxmlformats.org/drawingml/2006/main">
              <a:ext uri="{FF2B5EF4-FFF2-40B4-BE49-F238E27FC236}">
                <a16:creationId xmlns:a16="http://schemas.microsoft.com/office/drawing/2014/main" id="{98F7C92D-66A0-4F20-83BF-E349E5E8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8E0201B9-6249-4F69-8DD3-3C91F0AF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E6607933-8AC4-4796-94EB-F2FB6C08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5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DAEE4CAF-C158-4F1E-AF88-9B2A7277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314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2F855A"/>
                </a:solidFill>
              </a:rPr>
              <a:t>HIGH-FIDELITY MATCH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F5E1C807-0687-4A75-8864-05548460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3340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Top 1% / bottom 99% correlations: 0.992 / 0.997; MAE: 0.40 / 0.42 pp.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9E94ECB7-8637-4F89-9ABB-1A8B2FEF5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2016 shifts: ours +3.25 / -7.11 pp; digitized paper +4.35 / -8.46 pp. Paper image excludes its printed caption.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b190a9b3c94faa"/>
          <a:stretch xmlns:a="http://schemas.openxmlformats.org/drawingml/2006/main"/>
        </p:blipFill>
        <p:spPr>
          <a:xfrm xmlns:a="http://schemas.openxmlformats.org/drawingml/2006/main">
            <a:off x="632746" y="1552099"/>
            <a:ext cx="5059204" cy="3372802"/>
          </a:xfrm>
          <a:prstGeom xmlns:a="http://schemas.openxmlformats.org/drawingml/2006/main" prst="rect">
            <a:avLst/>
          </a:prstGeom>
        </p:spPr>
      </p:pic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d7e32a55d9495f"/>
          <a:stretch xmlns:a="http://schemas.openxmlformats.org/drawingml/2006/main"/>
        </p:blipFill>
        <p:spPr>
          <a:xfrm xmlns:a="http://schemas.openxmlformats.org/drawingml/2006/main">
            <a:off x="6450393" y="1776603"/>
            <a:ext cx="5158614" cy="29236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33000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kicker">
            <a:extLst xmlns:a="http://schemas.openxmlformats.org/drawingml/2006/main">
              <a:ext uri="{FF2B5EF4-FFF2-40B4-BE49-F238E27FC236}">
                <a16:creationId xmlns:a16="http://schemas.microsoft.com/office/drawing/2014/main" id="{4DBD74DF-ED28-4EE9-8535-9E366A67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6 IDENTIFICATION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5994307-319F-4EAA-8D7C-9E832F74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The same saving rate supports rank and wealth-level views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9304C898-8A92-4A39-A7EB-64A10035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4772364-3993-46C7-BB6A-7696849F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10</a:t>
            </a:r>
          </a:p>
        </p:txBody>
      </p:sp>
      <p:sp>
        <p:nvSpPr>
          <p:cNvPr id="5" name="question">
            <a:extLst xmlns:a="http://schemas.openxmlformats.org/drawingml/2006/main">
              <a:ext uri="{FF2B5EF4-FFF2-40B4-BE49-F238E27FC236}">
                <a16:creationId xmlns:a16="http://schemas.microsoft.com/office/drawing/2014/main" id="{1C4CBB66-390B-40CA-9A94-F3B655FA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Target</a:t>
            </a:r>
          </a:p>
        </p:txBody>
      </p:sp>
      <p:sp>
        <p:nvSpPr>
          <p:cNvPr id="6" name="question-body">
            <a:extLst xmlns:a="http://schemas.openxmlformats.org/drawingml/2006/main">
              <a:ext uri="{FF2B5EF4-FFF2-40B4-BE49-F238E27FC236}">
                <a16:creationId xmlns:a16="http://schemas.microsoft.com/office/drawing/2014/main" id="{C7924291-5CE5-45A7-9502-25780E87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381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2025 Figure 6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Net saving rate by wealth percentile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F04E65CB-1300-417C-A552-521BE008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285875"/>
            <a:ext cx="190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trong precursor-bar">
            <a:extLst xmlns:a="http://schemas.openxmlformats.org/drawingml/2006/main">
              <a:ext uri="{FF2B5EF4-FFF2-40B4-BE49-F238E27FC236}">
                <a16:creationId xmlns:a16="http://schemas.microsoft.com/office/drawing/2014/main" id="{80A9BBD5-0978-4A47-9DE6-A7D2756C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3335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96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rong precursor-label">
            <a:extLst xmlns:a="http://schemas.openxmlformats.org/drawingml/2006/main">
              <a:ext uri="{FF2B5EF4-FFF2-40B4-BE49-F238E27FC236}">
                <a16:creationId xmlns:a16="http://schemas.microsoft.com/office/drawing/2014/main" id="{51CC7C6F-9EBD-42A3-9CD8-DD0C6EE9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716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627D98"/>
                </a:solidFill>
              </a:rPr>
              <a:t>1 · Rebuild bins</a:t>
            </a:r>
          </a:p>
        </p:txBody>
      </p:sp>
      <p:sp>
        <p:nvSpPr>
          <p:cNvPr id="10" name="Strong precursor-body">
            <a:extLst xmlns:a="http://schemas.openxmlformats.org/drawingml/2006/main">
              <a:ext uri="{FF2B5EF4-FFF2-40B4-BE49-F238E27FC236}">
                <a16:creationId xmlns:a16="http://schemas.microsoft.com/office/drawing/2014/main" id="{244FF233-0930-4770-ADF3-1B1A9250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049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Raw DINA: bottom 40%, then one-percentile bins through the top 1%.</a:t>
            </a:r>
          </a:p>
        </p:txBody>
      </p:sp>
      <p:sp>
        <p:nvSpPr>
          <p:cNvPr id="11" name="Partial match-bar">
            <a:extLst xmlns:a="http://schemas.openxmlformats.org/drawingml/2006/main">
              <a:ext uri="{FF2B5EF4-FFF2-40B4-BE49-F238E27FC236}">
                <a16:creationId xmlns:a16="http://schemas.microsoft.com/office/drawing/2014/main" id="{F0181655-D030-45C0-A3E0-D81445F8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0985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artial match-label">
            <a:extLst xmlns:a="http://schemas.openxmlformats.org/drawingml/2006/main">
              <a:ext uri="{FF2B5EF4-FFF2-40B4-BE49-F238E27FC236}">
                <a16:creationId xmlns:a16="http://schemas.microsoft.com/office/drawing/2014/main" id="{217D0269-3366-4106-A614-BFB2DD0B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479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7791F"/>
                </a:solidFill>
              </a:defRPr>
            </a:pPr>
            <a:r>
              <a:rPr sz="1725" b="1">
                <a:solidFill>
                  <a:srgbClr val="2E5B88"/>
                </a:solidFill>
              </a:rPr>
              <a:t>2 · Match income</a:t>
            </a:r>
          </a:p>
        </p:txBody>
      </p:sp>
      <p:sp>
        <p:nvSpPr>
          <p:cNvPr id="13" name="Partial match-body">
            <a:extLst xmlns:a="http://schemas.openxmlformats.org/drawingml/2006/main">
              <a:ext uri="{FF2B5EF4-FFF2-40B4-BE49-F238E27FC236}">
                <a16:creationId xmlns:a16="http://schemas.microsoft.com/office/drawing/2014/main" id="{00ABC748-B2B5-4893-8CE6-FDE63773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8132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Personal plus attributable corporate disposable income, allocated by income and equity shares.</a:t>
            </a:r>
          </a:p>
        </p:txBody>
      </p:sp>
      <p:sp>
        <p:nvSpPr>
          <p:cNvPr id="14" name="Context only-bar">
            <a:extLst xmlns:a="http://schemas.openxmlformats.org/drawingml/2006/main">
              <a:ext uri="{FF2B5EF4-FFF2-40B4-BE49-F238E27FC236}">
                <a16:creationId xmlns:a16="http://schemas.microsoft.com/office/drawing/2014/main" id="{A567A865-2022-41CE-BB30-AB58E2C2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862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ntext only-label">
            <a:extLst xmlns:a="http://schemas.openxmlformats.org/drawingml/2006/main">
              <a:ext uri="{FF2B5EF4-FFF2-40B4-BE49-F238E27FC236}">
                <a16:creationId xmlns:a16="http://schemas.microsoft.com/office/drawing/2014/main" id="{58F96603-D508-40F6-A485-776B0AF5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83232"/>
                </a:solidFill>
              </a:defRPr>
            </a:pPr>
            <a:r>
              <a:rPr sz="1725" b="1">
                <a:solidFill>
                  <a:srgbClr val="C65D16"/>
                </a:solidFill>
              </a:rPr>
              <a:t>3 · Hold rate fixed</a:t>
            </a:r>
          </a:p>
        </p:txBody>
      </p:sp>
      <p:sp>
        <p:nvSpPr>
          <p:cNvPr id="16" name="Context only-body">
            <a:extLst xmlns:a="http://schemas.openxmlformats.org/drawingml/2006/main">
              <a:ext uri="{FF2B5EF4-FFF2-40B4-BE49-F238E27FC236}">
                <a16:creationId xmlns:a16="http://schemas.microsoft.com/office/drawing/2014/main" id="{005F9EA7-5FC9-4084-B230-06E7E891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576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Active saving divided by disposable income; only the horizontal coordinate changes.</a:t>
            </a:r>
          </a:p>
        </p:txBody>
      </p:sp>
      <p:sp>
        <p:nvSpPr>
          <p:cNvPr id="17" name="boundary">
            <a:extLst xmlns:a="http://schemas.openxmlformats.org/drawingml/2006/main">
              <a:ext uri="{FF2B5EF4-FFF2-40B4-BE49-F238E27FC236}">
                <a16:creationId xmlns:a16="http://schemas.microsoft.com/office/drawing/2014/main" id="{79FA2934-1CA8-49CA-B94B-8B94B201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4381500" cy="1809750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boundary-title">
            <a:extLst xmlns:a="http://schemas.openxmlformats.org/drawingml/2006/main">
              <a:ext uri="{FF2B5EF4-FFF2-40B4-BE49-F238E27FC236}">
                <a16:creationId xmlns:a16="http://schemas.microsoft.com/office/drawing/2014/main" id="{90F1D0FA-121D-4208-9F34-9DE0662D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83232"/>
                </a:solidFill>
              </a:defRPr>
            </a:pPr>
            <a:r>
              <a:rPr sz="1575" b="1">
                <a:solidFill>
                  <a:srgbClr val="B83232"/>
                </a:solidFill>
              </a:rPr>
              <a:t>Classification</a:t>
            </a:r>
          </a:p>
        </p:txBody>
      </p:sp>
      <p:sp>
        <p:nvSpPr>
          <p:cNvPr id="19" name="boundary-body">
            <a:extLst xmlns:a="http://schemas.openxmlformats.org/drawingml/2006/main">
              <a:ext uri="{FF2B5EF4-FFF2-40B4-BE49-F238E27FC236}">
                <a16:creationId xmlns:a16="http://schemas.microsoft.com/office/drawing/2014/main" id="{DF98F5D6-9D18-45C9-8820-2EA73D0D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57625"/>
            <a:ext cx="3905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Exact-method reconstruction through 2016; the paper's later window ends in 2019.</a:t>
            </a:r>
          </a:p>
        </p:txBody>
      </p:sp>
    </p:spTree>
    <p:extLst>
      <p:ext uri="{BB962C8B-B14F-4D97-AF65-F5344CB8AC3E}">
        <p14:creationId xmlns:p14="http://schemas.microsoft.com/office/powerpoint/2010/main" val="22118952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A955CD9-B4EF-4E20-A3FC-1D7B4F59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6 PRIMARY COMPARISON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E8A36E9-77A3-4197-AAEB-944D96A2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The older inputs reproduce the cross-sectional saving pattern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514C6BB1-D2D7-4502-B63E-CB46F522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846DD66-DAE1-4F4D-9638-E1108AC9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11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AC7EBFD9-49FB-40B3-B7BA-0564A41A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2025 paper · 1963–82 and 1983–2019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D7EBD11C-5C33-487B-AFE7-65F7CD7D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239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Our reconstruction · second period ends in 2016</a:t>
            </a:r>
          </a:p>
        </p:txBody>
      </p:sp>
      <p:sp>
        <p:nvSpPr>
          <p:cNvPr id="7" name="Regenerated 2021 safe-asset demand figure-frame">
            <a:extLst xmlns:a="http://schemas.openxmlformats.org/drawingml/2006/main">
              <a:ext uri="{FF2B5EF4-FFF2-40B4-BE49-F238E27FC236}">
                <a16:creationId xmlns:a16="http://schemas.microsoft.com/office/drawing/2014/main" id="{1442A94D-98B9-4DC6-8E97-11AE6BD7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9" name="2025 Figure 10 safe-asset demand-frame">
            <a:extLst xmlns:a="http://schemas.openxmlformats.org/drawingml/2006/main">
              <a:ext uri="{FF2B5EF4-FFF2-40B4-BE49-F238E27FC236}">
                <a16:creationId xmlns:a16="http://schemas.microsoft.com/office/drawing/2014/main" id="{98F7C92D-66A0-4F20-83BF-E349E5E8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8E0201B9-6249-4F69-8DD3-3C91F0AF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E6607933-8AC4-4796-94EB-F2FB6C08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5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DAEE4CAF-C158-4F1E-AF88-9B2A7277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314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2F855A"/>
                </a:solidFill>
              </a:rPr>
              <a:t>CLOSE SHAPE MATCH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F5E1C807-0687-4A75-8864-05548460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3340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Correlations: 0.991 / 0.972; MAE: 1.46 / 1.20 pp.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9E94ECB7-8637-4F89-9ABB-1A8B2FEF5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Top 1%: ours 28.8%→36.2%; paper ≈43%→54%. The old inputs end in 2016, not 2019.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0005083477437e"/>
          <a:stretch xmlns:a="http://schemas.openxmlformats.org/drawingml/2006/main"/>
        </p:blipFill>
        <p:spPr>
          <a:xfrm xmlns:a="http://schemas.openxmlformats.org/drawingml/2006/main" flipH="0" flipV="0">
            <a:off x="632746" y="1552099"/>
            <a:ext cx="5059204" cy="3372802"/>
          </a:xfrm>
          <a:prstGeom xmlns:a="http://schemas.openxmlformats.org/drawingml/2006/main" prst="rect">
            <a:avLst/>
          </a:prstGeom>
        </p:spPr>
      </p:pic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207e051435401b"/>
          <a:stretch xmlns:a="http://schemas.openxmlformats.org/drawingml/2006/main"/>
        </p:blipFill>
        <p:spPr>
          <a:xfrm xmlns:a="http://schemas.openxmlformats.org/drawingml/2006/main" flipH="0" flipV="0">
            <a:off x="6450393" y="1776603"/>
            <a:ext cx="5158614" cy="29236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33000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A955CD9-B4EF-4E20-A3FC-1D7B4F59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6 MECHANISM VIEW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E8A36E9-77A3-4197-AAEB-944D96A2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Rising wealth alone does not explain the saving-rate shift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514C6BB1-D2D7-4502-B63E-CB46F522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846DD66-DAE1-4F4D-9638-E1108AC9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12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AC7EBFD9-49FB-40B3-B7BA-0564A41A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Same rates · wealth percentile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D7EBD11C-5C33-487B-AFE7-65F7CD7D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239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Same rates · mean real wealth per adult</a:t>
            </a:r>
          </a:p>
        </p:txBody>
      </p:sp>
      <p:sp>
        <p:nvSpPr>
          <p:cNvPr id="7" name="Regenerated 2021 safe-asset demand figure-frame">
            <a:extLst xmlns:a="http://schemas.openxmlformats.org/drawingml/2006/main">
              <a:ext uri="{FF2B5EF4-FFF2-40B4-BE49-F238E27FC236}">
                <a16:creationId xmlns:a16="http://schemas.microsoft.com/office/drawing/2014/main" id="{1442A94D-98B9-4DC6-8E97-11AE6BD7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9" name="2025 Figure 10 safe-asset demand-frame">
            <a:extLst xmlns:a="http://schemas.openxmlformats.org/drawingml/2006/main">
              <a:ext uri="{FF2B5EF4-FFF2-40B4-BE49-F238E27FC236}">
                <a16:creationId xmlns:a16="http://schemas.microsoft.com/office/drawing/2014/main" id="{98F7C92D-66A0-4F20-83BF-E349E5E8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8E0201B9-6249-4F69-8DD3-3C91F0AF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E6607933-8AC4-4796-94EB-F2FB6C08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5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DAEE4CAF-C158-4F1E-AF88-9B2A7277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314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2F855A"/>
                </a:solidFill>
              </a:rPr>
              <a:t>NOT PURE COMPOSITION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F5E1C807-0687-4A75-8864-05548460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3340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At similar mean wealth, post-1982 cohorts often save less.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9E94ECB7-8637-4F89-9ABB-1A8B2FEF5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Near $300k mean wealth: pre p90 saves 31.5%; post p80 saves 7.4%. Cohort means are not fixed-dollar bins.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0396f78d1a4d55"/>
          <a:stretch xmlns:a="http://schemas.openxmlformats.org/drawingml/2006/main"/>
        </p:blipFill>
        <p:spPr>
          <a:xfrm xmlns:a="http://schemas.openxmlformats.org/drawingml/2006/main" flipH="0" flipV="0">
            <a:off x="632746" y="1552099"/>
            <a:ext cx="5059204" cy="3372802"/>
          </a:xfrm>
          <a:prstGeom xmlns:a="http://schemas.openxmlformats.org/drawingml/2006/main" prst="rect">
            <a:avLst/>
          </a:prstGeom>
        </p:spPr>
      </p:pic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563d3933f64e0c"/>
          <a:stretch xmlns:a="http://schemas.openxmlformats.org/drawingml/2006/main"/>
        </p:blipFill>
        <p:spPr>
          <a:xfrm xmlns:a="http://schemas.openxmlformats.org/drawingml/2006/main" flipH="0" flipV="0">
            <a:off x="6450393" y="1776603"/>
            <a:ext cx="5158614" cy="29236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33000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A955CD9-B4EF-4E20-A3FC-1D7B4F59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6 TIME EVOLUTION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E8A36E9-77A3-4197-AAEB-944D96A2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Upper-middle rates trend down; the top 1% remains volatile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514C6BB1-D2D7-4502-B63E-CB46F522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846DD66-DAE1-4F4D-9638-E1108AC9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13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AC7EBFD9-49FB-40B3-B7BA-0564A41A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Full distribution · trailing five-year means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D7EBD11C-5C33-487B-AFE7-65F7CD7D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239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Selected upper-tail percentiles</a:t>
            </a:r>
          </a:p>
        </p:txBody>
      </p:sp>
      <p:sp>
        <p:nvSpPr>
          <p:cNvPr id="7" name="Regenerated 2021 safe-asset demand figure-frame">
            <a:extLst xmlns:a="http://schemas.openxmlformats.org/drawingml/2006/main">
              <a:ext uri="{FF2B5EF4-FFF2-40B4-BE49-F238E27FC236}">
                <a16:creationId xmlns:a16="http://schemas.microsoft.com/office/drawing/2014/main" id="{1442A94D-98B9-4DC6-8E97-11AE6BD7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9" name="2025 Figure 10 safe-asset demand-frame">
            <a:extLst xmlns:a="http://schemas.openxmlformats.org/drawingml/2006/main">
              <a:ext uri="{FF2B5EF4-FFF2-40B4-BE49-F238E27FC236}">
                <a16:creationId xmlns:a16="http://schemas.microsoft.com/office/drawing/2014/main" id="{98F7C92D-66A0-4F20-83BF-E349E5E8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8E0201B9-6249-4F69-8DD3-3C91F0AF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E6607933-8AC4-4796-94EB-F2FB6C08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5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DAEE4CAF-C158-4F1E-AF88-9B2A7277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314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2F855A"/>
                </a:solidFill>
              </a:rPr>
              <a:t>NOT A SINGLE BREAK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F5E1C807-0687-4A75-8864-05548460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3340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The 80th–90th percentiles decline persistently after the late 1980s.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9E94ECB7-8637-4F89-9ABB-1A8B2FEF5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The top 1% oscillates sharply, including a 2008 five-year peak; this is not one smooth monotone trend.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30bd9c5b574034"/>
          <a:stretch xmlns:a="http://schemas.openxmlformats.org/drawingml/2006/main"/>
        </p:blipFill>
        <p:spPr>
          <a:xfrm xmlns:a="http://schemas.openxmlformats.org/drawingml/2006/main" flipH="0" flipV="0">
            <a:off x="632746" y="1552099"/>
            <a:ext cx="5059204" cy="3372802"/>
          </a:xfrm>
          <a:prstGeom xmlns:a="http://schemas.openxmlformats.org/drawingml/2006/main" prst="rect">
            <a:avLst/>
          </a:prstGeom>
        </p:spPr>
      </p:pic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be0ab094e54193"/>
          <a:stretch xmlns:a="http://schemas.openxmlformats.org/drawingml/2006/main"/>
        </p:blipFill>
        <p:spPr>
          <a:xfrm xmlns:a="http://schemas.openxmlformats.org/drawingml/2006/main" flipH="0" flipV="0">
            <a:off x="6450393" y="1776603"/>
            <a:ext cx="5158614" cy="29236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33000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kicker">
            <a:extLst xmlns:a="http://schemas.openxmlformats.org/drawingml/2006/main">
              <a:ext uri="{FF2B5EF4-FFF2-40B4-BE49-F238E27FC236}">
                <a16:creationId xmlns:a16="http://schemas.microsoft.com/office/drawing/2014/main" id="{4DBD74DF-ED28-4EE9-8535-9E366A67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8 FEASIBILITY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5994307-319F-4EAA-8D7C-9E832F74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Figure 8 stops one step before the revised matrix solve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9304C898-8A92-4A39-A7EB-64A10035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4772364-3993-46C7-BB6A-7696849F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14</a:t>
            </a:r>
          </a:p>
        </p:txBody>
      </p:sp>
      <p:sp>
        <p:nvSpPr>
          <p:cNvPr id="5" name="question">
            <a:extLst xmlns:a="http://schemas.openxmlformats.org/drawingml/2006/main">
              <a:ext uri="{FF2B5EF4-FFF2-40B4-BE49-F238E27FC236}">
                <a16:creationId xmlns:a16="http://schemas.microsoft.com/office/drawing/2014/main" id="{1C4CBB66-390B-40CA-9A94-F3B655FA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Target</a:t>
            </a:r>
          </a:p>
        </p:txBody>
      </p:sp>
      <p:sp>
        <p:nvSpPr>
          <p:cNvPr id="6" name="question-body">
            <a:extLst xmlns:a="http://schemas.openxmlformats.org/drawingml/2006/main">
              <a:ext uri="{FF2B5EF4-FFF2-40B4-BE49-F238E27FC236}">
                <a16:creationId xmlns:a16="http://schemas.microsoft.com/office/drawing/2014/main" id="{C7924291-5CE5-45A7-9502-25780E87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381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2025 Figure 8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Net household debt by wealth group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F04E65CB-1300-417C-A552-521BE008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285875"/>
            <a:ext cx="190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trong precursor-bar">
            <a:extLst xmlns:a="http://schemas.openxmlformats.org/drawingml/2006/main">
              <a:ext uri="{FF2B5EF4-FFF2-40B4-BE49-F238E27FC236}">
                <a16:creationId xmlns:a16="http://schemas.microsoft.com/office/drawing/2014/main" id="{80A9BBD5-0978-4A47-9DE6-A7D2756C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3335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96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rong precursor-label">
            <a:extLst xmlns:a="http://schemas.openxmlformats.org/drawingml/2006/main">
              <a:ext uri="{FF2B5EF4-FFF2-40B4-BE49-F238E27FC236}">
                <a16:creationId xmlns:a16="http://schemas.microsoft.com/office/drawing/2014/main" id="{51CC7C6F-9EBD-42A3-9CD8-DD0C6EE9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716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627D98"/>
                </a:solidFill>
              </a:rPr>
              <a:t>1 · Missing upstream</a:t>
            </a:r>
          </a:p>
        </p:txBody>
      </p:sp>
      <p:sp>
        <p:nvSpPr>
          <p:cNvPr id="10" name="Strong precursor-body">
            <a:extLst xmlns:a="http://schemas.openxmlformats.org/drawingml/2006/main">
              <a:ext uri="{FF2B5EF4-FFF2-40B4-BE49-F238E27FC236}">
                <a16:creationId xmlns:a16="http://schemas.microsoft.com/office/drawing/2014/main" id="{244FF233-0930-4770-ADF3-1B1A9250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049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Completed 2025 instrument × sector matrices and augmented household columns.</a:t>
            </a:r>
          </a:p>
        </p:txBody>
      </p:sp>
      <p:sp>
        <p:nvSpPr>
          <p:cNvPr id="11" name="Partial match-bar">
            <a:extLst xmlns:a="http://schemas.openxmlformats.org/drawingml/2006/main">
              <a:ext uri="{FF2B5EF4-FFF2-40B4-BE49-F238E27FC236}">
                <a16:creationId xmlns:a16="http://schemas.microsoft.com/office/drawing/2014/main" id="{F0181655-D030-45C0-A3E0-D81445F8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0985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artial match-label">
            <a:extLst xmlns:a="http://schemas.openxmlformats.org/drawingml/2006/main">
              <a:ext uri="{FF2B5EF4-FFF2-40B4-BE49-F238E27FC236}">
                <a16:creationId xmlns:a16="http://schemas.microsoft.com/office/drawing/2014/main" id="{217D0269-3366-4106-A614-BFB2DD0B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479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7791F"/>
                </a:solidFill>
              </a:defRPr>
            </a:pPr>
            <a:r>
              <a:rPr sz="1725" b="1">
                <a:solidFill>
                  <a:srgbClr val="2E5B88"/>
                </a:solidFill>
              </a:rPr>
              <a:t>2 · Old-kit output</a:t>
            </a:r>
          </a:p>
        </p:txBody>
      </p:sp>
      <p:sp>
        <p:nvSpPr>
          <p:cNvPr id="13" name="Partial match-body">
            <a:extLst xmlns:a="http://schemas.openxmlformats.org/drawingml/2006/main">
              <a:ext uri="{FF2B5EF4-FFF2-40B4-BE49-F238E27FC236}">
                <a16:creationId xmlns:a16="http://schemas.microsoft.com/office/drawing/2014/main" id="{00ABC748-B2B5-4893-8CE6-FDE63773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8132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Fine debt assets after seven rounds + fine liabilities.</a:t>
            </a:r>
          </a:p>
        </p:txBody>
      </p:sp>
      <p:sp>
        <p:nvSpPr>
          <p:cNvPr id="14" name="Context only-bar">
            <a:extLst xmlns:a="http://schemas.openxmlformats.org/drawingml/2006/main">
              <a:ext uri="{FF2B5EF4-FFF2-40B4-BE49-F238E27FC236}">
                <a16:creationId xmlns:a16="http://schemas.microsoft.com/office/drawing/2014/main" id="{A567A865-2022-41CE-BB30-AB58E2C2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862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ntext only-label">
            <a:extLst xmlns:a="http://schemas.openxmlformats.org/drawingml/2006/main">
              <a:ext uri="{FF2B5EF4-FFF2-40B4-BE49-F238E27FC236}">
                <a16:creationId xmlns:a16="http://schemas.microsoft.com/office/drawing/2014/main" id="{58F96603-D508-40F6-A485-776B0AF5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83232"/>
                </a:solidFill>
              </a:defRPr>
            </a:pPr>
            <a:r>
              <a:rPr sz="1725" b="1">
                <a:solidFill>
                  <a:srgbClr val="C65D16"/>
                </a:solidFill>
              </a:rPr>
              <a:t>3 · Applied faithfully</a:t>
            </a:r>
          </a:p>
        </p:txBody>
      </p:sp>
      <p:sp>
        <p:nvSpPr>
          <p:cNvPr id="16" name="Context only-body">
            <a:extLst xmlns:a="http://schemas.openxmlformats.org/drawingml/2006/main">
              <a:ext uri="{FF2B5EF4-FFF2-40B4-BE49-F238E27FC236}">
                <a16:creationId xmlns:a16="http://schemas.microsoft.com/office/drawing/2014/main" id="{005F9EA7-5FC9-4084-B230-06E7E891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576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Net debt = debt assets − liabilities; divide by NI; subtract 1982.</a:t>
            </a:r>
          </a:p>
        </p:txBody>
      </p:sp>
      <p:sp>
        <p:nvSpPr>
          <p:cNvPr id="17" name="boundary">
            <a:extLst xmlns:a="http://schemas.openxmlformats.org/drawingml/2006/main">
              <a:ext uri="{FF2B5EF4-FFF2-40B4-BE49-F238E27FC236}">
                <a16:creationId xmlns:a16="http://schemas.microsoft.com/office/drawing/2014/main" id="{79FA2934-1CA8-49CA-B94B-8B94B201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4381500" cy="1809750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boundary-title">
            <a:extLst xmlns:a="http://schemas.openxmlformats.org/drawingml/2006/main">
              <a:ext uri="{FF2B5EF4-FFF2-40B4-BE49-F238E27FC236}">
                <a16:creationId xmlns:a16="http://schemas.microsoft.com/office/drawing/2014/main" id="{90F1D0FA-121D-4208-9F34-9DE0662D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83232"/>
                </a:solidFill>
              </a:defRPr>
            </a:pPr>
            <a:r>
              <a:rPr sz="1575" b="1">
                <a:solidFill>
                  <a:srgbClr val="B83232"/>
                </a:solidFill>
              </a:rPr>
              <a:t>Classification</a:t>
            </a:r>
          </a:p>
        </p:txBody>
      </p:sp>
      <p:sp>
        <p:nvSpPr>
          <p:cNvPr id="19" name="boundary-body">
            <a:extLst xmlns:a="http://schemas.openxmlformats.org/drawingml/2006/main">
              <a:ext uri="{FF2B5EF4-FFF2-40B4-BE49-F238E27FC236}">
                <a16:creationId xmlns:a16="http://schemas.microsoft.com/office/drawing/2014/main" id="{DF98F5D6-9D18-45C9-8820-2EA73D0D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57625"/>
            <a:ext cx="3905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Proxy: group, sign, scale, and base are revised; unveiled asset stocks still come from the older method.</a:t>
            </a:r>
          </a:p>
        </p:txBody>
      </p:sp>
    </p:spTree>
    <p:extLst>
      <p:ext uri="{BB962C8B-B14F-4D97-AF65-F5344CB8AC3E}">
        <p14:creationId xmlns:p14="http://schemas.microsoft.com/office/powerpoint/2010/main" val="22118952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A955CD9-B4EF-4E20-A3FC-1D7B4F59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8 PRIMARY COMPARISON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E8A36E9-77A3-4197-AAEB-944D96A2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The proxy reproduces borrowing, but understates top-1 lending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514C6BB1-D2D7-4502-B63E-CB46F522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846DD66-DAE1-4F4D-9638-E1108AC9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15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AC7EBFD9-49FB-40B3-B7BA-0564A41A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2025 paper · ratio axis (0.10 = 10 pp)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D7EBD11C-5C33-487B-AFE7-65F7CD7D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239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Our proxy · percentage-point axis</a:t>
            </a:r>
          </a:p>
        </p:txBody>
      </p:sp>
      <p:sp>
        <p:nvSpPr>
          <p:cNvPr id="7" name="Regenerated 2021 safe-asset demand figure-frame">
            <a:extLst xmlns:a="http://schemas.openxmlformats.org/drawingml/2006/main">
              <a:ext uri="{FF2B5EF4-FFF2-40B4-BE49-F238E27FC236}">
                <a16:creationId xmlns:a16="http://schemas.microsoft.com/office/drawing/2014/main" id="{1442A94D-98B9-4DC6-8E97-11AE6BD7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9" name="2025 Figure 10 safe-asset demand-frame">
            <a:extLst xmlns:a="http://schemas.openxmlformats.org/drawingml/2006/main">
              <a:ext uri="{FF2B5EF4-FFF2-40B4-BE49-F238E27FC236}">
                <a16:creationId xmlns:a16="http://schemas.microsoft.com/office/drawing/2014/main" id="{98F7C92D-66A0-4F20-83BF-E349E5E8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8E0201B9-6249-4F69-8DD3-3C91F0AF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E6607933-8AC4-4796-94EB-F2FB6C08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5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DAEE4CAF-C158-4F1E-AF88-9B2A7277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314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2F855A"/>
                </a:solidFill>
              </a:rPr>
              <a:t>CLOSE PROXY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F5E1C807-0687-4A75-8864-05548460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3340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2007: bottom 99% -38.88 pp proxy vs -38.76 paper; top 1% +12.03 vs +18.02.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9E94ECB7-8637-4F89-9ABB-1A8B2FEF5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Correlations: 0.993 / 0.995 (top 1% / bottom 99%). Missing matrices prevent a code-only interpretation.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9c50df4cec46a8"/>
          <a:stretch xmlns:a="http://schemas.openxmlformats.org/drawingml/2006/main"/>
        </p:blipFill>
        <p:spPr>
          <a:xfrm xmlns:a="http://schemas.openxmlformats.org/drawingml/2006/main">
            <a:off x="632746" y="1552099"/>
            <a:ext cx="5059204" cy="3372802"/>
          </a:xfrm>
          <a:prstGeom xmlns:a="http://schemas.openxmlformats.org/drawingml/2006/main" prst="rect">
            <a:avLst/>
          </a:prstGeom>
        </p:spPr>
      </p:pic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2de42980c6416c"/>
          <a:stretch xmlns:a="http://schemas.openxmlformats.org/drawingml/2006/main"/>
        </p:blipFill>
        <p:spPr>
          <a:xfrm xmlns:a="http://schemas.openxmlformats.org/drawingml/2006/main">
            <a:off x="6450393" y="1776603"/>
            <a:ext cx="5158614" cy="29236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33000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kicker">
            <a:extLst xmlns:a="http://schemas.openxmlformats.org/drawingml/2006/main">
              <a:ext uri="{FF2B5EF4-FFF2-40B4-BE49-F238E27FC236}">
                <a16:creationId xmlns:a16="http://schemas.microsoft.com/office/drawing/2014/main" id="{4DBD74DF-ED28-4EE9-8535-9E366A67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REPLICATION SYNTHESIS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5994307-319F-4EAA-8D7C-9E832F74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Figures 1, 5, and 6 reconstruct; Figure 8 remains a proxy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9304C898-8A92-4A39-A7EB-64A10035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4772364-3993-46C7-BB6A-7696849F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16</a:t>
            </a:r>
          </a:p>
        </p:txBody>
      </p:sp>
      <p:sp>
        <p:nvSpPr>
          <p:cNvPr id="5" name="question">
            <a:extLst xmlns:a="http://schemas.openxmlformats.org/drawingml/2006/main">
              <a:ext uri="{FF2B5EF4-FFF2-40B4-BE49-F238E27FC236}">
                <a16:creationId xmlns:a16="http://schemas.microsoft.com/office/drawing/2014/main" id="{1C4CBB66-390B-40CA-9A94-F3B655FA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Conclusion</a:t>
            </a:r>
          </a:p>
        </p:txBody>
      </p:sp>
      <p:sp>
        <p:nvSpPr>
          <p:cNvPr id="6" name="question-body">
            <a:extLst xmlns:a="http://schemas.openxmlformats.org/drawingml/2006/main">
              <a:ext uri="{FF2B5EF4-FFF2-40B4-BE49-F238E27FC236}">
                <a16:creationId xmlns:a16="http://schemas.microsoft.com/office/drawing/2014/main" id="{C7924291-5CE5-45A7-9502-25780E87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381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What did the 2021 kit let us test?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F04E65CB-1300-417C-A552-521BE008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285875"/>
            <a:ext cx="190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trong precursor-bar">
            <a:extLst xmlns:a="http://schemas.openxmlformats.org/drawingml/2006/main">
              <a:ext uri="{FF2B5EF4-FFF2-40B4-BE49-F238E27FC236}">
                <a16:creationId xmlns:a16="http://schemas.microsoft.com/office/drawing/2014/main" id="{80A9BBD5-0978-4A47-9DE6-A7D2756C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3335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rong precursor-label">
            <a:extLst xmlns:a="http://schemas.openxmlformats.org/drawingml/2006/main">
              <a:ext uri="{FF2B5EF4-FFF2-40B4-BE49-F238E27FC236}">
                <a16:creationId xmlns:a16="http://schemas.microsoft.com/office/drawing/2014/main" id="{51CC7C6F-9EBD-42A3-9CD8-DD0C6EE9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716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C65D16"/>
                </a:solidFill>
              </a:rPr>
              <a:t>Figure 1</a:t>
            </a:r>
          </a:p>
        </p:txBody>
      </p:sp>
      <p:sp>
        <p:nvSpPr>
          <p:cNvPr id="10" name="Strong precursor-body">
            <a:extLst xmlns:a="http://schemas.openxmlformats.org/drawingml/2006/main">
              <a:ext uri="{FF2B5EF4-FFF2-40B4-BE49-F238E27FC236}">
                <a16:creationId xmlns:a16="http://schemas.microsoft.com/office/drawing/2014/main" id="{244FF233-0930-4770-ADF3-1B1A9250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049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Close stock reconstruction; share denominator remains version-specific.</a:t>
            </a:r>
          </a:p>
        </p:txBody>
      </p:sp>
      <p:sp>
        <p:nvSpPr>
          <p:cNvPr id="11" name="Partial match-bar">
            <a:extLst xmlns:a="http://schemas.openxmlformats.org/drawingml/2006/main">
              <a:ext uri="{FF2B5EF4-FFF2-40B4-BE49-F238E27FC236}">
                <a16:creationId xmlns:a16="http://schemas.microsoft.com/office/drawing/2014/main" id="{F0181655-D030-45C0-A3E0-D81445F8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0985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7D9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artial match-label">
            <a:extLst xmlns:a="http://schemas.openxmlformats.org/drawingml/2006/main">
              <a:ext uri="{FF2B5EF4-FFF2-40B4-BE49-F238E27FC236}">
                <a16:creationId xmlns:a16="http://schemas.microsoft.com/office/drawing/2014/main" id="{217D0269-3366-4106-A614-BFB2DD0B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479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7791F"/>
                </a:solidFill>
              </a:defRPr>
            </a:pPr>
            <a:r>
              <a:rPr sz="1725" b="1">
                <a:solidFill>
                  <a:srgbClr val="627D98"/>
                </a:solidFill>
              </a:rPr>
              <a:t>Figures 5–6</a:t>
            </a:r>
          </a:p>
        </p:txBody>
      </p:sp>
      <p:sp>
        <p:nvSpPr>
          <p:cNvPr id="13" name="Partial match-body">
            <a:extLst xmlns:a="http://schemas.openxmlformats.org/drawingml/2006/main">
              <a:ext uri="{FF2B5EF4-FFF2-40B4-BE49-F238E27FC236}">
                <a16:creationId xmlns:a16="http://schemas.microsoft.com/office/drawing/2014/main" id="{00ABC748-B2B5-4893-8CE6-FDE63773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8132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High-fidelity saving-flow and saving-rate reconstructions through 2016.</a:t>
            </a:r>
          </a:p>
        </p:txBody>
      </p:sp>
      <p:sp>
        <p:nvSpPr>
          <p:cNvPr id="14" name="Context only-bar">
            <a:extLst xmlns:a="http://schemas.openxmlformats.org/drawingml/2006/main">
              <a:ext uri="{FF2B5EF4-FFF2-40B4-BE49-F238E27FC236}">
                <a16:creationId xmlns:a16="http://schemas.microsoft.com/office/drawing/2014/main" id="{A567A865-2022-41CE-BB30-AB58E2C2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862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ntext only-label">
            <a:extLst xmlns:a="http://schemas.openxmlformats.org/drawingml/2006/main">
              <a:ext uri="{FF2B5EF4-FFF2-40B4-BE49-F238E27FC236}">
                <a16:creationId xmlns:a16="http://schemas.microsoft.com/office/drawing/2014/main" id="{58F96603-D508-40F6-A485-776B0AF5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83232"/>
                </a:solidFill>
              </a:defRPr>
            </a:pPr>
            <a:r>
              <a:rPr sz="1725" b="1">
                <a:solidFill>
                  <a:srgbClr val="2E5B88"/>
                </a:solidFill>
              </a:rPr>
              <a:t>Figure 8</a:t>
            </a:r>
          </a:p>
        </p:txBody>
      </p:sp>
      <p:sp>
        <p:nvSpPr>
          <p:cNvPr id="16" name="Context only-body">
            <a:extLst xmlns:a="http://schemas.openxmlformats.org/drawingml/2006/main">
              <a:ext uri="{FF2B5EF4-FFF2-40B4-BE49-F238E27FC236}">
                <a16:creationId xmlns:a16="http://schemas.microsoft.com/office/drawing/2014/main" id="{005F9EA7-5FC9-4084-B230-06E7E891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576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Direction and bottom-99 level match; revised matrices are unavailable.</a:t>
            </a:r>
          </a:p>
        </p:txBody>
      </p:sp>
      <p:sp>
        <p:nvSpPr>
          <p:cNvPr id="17" name="boundary">
            <a:extLst xmlns:a="http://schemas.openxmlformats.org/drawingml/2006/main">
              <a:ext uri="{FF2B5EF4-FFF2-40B4-BE49-F238E27FC236}">
                <a16:creationId xmlns:a16="http://schemas.microsoft.com/office/drawing/2014/main" id="{79FA2934-1CA8-49CA-B94B-8B94B201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4381500" cy="1809750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boundary-title">
            <a:extLst xmlns:a="http://schemas.openxmlformats.org/drawingml/2006/main">
              <a:ext uri="{FF2B5EF4-FFF2-40B4-BE49-F238E27FC236}">
                <a16:creationId xmlns:a16="http://schemas.microsoft.com/office/drawing/2014/main" id="{90F1D0FA-121D-4208-9F34-9DE0662D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83232"/>
                </a:solidFill>
              </a:defRPr>
            </a:pPr>
            <a:r>
              <a:rPr sz="1575" b="1">
                <a:solidFill>
                  <a:srgbClr val="B83232"/>
                </a:solidFill>
              </a:rPr>
              <a:t>Main lesson</a:t>
            </a:r>
          </a:p>
        </p:txBody>
      </p:sp>
      <p:sp>
        <p:nvSpPr>
          <p:cNvPr id="19" name="boundary-body">
            <a:extLst xmlns:a="http://schemas.openxmlformats.org/drawingml/2006/main">
              <a:ext uri="{FF2B5EF4-FFF2-40B4-BE49-F238E27FC236}">
                <a16:creationId xmlns:a16="http://schemas.microsoft.com/office/drawing/2014/main" id="{DF98F5D6-9D18-45C9-8820-2EA73D0D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57625"/>
            <a:ext cx="3905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The 2021 inputs reproduce the paper's core patterns and support a new Figure 6 mechanism diagnostic. Figure 8 alone remains method-bounded.</a:t>
            </a:r>
          </a:p>
        </p:txBody>
      </p:sp>
    </p:spTree>
    <p:extLst>
      <p:ext uri="{BB962C8B-B14F-4D97-AF65-F5344CB8AC3E}">
        <p14:creationId xmlns:p14="http://schemas.microsoft.com/office/powerpoint/2010/main" val="221189521"/>
      </p:ext>
    </p:extLst>
  </p:cSld>
</p:sld>
</file>

<file path=ppt/theme/theme1.xml><?xml version="1.0" encoding="utf-8"?>
<a:theme xmlns:a="http://schemas.openxmlformats.org/drawingml/2006/main" name="ChatGPT">
  <a:themeElements>
    <a:clrScheme name="Replication validation">
      <a:dk1>
        <a:srgbClr val="000000"/>
      </a:dk1>
      <a:lt1>
        <a:srgbClr val="FFFFFF"/>
      </a:lt1>
      <a:dk2>
        <a:srgbClr val="102A43"/>
      </a:dk2>
      <a:lt2>
        <a:srgbClr val="D8E1E8"/>
      </a:lt2>
      <a:accent1>
        <a:srgbClr val="2E5B88"/>
      </a:accent1>
      <a:accent2>
        <a:srgbClr val="C65D16"/>
      </a:accent2>
      <a:accent3>
        <a:srgbClr val="2F855A"/>
      </a:accent3>
      <a:accent4>
        <a:srgbClr val="B83232"/>
      </a:accent4>
      <a:accent5>
        <a:srgbClr val="B7791F"/>
      </a:accent5>
      <a:accent6>
        <a:srgbClr val="627D98"/>
      </a:accent6>
      <a:hlink>
        <a:srgbClr val="2E5B88"/>
      </a:hlink>
      <a:folHlink>
        <a:srgbClr val="C65D16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Replication validati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2026-08-11T12:17:38.0380000Z</dcterms:created>
  <dcterms:modified xsi:type="dcterms:W3CDTF">2026-08-11T12:17:38.0380000Z</dcterms:modified>
</coreProperties>
</file>
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667faf2ce4f62" /><Relationship Type="http://schemas.openxmlformats.org/officeDocument/2006/relationships/extended-properties" Target="/docProps/app.xml" Id="R7deefb3f3b9a4a1e" /><Relationship Type="http://schemas.openxmlformats.org/officeDocument/2006/relationships/officeDocument" Target="/ppt/presentation.xml" Id="R38c53aaaf5ce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f1930ffcf49e2"/>
  </p:sldMasterIdLst>
  <p:notesMasterIdLst>
    <p:notesMasterId xmlns:r="http://schemas.openxmlformats.org/officeDocument/2006/relationships" r:id="Rd5d78570490c460c"/>
  </p:notesMasterIdLst>
  <p:sldIdLst>
    <p:sldId xmlns:r="http://schemas.openxmlformats.org/officeDocument/2006/relationships" id="256" r:id="R34fbedd2bce84122"/>
    <p:sldId xmlns:r="http://schemas.openxmlformats.org/officeDocument/2006/relationships" id="257" r:id="Red07ed86ade048d8"/>
    <p:sldId xmlns:r="http://schemas.openxmlformats.org/officeDocument/2006/relationships" id="258" r:id="R32637c1055c24a5b"/>
    <p:sldId xmlns:r="http://schemas.openxmlformats.org/officeDocument/2006/relationships" id="259" r:id="Rcf4d70205546403e"/>
    <p:sldId xmlns:r="http://schemas.openxmlformats.org/officeDocument/2006/relationships" id="260" r:id="R8097da2834054526"/>
    <p:sldId xmlns:r="http://schemas.openxmlformats.org/officeDocument/2006/relationships" id="261" r:id="Rf8c3102dcd18447c"/>
    <p:sldId xmlns:r="http://schemas.openxmlformats.org/officeDocument/2006/relationships" id="262" r:id="R1a539604bdbf44c4"/>
    <p:sldId xmlns:r="http://schemas.openxmlformats.org/officeDocument/2006/relationships" id="263" r:id="R8688d185a2e947a0"/>
    <p:sldId xmlns:r="http://schemas.openxmlformats.org/officeDocument/2006/relationships" id="264" r:id="R63565b6cd2674bbc"/>
    <p:sldId xmlns:r="http://schemas.openxmlformats.org/officeDocument/2006/relationships" id="265" r:id="R449e948667224657"/>
    <p:sldId xmlns:r="http://schemas.openxmlformats.org/officeDocument/2006/relationships" id="266" r:id="R752c367b07e5438e"/>
    <p:sldId xmlns:r="http://schemas.openxmlformats.org/officeDocument/2006/relationships" id="267" r:id="R6fd5ddf972f142a1"/>
    <p:sldId xmlns:r="http://schemas.openxmlformats.org/officeDocument/2006/relationships" id="268" r:id="R6b65fc894aef4473"/>
    <p:sldId xmlns:r="http://schemas.openxmlformats.org/officeDocument/2006/relationships" id="269" r:id="R7f57c73b28b54124"/>
    <p:sldId xmlns:r="http://schemas.openxmlformats.org/officeDocument/2006/relationships" id="270" r:id="Rce8518f10b2f4c2e"/>
    <p:sldId xmlns:r="http://schemas.openxmlformats.org/officeDocument/2006/relationships" id="271" r:id="Rb94091cb6db849f3"/>
    <p:sldId xmlns:r="http://schemas.openxmlformats.org/officeDocument/2006/relationships" id="272" r:id="Rebac9fcd98c941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fbe9ff5934164" /><Relationship Type="http://schemas.openxmlformats.org/officeDocument/2006/relationships/slideMaster" Target="/ppt/slideMasters/slideMaster1.xml" Id="R7f1f1930ffcf49e2" /><Relationship Type="http://schemas.openxmlformats.org/officeDocument/2006/relationships/notesMaster" Target="/ppt/notesMasters/notesMaster1.xml" Id="Rd5d78570490c460c" /><Relationship Type="http://schemas.openxmlformats.org/officeDocument/2006/relationships/presProps" Target="/ppt/presProps.xml" Id="Rc40a45428ba64983" /><Relationship Type="http://schemas.openxmlformats.org/officeDocument/2006/relationships/tableStyles" Target="/ppt/tableStyles.xml" Id="R545c6a2ff1424b37" /><Relationship Type="http://schemas.openxmlformats.org/officeDocument/2006/relationships/slide" Target="/ppt/slides/slide1.xml" Id="R34fbedd2bce84122" /><Relationship Type="http://schemas.openxmlformats.org/officeDocument/2006/relationships/slide" Target="/ppt/slides/slide2.xml" Id="Red07ed86ade048d8" /><Relationship Type="http://schemas.openxmlformats.org/officeDocument/2006/relationships/slide" Target="/ppt/slides/slide3.xml" Id="R32637c1055c24a5b" /><Relationship Type="http://schemas.openxmlformats.org/officeDocument/2006/relationships/slide" Target="/ppt/slides/slide4.xml" Id="Rcf4d70205546403e" /><Relationship Type="http://schemas.openxmlformats.org/officeDocument/2006/relationships/slide" Target="/ppt/slides/slide5.xml" Id="R8097da2834054526" /><Relationship Type="http://schemas.openxmlformats.org/officeDocument/2006/relationships/slide" Target="/ppt/slides/slide6.xml" Id="Rf8c3102dcd18447c" /><Relationship Type="http://schemas.openxmlformats.org/officeDocument/2006/relationships/slide" Target="/ppt/slides/slide7.xml" Id="R1a539604bdbf44c4" /><Relationship Type="http://schemas.openxmlformats.org/officeDocument/2006/relationships/slide" Target="/ppt/slides/slide8.xml" Id="R8688d185a2e947a0" /><Relationship Type="http://schemas.openxmlformats.org/officeDocument/2006/relationships/slide" Target="/ppt/slides/slide9.xml" Id="R63565b6cd2674bbc" /><Relationship Type="http://schemas.openxmlformats.org/officeDocument/2006/relationships/slide" Target="/ppt/slides/slide10.xml" Id="R449e948667224657" /><Relationship Type="http://schemas.openxmlformats.org/officeDocument/2006/relationships/slide" Target="/ppt/slides/slide11.xml" Id="R752c367b07e5438e" /><Relationship Type="http://schemas.openxmlformats.org/officeDocument/2006/relationships/slide" Target="/ppt/slides/slide12.xml" Id="R6fd5ddf972f142a1" /><Relationship Type="http://schemas.openxmlformats.org/officeDocument/2006/relationships/slide" Target="/ppt/slides/slide13.xml" Id="R6b65fc894aef4473" /><Relationship Type="http://schemas.openxmlformats.org/officeDocument/2006/relationships/slide" Target="/ppt/slides/slide14.xml" Id="R7f57c73b28b54124" /><Relationship Type="http://schemas.openxmlformats.org/officeDocument/2006/relationships/slide" Target="/ppt/slides/slide15.xml" Id="Rce8518f10b2f4c2e" /><Relationship Type="http://schemas.openxmlformats.org/officeDocument/2006/relationships/slide" Target="/ppt/slides/slide16.xml" Id="Rb94091cb6db849f3" /><Relationship Type="http://schemas.openxmlformats.org/officeDocument/2006/relationships/slide" Target="/ppt/slides/slide17.xml" Id="Rebac9fcd98c941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9ae56daa72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5536f14ff4dda" /><Relationship Type="http://schemas.openxmlformats.org/officeDocument/2006/relationships/notesMaster" Target="/ppt/notesMasters/notesMaster1.xml" Id="Rbb46879cef7540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8df2acfab4a46" /><Relationship Type="http://schemas.openxmlformats.org/officeDocument/2006/relationships/notesMaster" Target="/ppt/notesMasters/notesMaster1.xml" Id="R076cf2986d6e4c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f446f0cb76400e" /><Relationship Type="http://schemas.openxmlformats.org/officeDocument/2006/relationships/notesMaster" Target="/ppt/notesMasters/notesMaster1.xml" Id="Rb72df854e2ac4b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c5126bbb2408d" /><Relationship Type="http://schemas.openxmlformats.org/officeDocument/2006/relationships/notesMaster" Target="/ppt/notesMasters/notesMaster1.xml" Id="Rfe7bc0156c644f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15055a3e274769" /><Relationship Type="http://schemas.openxmlformats.org/officeDocument/2006/relationships/notesMaster" Target="/ppt/notesMasters/notesMaster1.xml" Id="Rf009ea3fb5fc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3baf5b61494174" /><Relationship Type="http://schemas.openxmlformats.org/officeDocument/2006/relationships/notesMaster" Target="/ppt/notesMasters/notesMaster1.xml" Id="R9e1ef048830748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2f42f4634c4422" /><Relationship Type="http://schemas.openxmlformats.org/officeDocument/2006/relationships/notesMaster" Target="/ppt/notesMasters/notesMaster1.xml" Id="R548de9e6acbf40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71b5b0b13544dd" /><Relationship Type="http://schemas.openxmlformats.org/officeDocument/2006/relationships/notesMaster" Target="/ppt/notesMasters/notesMaster1.xml" Id="Rf1da8db5f0b64c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a0296f877646f2" /><Relationship Type="http://schemas.openxmlformats.org/officeDocument/2006/relationships/notesMaster" Target="/ppt/notesMasters/notesMaster1.xml" Id="R2a6e2102f05944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edd3718f84743" /><Relationship Type="http://schemas.openxmlformats.org/officeDocument/2006/relationships/notesMaster" Target="/ppt/notesMasters/notesMaster1.xml" Id="R69f00d038bc349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449140fa874f0b" /><Relationship Type="http://schemas.openxmlformats.org/officeDocument/2006/relationships/notesMaster" Target="/ppt/notesMasters/notesMaster1.xml" Id="Rbde10ee6abff4c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05cbb085f448a5" /><Relationship Type="http://schemas.openxmlformats.org/officeDocument/2006/relationships/notesMaster" Target="/ppt/notesMasters/notesMaster1.xml" Id="R9d830c813a6949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b83140205547cd" /><Relationship Type="http://schemas.openxmlformats.org/officeDocument/2006/relationships/notesMaster" Target="/ppt/notesMasters/notesMaster1.xml" Id="R2255f46033844b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26d1a307bf4a2d" /><Relationship Type="http://schemas.openxmlformats.org/officeDocument/2006/relationships/notesMaster" Target="/ppt/notesMasters/notesMaster1.xml" Id="R2bc7281b632144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97aeb71fe54341" /><Relationship Type="http://schemas.openxmlformats.org/officeDocument/2006/relationships/notesMaster" Target="/ppt/notesMasters/notesMaster1.xml" Id="Rfff876acd5f54e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a2e578f9f24458" /><Relationship Type="http://schemas.openxmlformats.org/officeDocument/2006/relationships/notesMaster" Target="/ppt/notesMasters/notesMaster1.xml" Id="R8de31a12bb4d40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5b1705bd5a480c" /><Relationship Type="http://schemas.openxmlformats.org/officeDocument/2006/relationships/notesMaster" Target="/ppt/notesMasters/notesMaster1.xml" Id="Rf746e985947c41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Presentation/1_replication_package_validation/replication_package_validation.pptx (visual source)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Figures 1, 5, 6, and 8</a:t>
            </a:r>
          </a:p>
          <a:p xmlns:a="http://schemas.openxmlformats.org/drawingml/2006/main">
            <a:r>
              <a:t>- docs/project/tasks/result-selection.md, completed feasibility classification</a:t>
            </a:r>
          </a:p>
          <a:p xmlns:a="http://schemas.openxmlformats.org/drawingml/2006/main">
            <a:r>
              <a:t>- Results_Proposal/major_results.md, R-001 to R-003</a:t>
            </a:r>
          </a:p>
          <a:p xmlns:a="http://schemas.openxmlformats.org/drawingml/2006/main">
            <a:r>
              <a:t>- docs/project/tasks/figure6-replication.md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2.1-2.3 and Figure 1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docs/data/figure1-data.md, Two pipelines / version boundary</a:t>
            </a:r>
          </a:p>
          <a:p xmlns:a="http://schemas.openxmlformats.org/drawingml/2006/main">
            <a:r>
              <a:t>- MSS2021Febreplicationkit/code/build_fa_unveiling_data.do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1, physical PDF page 11; chart cropped without caption</a:t>
            </a:r>
          </a:p>
          <a:p xmlns:a="http://schemas.openxmlformats.org/drawingml/2006/main">
            <a:r>
              <a:t>- Results_Proposal/figures/figure1_authors_data_reconstruction.png</a:t>
            </a:r>
          </a:p>
          <a:p xmlns:a="http://schemas.openxmlformats.org/drawingml/2006/main">
            <a:r>
              <a:t>- Data/processed/figure1_authors_comparison.csv</a:t>
            </a:r>
          </a:p>
          <a:p xmlns:a="http://schemas.openxmlformats.org/drawingml/2006/main">
            <a:r>
              <a:t>- docs/project/tasks/figure1-replication.md,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Results_Proposal/figures/figure1_authors_data_comparison.png</a:t>
            </a:r>
          </a:p>
          <a:p xmlns:a="http://schemas.openxmlformats.org/drawingml/2006/main">
            <a:r>
              <a:t>- Data/processed/figure1_authors_comparison.csv</a:t>
            </a:r>
          </a:p>
          <a:p xmlns:a="http://schemas.openxmlformats.org/drawingml/2006/main">
            <a:r>
              <a:t>- Code/scripts/build_figure1_authors_data.py</a:t>
            </a:r>
          </a:p>
          <a:p xmlns:a="http://schemas.openxmlformats.org/drawingml/2006/main">
            <a:r>
              <a:t>- docs/project/tasks/figure1-replication.md, Evidence and limitations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MSS2021Febreplicationkit/output/fig_owndet.eps</a:t>
            </a:r>
          </a:p>
          <a:p xmlns:a="http://schemas.openxmlformats.org/drawingml/2006/main">
            <a:r>
              <a:t>- MSS2021Febreplicationkit/code/mss_analysis.do, lines 587-678</a:t>
            </a:r>
          </a:p>
          <a:p xmlns:a="http://schemas.openxmlformats.org/drawingml/2006/main">
            <a:r>
              <a:t>- Results_Proposal/figures/figure1_authors_data_reconstruction.png</a:t>
            </a:r>
          </a:p>
          <a:p xmlns:a="http://schemas.openxmlformats.org/drawingml/2006/main">
            <a:r>
              <a:t>- Results_Proposal/major_results.md, R-001 authors' implementation boundary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Results_Proposal/figures/figure1_indirect_household_ownership.png</a:t>
            </a:r>
          </a:p>
          <a:p xmlns:a="http://schemas.openxmlformats.org/drawingml/2006/main">
            <a:r>
              <a:t>- Code/scripts/build_figure1.py</a:t>
            </a:r>
          </a:p>
          <a:p xmlns:a="http://schemas.openxmlformats.org/drawingml/2006/main">
            <a:r>
              <a:t>- Data/raw/README.md (Federal Reserve FWTW and BEA/FRED provenance)</a:t>
            </a:r>
          </a:p>
          <a:p xmlns:a="http://schemas.openxmlformats.org/drawingml/2006/main">
            <a:r>
              <a:t>- docs/data/figure1-data.md, New-data robustness inputs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 3.4 and Figure 5, physical PDF page 22</a:t>
            </a:r>
          </a:p>
          <a:p xmlns:a="http://schemas.openxmlformats.org/drawingml/2006/main">
            <a:r>
              <a:t>- MSS2021Febreplicationkit/code/build_wealth_saving_data.do</a:t>
            </a:r>
          </a:p>
          <a:p xmlns:a="http://schemas.openxmlformats.org/drawingml/2006/main">
            <a:r>
              <a:t>- docs/data/figure5-data.md</a:t>
            </a:r>
          </a:p>
          <a:p xmlns:a="http://schemas.openxmlformats.org/drawingml/2006/main">
            <a:r>
              <a:t>- Code/unveiling/figure5_authors.py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5, physical PDF page 22; embedded chart extracted without caption</a:t>
            </a:r>
          </a:p>
          <a:p xmlns:a="http://schemas.openxmlformats.org/drawingml/2006/main">
            <a:r>
              <a:t>- Results_Proposal/figures/figure5_authors_data_reconstruction.png</a:t>
            </a:r>
          </a:p>
          <a:p xmlns:a="http://schemas.openxmlformats.org/drawingml/2006/main">
            <a:r>
              <a:t>- Data/processed/figure5_authors_comparison.csv</a:t>
            </a:r>
          </a:p>
          <a:p xmlns:a="http://schemas.openxmlformats.org/drawingml/2006/main">
            <a:r>
              <a:t>- docs/project/tasks/figure5-replication.md, Verification and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 3.4 and Figure 6, physical PDF page 24</a:t>
            </a:r>
          </a:p>
          <a:p xmlns:a="http://schemas.openxmlformats.org/drawingml/2006/main">
            <a:r>
              <a:t>- docs/data/figure6-data.md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Code/unveiling/figure6_authors.py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6, physical PDF page 24; embedded chart extracted without caption</a:t>
            </a:r>
          </a:p>
          <a:p xmlns:a="http://schemas.openxmlformats.org/drawingml/2006/main">
            <a:r>
              <a:t>- Results_Proposal/figures/figure6_authors_data_percentiles.png</a:t>
            </a:r>
          </a:p>
          <a:p xmlns:a="http://schemas.openxmlformats.org/drawingml/2006/main">
            <a:r>
              <a:t>- Data/processed/figure6_authors_comparison.csv</a:t>
            </a:r>
          </a:p>
          <a:p xmlns:a="http://schemas.openxmlformats.org/drawingml/2006/main">
            <a:r>
              <a:t>- docs/project/tasks/figure6-replication.md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Results_Proposal/figures/figure1_indirect_household_ownership.png</a:t>
            </a:r>
          </a:p>
          <a:p xmlns:a="http://schemas.openxmlformats.org/drawingml/2006/main">
            <a:r>
              <a:t>- Code/scripts/build_figure1.py</a:t>
            </a:r>
          </a:p>
          <a:p xmlns:a="http://schemas.openxmlformats.org/drawingml/2006/main">
            <a:r>
              <a:t>- Data/raw/README.md (Federal Reserve FWTW and BEA/FRED provenance)</a:t>
            </a:r>
          </a:p>
          <a:p xmlns:a="http://schemas.openxmlformats.org/drawingml/2006/main">
            <a:r>
              <a:t>- docs/data/figure1-data.md, New-data robustness inputs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Results_Proposal/figures/figure6_authors_data_percentiles.png</a:t>
            </a:r>
          </a:p>
          <a:p xmlns:a="http://schemas.openxmlformats.org/drawingml/2006/main">
            <a:r>
              <a:t>- Results_Proposal/figures/figure6_authors_data_wealth_levels.png</a:t>
            </a:r>
          </a:p>
          <a:p xmlns:a="http://schemas.openxmlformats.org/drawingml/2006/main">
            <a:r>
              <a:t>- Data/processed/figure6_authors_data.csv</a:t>
            </a:r>
          </a:p>
          <a:p xmlns:a="http://schemas.openxmlformats.org/drawingml/2006/main">
            <a:r>
              <a:t>- docs/project/personal-considerations-saving-inequality.md</a:t>
            </a:r>
          </a:p>
          <a:p xmlns:a="http://schemas.openxmlformats.org/drawingml/2006/main">
            <a:r>
              <a:t>- docs/data/figure6-data.md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Data/processed/figure6_authors_rolling5.csv</a:t>
            </a:r>
          </a:p>
          <a:p xmlns:a="http://schemas.openxmlformats.org/drawingml/2006/main">
            <a:r>
              <a:t>- Results_Proposal/figures/figure6_rolling5_heatmap.png</a:t>
            </a:r>
          </a:p>
          <a:p xmlns:a="http://schemas.openxmlformats.org/drawingml/2006/main">
            <a:r>
              <a:t>- Results_Proposal/figures/figure6_rolling5_selected_percentiles.png</a:t>
            </a:r>
          </a:p>
          <a:p xmlns:a="http://schemas.openxmlformats.org/drawingml/2006/main">
            <a:r>
              <a:t>- Code/scripts/build_figure6_authors_data.py</a:t>
            </a:r>
          </a:p>
          <a:p xmlns:a="http://schemas.openxmlformats.org/drawingml/2006/main">
            <a:r>
              <a:t>- docs/data/figure6-data.md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Sections 4.1-4.2 and Figure 8, physical PDF page 29</a:t>
            </a:r>
          </a:p>
          <a:p xmlns:a="http://schemas.openxmlformats.org/drawingml/2006/main">
            <a:r>
              <a:t>- MSS2021Febreplicationkit/code/build_fa_unveiling_data.do</a:t>
            </a:r>
          </a:p>
          <a:p xmlns:a="http://schemas.openxmlformats.org/drawingml/2006/main">
            <a:r>
              <a:t>- docs/data/figure8-data.md</a:t>
            </a:r>
          </a:p>
          <a:p xmlns:a="http://schemas.openxmlformats.org/drawingml/2006/main">
            <a:r>
              <a:t>- Code/unveiling/figure8_authors.py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8, physical PDF page 29; embedded chart extracted without caption</a:t>
            </a:r>
          </a:p>
          <a:p xmlns:a="http://schemas.openxmlformats.org/drawingml/2006/main">
            <a:r>
              <a:t>- Results_Proposal/figures/figure8_authors_proxy.png</a:t>
            </a:r>
          </a:p>
          <a:p xmlns:a="http://schemas.openxmlformats.org/drawingml/2006/main">
            <a:r>
              <a:t>- Data/processed/figure8_authors_proxy_comparison.csv</a:t>
            </a:r>
          </a:p>
          <a:p xmlns:a="http://schemas.openxmlformats.org/drawingml/2006/main">
            <a:r>
              <a:t>- docs/project/tasks/figure8-replication.md, Verification and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Results_Proposal/major_results.md, R-001 to R-003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docs/project/tasks/figure8-replication.md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97570a38842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7cc6568ca4301" /><Relationship Type="http://schemas.openxmlformats.org/officeDocument/2006/relationships/slideLayout" Target="/ppt/slideLayouts/slideLayout1.xml" Id="Rfe53e5a23baa47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3e5a23baa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0c32ca3f54884" /><Relationship Type="http://schemas.openxmlformats.org/officeDocument/2006/relationships/notesSlide" Target="/ppt/notesSlides/notesSlide1.xml" Id="R9b8f7331c620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e7fda270b4ff5" /><Relationship Type="http://schemas.openxmlformats.org/officeDocument/2006/relationships/notesSlide" Target="/ppt/notesSlides/notesSlide2.xml" Id="R02fc373f250c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dbdb6c21c419b" /><Relationship Type="http://schemas.openxmlformats.org/officeDocument/2006/relationships/notesSlide" Target="/ppt/notesSlides/notesSlide3.xml" Id="R30c07b540b2f4f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d9afe67c04ec1" /><Relationship Type="http://schemas.openxmlformats.org/officeDocument/2006/relationships/image" Target="/ppt/media/image.png" Id="R8dd422056d014858" /><Relationship Type="http://schemas.openxmlformats.org/officeDocument/2006/relationships/image" Target="/ppt/media/image2.png" Id="R11994899ae164f7b" /><Relationship Type="http://schemas.openxmlformats.org/officeDocument/2006/relationships/notesSlide" Target="/ppt/notesSlides/notesSlide4.xml" Id="R3dffced3a5ba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828e077b34e7a" /><Relationship Type="http://schemas.openxmlformats.org/officeDocument/2006/relationships/image" Target="/ppt/media/image3.png" Id="R07edfecfccc644ec" /><Relationship Type="http://schemas.openxmlformats.org/officeDocument/2006/relationships/image" Target="/ppt/media/image4.png" Id="Rdd9ed6968f0b48b2" /><Relationship Type="http://schemas.openxmlformats.org/officeDocument/2006/relationships/notesSlide" Target="/ppt/notesSlides/notesSlide5.xml" Id="R8444f30f3dd34c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9a124e9ef4431" /><Relationship Type="http://schemas.openxmlformats.org/officeDocument/2006/relationships/image" Target="/ppt/media/image5.png" Id="Re1ccf2345b434707" /><Relationship Type="http://schemas.openxmlformats.org/officeDocument/2006/relationships/image" Target="/ppt/media/image6.png" Id="R303ff883545741f0" /><Relationship Type="http://schemas.openxmlformats.org/officeDocument/2006/relationships/notesSlide" Target="/ppt/notesSlides/notesSlide6.xml" Id="Rc09b0fdb0b8849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660f8c7c34877" /><Relationship Type="http://schemas.openxmlformats.org/officeDocument/2006/relationships/image" Target="/ppt/media/image7.png" Id="Rc68fb29a8cde47c1" /><Relationship Type="http://schemas.openxmlformats.org/officeDocument/2006/relationships/notesSlide" Target="/ppt/notesSlides/notesSlide7.xml" Id="Rc3023816ad1f42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f93c291b54149" /><Relationship Type="http://schemas.openxmlformats.org/officeDocument/2006/relationships/notesSlide" Target="/ppt/notesSlides/notesSlide8.xml" Id="R6873c0ea5c2d4a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c7248baa64eb2" /><Relationship Type="http://schemas.openxmlformats.org/officeDocument/2006/relationships/image" Target="/ppt/media/image8.png" Id="Rf4ee8256f7ff4937" /><Relationship Type="http://schemas.openxmlformats.org/officeDocument/2006/relationships/image" Target="/ppt/media/image9.png" Id="R346600ff86b4496c" /><Relationship Type="http://schemas.openxmlformats.org/officeDocument/2006/relationships/notesSlide" Target="/ppt/notesSlides/notesSlide9.xml" Id="R6e24eee2779a40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062bb58484f77" /><Relationship Type="http://schemas.openxmlformats.org/officeDocument/2006/relationships/notesSlide" Target="/ppt/notesSlides/notesSlide10.xml" Id="Rbd811d8f383e4c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d43f545ed41d2" /><Relationship Type="http://schemas.openxmlformats.org/officeDocument/2006/relationships/image" Target="/ppt/media/image10.png" Id="R27068232248c4927" /><Relationship Type="http://schemas.openxmlformats.org/officeDocument/2006/relationships/image" Target="/ppt/media/image11.png" Id="R9d423341741b424e" /><Relationship Type="http://schemas.openxmlformats.org/officeDocument/2006/relationships/notesSlide" Target="/ppt/notesSlides/notesSlide11.xml" Id="R23d11b42ffda48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33ae5986447e3" /><Relationship Type="http://schemas.openxmlformats.org/officeDocument/2006/relationships/image" Target="/ppt/media/image7.png" Id="R964f5678753e459f" /><Relationship Type="http://schemas.openxmlformats.org/officeDocument/2006/relationships/notesSlide" Target="/ppt/notesSlides/notesSlide12.xml" Id="R5d945c9f770f48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78405d87a42c9" /><Relationship Type="http://schemas.openxmlformats.org/officeDocument/2006/relationships/image" Target="/ppt/media/image12.png" Id="Re7d650f66f234e90" /><Relationship Type="http://schemas.openxmlformats.org/officeDocument/2006/relationships/image" Target="/ppt/media/image13.png" Id="Rcebfe78d7ab740bf" /><Relationship Type="http://schemas.openxmlformats.org/officeDocument/2006/relationships/notesSlide" Target="/ppt/notesSlides/notesSlide13.xml" Id="R8dabd3aa513749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489366c5f4585" /><Relationship Type="http://schemas.openxmlformats.org/officeDocument/2006/relationships/image" Target="/ppt/media/image14.png" Id="Rfc8dd662c3514e78" /><Relationship Type="http://schemas.openxmlformats.org/officeDocument/2006/relationships/image" Target="/ppt/media/image15.png" Id="R8d253e9e4f40482e" /><Relationship Type="http://schemas.openxmlformats.org/officeDocument/2006/relationships/notesSlide" Target="/ppt/notesSlides/notesSlide14.xml" Id="R2b2be60494944e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906fae5b74a02" /><Relationship Type="http://schemas.openxmlformats.org/officeDocument/2006/relationships/notesSlide" Target="/ppt/notesSlides/notesSlide15.xml" Id="R79172fe47ae441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52baf650e418f" /><Relationship Type="http://schemas.openxmlformats.org/officeDocument/2006/relationships/image" Target="/ppt/media/image16.png" Id="Rc549f4a7e85a4b72" /><Relationship Type="http://schemas.openxmlformats.org/officeDocument/2006/relationships/image" Target="/ppt/media/image17.png" Id="Ra73d4fbf069847ad" /><Relationship Type="http://schemas.openxmlformats.org/officeDocument/2006/relationships/notesSlide" Target="/ppt/notesSlides/notesSlide16.xml" Id="R2c67ac2ccd2340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18897f98540d2" /><Relationship Type="http://schemas.openxmlformats.org/officeDocument/2006/relationships/notesSlide" Target="/ppt/notesSlides/notesSlide17.xml" Id="R1b6fa16d3bd641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69941DB9-9128-4CC6-96D4-76F2DED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7C051A-E968-48D4-932F-BE04BBA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65D16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CORE FIGURE COMPARISON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C12F6-118A-41FC-9B31-6EE8D81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09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Four figures, one evidence hierarchy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69E33F4-CEE0-4100-92AF-B6E5F46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Compare only the objects that the February 2021 inputs actually identify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04EB5C43-CA63-49BC-BC30-BC9BE88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C9C3AB10-5751-4F82-8A86-8D819F2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Primary: our old-input implementation versus the 2025 paper</a:t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B87B36AA-45A7-426E-9A02-DB03462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391AA843-EE9C-4B5B-9375-1CFEC0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38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Supporting: older Stata lineage and public-data robustness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86423BF-9FA1-4716-82E0-A79C256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11 August 2026</a:t>
            </a:r>
          </a:p>
        </p:txBody>
      </p:sp>
    </p:spTree>
    <p:extLst>
      <p:ext uri="{BB962C8B-B14F-4D97-AF65-F5344CB8AC3E}">
        <p14:creationId xmlns:p14="http://schemas.microsoft.com/office/powerpoint/2010/main" val="1771765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EVIDENCE ROLES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One label cannot mean the same thing across all four figures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2025 targets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Figures 1, 5, 6, and 8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Revised definitions through 2019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Authors-old (2021)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Exact for the older paper; precursor evidence only for revised exhibits.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Ours-public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Figure 1 only: a later public vintage tests broad trend robustness.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Ours-authors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Figures 1, 5, and 6: reconstructions. Figure 8: bounded proxy.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Naming rule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Call a result a reconstruction only when the supplied inputs identify the revised object. Otherwise retain the word proxy.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CCDADAC1-8C4D-48E3-9BDE-7D0105C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METHOD CROSSWALK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18D928-06E0-42B3-830B-D127EF4C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Inputs, methods, and estimands change together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5EE02D2-197F-445F-A35C-2EA62634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21C9E1B-0054-453E-9D94-C8D5FAD9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5" name="table-header-bg">
            <a:extLst xmlns:a="http://schemas.openxmlformats.org/drawingml/2006/main">
              <a:ext uri="{FF2B5EF4-FFF2-40B4-BE49-F238E27FC236}">
                <a16:creationId xmlns:a16="http://schemas.microsoft.com/office/drawing/2014/main" id="{9277E0ED-F6C4-4149-A42A-9164840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dict-cell-0-0">
            <a:extLst xmlns:a="http://schemas.openxmlformats.org/drawingml/2006/main">
              <a:ext uri="{FF2B5EF4-FFF2-40B4-BE49-F238E27FC236}">
                <a16:creationId xmlns:a16="http://schemas.microsoft.com/office/drawing/2014/main" id="{A8B3D9D6-0512-4FCA-B5B6-F04A51B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7" name="verdict-cell-0-1">
            <a:extLst xmlns:a="http://schemas.openxmlformats.org/drawingml/2006/main">
              <a:ext uri="{FF2B5EF4-FFF2-40B4-BE49-F238E27FC236}">
                <a16:creationId xmlns:a16="http://schemas.microsoft.com/office/drawing/2014/main" id="{314D8280-1229-4323-953B-267191A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295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8" name="verdict-cell-0-2">
            <a:extLst xmlns:a="http://schemas.openxmlformats.org/drawingml/2006/main">
              <a:ext uri="{FF2B5EF4-FFF2-40B4-BE49-F238E27FC236}">
                <a16:creationId xmlns:a16="http://schemas.microsoft.com/office/drawing/2014/main" id="{B1830714-8E8C-4575-B98C-D8D61A3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9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9" name="verdict-cell-0-3">
            <a:extLst xmlns:a="http://schemas.openxmlformats.org/drawingml/2006/main">
              <a:ext uri="{FF2B5EF4-FFF2-40B4-BE49-F238E27FC236}">
                <a16:creationId xmlns:a16="http://schemas.microsoft.com/office/drawing/2014/main" id="{D2F375CA-13C8-44A6-967B-F9B7854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95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Procedure / boundary</a:t>
            </a:r>
          </a:p>
        </p:txBody>
      </p:sp>
      <p:sp>
        <p:nvSpPr>
          <p:cNvPr id="10" name="verdict-cell-1-0">
            <a:extLst xmlns:a="http://schemas.openxmlformats.org/drawingml/2006/main">
              <a:ext uri="{FF2B5EF4-FFF2-40B4-BE49-F238E27FC236}">
                <a16:creationId xmlns:a16="http://schemas.microsoft.com/office/drawing/2014/main" id="{0B2DF458-B966-4124-8D83-B884464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1 · 2025 paper</a:t>
            </a:r>
          </a:p>
        </p:txBody>
      </p:sp>
      <p:sp>
        <p:nvSpPr>
          <p:cNvPr id="11" name="verdict-cell-1-1">
            <a:extLst xmlns:a="http://schemas.openxmlformats.org/drawingml/2006/main">
              <a:ext uri="{FF2B5EF4-FFF2-40B4-BE49-F238E27FC236}">
                <a16:creationId xmlns:a16="http://schemas.microsoft.com/office/drawing/2014/main" id="{90201C83-A6F1-4206-A7C6-167E152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Revised to 2019</a:t>
            </a:r>
          </a:p>
        </p:txBody>
      </p:sp>
      <p:sp>
        <p:nvSpPr>
          <p:cNvPr id="12" name="verdict-cell-1-2">
            <a:extLst xmlns:a="http://schemas.openxmlformats.org/drawingml/2006/main">
              <a:ext uri="{FF2B5EF4-FFF2-40B4-BE49-F238E27FC236}">
                <a16:creationId xmlns:a16="http://schemas.microsoft.com/office/drawing/2014/main" id="{32DE5752-BAC4-4A32-BB68-29A994C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Benchmark</a:t>
            </a:r>
          </a:p>
        </p:txBody>
      </p:sp>
      <p:sp>
        <p:nvSpPr>
          <p:cNvPr id="13" name="verdict-cell-1-3">
            <a:extLst xmlns:a="http://schemas.openxmlformats.org/drawingml/2006/main">
              <a:ext uri="{FF2B5EF4-FFF2-40B4-BE49-F238E27FC236}">
                <a16:creationId xmlns:a16="http://schemas.microsoft.com/office/drawing/2014/main" id="{9AAA378F-92D9-4D55-8C4B-8AA6453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23 intermediaries × 34 instruments; matrix/Leontief method; exact code unavailable</a:t>
            </a:r>
          </a:p>
        </p:txBody>
      </p:sp>
      <p:sp>
        <p:nvSpPr>
          <p:cNvPr id="14" name="verdict-line-1">
            <a:extLst xmlns:a="http://schemas.openxmlformats.org/drawingml/2006/main">
              <a:ext uri="{FF2B5EF4-FFF2-40B4-BE49-F238E27FC236}">
                <a16:creationId xmlns:a16="http://schemas.microsoft.com/office/drawing/2014/main" id="{36D0BA28-40E0-46FA-B98A-F40D165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erdict-cell-2-0">
            <a:extLst xmlns:a="http://schemas.openxmlformats.org/drawingml/2006/main">
              <a:ext uri="{FF2B5EF4-FFF2-40B4-BE49-F238E27FC236}">
                <a16:creationId xmlns:a16="http://schemas.microsoft.com/office/drawing/2014/main" id="{D6B34A90-10B7-43E7-A9CA-7285331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 · 2021 Stata</a:t>
            </a:r>
          </a:p>
        </p:txBody>
      </p:sp>
      <p:sp>
        <p:nvSpPr>
          <p:cNvPr id="16" name="verdict-cell-2-1">
            <a:extLst xmlns:a="http://schemas.openxmlformats.org/drawingml/2006/main">
              <a:ext uri="{FF2B5EF4-FFF2-40B4-BE49-F238E27FC236}">
                <a16:creationId xmlns:a16="http://schemas.microsoft.com/office/drawing/2014/main" id="{8FB108DE-6582-4A49-AA6A-28A3F5C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9077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Feb. 2021 kit</a:t>
            </a:r>
          </a:p>
        </p:txBody>
      </p:sp>
      <p:sp>
        <p:nvSpPr>
          <p:cNvPr id="17" name="verdict-cell-2-2">
            <a:extLst xmlns:a="http://schemas.openxmlformats.org/drawingml/2006/main">
              <a:ext uri="{FF2B5EF4-FFF2-40B4-BE49-F238E27FC236}">
                <a16:creationId xmlns:a16="http://schemas.microsoft.com/office/drawing/2014/main" id="{E40E8BB3-FA57-431A-B616-28D444DF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B83232"/>
                </a:solidFill>
              </a:rPr>
              <a:t>Context</a:t>
            </a:r>
          </a:p>
        </p:txBody>
      </p:sp>
      <p:sp>
        <p:nvSpPr>
          <p:cNvPr id="18" name="verdict-cell-2-3">
            <a:extLst xmlns:a="http://schemas.openxmlformats.org/drawingml/2006/main">
              <a:ext uri="{FF2B5EF4-FFF2-40B4-BE49-F238E27FC236}">
                <a16:creationId xmlns:a16="http://schemas.microsoft.com/office/drawing/2014/main" id="{8E4FAC62-7FB5-4C1D-A366-D2800068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Old Figure 6 composition; staged round-by-round debt allocation</a:t>
            </a:r>
          </a:p>
        </p:txBody>
      </p:sp>
      <p:sp>
        <p:nvSpPr>
          <p:cNvPr id="19" name="verdict-line-2">
            <a:extLst xmlns:a="http://schemas.openxmlformats.org/drawingml/2006/main">
              <a:ext uri="{FF2B5EF4-FFF2-40B4-BE49-F238E27FC236}">
                <a16:creationId xmlns:a16="http://schemas.microsoft.com/office/drawing/2014/main" id="{D6F3C624-5E2D-4D0C-9EBC-23391BE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erdict-cell-3-0">
            <a:extLst xmlns:a="http://schemas.openxmlformats.org/drawingml/2006/main">
              <a:ext uri="{FF2B5EF4-FFF2-40B4-BE49-F238E27FC236}">
                <a16:creationId xmlns:a16="http://schemas.microsoft.com/office/drawing/2014/main" id="{7F3B4CD4-3510-4A32-AB75-15AFD90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3 · Ours-public</a:t>
            </a:r>
          </a:p>
        </p:txBody>
      </p:sp>
      <p:sp>
        <p:nvSpPr>
          <p:cNvPr id="21" name="verdict-cell-3-1">
            <a:extLst xmlns:a="http://schemas.openxmlformats.org/drawingml/2006/main">
              <a:ext uri="{FF2B5EF4-FFF2-40B4-BE49-F238E27FC236}">
                <a16:creationId xmlns:a16="http://schemas.microsoft.com/office/drawing/2014/main" id="{E8119FEB-B719-44B6-B3F2-CFDE374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718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2026 public</a:t>
            </a:r>
          </a:p>
        </p:txBody>
      </p:sp>
      <p:sp>
        <p:nvSpPr>
          <p:cNvPr id="22" name="verdict-cell-3-2">
            <a:extLst xmlns:a="http://schemas.openxmlformats.org/drawingml/2006/main">
              <a:ext uri="{FF2B5EF4-FFF2-40B4-BE49-F238E27FC236}">
                <a16:creationId xmlns:a16="http://schemas.microsoft.com/office/drawing/2014/main" id="{02EFC022-659F-4B94-988B-60DD62A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2E5B88"/>
                </a:solidFill>
              </a:rPr>
              <a:t>Robustness</a:t>
            </a:r>
          </a:p>
        </p:txBody>
      </p:sp>
      <p:sp>
        <p:nvSpPr>
          <p:cNvPr id="23" name="verdict-cell-3-3">
            <a:extLst xmlns:a="http://schemas.openxmlformats.org/drawingml/2006/main">
              <a:ext uri="{FF2B5EF4-FFF2-40B4-BE49-F238E27FC236}">
                <a16:creationId xmlns:a16="http://schemas.microsoft.com/office/drawing/2014/main" id="{7BB53762-4019-4FC9-81A9-83ECF6C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21 intermediaries; public classifications/equity; 1963-2019</a:t>
            </a:r>
          </a:p>
        </p:txBody>
      </p:sp>
      <p:sp>
        <p:nvSpPr>
          <p:cNvPr id="24" name="verdict-line-3">
            <a:extLst xmlns:a="http://schemas.openxmlformats.org/drawingml/2006/main">
              <a:ext uri="{FF2B5EF4-FFF2-40B4-BE49-F238E27FC236}">
                <a16:creationId xmlns:a16="http://schemas.microsoft.com/office/drawing/2014/main" id="{E118DD39-E35D-440D-8DAA-C42E439D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verdict-cell-4-0">
            <a:extLst xmlns:a="http://schemas.openxmlformats.org/drawingml/2006/main">
              <a:ext uri="{FF2B5EF4-FFF2-40B4-BE49-F238E27FC236}">
                <a16:creationId xmlns:a16="http://schemas.microsoft.com/office/drawing/2014/main" id="{0915FE12-C5CA-49A5-97AB-B2BD4E2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4 · Ours-authors</a:t>
            </a:r>
          </a:p>
        </p:txBody>
      </p:sp>
      <p:sp>
        <p:nvSpPr>
          <p:cNvPr id="26" name="verdict-cell-4-1">
            <a:extLst xmlns:a="http://schemas.openxmlformats.org/drawingml/2006/main">
              <a:ext uri="{FF2B5EF4-FFF2-40B4-BE49-F238E27FC236}">
                <a16:creationId xmlns:a16="http://schemas.microsoft.com/office/drawing/2014/main" id="{E991A379-21C6-40AF-9F5D-8AA6C7C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Feb. 2021 kit</a:t>
            </a:r>
          </a:p>
        </p:txBody>
      </p:sp>
      <p:sp>
        <p:nvSpPr>
          <p:cNvPr id="27" name="verdict-cell-4-2">
            <a:extLst xmlns:a="http://schemas.openxmlformats.org/drawingml/2006/main">
              <a:ext uri="{FF2B5EF4-FFF2-40B4-BE49-F238E27FC236}">
                <a16:creationId xmlns:a16="http://schemas.microsoft.com/office/drawing/2014/main" id="{4B0A6676-7676-44BB-AAD9-8C49E9F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5282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Primary</a:t>
            </a:r>
          </a:p>
        </p:txBody>
      </p:sp>
      <p:sp>
        <p:nvSpPr>
          <p:cNvPr id="28" name="verdict-cell-4-3">
            <a:extLst xmlns:a="http://schemas.openxmlformats.org/drawingml/2006/main">
              <a:ext uri="{FF2B5EF4-FFF2-40B4-BE49-F238E27FC236}">
                <a16:creationId xmlns:a16="http://schemas.microsoft.com/office/drawing/2014/main" id="{9973B27A-479C-4CC7-B8D8-7DC7CF4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5282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Rebuild intermediary claims; 2025 Figure 1 definition; 1963-2016</a:t>
            </a:r>
          </a:p>
        </p:txBody>
      </p:sp>
      <p:sp>
        <p:nvSpPr>
          <p:cNvPr id="29" name="verdict-line-4">
            <a:extLst xmlns:a="http://schemas.openxmlformats.org/drawingml/2006/main">
              <a:ext uri="{FF2B5EF4-FFF2-40B4-BE49-F238E27FC236}">
                <a16:creationId xmlns:a16="http://schemas.microsoft.com/office/drawing/2014/main" id="{84F5ECF9-057D-418A-B1F9-411A9AAD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verdict-cell-5-0">
            <a:extLst xmlns:a="http://schemas.openxmlformats.org/drawingml/2006/main">
              <a:ext uri="{FF2B5EF4-FFF2-40B4-BE49-F238E27FC236}">
                <a16:creationId xmlns:a16="http://schemas.microsoft.com/office/drawing/2014/main" id="{E2E677CE-CA94-4502-BF76-461C588D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PRIMARY TEST</a:t>
            </a:r>
          </a:p>
        </p:txBody>
      </p:sp>
      <p:sp>
        <p:nvSpPr>
          <p:cNvPr id="31" name="verdict-cell-5-1">
            <a:extLst xmlns:a="http://schemas.openxmlformats.org/drawingml/2006/main">
              <a:ext uri="{FF2B5EF4-FFF2-40B4-BE49-F238E27FC236}">
                <a16:creationId xmlns:a16="http://schemas.microsoft.com/office/drawing/2014/main" id="{4DC3A0C4-FE6D-4DF9-B2A1-2F556A1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3385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#4 versus #1</a:t>
            </a:r>
          </a:p>
        </p:txBody>
      </p:sp>
      <p:sp>
        <p:nvSpPr>
          <p:cNvPr id="32" name="verdict-cell-5-2">
            <a:extLst xmlns:a="http://schemas.openxmlformats.org/drawingml/2006/main">
              <a:ext uri="{FF2B5EF4-FFF2-40B4-BE49-F238E27FC236}">
                <a16:creationId xmlns:a16="http://schemas.microsoft.com/office/drawing/2014/main" id="{07019A80-EDEE-486E-B2D1-F93AA2D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3232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Main result</a:t>
            </a:r>
          </a:p>
        </p:txBody>
      </p:sp>
      <p:sp>
        <p:nvSpPr>
          <p:cNvPr id="33" name="verdict-cell-5-3">
            <a:extLst xmlns:a="http://schemas.openxmlformats.org/drawingml/2006/main">
              <a:ext uri="{FF2B5EF4-FFF2-40B4-BE49-F238E27FC236}">
                <a16:creationId xmlns:a16="http://schemas.microsoft.com/office/drawing/2014/main" id="{8B3EFD13-83E1-4486-AA68-56C55EB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Same target object; different vintage and incomplete old-kit denominator</a:t>
            </a:r>
          </a:p>
        </p:txBody>
      </p:sp>
      <p:sp>
        <p:nvSpPr>
          <p:cNvPr id="34" name="verdict-line-5">
            <a:extLst xmlns:a="http://schemas.openxmlformats.org/drawingml/2006/main">
              <a:ext uri="{FF2B5EF4-FFF2-40B4-BE49-F238E27FC236}">
                <a16:creationId xmlns:a16="http://schemas.microsoft.com/office/drawing/2014/main" id="{1BB7F304-F599-4808-9888-64494CD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verdict-cell-6-0">
            <a:extLst xmlns:a="http://schemas.openxmlformats.org/drawingml/2006/main">
              <a:ext uri="{FF2B5EF4-FFF2-40B4-BE49-F238E27FC236}">
                <a16:creationId xmlns:a16="http://schemas.microsoft.com/office/drawing/2014/main" id="{75B66E9E-9A08-4F65-8C04-69435F39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SUPPORTING</a:t>
            </a:r>
          </a:p>
        </p:txBody>
      </p:sp>
      <p:sp>
        <p:nvSpPr>
          <p:cNvPr id="36" name="verdict-cell-6-1">
            <a:extLst xmlns:a="http://schemas.openxmlformats.org/drawingml/2006/main">
              <a:ext uri="{FF2B5EF4-FFF2-40B4-BE49-F238E27FC236}">
                <a16:creationId xmlns:a16="http://schemas.microsoft.com/office/drawing/2014/main" id="{13C0A687-EF0A-4230-8C81-CD3663E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14875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#4 vs #2 / #3</a:t>
            </a:r>
          </a:p>
        </p:txBody>
      </p:sp>
      <p:sp>
        <p:nvSpPr>
          <p:cNvPr id="37" name="verdict-cell-6-2">
            <a:extLst xmlns:a="http://schemas.openxmlformats.org/drawingml/2006/main">
              <a:ext uri="{FF2B5EF4-FFF2-40B4-BE49-F238E27FC236}">
                <a16:creationId xmlns:a16="http://schemas.microsoft.com/office/drawing/2014/main" id="{C203F508-9E22-4D53-8A5F-7C87E39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14875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627D98"/>
                </a:solidFill>
              </a:rPr>
              <a:t>Diagnostics</a:t>
            </a:r>
          </a:p>
        </p:txBody>
      </p:sp>
      <p:sp>
        <p:nvSpPr>
          <p:cNvPr id="38" name="verdict-cell-6-3">
            <a:extLst xmlns:a="http://schemas.openxmlformats.org/drawingml/2006/main">
              <a:ext uri="{FF2B5EF4-FFF2-40B4-BE49-F238E27FC236}">
                <a16:creationId xmlns:a16="http://schemas.microsoft.com/office/drawing/2014/main" id="{5CEB16EC-EBA3-4D0B-92C4-8B65DD4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905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Method lineage and public-vintage robustness; never pool the series</a:t>
            </a:r>
          </a:p>
        </p:txBody>
      </p:sp>
      <p:sp>
        <p:nvSpPr>
          <p:cNvPr id="39" name="verdict-line-6">
            <a:extLst xmlns:a="http://schemas.openxmlformats.org/drawingml/2006/main">
              <a:ext uri="{FF2B5EF4-FFF2-40B4-BE49-F238E27FC236}">
                <a16:creationId xmlns:a16="http://schemas.microsoft.com/office/drawing/2014/main" id="{835E53B7-4377-445E-B666-317B36E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akeaway">
            <a:extLst xmlns:a="http://schemas.openxmlformats.org/drawingml/2006/main">
              <a:ext uri="{FF2B5EF4-FFF2-40B4-BE49-F238E27FC236}">
                <a16:creationId xmlns:a16="http://schemas.microsoft.com/office/drawing/2014/main" id="{8BAB41DD-3568-4699-A969-60527F9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96202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773F5E13-B739-44D4-9FD3-C4EE013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Rule</a:t>
            </a:r>
          </a:p>
        </p:txBody>
      </p:sp>
      <p:sp>
        <p:nvSpPr>
          <p:cNvPr id="42" name="takeaway-body">
            <a:extLst xmlns:a="http://schemas.openxmlformats.org/drawingml/2006/main">
              <a:ext uri="{FF2B5EF4-FFF2-40B4-BE49-F238E27FC236}">
                <a16:creationId xmlns:a16="http://schemas.microsoft.com/office/drawing/2014/main" id="{D8EA2B6A-DE5B-46BD-89DB-2AE9BB69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3880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Only #4 versus #1 answers the project's central replication question. #2 and #3 explain lineage and robustness; they do not replace the benchmark.</a:t>
            </a:r>
          </a:p>
        </p:txBody>
      </p:sp>
    </p:spTree>
    <p:extLst>
      <p:ext uri="{BB962C8B-B14F-4D97-AF65-F5344CB8AC3E}">
        <p14:creationId xmlns:p14="http://schemas.microsoft.com/office/powerpoint/2010/main" val="39159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Our old-input reconstruction tracks the 2025 Figure 1 pattern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Figure 1 · PDF p. 11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implementation · 2021 authors' inputs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LEVEL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national-income-normalized level has correlation 0.995 and MAE 5.3 pp against the digitized 2025 curve over 1963-2016.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The paper caption is removed from the image and restated here: the lines report the stock-to-income level and household-financial-asset share held indirectly.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22056d014858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94899ae164f7b"/>
          <a:stretch xmlns:a="http://schemas.openxmlformats.org/drawingml/2006/main"/>
        </p:blipFill>
        <p:spPr>
          <a:xfrm xmlns:a="http://schemas.openxmlformats.org/drawingml/2006/main">
            <a:off x="6400802" y="1776603"/>
            <a:ext cx="5257795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F0086E9-FAF6-4028-AC6E-B96474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1 DIAGNOSTIC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6E9C56-6638-4AEA-9D60-75E9AD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remaining Figure 1 gap is concentrated in the share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D44DB27-8263-48F7-A497-B30A7CAE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183ED0-D88C-4E88-B76A-96D6670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C0E1546E-C6D6-4727-AACF-C5C1D2A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Level behind the veil · paper versus ours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E70826D-DB54-4A3B-99A6-A818369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Share behind the veil · denominator variants</a:t>
            </a:r>
          </a:p>
        </p:txBody>
      </p:sp>
      <p:sp>
        <p:nvSpPr>
          <p:cNvPr id="7" name="Regenerated 2021 net household debt figure-frame">
            <a:extLst xmlns:a="http://schemas.openxmlformats.org/drawingml/2006/main">
              <a:ext uri="{FF2B5EF4-FFF2-40B4-BE49-F238E27FC236}">
                <a16:creationId xmlns:a16="http://schemas.microsoft.com/office/drawing/2014/main" id="{3F047B99-64F3-4895-A54A-C471F2A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dfecfccc644ec"/>
          <a:stretch xmlns:a="http://schemas.openxmlformats.org/drawingml/2006/main"/>
        </p:blipFill>
        <p:spPr>
          <a:xfrm xmlns:a="http://schemas.openxmlformats.org/drawingml/2006/main">
            <a:off x="816531" y="1604963"/>
            <a:ext cx="4691538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8 net household debt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DC9466A9-B472-47C3-8EDD-3704637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ed6968f0b48b2"/>
          <a:stretch xmlns:a="http://schemas.openxmlformats.org/drawingml/2006/main"/>
        </p:blipFill>
        <p:spPr>
          <a:xfrm xmlns:a="http://schemas.openxmlformats.org/drawingml/2006/main">
            <a:off x="6736939" y="1650463"/>
            <a:ext cx="4585522" cy="31951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1C925110-49A5-4879-880D-164F772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E9A051B-5489-4C57-A6E7-87E94B1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B0A1B04-3F4A-46A1-90C8-063756DD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WHAT MATCHES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DAFEEB27-743A-4B0E-9669-6B80B6B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Level: 144.4% versus 148.5% in 1963; 263.9% versus 269.0% in 2016.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270CE98-0251-4F19-9C82-CE334D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Share MAE is 6.6 pp for the paper-scope proxy and 3.2 pp for the broad denominator; the latter's closer fit is not proof of conceptual equivalence.</a:t>
            </a:r>
          </a:p>
        </p:txBody>
      </p:sp>
    </p:spTree>
    <p:extLst>
      <p:ext uri="{BB962C8B-B14F-4D97-AF65-F5344CB8AC3E}">
        <p14:creationId xmlns:p14="http://schemas.microsoft.com/office/powerpoint/2010/main" val="710926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949862FF-4E70-45EE-8D3F-EC75FE5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AUTHORS' OLD APPROACH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57B4CC-C0B6-43A4-98CE-FDD79FA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2021 Stata output is a precursor, not the same outcome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54495B2-65BA-48BE-A010-1B128A43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6BAA22-FABA-4ADF-B9AC-91BC3CE0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EFF2FE23-8F35-47AE-97DD-4A27FF9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2021 package · old Figure 6 · Stata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BD06C6C-4210-4C79-B13C-26093AC2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Python · 2025-defined Figure 1 object</a:t>
            </a:r>
          </a:p>
        </p:txBody>
      </p:sp>
      <p:sp>
        <p:nvSpPr>
          <p:cNvPr id="7" name="Regenerated 2021 ownership-detail figure-frame">
            <a:extLst xmlns:a="http://schemas.openxmlformats.org/drawingml/2006/main">
              <a:ext uri="{FF2B5EF4-FFF2-40B4-BE49-F238E27FC236}">
                <a16:creationId xmlns:a16="http://schemas.microsoft.com/office/drawing/2014/main" id="{C5F83280-F332-41F3-91B6-FBB5CC7A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cf2345b434707"/>
          <a:stretch xmlns:a="http://schemas.openxmlformats.org/drawingml/2006/main"/>
        </p:blipFill>
        <p:spPr>
          <a:xfrm xmlns:a="http://schemas.openxmlformats.org/drawingml/2006/main">
            <a:off x="533400" y="1933575"/>
            <a:ext cx="5257800" cy="2628900"/>
          </a:xfrm>
          <a:prstGeom xmlns:a="http://schemas.openxmlformats.org/drawingml/2006/main" prst="rect">
            <a:avLst/>
          </a:prstGeom>
        </p:spPr>
      </p:pic>
      <p:sp>
        <p:nvSpPr>
          <p:cNvPr id="9" name="2025 Figure 1 indirect household ownership-frame">
            <a:extLst xmlns:a="http://schemas.openxmlformats.org/drawingml/2006/main">
              <a:ext uri="{FF2B5EF4-FFF2-40B4-BE49-F238E27FC236}">
                <a16:creationId xmlns:a16="http://schemas.microsoft.com/office/drawing/2014/main" id="{D7AA4A79-3DAC-4940-9455-789DBEE4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ff883545741f0"/>
          <a:stretch xmlns:a="http://schemas.openxmlformats.org/drawingml/2006/main"/>
        </p:blipFill>
        <p:spPr>
          <a:xfrm xmlns:a="http://schemas.openxmlformats.org/drawingml/2006/main">
            <a:off x="6400800" y="1776649"/>
            <a:ext cx="5257800" cy="2923702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F9B87890-6855-4148-90A7-D62A5500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9C8ADBB0-34EF-41B0-87C6-19F75FE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2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2C8B987B-C68F-4FE6-9971-B5469B4E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B83232"/>
                </a:solidFill>
              </a:rPr>
              <a:t>NOT A CONTROLLED TEST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A09CF13E-E382-44E7-8AEE-8B30C74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Both use the same broad Financial Accounts lineage, but the Stata chart decomposes increases in debt holdings; ours totals all household claims on intermediaries.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BC95876E-A4C5-4ACB-9FBE-569F321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Different estimands plus different algorithms mean the visual gap cannot be attributed purely to the 2021 round-by-round versus 2025 matrix methodology.</a:t>
            </a:r>
          </a:p>
        </p:txBody>
      </p:sp>
    </p:spTree>
    <p:extLst>
      <p:ext uri="{BB962C8B-B14F-4D97-AF65-F5344CB8AC3E}">
        <p14:creationId xmlns:p14="http://schemas.microsoft.com/office/powerpoint/2010/main" val="2028548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EAB68E1F-5F14-41BF-B5B2-0B83C02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SECONDARY ROBUSTNESS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B9ACAC-E63B-4F9A-A769-27A011FD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Public data recover the broad rise through 2019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E310BCA-30B4-4B4B-9F0D-082B1D7D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30AEA7-5E87-4D82-B1C4-A09E0F2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433D43E3-23C7-49D8-9C90-19B44AA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Procedure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EBA5073A-538F-4458-851D-23CDE87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239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public-data Figure 1 · 1963-2019</a:t>
            </a:r>
          </a:p>
        </p:txBody>
      </p:sp>
      <p:sp>
        <p:nvSpPr>
          <p:cNvPr id="7" name="table-frame">
            <a:extLst xmlns:a="http://schemas.openxmlformats.org/drawingml/2006/main">
              <a:ext uri="{FF2B5EF4-FFF2-40B4-BE49-F238E27FC236}">
                <a16:creationId xmlns:a16="http://schemas.microsoft.com/office/drawing/2014/main" id="{DF9B9604-BE23-46D2-9562-D6BCA82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table-title">
            <a:extLst xmlns:a="http://schemas.openxmlformats.org/drawingml/2006/main">
              <a:ext uri="{FF2B5EF4-FFF2-40B4-BE49-F238E27FC236}">
                <a16:creationId xmlns:a16="http://schemas.microsoft.com/office/drawing/2014/main" id="{081084E9-D741-43A8-900E-CF85F27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Public-data construction</a:t>
            </a:r>
          </a:p>
        </p:txBody>
      </p:sp>
      <p:sp>
        <p:nvSpPr>
          <p:cNvPr id="9" name="cell-0-0">
            <a:extLst xmlns:a="http://schemas.openxmlformats.org/drawingml/2006/main">
              <a:ext uri="{FF2B5EF4-FFF2-40B4-BE49-F238E27FC236}">
                <a16:creationId xmlns:a16="http://schemas.microsoft.com/office/drawing/2014/main" id="{578615A5-537D-460B-8322-D66557A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Input</a:t>
            </a:r>
          </a:p>
        </p:txBody>
      </p:sp>
      <p:sp>
        <p:nvSpPr>
          <p:cNvPr id="10" name="cell-0-1">
            <a:extLst xmlns:a="http://schemas.openxmlformats.org/drawingml/2006/main">
              <a:ext uri="{FF2B5EF4-FFF2-40B4-BE49-F238E27FC236}">
                <a16:creationId xmlns:a16="http://schemas.microsoft.com/office/drawing/2014/main" id="{185BC6AA-6653-4B7B-BC03-67E44DB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Coverage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828C9540-C458-4921-8D7B-F2F3FBA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Treatment</a:t>
            </a:r>
          </a:p>
        </p:txBody>
      </p:sp>
      <p:sp>
        <p:nvSpPr>
          <p:cNvPr id="12" name="row-line-0">
            <a:extLst xmlns:a="http://schemas.openxmlformats.org/drawingml/2006/main">
              <a:ext uri="{FF2B5EF4-FFF2-40B4-BE49-F238E27FC236}">
                <a16:creationId xmlns:a16="http://schemas.microsoft.com/office/drawing/2014/main" id="{D69F3A4E-8E5A-44AE-AB89-D12450A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-1-0">
            <a:extLst xmlns:a="http://schemas.openxmlformats.org/drawingml/2006/main">
              <a:ext uri="{FF2B5EF4-FFF2-40B4-BE49-F238E27FC236}">
                <a16:creationId xmlns:a16="http://schemas.microsoft.com/office/drawing/2014/main" id="{375EAF70-F87B-4459-AB19-10E3F57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FWTW</a:t>
            </a:r>
          </a:p>
        </p:txBody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DB8CB67E-0F32-4F5D-8B84-36870423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33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1963-2019</a:t>
            </a:r>
          </a:p>
        </p:txBody>
      </p:sp>
      <p:sp>
        <p:nvSpPr>
          <p:cNvPr id="15" name="cell-1-2">
            <a:extLst xmlns:a="http://schemas.openxmlformats.org/drawingml/2006/main">
              <a:ext uri="{FF2B5EF4-FFF2-40B4-BE49-F238E27FC236}">
                <a16:creationId xmlns:a16="http://schemas.microsoft.com/office/drawing/2014/main" id="{A588232C-CDA7-48B1-B9EA-9DEFFC3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33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21 sectors</a:t>
            </a:r>
          </a:p>
        </p:txBody>
      </p:sp>
      <p:sp>
        <p:nvSpPr>
          <p:cNvPr id="16" name="row-line-1">
            <a:extLst xmlns:a="http://schemas.openxmlformats.org/drawingml/2006/main">
              <a:ext uri="{FF2B5EF4-FFF2-40B4-BE49-F238E27FC236}">
                <a16:creationId xmlns:a16="http://schemas.microsoft.com/office/drawing/2014/main" id="{5DC11FF2-CA06-4350-9B7E-DAE5413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ell-2-0">
            <a:extLst xmlns:a="http://schemas.openxmlformats.org/drawingml/2006/main">
              <a:ext uri="{FF2B5EF4-FFF2-40B4-BE49-F238E27FC236}">
                <a16:creationId xmlns:a16="http://schemas.microsoft.com/office/drawing/2014/main" id="{BB249022-439E-4DFD-8870-B63B9506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BEA/FRED</a:t>
            </a:r>
          </a:p>
        </p:txBody>
      </p:sp>
      <p:sp>
        <p:nvSpPr>
          <p:cNvPr id="18" name="cell-2-1">
            <a:extLst xmlns:a="http://schemas.openxmlformats.org/drawingml/2006/main">
              <a:ext uri="{FF2B5EF4-FFF2-40B4-BE49-F238E27FC236}">
                <a16:creationId xmlns:a16="http://schemas.microsoft.com/office/drawing/2014/main" id="{87840E93-4394-4955-914E-BD1A8634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90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Annual</a:t>
            </a:r>
          </a:p>
        </p:txBody>
      </p:sp>
      <p:sp>
        <p:nvSpPr>
          <p:cNvPr id="19" name="cell-2-2">
            <a:extLst xmlns:a="http://schemas.openxmlformats.org/drawingml/2006/main">
              <a:ext uri="{FF2B5EF4-FFF2-40B4-BE49-F238E27FC236}">
                <a16:creationId xmlns:a16="http://schemas.microsoft.com/office/drawing/2014/main" id="{6AE24D16-27CB-4592-8B92-E7B2194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909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NI denominator</a:t>
            </a:r>
          </a:p>
        </p:txBody>
      </p:sp>
      <p:sp>
        <p:nvSpPr>
          <p:cNvPr id="20" name="row-line-2">
            <a:extLst xmlns:a="http://schemas.openxmlformats.org/drawingml/2006/main">
              <a:ext uri="{FF2B5EF4-FFF2-40B4-BE49-F238E27FC236}">
                <a16:creationId xmlns:a16="http://schemas.microsoft.com/office/drawing/2014/main" id="{58202A1E-47E9-4450-9AAF-4809157C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ell-3-0">
            <a:extLst xmlns:a="http://schemas.openxmlformats.org/drawingml/2006/main">
              <a:ext uri="{FF2B5EF4-FFF2-40B4-BE49-F238E27FC236}">
                <a16:creationId xmlns:a16="http://schemas.microsoft.com/office/drawing/2014/main" id="{5D5C5D74-A455-4E52-8A25-CDCBC8D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Equity</a:t>
            </a:r>
          </a:p>
        </p:txBody>
      </p:sp>
      <p:sp>
        <p:nvSpPr>
          <p:cNvPr id="22" name="cell-3-1">
            <a:extLst xmlns:a="http://schemas.openxmlformats.org/drawingml/2006/main">
              <a:ext uri="{FF2B5EF4-FFF2-40B4-BE49-F238E27FC236}">
                <a16:creationId xmlns:a16="http://schemas.microsoft.com/office/drawing/2014/main" id="{73DF07FB-E70E-4854-A60E-F8243C80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48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Later vintage</a:t>
            </a:r>
          </a:p>
        </p:txBody>
      </p:sp>
      <p:sp>
        <p:nvSpPr>
          <p:cNvPr id="23" name="cell-3-2">
            <a:extLst xmlns:a="http://schemas.openxmlformats.org/drawingml/2006/main">
              <a:ext uri="{FF2B5EF4-FFF2-40B4-BE49-F238E27FC236}">
                <a16:creationId xmlns:a16="http://schemas.microsoft.com/office/drawing/2014/main" id="{3E8F525E-F811-4AC8-9E28-88298201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481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Public proxy</a:t>
            </a:r>
          </a:p>
        </p:txBody>
      </p:sp>
      <p:sp>
        <p:nvSpPr>
          <p:cNvPr id="24" name="row-line-3">
            <a:extLst xmlns:a="http://schemas.openxmlformats.org/drawingml/2006/main">
              <a:ext uri="{FF2B5EF4-FFF2-40B4-BE49-F238E27FC236}">
                <a16:creationId xmlns:a16="http://schemas.microsoft.com/office/drawing/2014/main" id="{818FEF36-9BF4-4EA1-976A-5EA965C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4-0">
            <a:extLst xmlns:a="http://schemas.openxmlformats.org/drawingml/2006/main">
              <a:ext uri="{FF2B5EF4-FFF2-40B4-BE49-F238E27FC236}">
                <a16:creationId xmlns:a16="http://schemas.microsoft.com/office/drawing/2014/main" id="{72CD9AF7-AAEF-488F-8615-0686F12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Output</a:t>
            </a:r>
          </a:p>
        </p:txBody>
      </p:sp>
      <p:sp>
        <p:nvSpPr>
          <p:cNvPr id="26" name="cell-4-1">
            <a:extLst xmlns:a="http://schemas.openxmlformats.org/drawingml/2006/main">
              <a:ext uri="{FF2B5EF4-FFF2-40B4-BE49-F238E27FC236}">
                <a16:creationId xmlns:a16="http://schemas.microsoft.com/office/drawing/2014/main" id="{8E997FD0-B881-427E-8EA9-E24A4D1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05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Two ratios</a:t>
            </a:r>
          </a:p>
        </p:txBody>
      </p:sp>
      <p:sp>
        <p:nvSpPr>
          <p:cNvPr id="27" name="cell-4-2">
            <a:extLst xmlns:a="http://schemas.openxmlformats.org/drawingml/2006/main">
              <a:ext uri="{FF2B5EF4-FFF2-40B4-BE49-F238E27FC236}">
                <a16:creationId xmlns:a16="http://schemas.microsoft.com/office/drawing/2014/main" id="{6AE699B0-0AEF-4868-BF2E-0C8DAD1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05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Robustness</a:t>
            </a:r>
          </a:p>
        </p:txBody>
      </p:sp>
      <p:sp>
        <p:nvSpPr>
          <p:cNvPr id="28" name="row-line-4">
            <a:extLst xmlns:a="http://schemas.openxmlformats.org/drawingml/2006/main">
              <a:ext uri="{FF2B5EF4-FFF2-40B4-BE49-F238E27FC236}">
                <a16:creationId xmlns:a16="http://schemas.microsoft.com/office/drawing/2014/main" id="{0704D39B-5682-4E58-8970-C924CACF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2025 Figure 9 debt-financing flows-frame">
            <a:extLst xmlns:a="http://schemas.openxmlformats.org/drawingml/2006/main">
              <a:ext uri="{FF2B5EF4-FFF2-40B4-BE49-F238E27FC236}">
                <a16:creationId xmlns:a16="http://schemas.microsoft.com/office/drawing/2014/main" id="{219A4000-C6D6-4F3C-A70A-16384C1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fb29a8cde47c1"/>
          <a:stretch xmlns:a="http://schemas.openxmlformats.org/drawingml/2006/main"/>
        </p:blipFill>
        <p:spPr>
          <a:xfrm xmlns:a="http://schemas.openxmlformats.org/drawingml/2006/main">
            <a:off x="6400800" y="1776685"/>
            <a:ext cx="5257800" cy="2942680"/>
          </a:xfrm>
          <a:prstGeom xmlns:a="http://schemas.openxmlformats.org/drawingml/2006/main" prst="rect">
            <a:avLst/>
          </a:prstGeom>
        </p:spPr>
      </p:pic>
      <p:sp>
        <p:nvSpPr>
          <p:cNvPr id="3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45164E07-14D9-410E-B5ED-A6A5995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B7340063-81CA-4574-9077-44EFF41E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verdict">
            <a:extLst xmlns:a="http://schemas.openxmlformats.org/drawingml/2006/main">
              <a:ext uri="{FF2B5EF4-FFF2-40B4-BE49-F238E27FC236}">
                <a16:creationId xmlns:a16="http://schemas.microsoft.com/office/drawing/2014/main" id="{58150FBF-9B5D-4B58-BB9C-CF5537C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B7791F"/>
                </a:solidFill>
              </a:rPr>
              <a:t>TREND ROBUST</a:t>
            </a:r>
          </a:p>
        </p:txBody>
      </p:sp>
      <p:sp>
        <p:nvSpPr>
          <p:cNvPr id="34" name="assessment">
            <a:extLst xmlns:a="http://schemas.openxmlformats.org/drawingml/2006/main">
              <a:ext uri="{FF2B5EF4-FFF2-40B4-BE49-F238E27FC236}">
                <a16:creationId xmlns:a16="http://schemas.microsoft.com/office/drawing/2014/main" id="{94677C1B-710E-4943-B335-D005A43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Indirect share: 47.5% in 1963, a 70.1% peak in 2009, and 66.2% in 2019.</a:t>
            </a:r>
          </a:p>
        </p:txBody>
      </p:sp>
      <p:sp>
        <p:nvSpPr>
          <p:cNvPr id="35" name="difference">
            <a:extLst xmlns:a="http://schemas.openxmlformats.org/drawingml/2006/main">
              <a:ext uri="{FF2B5EF4-FFF2-40B4-BE49-F238E27FC236}">
                <a16:creationId xmlns:a16="http://schemas.microsoft.com/office/drawing/2014/main" id="{F73CA6A4-7682-4A38-9F63-F48562BF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Later revisions, 21 rather than 23 intermediaries, and a different equity extension prevent an exact target comparison.</a:t>
            </a:r>
          </a:p>
        </p:txBody>
      </p:sp>
    </p:spTree>
    <p:extLst>
      <p:ext uri="{BB962C8B-B14F-4D97-AF65-F5344CB8AC3E}">
        <p14:creationId xmlns:p14="http://schemas.microsoft.com/office/powerpoint/2010/main" val="996002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5 IDENTIFICATION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2021 wealth pipeline identifies revised saving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08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Target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Figure 5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Saving contribution by wealth group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Allocate wealth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B.101 totals × fine DINA shares for four groups and 29 balance-sheet categories.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Remove valuations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Housing gains + debt write-downs; residual equity return closes to NIPA.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Match display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Trailing 10-year mean of saving / national income, less its 1982 value.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Classification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Reconstruction: wealth, valuation, fine-share, and NIPA inputs are supplied through 2016.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5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older inputs reproduce the saving divergence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09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reconstruction · percentage-point axis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HIGH-FIDELITY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Top 1% / bottom 99% correlations: 0.992 / 0.997; MAE: 0.40 / 0.42 pp.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2016 shifts: ours +3.25 / -7.11 pp; digitized paper +4.35 / -8.46 pp. Paper image excludes its printed caption.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e8256f7ff4937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600ff86b4496c"/>
          <a:stretch xmlns:a="http://schemas.openxmlformats.org/drawingml/2006/main"/>
        </p:blipFill>
        <p:spPr>
          <a:xfrm xmlns:a="http://schemas.openxmlformats.org/drawingml/2006/main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6 IDENTIFICATION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same saving rate supports rank and wealth-level views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10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Target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Figure 6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Net saving rate by wealth percentile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Rebuild bins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Raw DINA: bottom 40%, then one-percentile bins through the top 1%.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Match income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Personal plus attributable corporate disposable income, allocated by income and equity shares.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Hold rate fixed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Active saving divided by disposable income; only the horizontal coordinate changes.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Classification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Exact-method reconstruction through 2016; the paper's later window ends in 2019.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6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older inputs reproduce the cross-sectional saving pattern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11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1963–82 and 1983–2019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reconstruction · second period ends in 2016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SHAPE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Correlations: 0.991 / 0.972; MAE: 1.46 / 1.20 pp.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Top 1%: ours 28.8%→36.2%; paper ≈43%→54%. The old inputs end in 2016, not 2019.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68232248c4927"/>
          <a:stretch xmlns:a="http://schemas.openxmlformats.org/drawingml/2006/main"/>
        </p:blipFill>
        <p:spPr>
          <a:xfrm xmlns:a="http://schemas.openxmlformats.org/drawingml/2006/main" flipH="0" flipV="0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23341741b424e"/>
          <a:stretch xmlns:a="http://schemas.openxmlformats.org/drawingml/2006/main"/>
        </p:blipFill>
        <p:spPr>
          <a:xfrm xmlns:a="http://schemas.openxmlformats.org/drawingml/2006/main" flipH="0" flipV="0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EAB68E1F-5F14-41BF-B5B2-0B83C02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SECONDARY ROBUSTNESS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B9ACAC-E63B-4F9A-A769-27A011FD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Public data recover the broad rise through 2019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E310BCA-30B4-4B4B-9F0D-082B1D7D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30AEA7-5E87-4D82-B1C4-A09E0F2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433D43E3-23C7-49D8-9C90-19B44AA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Procedure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EBA5073A-538F-4458-851D-23CDE87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239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public-data Figure 1 · 1963-2019</a:t>
            </a:r>
          </a:p>
        </p:txBody>
      </p:sp>
      <p:sp>
        <p:nvSpPr>
          <p:cNvPr id="7" name="table-frame">
            <a:extLst xmlns:a="http://schemas.openxmlformats.org/drawingml/2006/main">
              <a:ext uri="{FF2B5EF4-FFF2-40B4-BE49-F238E27FC236}">
                <a16:creationId xmlns:a16="http://schemas.microsoft.com/office/drawing/2014/main" id="{DF9B9604-BE23-46D2-9562-D6BCA82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table-title">
            <a:extLst xmlns:a="http://schemas.openxmlformats.org/drawingml/2006/main">
              <a:ext uri="{FF2B5EF4-FFF2-40B4-BE49-F238E27FC236}">
                <a16:creationId xmlns:a16="http://schemas.microsoft.com/office/drawing/2014/main" id="{081084E9-D741-43A8-900E-CF85F27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Public-data construction</a:t>
            </a:r>
          </a:p>
        </p:txBody>
      </p:sp>
      <p:sp>
        <p:nvSpPr>
          <p:cNvPr id="9" name="cell-0-0">
            <a:extLst xmlns:a="http://schemas.openxmlformats.org/drawingml/2006/main">
              <a:ext uri="{FF2B5EF4-FFF2-40B4-BE49-F238E27FC236}">
                <a16:creationId xmlns:a16="http://schemas.microsoft.com/office/drawing/2014/main" id="{578615A5-537D-460B-8322-D66557A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Input</a:t>
            </a:r>
          </a:p>
        </p:txBody>
      </p:sp>
      <p:sp>
        <p:nvSpPr>
          <p:cNvPr id="10" name="cell-0-1">
            <a:extLst xmlns:a="http://schemas.openxmlformats.org/drawingml/2006/main">
              <a:ext uri="{FF2B5EF4-FFF2-40B4-BE49-F238E27FC236}">
                <a16:creationId xmlns:a16="http://schemas.microsoft.com/office/drawing/2014/main" id="{185BC6AA-6653-4B7B-BC03-67E44DB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Coverage</a:t>
            </a:r>
          </a:p>
        </p:txBody>
      </p:sp>
      <p:sp>
        <p:nvSpPr>
          <p:cNvPr id="11" name="cell-0-2">
            <a:extLst xmlns:a="http://schemas.openxmlformats.org/drawingml/2006/main">
              <a:ext uri="{FF2B5EF4-FFF2-40B4-BE49-F238E27FC236}">
                <a16:creationId xmlns:a16="http://schemas.microsoft.com/office/drawing/2014/main" id="{828C9540-C458-4921-8D7B-F2F3FBA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Treatment</a:t>
            </a:r>
          </a:p>
        </p:txBody>
      </p:sp>
      <p:sp>
        <p:nvSpPr>
          <p:cNvPr id="12" name="row-line-0">
            <a:extLst xmlns:a="http://schemas.openxmlformats.org/drawingml/2006/main">
              <a:ext uri="{FF2B5EF4-FFF2-40B4-BE49-F238E27FC236}">
                <a16:creationId xmlns:a16="http://schemas.microsoft.com/office/drawing/2014/main" id="{D69F3A4E-8E5A-44AE-AB89-D12450A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-1-0">
            <a:extLst xmlns:a="http://schemas.openxmlformats.org/drawingml/2006/main">
              <a:ext uri="{FF2B5EF4-FFF2-40B4-BE49-F238E27FC236}">
                <a16:creationId xmlns:a16="http://schemas.microsoft.com/office/drawing/2014/main" id="{375EAF70-F87B-4459-AB19-10E3F57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FWTW</a:t>
            </a:r>
          </a:p>
        </p:txBody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DB8CB67E-0F32-4F5D-8B84-36870423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33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1963-2019</a:t>
            </a:r>
          </a:p>
        </p:txBody>
      </p:sp>
      <p:sp>
        <p:nvSpPr>
          <p:cNvPr id="15" name="cell-1-2">
            <a:extLst xmlns:a="http://schemas.openxmlformats.org/drawingml/2006/main">
              <a:ext uri="{FF2B5EF4-FFF2-40B4-BE49-F238E27FC236}">
                <a16:creationId xmlns:a16="http://schemas.microsoft.com/office/drawing/2014/main" id="{A588232C-CDA7-48B1-B9EA-9DEFFC3A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33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21 sectors</a:t>
            </a:r>
          </a:p>
        </p:txBody>
      </p:sp>
      <p:sp>
        <p:nvSpPr>
          <p:cNvPr id="16" name="row-line-1">
            <a:extLst xmlns:a="http://schemas.openxmlformats.org/drawingml/2006/main">
              <a:ext uri="{FF2B5EF4-FFF2-40B4-BE49-F238E27FC236}">
                <a16:creationId xmlns:a16="http://schemas.microsoft.com/office/drawing/2014/main" id="{5DC11FF2-CA06-4350-9B7E-DAE5413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ell-2-0">
            <a:extLst xmlns:a="http://schemas.openxmlformats.org/drawingml/2006/main">
              <a:ext uri="{FF2B5EF4-FFF2-40B4-BE49-F238E27FC236}">
                <a16:creationId xmlns:a16="http://schemas.microsoft.com/office/drawing/2014/main" id="{BB249022-439E-4DFD-8870-B63B9506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BEA/FRED</a:t>
            </a:r>
          </a:p>
        </p:txBody>
      </p:sp>
      <p:sp>
        <p:nvSpPr>
          <p:cNvPr id="18" name="cell-2-1">
            <a:extLst xmlns:a="http://schemas.openxmlformats.org/drawingml/2006/main">
              <a:ext uri="{FF2B5EF4-FFF2-40B4-BE49-F238E27FC236}">
                <a16:creationId xmlns:a16="http://schemas.microsoft.com/office/drawing/2014/main" id="{87840E93-4394-4955-914E-BD1A8634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909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Annual</a:t>
            </a:r>
          </a:p>
        </p:txBody>
      </p:sp>
      <p:sp>
        <p:nvSpPr>
          <p:cNvPr id="19" name="cell-2-2">
            <a:extLst xmlns:a="http://schemas.openxmlformats.org/drawingml/2006/main">
              <a:ext uri="{FF2B5EF4-FFF2-40B4-BE49-F238E27FC236}">
                <a16:creationId xmlns:a16="http://schemas.microsoft.com/office/drawing/2014/main" id="{6AE24D16-27CB-4592-8B92-E7B2194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909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NI denominator</a:t>
            </a:r>
          </a:p>
        </p:txBody>
      </p:sp>
      <p:sp>
        <p:nvSpPr>
          <p:cNvPr id="20" name="row-line-2">
            <a:extLst xmlns:a="http://schemas.openxmlformats.org/drawingml/2006/main">
              <a:ext uri="{FF2B5EF4-FFF2-40B4-BE49-F238E27FC236}">
                <a16:creationId xmlns:a16="http://schemas.microsoft.com/office/drawing/2014/main" id="{58202A1E-47E9-4450-9AAF-4809157C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ell-3-0">
            <a:extLst xmlns:a="http://schemas.openxmlformats.org/drawingml/2006/main">
              <a:ext uri="{FF2B5EF4-FFF2-40B4-BE49-F238E27FC236}">
                <a16:creationId xmlns:a16="http://schemas.microsoft.com/office/drawing/2014/main" id="{5D5C5D74-A455-4E52-8A25-CDCBC8D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Equity</a:t>
            </a:r>
          </a:p>
        </p:txBody>
      </p:sp>
      <p:sp>
        <p:nvSpPr>
          <p:cNvPr id="22" name="cell-3-1">
            <a:extLst xmlns:a="http://schemas.openxmlformats.org/drawingml/2006/main">
              <a:ext uri="{FF2B5EF4-FFF2-40B4-BE49-F238E27FC236}">
                <a16:creationId xmlns:a16="http://schemas.microsoft.com/office/drawing/2014/main" id="{73DF07FB-E70E-4854-A60E-F8243C80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48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Later vintage</a:t>
            </a:r>
          </a:p>
        </p:txBody>
      </p:sp>
      <p:sp>
        <p:nvSpPr>
          <p:cNvPr id="23" name="cell-3-2">
            <a:extLst xmlns:a="http://schemas.openxmlformats.org/drawingml/2006/main">
              <a:ext uri="{FF2B5EF4-FFF2-40B4-BE49-F238E27FC236}">
                <a16:creationId xmlns:a16="http://schemas.microsoft.com/office/drawing/2014/main" id="{3E8F525E-F811-4AC8-9E28-88298201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481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Public proxy</a:t>
            </a:r>
          </a:p>
        </p:txBody>
      </p:sp>
      <p:sp>
        <p:nvSpPr>
          <p:cNvPr id="24" name="row-line-3">
            <a:extLst xmlns:a="http://schemas.openxmlformats.org/drawingml/2006/main">
              <a:ext uri="{FF2B5EF4-FFF2-40B4-BE49-F238E27FC236}">
                <a16:creationId xmlns:a16="http://schemas.microsoft.com/office/drawing/2014/main" id="{818FEF36-9BF4-4EA1-976A-5EA965CA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4-0">
            <a:extLst xmlns:a="http://schemas.openxmlformats.org/drawingml/2006/main">
              <a:ext uri="{FF2B5EF4-FFF2-40B4-BE49-F238E27FC236}">
                <a16:creationId xmlns:a16="http://schemas.microsoft.com/office/drawing/2014/main" id="{72CD9AF7-AAEF-488F-8615-0686F12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Output</a:t>
            </a:r>
          </a:p>
        </p:txBody>
      </p:sp>
      <p:sp>
        <p:nvSpPr>
          <p:cNvPr id="26" name="cell-4-1">
            <a:extLst xmlns:a="http://schemas.openxmlformats.org/drawingml/2006/main">
              <a:ext uri="{FF2B5EF4-FFF2-40B4-BE49-F238E27FC236}">
                <a16:creationId xmlns:a16="http://schemas.microsoft.com/office/drawing/2014/main" id="{8E997FD0-B881-427E-8EA9-E24A4D1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05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Two ratios</a:t>
            </a:r>
          </a:p>
        </p:txBody>
      </p:sp>
      <p:sp>
        <p:nvSpPr>
          <p:cNvPr id="27" name="cell-4-2">
            <a:extLst xmlns:a="http://schemas.openxmlformats.org/drawingml/2006/main">
              <a:ext uri="{FF2B5EF4-FFF2-40B4-BE49-F238E27FC236}">
                <a16:creationId xmlns:a16="http://schemas.microsoft.com/office/drawing/2014/main" id="{6AE699B0-0AEF-4868-BF2E-0C8DAD1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053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Robustness</a:t>
            </a:r>
          </a:p>
        </p:txBody>
      </p:sp>
      <p:sp>
        <p:nvSpPr>
          <p:cNvPr id="28" name="row-line-4">
            <a:extLst xmlns:a="http://schemas.openxmlformats.org/drawingml/2006/main">
              <a:ext uri="{FF2B5EF4-FFF2-40B4-BE49-F238E27FC236}">
                <a16:creationId xmlns:a16="http://schemas.microsoft.com/office/drawing/2014/main" id="{0704D39B-5682-4E58-8970-C924CACF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2025 Figure 9 debt-financing flows-frame">
            <a:extLst xmlns:a="http://schemas.openxmlformats.org/drawingml/2006/main">
              <a:ext uri="{FF2B5EF4-FFF2-40B4-BE49-F238E27FC236}">
                <a16:creationId xmlns:a16="http://schemas.microsoft.com/office/drawing/2014/main" id="{219A4000-C6D6-4F3C-A70A-16384C1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f5678753e459f"/>
          <a:stretch xmlns:a="http://schemas.openxmlformats.org/drawingml/2006/main"/>
        </p:blipFill>
        <p:spPr>
          <a:xfrm xmlns:a="http://schemas.openxmlformats.org/drawingml/2006/main">
            <a:off x="6400800" y="1776685"/>
            <a:ext cx="5257800" cy="2942680"/>
          </a:xfrm>
          <a:prstGeom xmlns:a="http://schemas.openxmlformats.org/drawingml/2006/main" prst="rect">
            <a:avLst/>
          </a:prstGeom>
        </p:spPr>
      </p:pic>
      <p:sp>
        <p:nvSpPr>
          <p:cNvPr id="3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45164E07-14D9-410E-B5ED-A6A5995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B7340063-81CA-4574-9077-44EFF41E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verdict">
            <a:extLst xmlns:a="http://schemas.openxmlformats.org/drawingml/2006/main">
              <a:ext uri="{FF2B5EF4-FFF2-40B4-BE49-F238E27FC236}">
                <a16:creationId xmlns:a16="http://schemas.microsoft.com/office/drawing/2014/main" id="{58150FBF-9B5D-4B58-BB9C-CF5537C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B7791F"/>
                </a:solidFill>
              </a:rPr>
              <a:t>TREND ROBUST</a:t>
            </a:r>
          </a:p>
        </p:txBody>
      </p:sp>
      <p:sp>
        <p:nvSpPr>
          <p:cNvPr id="34" name="assessment">
            <a:extLst xmlns:a="http://schemas.openxmlformats.org/drawingml/2006/main">
              <a:ext uri="{FF2B5EF4-FFF2-40B4-BE49-F238E27FC236}">
                <a16:creationId xmlns:a16="http://schemas.microsoft.com/office/drawing/2014/main" id="{94677C1B-710E-4943-B335-D005A43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Indirect share: 47.5% in 1963, a 70.1% peak in 2009, and 66.2% in 2019.</a:t>
            </a:r>
          </a:p>
        </p:txBody>
      </p:sp>
      <p:sp>
        <p:nvSpPr>
          <p:cNvPr id="35" name="difference">
            <a:extLst xmlns:a="http://schemas.openxmlformats.org/drawingml/2006/main">
              <a:ext uri="{FF2B5EF4-FFF2-40B4-BE49-F238E27FC236}">
                <a16:creationId xmlns:a16="http://schemas.microsoft.com/office/drawing/2014/main" id="{F73CA6A4-7682-4A38-9F63-F48562BF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Later revisions, 21 rather than 23 intermediaries, and a different equity extension prevent an exact target comparison.</a:t>
            </a:r>
          </a:p>
        </p:txBody>
      </p:sp>
    </p:spTree>
    <p:extLst>
      <p:ext uri="{BB962C8B-B14F-4D97-AF65-F5344CB8AC3E}">
        <p14:creationId xmlns:p14="http://schemas.microsoft.com/office/powerpoint/2010/main" val="996002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6 MECHANISM VIEW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Rising wealth alone does not explain the saving-rate shift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Same rates · wealth percentile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Same rates · mean real wealth per adult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NOT PURE COMPOSITION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At similar mean wealth, post-1982 cohorts often save less.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Near $300k mean wealth: pre p90 saves 31.5%; post p80 saves 7.4%. Cohort means are not fixed-dollar bins.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650f66f234e90"/>
          <a:stretch xmlns:a="http://schemas.openxmlformats.org/drawingml/2006/main"/>
        </p:blipFill>
        <p:spPr>
          <a:xfrm xmlns:a="http://schemas.openxmlformats.org/drawingml/2006/main" flipH="0" flipV="0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fe78d7ab740bf"/>
          <a:stretch xmlns:a="http://schemas.openxmlformats.org/drawingml/2006/main"/>
        </p:blipFill>
        <p:spPr>
          <a:xfrm xmlns:a="http://schemas.openxmlformats.org/drawingml/2006/main" flipH="0" flipV="0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6 TIME EVOLUTION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Upper-middle rates trend down; the top 1% remains volatile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Full distribution · trailing five-year means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Selected upper-tail percentiles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NOT A SINGLE BREAK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80th–90th percentiles decline persistently after the late 1980s.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The top 1% oscillates sharply, including a 2008 five-year peak; this is not one smooth monotone trend.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dd662c3514e78"/>
          <a:stretch xmlns:a="http://schemas.openxmlformats.org/drawingml/2006/main"/>
        </p:blipFill>
        <p:spPr>
          <a:xfrm xmlns:a="http://schemas.openxmlformats.org/drawingml/2006/main" flipH="0" flipV="0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53e9e4f40482e"/>
          <a:stretch xmlns:a="http://schemas.openxmlformats.org/drawingml/2006/main"/>
        </p:blipFill>
        <p:spPr>
          <a:xfrm xmlns:a="http://schemas.openxmlformats.org/drawingml/2006/main" flipH="0" flipV="0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FEASIBILITY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Figure 8 stops one step before the revised matrix solve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14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Target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Figure 8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Net household debt by wealth group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1 · Missing upstream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Completed 2025 instrument × sector matrices and augmented household columns.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2 · Old-kit output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Fine debt assets after seven rounds + fine liabilities.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3 · Applied faithfully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Net debt = debt assets − liabilities; divide by NI; subtract 1982.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Classification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Proxy: group, sign, scale, and base are revised; unveiled asset stocks still come from the older method.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proxy reproduces borrowing, but understates top-1 lending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proxy · percentage-point axis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PROXY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2007: bottom 99% -38.88 pp proxy vs -38.76 paper; top 1% +12.03 vs +18.02.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Correlations: 0.993 / 0.995 (top 1% / bottom 99%). Missing matrices prevent a code-only interpretation.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9f4a7e85a4b72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d4fbf069847ad"/>
          <a:stretch xmlns:a="http://schemas.openxmlformats.org/drawingml/2006/main"/>
        </p:blipFill>
        <p:spPr>
          <a:xfrm xmlns:a="http://schemas.openxmlformats.org/drawingml/2006/main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REPLICATION SYNTHESIS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Figures 1, 5, and 6 reconstruct; Figure 8 remains a proxy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16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Conclusion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What did the 2021 kit let us test?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Figure 1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Close stock reconstruction; share denominator remains version-specific.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Figures 5–6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High-fidelity saving-flow and saving-rate reconstructions through 2016.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Figure 8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Direction and bottom-99 level match; revised matrices are unavailable.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Main lesson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2021 inputs reproduce the paper's core patterns and support a new Figure 6 mechanism diagnostic. Figure 8 alone remains method-bounded.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2026-08-11T14:02:47.2100000Z</dcterms:created>
  <dcterms:modified xsi:type="dcterms:W3CDTF">2026-08-11T14:02:47.2100000Z</dcterms:modified>
</coreProperties>
</file>
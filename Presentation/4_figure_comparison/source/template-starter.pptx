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e75635ea4a4154" /><Relationship Type="http://schemas.openxmlformats.org/officeDocument/2006/relationships/extended-properties" Target="/docProps/app.xml" Id="Rdf4e583457944f4b" /><Relationship Type="http://schemas.openxmlformats.org/officeDocument/2006/relationships/officeDocument" Target="/ppt/presentation.xml" Id="Ref2ed423990448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d2883f0f814635"/>
  </p:sldMasterIdLst>
  <p:notesMasterIdLst>
    <p:notesMasterId xmlns:r="http://schemas.openxmlformats.org/officeDocument/2006/relationships" r:id="R0f50fb2f09d24d57"/>
  </p:notesMasterIdLst>
  <p:sldIdLst>
    <p:sldId xmlns:r="http://schemas.openxmlformats.org/officeDocument/2006/relationships" id="256" r:id="Ra8dea29eab8d4a44"/>
    <p:sldId xmlns:r="http://schemas.openxmlformats.org/officeDocument/2006/relationships" id="257" r:id="R69ec703edf114584"/>
    <p:sldId xmlns:r="http://schemas.openxmlformats.org/officeDocument/2006/relationships" id="258" r:id="Re708f095102342f0"/>
    <p:sldId xmlns:r="http://schemas.openxmlformats.org/officeDocument/2006/relationships" id="259" r:id="Rfe342a39398142c1"/>
    <p:sldId xmlns:r="http://schemas.openxmlformats.org/officeDocument/2006/relationships" id="260" r:id="R3e7c4bdab5044f6e"/>
    <p:sldId xmlns:r="http://schemas.openxmlformats.org/officeDocument/2006/relationships" id="261" r:id="Rf73d7e76775f40a9"/>
    <p:sldId xmlns:r="http://schemas.openxmlformats.org/officeDocument/2006/relationships" id="262" r:id="Rdcc319a1b70041af"/>
    <p:sldId xmlns:r="http://schemas.openxmlformats.org/officeDocument/2006/relationships" id="263" r:id="R671e859d0e7546a6"/>
    <p:sldId xmlns:r="http://schemas.openxmlformats.org/officeDocument/2006/relationships" id="264" r:id="Rb3d631bc180a4f43"/>
    <p:sldId xmlns:r="http://schemas.openxmlformats.org/officeDocument/2006/relationships" id="265" r:id="R6b1c2563122849be"/>
    <p:sldId xmlns:r="http://schemas.openxmlformats.org/officeDocument/2006/relationships" id="266" r:id="R6795f4da2d5d4c0d"/>
    <p:sldId xmlns:r="http://schemas.openxmlformats.org/officeDocument/2006/relationships" id="267" r:id="Rfe0b107f707740ca"/>
    <p:sldId xmlns:r="http://schemas.openxmlformats.org/officeDocument/2006/relationships" id="268" r:id="Ra5cdf34f9bde4325"/>
    <p:sldId xmlns:r="http://schemas.openxmlformats.org/officeDocument/2006/relationships" id="269" r:id="R28591c1cfe574fdc"/>
    <p:sldId xmlns:r="http://schemas.openxmlformats.org/officeDocument/2006/relationships" id="270" r:id="R64de9e4adae04991"/>
    <p:sldId xmlns:r="http://schemas.openxmlformats.org/officeDocument/2006/relationships" id="271" r:id="R3ebedaf108a54428"/>
    <p:sldId xmlns:r="http://schemas.openxmlformats.org/officeDocument/2006/relationships" id="272" r:id="Re447e5b2b61549d8"/>
    <p:sldId xmlns:r="http://schemas.openxmlformats.org/officeDocument/2006/relationships" id="273" r:id="R21fb3affc19b40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51a56ec1b44b8d" /><Relationship Type="http://schemas.openxmlformats.org/officeDocument/2006/relationships/slideMaster" Target="/ppt/slideMasters/slideMaster1.xml" Id="R7bd2883f0f814635" /><Relationship Type="http://schemas.openxmlformats.org/officeDocument/2006/relationships/notesMaster" Target="/ppt/notesMasters/notesMaster1.xml" Id="R0f50fb2f09d24d57" /><Relationship Type="http://schemas.openxmlformats.org/officeDocument/2006/relationships/presProps" Target="/ppt/presProps.xml" Id="R4fa2733694d54a09" /><Relationship Type="http://schemas.openxmlformats.org/officeDocument/2006/relationships/tableStyles" Target="/ppt/tableStyles.xml" Id="R5ce87e67b51342bc" /><Relationship Type="http://schemas.openxmlformats.org/officeDocument/2006/relationships/slide" Target="/ppt/slides/slide1.xml" Id="Ra8dea29eab8d4a44" /><Relationship Type="http://schemas.openxmlformats.org/officeDocument/2006/relationships/slide" Target="/ppt/slides/slide2.xml" Id="R69ec703edf114584" /><Relationship Type="http://schemas.openxmlformats.org/officeDocument/2006/relationships/slide" Target="/ppt/slides/slide3.xml" Id="Re708f095102342f0" /><Relationship Type="http://schemas.openxmlformats.org/officeDocument/2006/relationships/slide" Target="/ppt/slides/slide4.xml" Id="Rfe342a39398142c1" /><Relationship Type="http://schemas.openxmlformats.org/officeDocument/2006/relationships/slide" Target="/ppt/slides/slide5.xml" Id="R3e7c4bdab5044f6e" /><Relationship Type="http://schemas.openxmlformats.org/officeDocument/2006/relationships/slide" Target="/ppt/slides/slide6.xml" Id="Rf73d7e76775f40a9" /><Relationship Type="http://schemas.openxmlformats.org/officeDocument/2006/relationships/slide" Target="/ppt/slides/slide7.xml" Id="Rdcc319a1b70041af" /><Relationship Type="http://schemas.openxmlformats.org/officeDocument/2006/relationships/slide" Target="/ppt/slides/slide8.xml" Id="R671e859d0e7546a6" /><Relationship Type="http://schemas.openxmlformats.org/officeDocument/2006/relationships/slide" Target="/ppt/slides/slide9.xml" Id="Rb3d631bc180a4f43" /><Relationship Type="http://schemas.openxmlformats.org/officeDocument/2006/relationships/slide" Target="/ppt/slides/slide10.xml" Id="R6b1c2563122849be" /><Relationship Type="http://schemas.openxmlformats.org/officeDocument/2006/relationships/slide" Target="/ppt/slides/slide11.xml" Id="R6795f4da2d5d4c0d" /><Relationship Type="http://schemas.openxmlformats.org/officeDocument/2006/relationships/slide" Target="/ppt/slides/slide12.xml" Id="Rfe0b107f707740ca" /><Relationship Type="http://schemas.openxmlformats.org/officeDocument/2006/relationships/slide" Target="/ppt/slides/slide13.xml" Id="Ra5cdf34f9bde4325" /><Relationship Type="http://schemas.openxmlformats.org/officeDocument/2006/relationships/slide" Target="/ppt/slides/slide14.xml" Id="R28591c1cfe574fdc" /><Relationship Type="http://schemas.openxmlformats.org/officeDocument/2006/relationships/slide" Target="/ppt/slides/slide15.xml" Id="R64de9e4adae04991" /><Relationship Type="http://schemas.openxmlformats.org/officeDocument/2006/relationships/slide" Target="/ppt/slides/slide16.xml" Id="R3ebedaf108a54428" /><Relationship Type="http://schemas.openxmlformats.org/officeDocument/2006/relationships/slide" Target="/ppt/slides/slide17.xml" Id="Re447e5b2b61549d8" /><Relationship Type="http://schemas.openxmlformats.org/officeDocument/2006/relationships/slide" Target="/ppt/slides/slide18.xml" Id="R21fb3affc19b40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c849283f0249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071465dcb04612" /><Relationship Type="http://schemas.openxmlformats.org/officeDocument/2006/relationships/notesMaster" Target="/ppt/notesMasters/notesMaster1.xml" Id="Rd2fe55f7fa234d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9e9d928c9f45f6" /><Relationship Type="http://schemas.openxmlformats.org/officeDocument/2006/relationships/notesMaster" Target="/ppt/notesMasters/notesMaster1.xml" Id="Re2ba3024563047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97c2c2bc23426b" /><Relationship Type="http://schemas.openxmlformats.org/officeDocument/2006/relationships/notesMaster" Target="/ppt/notesMasters/notesMaster1.xml" Id="R0cfd7512f9ab4b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f48db403574f80" /><Relationship Type="http://schemas.openxmlformats.org/officeDocument/2006/relationships/notesMaster" Target="/ppt/notesMasters/notesMaster1.xml" Id="R18fdc90425954c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0cd5ce697e41fb" /><Relationship Type="http://schemas.openxmlformats.org/officeDocument/2006/relationships/notesMaster" Target="/ppt/notesMasters/notesMaster1.xml" Id="R58ade6860bf146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d330fc13a14eea" /><Relationship Type="http://schemas.openxmlformats.org/officeDocument/2006/relationships/notesMaster" Target="/ppt/notesMasters/notesMaster1.xml" Id="R4a0b3f632efc47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3e403501b04c40" /><Relationship Type="http://schemas.openxmlformats.org/officeDocument/2006/relationships/notesMaster" Target="/ppt/notesMasters/notesMaster1.xml" Id="R7e418a3fe95e45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8c6f6649054b8d" /><Relationship Type="http://schemas.openxmlformats.org/officeDocument/2006/relationships/notesMaster" Target="/ppt/notesMasters/notesMaster1.xml" Id="R8e8cdb8649a34c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cc13aa3ec140b9" /><Relationship Type="http://schemas.openxmlformats.org/officeDocument/2006/relationships/notesMaster" Target="/ppt/notesMasters/notesMaster1.xml" Id="Rd55f6b776fca4f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b8e279ab1e4359" /><Relationship Type="http://schemas.openxmlformats.org/officeDocument/2006/relationships/notesMaster" Target="/ppt/notesMasters/notesMaster1.xml" Id="R8d0779be8ffb49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681286aa474185" /><Relationship Type="http://schemas.openxmlformats.org/officeDocument/2006/relationships/notesMaster" Target="/ppt/notesMasters/notesMaster1.xml" Id="Raff6172578054ca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04a48a748d49fc" /><Relationship Type="http://schemas.openxmlformats.org/officeDocument/2006/relationships/notesMaster" Target="/ppt/notesMasters/notesMaster1.xml" Id="R278b15b159334d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a5a400d90c4409d" /><Relationship Type="http://schemas.openxmlformats.org/officeDocument/2006/relationships/notesMaster" Target="/ppt/notesMasters/notesMaster1.xml" Id="R210441944db64e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c9808e912745ac" /><Relationship Type="http://schemas.openxmlformats.org/officeDocument/2006/relationships/notesMaster" Target="/ppt/notesMasters/notesMaster1.xml" Id="Rc67bf1300faf4d8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0bc691b85a14ef6" /><Relationship Type="http://schemas.openxmlformats.org/officeDocument/2006/relationships/notesMaster" Target="/ppt/notesMasters/notesMaster1.xml" Id="Rd38b8031956b4ce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fb809b91414f26" /><Relationship Type="http://schemas.openxmlformats.org/officeDocument/2006/relationships/notesMaster" Target="/ppt/notesMasters/notesMaster1.xml" Id="Rdf10348cbb65445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14d55acb4a94b7d" /><Relationship Type="http://schemas.openxmlformats.org/officeDocument/2006/relationships/notesMaster" Target="/ppt/notesMasters/notesMaster1.xml" Id="Re2b47326683c404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448836167784d10" /><Relationship Type="http://schemas.openxmlformats.org/officeDocument/2006/relationships/notesMaster" Target="/ppt/notesMasters/notesMaster1.xml" Id="R3860f916444f42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docs/project/tasks/figure5-replication.md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docs/project/tasks/figure8-replication.md</a:t>
            </a:r>
          </a:p>
          <a:p xmlns:a="http://schemas.openxmlformats.org/drawingml/2006/main">
            <a:r>
              <a:t>- Presentation/1_replication_package_validation/replication_package_validation.pptx (visual source)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Figures 1, 5, 6, and 8</a:t>
            </a:r>
          </a:p>
          <a:p xmlns:a="http://schemas.openxmlformats.org/drawingml/2006/main">
            <a:r>
              <a:t>- docs/project/tasks/result-selection.md, completed feasibility classification</a:t>
            </a:r>
          </a:p>
          <a:p xmlns:a="http://schemas.openxmlformats.org/drawingml/2006/main">
            <a:r>
              <a:t>- Results_Proposal/major_results.md, R-001 to R-003</a:t>
            </a:r>
          </a:p>
          <a:p xmlns:a="http://schemas.openxmlformats.org/drawingml/2006/main">
            <a:r>
              <a:t>- docs/project/tasks/figure6-replication.md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2.1-2.3 and Figure 1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docs/data/figure1-data.md, Two pipelines / version boundary</a:t>
            </a:r>
          </a:p>
          <a:p xmlns:a="http://schemas.openxmlformats.org/drawingml/2006/main">
            <a:r>
              <a:t>- MSS2021Febreplicationkit/code/build_fa_unveiling_data.do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Figures 1, 5, 6, and 8</a:t>
            </a:r>
          </a:p>
          <a:p xmlns:a="http://schemas.openxmlformats.org/drawingml/2006/main">
            <a:r>
              <a:t>- docs/project/tasks/result-selection.md, completed feasibility classification</a:t>
            </a:r>
          </a:p>
          <a:p xmlns:a="http://schemas.openxmlformats.org/drawingml/2006/main">
            <a:r>
              <a:t>- Results_Proposal/major_results.md, R-001 to R-003</a:t>
            </a:r>
          </a:p>
          <a:p xmlns:a="http://schemas.openxmlformats.org/drawingml/2006/main">
            <a:r>
              <a:t>- docs/project/tasks/figure6-replication.md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1, physical PDF page 11; chart cropped without caption</a:t>
            </a:r>
          </a:p>
          <a:p xmlns:a="http://schemas.openxmlformats.org/drawingml/2006/main">
            <a:r>
              <a:t>- Results_Proposal/figures/figure1_authors_data_reconstruction.png</a:t>
            </a:r>
          </a:p>
          <a:p xmlns:a="http://schemas.openxmlformats.org/drawingml/2006/main">
            <a:r>
              <a:t>- Data/processed/figure1_authors_comparison.csv</a:t>
            </a:r>
          </a:p>
          <a:p xmlns:a="http://schemas.openxmlformats.org/drawingml/2006/main">
            <a:r>
              <a:t>- docs/project/tasks/figure1-replication.md, Evidence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Results_Proposal/figures/figure1_authors_data_comparison.png</a:t>
            </a:r>
          </a:p>
          <a:p xmlns:a="http://schemas.openxmlformats.org/drawingml/2006/main">
            <a:r>
              <a:t>- Data/processed/figure1_authors_comparison.csv</a:t>
            </a:r>
          </a:p>
          <a:p xmlns:a="http://schemas.openxmlformats.org/drawingml/2006/main">
            <a:r>
              <a:t>- Code/scripts/build_figure1_authors_data.py</a:t>
            </a:r>
          </a:p>
          <a:p xmlns:a="http://schemas.openxmlformats.org/drawingml/2006/main">
            <a:r>
              <a:t>- docs/project/tasks/figure1-replication.md, Evidence and limitations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MSS2021Febreplicationkit/output/fig_owndet.eps</a:t>
            </a:r>
          </a:p>
          <a:p xmlns:a="http://schemas.openxmlformats.org/drawingml/2006/main">
            <a:r>
              <a:t>- MSS2021Febreplicationkit/code/mss_analysis.do, lines 587-678</a:t>
            </a:r>
          </a:p>
          <a:p xmlns:a="http://schemas.openxmlformats.org/drawingml/2006/main">
            <a:r>
              <a:t>- Results_Proposal/figures/figure1_authors_data_reconstruction.png</a:t>
            </a:r>
          </a:p>
          <a:p xmlns:a="http://schemas.openxmlformats.org/drawingml/2006/main">
            <a:r>
              <a:t>- Results_Proposal/major_results.md, R-001 authors' implementation boundary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Results_Proposal/figures/figure1_indirect_household_ownership.png</a:t>
            </a:r>
          </a:p>
          <a:p xmlns:a="http://schemas.openxmlformats.org/drawingml/2006/main">
            <a:r>
              <a:t>- Code/scripts/build_figure1.py</a:t>
            </a:r>
          </a:p>
          <a:p xmlns:a="http://schemas.openxmlformats.org/drawingml/2006/main">
            <a:r>
              <a:t>- Data/raw/README.md (Federal Reserve FWTW and BEA/FRED provenance)</a:t>
            </a:r>
          </a:p>
          <a:p xmlns:a="http://schemas.openxmlformats.org/drawingml/2006/main">
            <a:r>
              <a:t>- docs/data/figure1-data.md, New-data robustness inputs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3.4 and Figure 5, physical PDF page 22</a:t>
            </a:r>
          </a:p>
          <a:p xmlns:a="http://schemas.openxmlformats.org/drawingml/2006/main">
            <a:r>
              <a:t>- MSS2021Febreplicationkit/code/build_wealth_saving_data.do</a:t>
            </a:r>
          </a:p>
          <a:p xmlns:a="http://schemas.openxmlformats.org/drawingml/2006/main">
            <a:r>
              <a:t>- docs/data/figure5-data.md</a:t>
            </a:r>
          </a:p>
          <a:p xmlns:a="http://schemas.openxmlformats.org/drawingml/2006/main">
            <a:r>
              <a:t>- Code/unveiling/figure5_authors.py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5, physical PDF page 22; embedded chart extracted without caption</a:t>
            </a:r>
          </a:p>
          <a:p xmlns:a="http://schemas.openxmlformats.org/drawingml/2006/main">
            <a:r>
              <a:t>- Results_Proposal/figures/figure5_authors_data_reconstruction.png</a:t>
            </a:r>
          </a:p>
          <a:p xmlns:a="http://schemas.openxmlformats.org/drawingml/2006/main">
            <a:r>
              <a:t>- Data/processed/figure5_authors_comparison.csv</a:t>
            </a:r>
          </a:p>
          <a:p xmlns:a="http://schemas.openxmlformats.org/drawingml/2006/main">
            <a:r>
              <a:t>- docs/project/tasks/figure5-replication.md, Verification and result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3.4 and Figure 6, physical PDF page 24</a:t>
            </a:r>
          </a:p>
          <a:p xmlns:a="http://schemas.openxmlformats.org/drawingml/2006/main">
            <a:r>
              <a:t>- docs/data/figure6-data.md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Code/unveiling/figure6_authors.py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6, physical PDF page 24; embedded chart extracted without caption</a:t>
            </a:r>
          </a:p>
          <a:p xmlns:a="http://schemas.openxmlformats.org/drawingml/2006/main">
            <a:r>
              <a:t>- Results_Proposal/figures/figure6_authors_data_percentiles.png</a:t>
            </a:r>
          </a:p>
          <a:p xmlns:a="http://schemas.openxmlformats.org/drawingml/2006/main">
            <a:r>
              <a:t>- Data/processed/figure6_authors_comparison.csv</a:t>
            </a:r>
          </a:p>
          <a:p xmlns:a="http://schemas.openxmlformats.org/drawingml/2006/main">
            <a:r>
              <a:t>- Data/processed/figure6_digitization_audit.csv</a:t>
            </a:r>
          </a:p>
          <a:p xmlns:a="http://schemas.openxmlformats.org/drawingml/2006/main">
            <a:r>
              <a:t>- docs/project/tasks/figure6-replication.md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6, physical PDF page 24; original embedded raster</a:t>
            </a:r>
          </a:p>
          <a:p xmlns:a="http://schemas.openxmlformats.org/drawingml/2006/main">
            <a:r>
              <a:t>- Results_Proposal/figures/figure6_digitization_overlay_slide.png</a:t>
            </a:r>
          </a:p>
          <a:p xmlns:a="http://schemas.openxmlformats.org/drawingml/2006/main">
            <a:r>
              <a:t>- Data/processed/figure6_digitization_audit.csv</a:t>
            </a:r>
          </a:p>
          <a:p xmlns:a="http://schemas.openxmlformats.org/drawingml/2006/main">
            <a:r>
              <a:t>- Code/unveiling/paper_benchmarks.py</a:t>
            </a:r>
          </a:p>
          <a:p xmlns:a="http://schemas.openxmlformats.org/drawingml/2006/main">
            <a:r>
              <a:t>- Code/scripts/build_figure6_authors_data.py</a:t>
            </a:r>
          </a:p>
          <a:p xmlns:a="http://schemas.openxmlformats.org/drawingml/2006/main">
            <a:r>
              <a:t>- docs/data/figure6-data.md, Paper-curve digitization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Results_Proposal/figures/figure6_authors_data_percentiles.png</a:t>
            </a:r>
          </a:p>
          <a:p xmlns:a="http://schemas.openxmlformats.org/drawingml/2006/main">
            <a:r>
              <a:t>- Results_Proposal/figures/figure6_authors_data_wealth_levels.png</a:t>
            </a:r>
          </a:p>
          <a:p xmlns:a="http://schemas.openxmlformats.org/drawingml/2006/main">
            <a:r>
              <a:t>- Data/processed/figure6_authors_data.csv</a:t>
            </a:r>
          </a:p>
          <a:p xmlns:a="http://schemas.openxmlformats.org/drawingml/2006/main">
            <a:r>
              <a:t>- docs/project/personal-considerations-saving-inequality.md</a:t>
            </a:r>
          </a:p>
          <a:p xmlns:a="http://schemas.openxmlformats.org/drawingml/2006/main">
            <a:r>
              <a:t>- docs/data/figure6-data.md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Data/processed/figure6_authors_rolling5.csv</a:t>
            </a:r>
          </a:p>
          <a:p xmlns:a="http://schemas.openxmlformats.org/drawingml/2006/main">
            <a:r>
              <a:t>- Results_Proposal/figures/figure6_rolling5_heatmap.png</a:t>
            </a:r>
          </a:p>
          <a:p xmlns:a="http://schemas.openxmlformats.org/drawingml/2006/main">
            <a:r>
              <a:t>- Results_Proposal/figures/figure6_rolling5_selected_percentiles.png</a:t>
            </a:r>
          </a:p>
          <a:p xmlns:a="http://schemas.openxmlformats.org/drawingml/2006/main">
            <a:r>
              <a:t>- Code/scripts/build_figure6_authors_data.py</a:t>
            </a:r>
          </a:p>
          <a:p xmlns:a="http://schemas.openxmlformats.org/drawingml/2006/main">
            <a:r>
              <a:t>- docs/data/figure6-data.md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4.1-4.2 and Figure 8, physical PDF page 29</a:t>
            </a:r>
          </a:p>
          <a:p xmlns:a="http://schemas.openxmlformats.org/drawingml/2006/main">
            <a:r>
              <a:t>- MSS2021Febreplicationkit/code/build_fa_unveiling_data.do</a:t>
            </a:r>
          </a:p>
          <a:p xmlns:a="http://schemas.openxmlformats.org/drawingml/2006/main">
            <a:r>
              <a:t>- docs/data/figure8-data.md</a:t>
            </a:r>
          </a:p>
          <a:p xmlns:a="http://schemas.openxmlformats.org/drawingml/2006/main">
            <a:r>
              <a:t>- Code/unveiling/figure8_authors.py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8, physical PDF page 29; embedded chart extracted without caption</a:t>
            </a:r>
          </a:p>
          <a:p xmlns:a="http://schemas.openxmlformats.org/drawingml/2006/main">
            <a:r>
              <a:t>- Results_Proposal/figures/figure8_authors_proxy.png</a:t>
            </a:r>
          </a:p>
          <a:p xmlns:a="http://schemas.openxmlformats.org/drawingml/2006/main">
            <a:r>
              <a:t>- Data/processed/figure8_authors_proxy_comparison.csv</a:t>
            </a:r>
          </a:p>
          <a:p xmlns:a="http://schemas.openxmlformats.org/drawingml/2006/main">
            <a:r>
              <a:t>- docs/project/tasks/figure8-replication.md, Verification and result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Results_Proposal/major_results.md, R-001 to R-003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docs/project/tasks/figure5-replication.md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docs/project/tasks/figure8-replication.md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e32125fa8846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96613d778049cf" /><Relationship Type="http://schemas.openxmlformats.org/officeDocument/2006/relationships/slideLayout" Target="/ppt/slideLayouts/slideLayout1.xml" Id="Rc0077c0a3dd24e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077c0a3dd24e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c72a71598415b" /><Relationship Type="http://schemas.openxmlformats.org/officeDocument/2006/relationships/notesSlide" Target="/ppt/notesSlides/notesSlide1.xml" Id="Rde315d4e945e40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d9611a42fa4952" /><Relationship Type="http://schemas.openxmlformats.org/officeDocument/2006/relationships/notesSlide" Target="/ppt/notesSlides/notesSlide2.xml" Id="R6f02bb00f95449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1f206f77c04cde" /><Relationship Type="http://schemas.openxmlformats.org/officeDocument/2006/relationships/notesSlide" Target="/ppt/notesSlides/notesSlide3.xml" Id="Rc9e81be2f0cc41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770aca46104130" /><Relationship Type="http://schemas.openxmlformats.org/officeDocument/2006/relationships/notesSlide" Target="/ppt/notesSlides/notesSlide4.xml" Id="R9928a3f1ed5140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8e09221274e90" /><Relationship Type="http://schemas.openxmlformats.org/officeDocument/2006/relationships/image" Target="/ppt/media/image.png" Id="R5a74c1642be34a71" /><Relationship Type="http://schemas.openxmlformats.org/officeDocument/2006/relationships/image" Target="/ppt/media/image2.png" Id="R9f55564931d44744" /><Relationship Type="http://schemas.openxmlformats.org/officeDocument/2006/relationships/notesSlide" Target="/ppt/notesSlides/notesSlide5.xml" Id="R1da0598e9c874f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5c1ca059914a90" /><Relationship Type="http://schemas.openxmlformats.org/officeDocument/2006/relationships/image" Target="/ppt/media/image3.png" Id="Rde2d0b22387d4009" /><Relationship Type="http://schemas.openxmlformats.org/officeDocument/2006/relationships/image" Target="/ppt/media/image4.png" Id="R802bc7adc59a431c" /><Relationship Type="http://schemas.openxmlformats.org/officeDocument/2006/relationships/notesSlide" Target="/ppt/notesSlides/notesSlide6.xml" Id="R9e0ff45a217d48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e8ccbe4535487a" /><Relationship Type="http://schemas.openxmlformats.org/officeDocument/2006/relationships/image" Target="/ppt/media/image5.png" Id="Rcaf75e305cfe49dc" /><Relationship Type="http://schemas.openxmlformats.org/officeDocument/2006/relationships/image" Target="/ppt/media/image6.png" Id="R6d1cba69ba214689" /><Relationship Type="http://schemas.openxmlformats.org/officeDocument/2006/relationships/notesSlide" Target="/ppt/notesSlides/notesSlide7.xml" Id="R2c55f9717c394b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767ecbb2a4ede" /><Relationship Type="http://schemas.openxmlformats.org/officeDocument/2006/relationships/image" Target="/ppt/media/image7.png" Id="R06c00e25db0d4928" /><Relationship Type="http://schemas.openxmlformats.org/officeDocument/2006/relationships/notesSlide" Target="/ppt/notesSlides/notesSlide8.xml" Id="Rff065246a69849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efcf81d4d4040" /><Relationship Type="http://schemas.openxmlformats.org/officeDocument/2006/relationships/notesSlide" Target="/ppt/notesSlides/notesSlide9.xml" Id="Rd40a9db758cb4f4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2018d6e524531" /><Relationship Type="http://schemas.openxmlformats.org/officeDocument/2006/relationships/image" Target="/ppt/media/image8.png" Id="Rcff536b474de4e57" /><Relationship Type="http://schemas.openxmlformats.org/officeDocument/2006/relationships/image" Target="/ppt/media/image9.png" Id="Rafb1e7b7aef24b4f" /><Relationship Type="http://schemas.openxmlformats.org/officeDocument/2006/relationships/notesSlide" Target="/ppt/notesSlides/notesSlide10.xml" Id="R80a462ff6b3240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78bec057c431e" /><Relationship Type="http://schemas.openxmlformats.org/officeDocument/2006/relationships/notesSlide" Target="/ppt/notesSlides/notesSlide11.xml" Id="Rc95691866dd449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6d5e3606f45c3" /><Relationship Type="http://schemas.openxmlformats.org/officeDocument/2006/relationships/image" Target="/ppt/media/image10.png" Id="Reff2564f33a94339" /><Relationship Type="http://schemas.openxmlformats.org/officeDocument/2006/relationships/image" Target="/ppt/media/image11.png" Id="R71d1aabb29bb4c6f" /><Relationship Type="http://schemas.openxmlformats.org/officeDocument/2006/relationships/notesSlide" Target="/ppt/notesSlides/notesSlide12.xml" Id="Rfb19da9697fb4e5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061502e9c4c82" /><Relationship Type="http://schemas.openxmlformats.org/officeDocument/2006/relationships/image" Target="/ppt/media/image12.png" Id="R511fe59617a3406f" /><Relationship Type="http://schemas.openxmlformats.org/officeDocument/2006/relationships/notesSlide" Target="/ppt/notesSlides/notesSlide13.xml" Id="Re6d5a38b5d54406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3f49bd68e4b59" /><Relationship Type="http://schemas.openxmlformats.org/officeDocument/2006/relationships/image" Target="/ppt/media/image13.png" Id="Rde94014cbd904575" /><Relationship Type="http://schemas.openxmlformats.org/officeDocument/2006/relationships/image" Target="/ppt/media/image14.png" Id="Rfec59bdb97834345" /><Relationship Type="http://schemas.openxmlformats.org/officeDocument/2006/relationships/notesSlide" Target="/ppt/notesSlides/notesSlide14.xml" Id="R86e6633b848d438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24ddbb23f4c43" /><Relationship Type="http://schemas.openxmlformats.org/officeDocument/2006/relationships/image" Target="/ppt/media/image15.png" Id="R6a5a0e0914504555" /><Relationship Type="http://schemas.openxmlformats.org/officeDocument/2006/relationships/image" Target="/ppt/media/image16.png" Id="R6fd487604f3d4423" /><Relationship Type="http://schemas.openxmlformats.org/officeDocument/2006/relationships/notesSlide" Target="/ppt/notesSlides/notesSlide15.xml" Id="Rc0a9dfdbb7d5492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720dcf91d4c9a" /><Relationship Type="http://schemas.openxmlformats.org/officeDocument/2006/relationships/notesSlide" Target="/ppt/notesSlides/notesSlide16.xml" Id="R3104b50f97a442c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93b96e9bda4f67" /><Relationship Type="http://schemas.openxmlformats.org/officeDocument/2006/relationships/image" Target="/ppt/media/image17.png" Id="R0d901fb5bf0b4e33" /><Relationship Type="http://schemas.openxmlformats.org/officeDocument/2006/relationships/image" Target="/ppt/media/image18.png" Id="R1ae43d4195594384" /><Relationship Type="http://schemas.openxmlformats.org/officeDocument/2006/relationships/notesSlide" Target="/ppt/notesSlides/notesSlide17.xml" Id="Rf936974cb1a14d6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1f1fc3ba840d7" /><Relationship Type="http://schemas.openxmlformats.org/officeDocument/2006/relationships/notesSlide" Target="/ppt/notesSlides/notesSlide18.xml" Id="Rbc9f15e1379240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69941DB9-9128-4CC6-96D4-76F2DED6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E7C051A-E968-48D4-932F-BE04BBAA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048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65D16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CORE FIGURE COMPARISON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9C12F6-118A-41FC-9B31-6EE8D81D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10096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Four figures, one evidence hierarchy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69E33F4-CEE0-4100-92AF-B6E5F46A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Compare only the objects that the February 2021 inputs actually identify</a:t>
            </a:r>
          </a:p>
        </p:txBody>
      </p:sp>
      <p:sp>
        <p:nvSpPr>
          <p:cNvPr id="5" name="legend-2021">
            <a:extLst xmlns:a="http://schemas.openxmlformats.org/drawingml/2006/main">
              <a:ext uri="{FF2B5EF4-FFF2-40B4-BE49-F238E27FC236}">
                <a16:creationId xmlns:a16="http://schemas.microsoft.com/office/drawing/2014/main" id="{04EB5C43-CA63-49BC-BC30-BC9BE88C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egend-2021-text">
            <a:extLst xmlns:a="http://schemas.openxmlformats.org/drawingml/2006/main">
              <a:ext uri="{FF2B5EF4-FFF2-40B4-BE49-F238E27FC236}">
                <a16:creationId xmlns:a16="http://schemas.microsoft.com/office/drawing/2014/main" id="{C9C3AB10-5751-4F82-8A86-8D819F26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Primary: our old-input implementation versus the 2025 paper</a:t>
            </a:r>
          </a:p>
        </p:txBody>
      </p:sp>
      <p:sp>
        <p:nvSpPr>
          <p:cNvPr id="7" name="legend-2025">
            <a:extLst xmlns:a="http://schemas.openxmlformats.org/drawingml/2006/main">
              <a:ext uri="{FF2B5EF4-FFF2-40B4-BE49-F238E27FC236}">
                <a16:creationId xmlns:a16="http://schemas.microsoft.com/office/drawing/2014/main" id="{B87B36AA-45A7-426E-9A02-DB03462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egend-2025-text">
            <a:extLst xmlns:a="http://schemas.openxmlformats.org/drawingml/2006/main">
              <a:ext uri="{FF2B5EF4-FFF2-40B4-BE49-F238E27FC236}">
                <a16:creationId xmlns:a16="http://schemas.microsoft.com/office/drawing/2014/main" id="{391AA843-EE9C-4B5B-9375-1CFEC09F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387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Supporting: older Stata lineage and public-data robustness</a:t>
            </a:r>
          </a:p>
        </p:txBody>
      </p:sp>
      <p:sp>
        <p:nvSpPr>
          <p:cNvPr id="9" name="date">
            <a:extLst xmlns:a="http://schemas.openxmlformats.org/drawingml/2006/main">
              <a:ext uri="{FF2B5EF4-FFF2-40B4-BE49-F238E27FC236}">
                <a16:creationId xmlns:a16="http://schemas.microsoft.com/office/drawing/2014/main" id="{086423BF-9FA1-4716-82E0-A79C2563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D98"/>
                </a:solidFill>
              </a:defRPr>
            </a:pPr>
            <a:r>
              <a:rPr sz="1125" b="0">
                <a:solidFill>
                  <a:srgbClr val="627D98"/>
                </a:solidFill>
              </a:rPr>
              <a:t>11 August 2026</a:t>
            </a:r>
          </a:p>
        </p:txBody>
      </p:sp>
    </p:spTree>
    <p:extLst>
      <p:ext uri="{BB962C8B-B14F-4D97-AF65-F5344CB8AC3E}">
        <p14:creationId xmlns:p14="http://schemas.microsoft.com/office/powerpoint/2010/main" val="17717655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EVIDENCE ROLES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One label cannot mean the same thing across all four figures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02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2025 targets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Figures 1, 5, 6, and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Revised definitions through 2019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Authors-old (2021)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Exact for the older paper; precursor evidence only for revised exhibits.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Ours-public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 1 only: a later public vintage tests broad trend robustness.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Ours-authors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Figures 1, 5, and 6: reconstructions. Figure 8: bounded proxy.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Naming rule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Call a result a reconstruction only when the supplied inputs identify the revised object. Otherwise retain the word proxy.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icker">
            <a:extLst xmlns:a="http://schemas.openxmlformats.org/drawingml/2006/main">
              <a:ext uri="{FF2B5EF4-FFF2-40B4-BE49-F238E27FC236}">
                <a16:creationId xmlns:a16="http://schemas.microsoft.com/office/drawing/2014/main" id="{CCDADAC1-8C4D-48E3-9BDE-7D0105C4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METHOD CROSSWALK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C18D928-06E0-42B3-830B-D127EF4C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Inputs, methods, and estimands change together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5EE02D2-197F-445F-A35C-2EA62634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21C9E1B-0054-453E-9D94-C8D5FAD9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03</a:t>
            </a:r>
          </a:p>
        </p:txBody>
      </p:sp>
      <p:sp>
        <p:nvSpPr>
          <p:cNvPr id="5" name="table-header-bg">
            <a:extLst xmlns:a="http://schemas.openxmlformats.org/drawingml/2006/main">
              <a:ext uri="{FF2B5EF4-FFF2-40B4-BE49-F238E27FC236}">
                <a16:creationId xmlns:a16="http://schemas.microsoft.com/office/drawing/2014/main" id="{9277E0ED-F6C4-4149-A42A-9164840C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11277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verdict-cell-0-0">
            <a:extLst xmlns:a="http://schemas.openxmlformats.org/drawingml/2006/main">
              <a:ext uri="{FF2B5EF4-FFF2-40B4-BE49-F238E27FC236}">
                <a16:creationId xmlns:a16="http://schemas.microsoft.com/office/drawing/2014/main" id="{A8B3D9D6-0512-4FCA-B5B6-F04A51B4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95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7" name="verdict-cell-0-1">
            <a:extLst xmlns:a="http://schemas.openxmlformats.org/drawingml/2006/main">
              <a:ext uri="{FF2B5EF4-FFF2-40B4-BE49-F238E27FC236}">
                <a16:creationId xmlns:a16="http://schemas.microsoft.com/office/drawing/2014/main" id="{314D8280-1229-4323-953B-267191AC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2954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8" name="verdict-cell-0-2">
            <a:extLst xmlns:a="http://schemas.openxmlformats.org/drawingml/2006/main">
              <a:ext uri="{FF2B5EF4-FFF2-40B4-BE49-F238E27FC236}">
                <a16:creationId xmlns:a16="http://schemas.microsoft.com/office/drawing/2014/main" id="{B1830714-8E8C-4575-B98C-D8D61A38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29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9" name="verdict-cell-0-3">
            <a:extLst xmlns:a="http://schemas.openxmlformats.org/drawingml/2006/main">
              <a:ext uri="{FF2B5EF4-FFF2-40B4-BE49-F238E27FC236}">
                <a16:creationId xmlns:a16="http://schemas.microsoft.com/office/drawing/2014/main" id="{D2F375CA-13C8-44A6-967B-F9B78541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95400"/>
            <a:ext cx="490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Procedure / boundary</a:t>
            </a:r>
          </a:p>
        </p:txBody>
      </p:sp>
      <p:sp>
        <p:nvSpPr>
          <p:cNvPr id="10" name="verdict-cell-1-0">
            <a:extLst xmlns:a="http://schemas.openxmlformats.org/drawingml/2006/main">
              <a:ext uri="{FF2B5EF4-FFF2-40B4-BE49-F238E27FC236}">
                <a16:creationId xmlns:a16="http://schemas.microsoft.com/office/drawing/2014/main" id="{0B2DF458-B966-4124-8D83-B8844640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1 · 2025 paper</a:t>
            </a:r>
          </a:p>
        </p:txBody>
      </p:sp>
      <p:sp>
        <p:nvSpPr>
          <p:cNvPr id="11" name="verdict-cell-1-1">
            <a:extLst xmlns:a="http://schemas.openxmlformats.org/drawingml/2006/main">
              <a:ext uri="{FF2B5EF4-FFF2-40B4-BE49-F238E27FC236}">
                <a16:creationId xmlns:a16="http://schemas.microsoft.com/office/drawing/2014/main" id="{90201C83-A6F1-4206-A7C6-167E1526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8097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Revised to 2019</a:t>
            </a:r>
          </a:p>
        </p:txBody>
      </p:sp>
      <p:sp>
        <p:nvSpPr>
          <p:cNvPr id="12" name="verdict-cell-1-2">
            <a:extLst xmlns:a="http://schemas.openxmlformats.org/drawingml/2006/main">
              <a:ext uri="{FF2B5EF4-FFF2-40B4-BE49-F238E27FC236}">
                <a16:creationId xmlns:a16="http://schemas.microsoft.com/office/drawing/2014/main" id="{32DE5752-BAC4-4A32-BB68-29A994CD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Benchmark</a:t>
            </a:r>
          </a:p>
        </p:txBody>
      </p:sp>
      <p:sp>
        <p:nvSpPr>
          <p:cNvPr id="13" name="verdict-cell-1-3">
            <a:extLst xmlns:a="http://schemas.openxmlformats.org/drawingml/2006/main">
              <a:ext uri="{FF2B5EF4-FFF2-40B4-BE49-F238E27FC236}">
                <a16:creationId xmlns:a16="http://schemas.microsoft.com/office/drawing/2014/main" id="{9AAA378F-92D9-4D55-8C4B-8AA64536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23 intermediaries × 34 instruments; matrix/Leontief method; exact code unavailable</a:t>
            </a:r>
          </a:p>
        </p:txBody>
      </p:sp>
      <p:sp>
        <p:nvSpPr>
          <p:cNvPr id="14" name="verdict-line-1">
            <a:extLst xmlns:a="http://schemas.openxmlformats.org/drawingml/2006/main">
              <a:ext uri="{FF2B5EF4-FFF2-40B4-BE49-F238E27FC236}">
                <a16:creationId xmlns:a16="http://schemas.microsoft.com/office/drawing/2014/main" id="{36D0BA28-40E0-46FA-B98A-F40D1659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dict-cell-2-0">
            <a:extLst xmlns:a="http://schemas.openxmlformats.org/drawingml/2006/main">
              <a:ext uri="{FF2B5EF4-FFF2-40B4-BE49-F238E27FC236}">
                <a16:creationId xmlns:a16="http://schemas.microsoft.com/office/drawing/2014/main" id="{D6B34A90-10B7-43E7-A9CA-72853317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 · 2021 Stata</a:t>
            </a:r>
          </a:p>
        </p:txBody>
      </p:sp>
      <p:sp>
        <p:nvSpPr>
          <p:cNvPr id="16" name="verdict-cell-2-1">
            <a:extLst xmlns:a="http://schemas.openxmlformats.org/drawingml/2006/main">
              <a:ext uri="{FF2B5EF4-FFF2-40B4-BE49-F238E27FC236}">
                <a16:creationId xmlns:a16="http://schemas.microsoft.com/office/drawing/2014/main" id="{8FB108DE-6582-4A49-AA6A-28A3F5C6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907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Feb. 2021 kit</a:t>
            </a:r>
          </a:p>
        </p:txBody>
      </p:sp>
      <p:sp>
        <p:nvSpPr>
          <p:cNvPr id="17" name="verdict-cell-2-2">
            <a:extLst xmlns:a="http://schemas.openxmlformats.org/drawingml/2006/main">
              <a:ext uri="{FF2B5EF4-FFF2-40B4-BE49-F238E27FC236}">
                <a16:creationId xmlns:a16="http://schemas.microsoft.com/office/drawing/2014/main" id="{E40E8BB3-FA57-431A-B616-28D444DF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907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B83232"/>
                </a:solidFill>
              </a:rPr>
              <a:t>Context</a:t>
            </a:r>
          </a:p>
        </p:txBody>
      </p:sp>
      <p:sp>
        <p:nvSpPr>
          <p:cNvPr id="18" name="verdict-cell-2-3">
            <a:extLst xmlns:a="http://schemas.openxmlformats.org/drawingml/2006/main">
              <a:ext uri="{FF2B5EF4-FFF2-40B4-BE49-F238E27FC236}">
                <a16:creationId xmlns:a16="http://schemas.microsoft.com/office/drawing/2014/main" id="{8E4FAC62-7FB5-4C1D-A366-D2800068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907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Old Figure 6 composition; staged round-by-round debt allocation</a:t>
            </a:r>
          </a:p>
        </p:txBody>
      </p:sp>
      <p:sp>
        <p:nvSpPr>
          <p:cNvPr id="19" name="verdict-line-2">
            <a:extLst xmlns:a="http://schemas.openxmlformats.org/drawingml/2006/main">
              <a:ext uri="{FF2B5EF4-FFF2-40B4-BE49-F238E27FC236}">
                <a16:creationId xmlns:a16="http://schemas.microsoft.com/office/drawing/2014/main" id="{D6F3C624-5E2D-4D0C-9EBC-23391BE6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verdict-cell-3-0">
            <a:extLst xmlns:a="http://schemas.openxmlformats.org/drawingml/2006/main">
              <a:ext uri="{FF2B5EF4-FFF2-40B4-BE49-F238E27FC236}">
                <a16:creationId xmlns:a16="http://schemas.microsoft.com/office/drawing/2014/main" id="{7F3B4CD4-3510-4A32-AB75-15AFD905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3 · Ours-public</a:t>
            </a:r>
          </a:p>
        </p:txBody>
      </p:sp>
      <p:sp>
        <p:nvSpPr>
          <p:cNvPr id="21" name="verdict-cell-3-1">
            <a:extLst xmlns:a="http://schemas.openxmlformats.org/drawingml/2006/main">
              <a:ext uri="{FF2B5EF4-FFF2-40B4-BE49-F238E27FC236}">
                <a16:creationId xmlns:a16="http://schemas.microsoft.com/office/drawing/2014/main" id="{E8119FEB-B719-44B6-B3F2-CFDE3746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7180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2026 public</a:t>
            </a:r>
          </a:p>
        </p:txBody>
      </p:sp>
      <p:sp>
        <p:nvSpPr>
          <p:cNvPr id="22" name="verdict-cell-3-2">
            <a:extLst xmlns:a="http://schemas.openxmlformats.org/drawingml/2006/main">
              <a:ext uri="{FF2B5EF4-FFF2-40B4-BE49-F238E27FC236}">
                <a16:creationId xmlns:a16="http://schemas.microsoft.com/office/drawing/2014/main" id="{02EFC022-659F-4B94-988B-60DD62AF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7180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2E5B88"/>
                </a:solidFill>
              </a:rPr>
              <a:t>Robustness</a:t>
            </a:r>
          </a:p>
        </p:txBody>
      </p:sp>
      <p:sp>
        <p:nvSpPr>
          <p:cNvPr id="23" name="verdict-cell-3-3">
            <a:extLst xmlns:a="http://schemas.openxmlformats.org/drawingml/2006/main">
              <a:ext uri="{FF2B5EF4-FFF2-40B4-BE49-F238E27FC236}">
                <a16:creationId xmlns:a16="http://schemas.microsoft.com/office/drawing/2014/main" id="{7BB53762-4019-4FC9-81A9-83ECF6C1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7180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21 intermediaries; public classifications/equity; 1963-2019</a:t>
            </a:r>
          </a:p>
        </p:txBody>
      </p:sp>
      <p:sp>
        <p:nvSpPr>
          <p:cNvPr id="24" name="verdict-line-3">
            <a:extLst xmlns:a="http://schemas.openxmlformats.org/drawingml/2006/main">
              <a:ext uri="{FF2B5EF4-FFF2-40B4-BE49-F238E27FC236}">
                <a16:creationId xmlns:a16="http://schemas.microsoft.com/office/drawing/2014/main" id="{E118DD39-E35D-440D-8DAA-C42E439D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verdict-cell-4-0">
            <a:extLst xmlns:a="http://schemas.openxmlformats.org/drawingml/2006/main">
              <a:ext uri="{FF2B5EF4-FFF2-40B4-BE49-F238E27FC236}">
                <a16:creationId xmlns:a16="http://schemas.microsoft.com/office/drawing/2014/main" id="{0915FE12-C5CA-49A5-97AB-B2BD4E2E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5282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4 · Ours-authors</a:t>
            </a:r>
          </a:p>
        </p:txBody>
      </p:sp>
      <p:sp>
        <p:nvSpPr>
          <p:cNvPr id="26" name="verdict-cell-4-1">
            <a:extLst xmlns:a="http://schemas.openxmlformats.org/drawingml/2006/main">
              <a:ext uri="{FF2B5EF4-FFF2-40B4-BE49-F238E27FC236}">
                <a16:creationId xmlns:a16="http://schemas.microsoft.com/office/drawing/2014/main" id="{E991A379-21C6-40AF-9F5D-8AA6C7C9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5282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Feb. 2021 kit</a:t>
            </a:r>
          </a:p>
        </p:txBody>
      </p:sp>
      <p:sp>
        <p:nvSpPr>
          <p:cNvPr id="27" name="verdict-cell-4-2">
            <a:extLst xmlns:a="http://schemas.openxmlformats.org/drawingml/2006/main">
              <a:ext uri="{FF2B5EF4-FFF2-40B4-BE49-F238E27FC236}">
                <a16:creationId xmlns:a16="http://schemas.microsoft.com/office/drawing/2014/main" id="{4B0A6676-7676-44BB-AAD9-8C49E9FC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5282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2F855A"/>
                </a:solidFill>
              </a:rPr>
              <a:t>Primary</a:t>
            </a:r>
          </a:p>
        </p:txBody>
      </p:sp>
      <p:sp>
        <p:nvSpPr>
          <p:cNvPr id="28" name="verdict-cell-4-3">
            <a:extLst xmlns:a="http://schemas.openxmlformats.org/drawingml/2006/main">
              <a:ext uri="{FF2B5EF4-FFF2-40B4-BE49-F238E27FC236}">
                <a16:creationId xmlns:a16="http://schemas.microsoft.com/office/drawing/2014/main" id="{9973B27A-479C-4CC7-B8D8-7DC7CF47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282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Rebuild intermediary claims; 2025 Figure 1 definition; 1963-2016</a:t>
            </a:r>
          </a:p>
        </p:txBody>
      </p:sp>
      <p:sp>
        <p:nvSpPr>
          <p:cNvPr id="29" name="verdict-line-4">
            <a:extLst xmlns:a="http://schemas.openxmlformats.org/drawingml/2006/main">
              <a:ext uri="{FF2B5EF4-FFF2-40B4-BE49-F238E27FC236}">
                <a16:creationId xmlns:a16="http://schemas.microsoft.com/office/drawing/2014/main" id="{84F5ECF9-057D-418A-B1F9-411A9AAD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290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verdict-cell-5-0">
            <a:extLst xmlns:a="http://schemas.openxmlformats.org/drawingml/2006/main">
              <a:ext uri="{FF2B5EF4-FFF2-40B4-BE49-F238E27FC236}">
                <a16:creationId xmlns:a16="http://schemas.microsoft.com/office/drawing/2014/main" id="{E2E677CE-CA94-4502-BF76-461C588D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PRIMARY TEST</a:t>
            </a:r>
          </a:p>
        </p:txBody>
      </p:sp>
      <p:sp>
        <p:nvSpPr>
          <p:cNvPr id="31" name="verdict-cell-5-1">
            <a:extLst xmlns:a="http://schemas.openxmlformats.org/drawingml/2006/main">
              <a:ext uri="{FF2B5EF4-FFF2-40B4-BE49-F238E27FC236}">
                <a16:creationId xmlns:a16="http://schemas.microsoft.com/office/drawing/2014/main" id="{4DC3A0C4-FE6D-4DF9-B2A1-2F556A13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1338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#4 versus #1</a:t>
            </a:r>
          </a:p>
        </p:txBody>
      </p:sp>
      <p:sp>
        <p:nvSpPr>
          <p:cNvPr id="32" name="verdict-cell-5-2">
            <a:extLst xmlns:a="http://schemas.openxmlformats.org/drawingml/2006/main">
              <a:ext uri="{FF2B5EF4-FFF2-40B4-BE49-F238E27FC236}">
                <a16:creationId xmlns:a16="http://schemas.microsoft.com/office/drawing/2014/main" id="{07019A80-EDEE-486E-B2D1-F93AA2D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83232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Main result</a:t>
            </a:r>
          </a:p>
        </p:txBody>
      </p:sp>
      <p:sp>
        <p:nvSpPr>
          <p:cNvPr id="33" name="verdict-cell-5-3">
            <a:extLst xmlns:a="http://schemas.openxmlformats.org/drawingml/2006/main">
              <a:ext uri="{FF2B5EF4-FFF2-40B4-BE49-F238E27FC236}">
                <a16:creationId xmlns:a16="http://schemas.microsoft.com/office/drawing/2014/main" id="{8B3EFD13-83E1-4486-AA68-56C55EB2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Same target object; different vintage and incomplete old-kit denominator</a:t>
            </a:r>
          </a:p>
        </p:txBody>
      </p:sp>
      <p:sp>
        <p:nvSpPr>
          <p:cNvPr id="34" name="verdict-line-5">
            <a:extLst xmlns:a="http://schemas.openxmlformats.org/drawingml/2006/main">
              <a:ext uri="{FF2B5EF4-FFF2-40B4-BE49-F238E27FC236}">
                <a16:creationId xmlns:a16="http://schemas.microsoft.com/office/drawing/2014/main" id="{1BB7F304-F599-4808-9888-64494CD1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0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verdict-cell-6-0">
            <a:extLst xmlns:a="http://schemas.openxmlformats.org/drawingml/2006/main">
              <a:ext uri="{FF2B5EF4-FFF2-40B4-BE49-F238E27FC236}">
                <a16:creationId xmlns:a16="http://schemas.microsoft.com/office/drawing/2014/main" id="{75B66E9E-9A08-4F65-8C04-69435F39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148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SUPPORTING</a:t>
            </a:r>
          </a:p>
        </p:txBody>
      </p:sp>
      <p:sp>
        <p:nvSpPr>
          <p:cNvPr id="36" name="verdict-cell-6-1">
            <a:extLst xmlns:a="http://schemas.openxmlformats.org/drawingml/2006/main">
              <a:ext uri="{FF2B5EF4-FFF2-40B4-BE49-F238E27FC236}">
                <a16:creationId xmlns:a16="http://schemas.microsoft.com/office/drawing/2014/main" id="{13C0A687-EF0A-4230-8C81-CD3663E6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148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#4 vs #2 / #3</a:t>
            </a:r>
          </a:p>
        </p:txBody>
      </p:sp>
      <p:sp>
        <p:nvSpPr>
          <p:cNvPr id="37" name="verdict-cell-6-2">
            <a:extLst xmlns:a="http://schemas.openxmlformats.org/drawingml/2006/main">
              <a:ext uri="{FF2B5EF4-FFF2-40B4-BE49-F238E27FC236}">
                <a16:creationId xmlns:a16="http://schemas.microsoft.com/office/drawing/2014/main" id="{C203F508-9E22-4D53-8A5F-7C87E396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148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627D98"/>
                </a:solidFill>
              </a:rPr>
              <a:t>Diagnostics</a:t>
            </a:r>
          </a:p>
        </p:txBody>
      </p:sp>
      <p:sp>
        <p:nvSpPr>
          <p:cNvPr id="38" name="verdict-cell-6-3">
            <a:extLst xmlns:a="http://schemas.openxmlformats.org/drawingml/2006/main">
              <a:ext uri="{FF2B5EF4-FFF2-40B4-BE49-F238E27FC236}">
                <a16:creationId xmlns:a16="http://schemas.microsoft.com/office/drawing/2014/main" id="{5CEB16EC-EBA3-4D0B-92C4-8B65DD42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Method lineage and public-vintage robustness; never pool the series</a:t>
            </a:r>
          </a:p>
        </p:txBody>
      </p:sp>
      <p:sp>
        <p:nvSpPr>
          <p:cNvPr id="39" name="verdict-line-6">
            <a:extLst xmlns:a="http://schemas.openxmlformats.org/drawingml/2006/main">
              <a:ext uri="{FF2B5EF4-FFF2-40B4-BE49-F238E27FC236}">
                <a16:creationId xmlns:a16="http://schemas.microsoft.com/office/drawing/2014/main" id="{835E53B7-4377-445E-B666-317B36E9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911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akeaway">
            <a:extLst xmlns:a="http://schemas.openxmlformats.org/drawingml/2006/main">
              <a:ext uri="{FF2B5EF4-FFF2-40B4-BE49-F238E27FC236}">
                <a16:creationId xmlns:a16="http://schemas.microsoft.com/office/drawing/2014/main" id="{8BAB41DD-3568-4699-A969-60527F9D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96202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akeaway-title">
            <a:extLst xmlns:a="http://schemas.openxmlformats.org/drawingml/2006/main">
              <a:ext uri="{FF2B5EF4-FFF2-40B4-BE49-F238E27FC236}">
                <a16:creationId xmlns:a16="http://schemas.microsoft.com/office/drawing/2014/main" id="{773F5E13-B739-44D4-9FD3-C4EE0132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809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Rule</a:t>
            </a:r>
          </a:p>
        </p:txBody>
      </p:sp>
      <p:sp>
        <p:nvSpPr>
          <p:cNvPr id="42" name="takeaway-body">
            <a:extLst xmlns:a="http://schemas.openxmlformats.org/drawingml/2006/main">
              <a:ext uri="{FF2B5EF4-FFF2-40B4-BE49-F238E27FC236}">
                <a16:creationId xmlns:a16="http://schemas.microsoft.com/office/drawing/2014/main" id="{D8EA2B6A-DE5B-46BD-89DB-2AE9BB69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638800"/>
            <a:ext cx="885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Only #4 versus #1 answers the project's central replication question. #2 and #3 explain lineage and robustness; they do not replace the benchmark.</a:t>
            </a:r>
          </a:p>
        </p:txBody>
      </p:sp>
    </p:spTree>
    <p:extLst>
      <p:ext uri="{BB962C8B-B14F-4D97-AF65-F5344CB8AC3E}">
        <p14:creationId xmlns:p14="http://schemas.microsoft.com/office/powerpoint/2010/main" val="391599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EVIDENCE ROLES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One label cannot mean the same thing across all four figures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02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2025 targets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Figures 1, 5, 6, and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Revised definitions through 2019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Authors-old (2021)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Exact for the older paper; precursor evidence only for revised exhibits.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Ours-public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 1 only: a later public vintage tests broad trend robustness.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Ours-authors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Figures 1, 5, and 6: reconstructions. Figure 8: bounded proxy.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Naming rule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Call a result a reconstruction only when the supplied inputs identify the revised object. Otherwise retain the word proxy.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Our old-input reconstruction tracks the 2025 Figure 1 pattern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04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Figure 1 · PDF p. 11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implementation · 2021 authors' inputs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LEVEL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national-income-normalized level has correlation 0.995 and MAE 5.3 pp against the digitized 2025 curve over 1963-2016.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paper caption is removed from the image and restated here: the lines report the stock-to-income level and household-financial-asset share held indirectly.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74c1642be34a71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5564931d44744"/>
          <a:stretch xmlns:a="http://schemas.openxmlformats.org/drawingml/2006/main"/>
        </p:blipFill>
        <p:spPr>
          <a:xfrm xmlns:a="http://schemas.openxmlformats.org/drawingml/2006/main">
            <a:off x="6400802" y="1776603"/>
            <a:ext cx="5257795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7F0086E9-FAF6-4028-AC6E-B9647412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1 DIAGNOSTIC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86E9C56-6638-4AEA-9D60-75E9AD96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remaining Figure 1 gap is concentrated in the share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D44DB27-8263-48F7-A497-B30A7CAE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2183ED0-D88C-4E88-B76A-96D66709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05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C0E1546E-C6D6-4727-AACF-C5C1D2AF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Level behind the veil · paper versus ours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6E70826D-DB54-4A3B-99A6-A8183690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Share behind the veil · denominator variants</a:t>
            </a:r>
          </a:p>
        </p:txBody>
      </p:sp>
      <p:sp>
        <p:nvSpPr>
          <p:cNvPr id="7" name="Regenerated 2021 net household debt figure-frame">
            <a:extLst xmlns:a="http://schemas.openxmlformats.org/drawingml/2006/main">
              <a:ext uri="{FF2B5EF4-FFF2-40B4-BE49-F238E27FC236}">
                <a16:creationId xmlns:a16="http://schemas.microsoft.com/office/drawing/2014/main" id="{3F047B99-64F3-4895-A54A-C471F2AF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2d0b22387d4009"/>
          <a:stretch xmlns:a="http://schemas.openxmlformats.org/drawingml/2006/main"/>
        </p:blipFill>
        <p:spPr>
          <a:xfrm xmlns:a="http://schemas.openxmlformats.org/drawingml/2006/main">
            <a:off x="816531" y="1604963"/>
            <a:ext cx="4691538" cy="32861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8 net household debt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DC9466A9-B472-47C3-8EDD-3704637F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2bc7adc59a431c"/>
          <a:stretch xmlns:a="http://schemas.openxmlformats.org/drawingml/2006/main"/>
        </p:blipFill>
        <p:spPr>
          <a:xfrm xmlns:a="http://schemas.openxmlformats.org/drawingml/2006/main">
            <a:off x="6736939" y="1650463"/>
            <a:ext cx="4585522" cy="31951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1C925110-49A5-4879-880D-164F772B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E9A051B-5489-4C57-A6E7-87E94B1D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B0A1B04-3F4A-46A1-90C8-063756DD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WHAT MATCHES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DAFEEB27-743A-4B0E-9669-6B80B6BF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Level: 144.4% versus 148.5% in 1963; 263.9% versus 269.0% in 2016.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B270CE98-0251-4F19-9C82-CE334DFC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Share MAE is 6.6 pp for the paper-scope proxy and 3.2 pp for the broad denominator; the latter's closer fit is not proof of conceptual equivalence.</a:t>
            </a:r>
          </a:p>
        </p:txBody>
      </p:sp>
    </p:spTree>
    <p:extLst>
      <p:ext uri="{BB962C8B-B14F-4D97-AF65-F5344CB8AC3E}">
        <p14:creationId xmlns:p14="http://schemas.microsoft.com/office/powerpoint/2010/main" val="7109264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949862FF-4E70-45EE-8D3F-EC75FE50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AUTHORS' OLD APPROACH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B57B4CC-C0B6-43A4-98CE-FDD79FAE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2021 Stata output is a precursor, not the same outcome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54495B2-65BA-48BE-A010-1B128A43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96BAA22-FABA-4ADF-B9AC-91BC3CE0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06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EFF2FE23-8F35-47AE-97DD-4A27FF9E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2021 package · old Figure 6 · Stata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BD06C6C-4210-4C79-B13C-26093AC2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Python · 2025-defined Figure 1 object</a:t>
            </a:r>
          </a:p>
        </p:txBody>
      </p:sp>
      <p:sp>
        <p:nvSpPr>
          <p:cNvPr id="7" name="Regenerated 2021 ownership-detail figure-frame">
            <a:extLst xmlns:a="http://schemas.openxmlformats.org/drawingml/2006/main">
              <a:ext uri="{FF2B5EF4-FFF2-40B4-BE49-F238E27FC236}">
                <a16:creationId xmlns:a16="http://schemas.microsoft.com/office/drawing/2014/main" id="{C5F83280-F332-41F3-91B6-FBB5CC7A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75e305cfe49dc"/>
          <a:stretch xmlns:a="http://schemas.openxmlformats.org/drawingml/2006/main"/>
        </p:blipFill>
        <p:spPr>
          <a:xfrm xmlns:a="http://schemas.openxmlformats.org/drawingml/2006/main">
            <a:off x="533400" y="1933575"/>
            <a:ext cx="5257800" cy="2628900"/>
          </a:xfrm>
          <a:prstGeom xmlns:a="http://schemas.openxmlformats.org/drawingml/2006/main" prst="rect">
            <a:avLst/>
          </a:prstGeom>
        </p:spPr>
      </p:pic>
      <p:sp>
        <p:nvSpPr>
          <p:cNvPr id="9" name="2025 Figure 1 indirect household ownership-frame">
            <a:extLst xmlns:a="http://schemas.openxmlformats.org/drawingml/2006/main">
              <a:ext uri="{FF2B5EF4-FFF2-40B4-BE49-F238E27FC236}">
                <a16:creationId xmlns:a16="http://schemas.microsoft.com/office/drawing/2014/main" id="{D7AA4A79-3DAC-4940-9455-789DBEE4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cba69ba214689"/>
          <a:stretch xmlns:a="http://schemas.openxmlformats.org/drawingml/2006/main"/>
        </p:blipFill>
        <p:spPr>
          <a:xfrm xmlns:a="http://schemas.openxmlformats.org/drawingml/2006/main">
            <a:off x="6400800" y="1776649"/>
            <a:ext cx="5257800" cy="2923702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F9B87890-6855-4148-90A7-D62A5500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9C8ADBB0-34EF-41B0-87C6-19F75FEC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32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2C8B987B-C68F-4FE6-9971-B5469B4E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B83232"/>
                </a:solidFill>
              </a:rPr>
              <a:t>NOT A CONTROLLED TEST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A09CF13E-E382-44E7-8AEE-8B30C741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Both use the same broad Financial Accounts lineage, but the Stata chart decomposes increases in debt holdings; ours totals all household claims on intermediaries.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BC95876E-A4C5-4ACB-9FBE-569F3214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Different estimands plus different algorithms mean the visual gap cannot be attributed purely to the 2021 round-by-round versus 2025 matrix methodology.</a:t>
            </a:r>
          </a:p>
        </p:txBody>
      </p:sp>
    </p:spTree>
    <p:extLst>
      <p:ext uri="{BB962C8B-B14F-4D97-AF65-F5344CB8AC3E}">
        <p14:creationId xmlns:p14="http://schemas.microsoft.com/office/powerpoint/2010/main" val="20285486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kicker">
            <a:extLst xmlns:a="http://schemas.openxmlformats.org/drawingml/2006/main">
              <a:ext uri="{FF2B5EF4-FFF2-40B4-BE49-F238E27FC236}">
                <a16:creationId xmlns:a16="http://schemas.microsoft.com/office/drawing/2014/main" id="{EAB68E1F-5F14-41BF-B5B2-0B83C02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SECONDARY ROBUSTNESS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B9ACAC-E63B-4F9A-A769-27A011FD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Public data recover the broad rise through 2019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E310BCA-30B4-4B4B-9F0D-082B1D7D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230AEA7-5E87-4D82-B1C4-A09E0F2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07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433D43E3-23C7-49D8-9C90-19B44AAA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Procedure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EBA5073A-538F-4458-851D-23CDE872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23950"/>
            <a:ext cx="506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public-data Figure 1 · 1963-2019</a:t>
            </a:r>
          </a:p>
        </p:txBody>
      </p:sp>
      <p:sp>
        <p:nvSpPr>
          <p:cNvPr id="7" name="table-frame">
            <a:extLst xmlns:a="http://schemas.openxmlformats.org/drawingml/2006/main">
              <a:ext uri="{FF2B5EF4-FFF2-40B4-BE49-F238E27FC236}">
                <a16:creationId xmlns:a16="http://schemas.microsoft.com/office/drawing/2014/main" id="{DF9B9604-BE23-46D2-9562-D6BCA821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8" name="table-title">
            <a:extLst xmlns:a="http://schemas.openxmlformats.org/drawingml/2006/main">
              <a:ext uri="{FF2B5EF4-FFF2-40B4-BE49-F238E27FC236}">
                <a16:creationId xmlns:a16="http://schemas.microsoft.com/office/drawing/2014/main" id="{081084E9-D741-43A8-900E-CF85F270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Public-data construction</a:t>
            </a:r>
          </a:p>
        </p:txBody>
      </p:sp>
      <p:sp>
        <p:nvSpPr>
          <p:cNvPr id="9" name="cell-0-0">
            <a:extLst xmlns:a="http://schemas.openxmlformats.org/drawingml/2006/main">
              <a:ext uri="{FF2B5EF4-FFF2-40B4-BE49-F238E27FC236}">
                <a16:creationId xmlns:a16="http://schemas.microsoft.com/office/drawing/2014/main" id="{578615A5-537D-460B-8322-D66557A3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Input</a:t>
            </a:r>
          </a:p>
        </p:txBody>
      </p:sp>
      <p:sp>
        <p:nvSpPr>
          <p:cNvPr id="10" name="cell-0-1">
            <a:extLst xmlns:a="http://schemas.openxmlformats.org/drawingml/2006/main">
              <a:ext uri="{FF2B5EF4-FFF2-40B4-BE49-F238E27FC236}">
                <a16:creationId xmlns:a16="http://schemas.microsoft.com/office/drawing/2014/main" id="{185BC6AA-6653-4B7B-BC03-67E44DB6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76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Coverage</a:t>
            </a:r>
          </a:p>
        </p:txBody>
      </p:sp>
      <p:sp>
        <p:nvSpPr>
          <p:cNvPr id="11" name="cell-0-2">
            <a:extLst xmlns:a="http://schemas.openxmlformats.org/drawingml/2006/main">
              <a:ext uri="{FF2B5EF4-FFF2-40B4-BE49-F238E27FC236}">
                <a16:creationId xmlns:a16="http://schemas.microsoft.com/office/drawing/2014/main" id="{828C9540-C458-4921-8D7B-F2F3FBAB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Treatment</a:t>
            </a:r>
          </a:p>
        </p:txBody>
      </p:sp>
      <p:sp>
        <p:nvSpPr>
          <p:cNvPr id="12" name="row-line-0">
            <a:extLst xmlns:a="http://schemas.openxmlformats.org/drawingml/2006/main">
              <a:ext uri="{FF2B5EF4-FFF2-40B4-BE49-F238E27FC236}">
                <a16:creationId xmlns:a16="http://schemas.microsoft.com/office/drawing/2014/main" id="{D69F3A4E-8E5A-44AE-AB89-D12450A3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ell-1-0">
            <a:extLst xmlns:a="http://schemas.openxmlformats.org/drawingml/2006/main">
              <a:ext uri="{FF2B5EF4-FFF2-40B4-BE49-F238E27FC236}">
                <a16:creationId xmlns:a16="http://schemas.microsoft.com/office/drawing/2014/main" id="{375EAF70-F87B-4459-AB19-10E3F57A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FWTW</a:t>
            </a:r>
          </a:p>
        </p:txBody>
      </p:sp>
      <p:sp>
        <p:nvSpPr>
          <p:cNvPr id="14" name="cell-1-1">
            <a:extLst xmlns:a="http://schemas.openxmlformats.org/drawingml/2006/main">
              <a:ext uri="{FF2B5EF4-FFF2-40B4-BE49-F238E27FC236}">
                <a16:creationId xmlns:a16="http://schemas.microsoft.com/office/drawing/2014/main" id="{DB8CB67E-0F32-4F5D-8B84-36870423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33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1963-2019</a:t>
            </a:r>
          </a:p>
        </p:txBody>
      </p:sp>
      <p:sp>
        <p:nvSpPr>
          <p:cNvPr id="15" name="cell-1-2">
            <a:extLst xmlns:a="http://schemas.openxmlformats.org/drawingml/2006/main">
              <a:ext uri="{FF2B5EF4-FFF2-40B4-BE49-F238E27FC236}">
                <a16:creationId xmlns:a16="http://schemas.microsoft.com/office/drawing/2014/main" id="{A588232C-CDA7-48B1-B9EA-9DEFFC3A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21 sectors</a:t>
            </a:r>
          </a:p>
        </p:txBody>
      </p:sp>
      <p:sp>
        <p:nvSpPr>
          <p:cNvPr id="16" name="row-line-1">
            <a:extLst xmlns:a="http://schemas.openxmlformats.org/drawingml/2006/main">
              <a:ext uri="{FF2B5EF4-FFF2-40B4-BE49-F238E27FC236}">
                <a16:creationId xmlns:a16="http://schemas.microsoft.com/office/drawing/2014/main" id="{5DC11FF2-CA06-4350-9B7E-DAE54138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ell-2-0">
            <a:extLst xmlns:a="http://schemas.openxmlformats.org/drawingml/2006/main">
              <a:ext uri="{FF2B5EF4-FFF2-40B4-BE49-F238E27FC236}">
                <a16:creationId xmlns:a16="http://schemas.microsoft.com/office/drawing/2014/main" id="{BB249022-439E-4DFD-8870-B63B950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BEA/FRED</a:t>
            </a:r>
          </a:p>
        </p:txBody>
      </p:sp>
      <p:sp>
        <p:nvSpPr>
          <p:cNvPr id="18" name="cell-2-1">
            <a:extLst xmlns:a="http://schemas.openxmlformats.org/drawingml/2006/main">
              <a:ext uri="{FF2B5EF4-FFF2-40B4-BE49-F238E27FC236}">
                <a16:creationId xmlns:a16="http://schemas.microsoft.com/office/drawing/2014/main" id="{87840E93-4394-4955-914E-BD1A8634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Annual</a:t>
            </a:r>
          </a:p>
        </p:txBody>
      </p:sp>
      <p:sp>
        <p:nvSpPr>
          <p:cNvPr id="19" name="cell-2-2">
            <a:extLst xmlns:a="http://schemas.openxmlformats.org/drawingml/2006/main">
              <a:ext uri="{FF2B5EF4-FFF2-40B4-BE49-F238E27FC236}">
                <a16:creationId xmlns:a16="http://schemas.microsoft.com/office/drawing/2014/main" id="{6AE24D16-27CB-4592-8B92-E7B2194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NI denominator</a:t>
            </a:r>
          </a:p>
        </p:txBody>
      </p:sp>
      <p:sp>
        <p:nvSpPr>
          <p:cNvPr id="20" name="row-line-2">
            <a:extLst xmlns:a="http://schemas.openxmlformats.org/drawingml/2006/main">
              <a:ext uri="{FF2B5EF4-FFF2-40B4-BE49-F238E27FC236}">
                <a16:creationId xmlns:a16="http://schemas.microsoft.com/office/drawing/2014/main" id="{58202A1E-47E9-4450-9AAF-4809157C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052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ell-3-0">
            <a:extLst xmlns:a="http://schemas.openxmlformats.org/drawingml/2006/main">
              <a:ext uri="{FF2B5EF4-FFF2-40B4-BE49-F238E27FC236}">
                <a16:creationId xmlns:a16="http://schemas.microsoft.com/office/drawing/2014/main" id="{5D5C5D74-A455-4E52-8A25-CDCBC8D7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Equity</a:t>
            </a:r>
          </a:p>
        </p:txBody>
      </p:sp>
      <p:sp>
        <p:nvSpPr>
          <p:cNvPr id="22" name="cell-3-1">
            <a:extLst xmlns:a="http://schemas.openxmlformats.org/drawingml/2006/main">
              <a:ext uri="{FF2B5EF4-FFF2-40B4-BE49-F238E27FC236}">
                <a16:creationId xmlns:a16="http://schemas.microsoft.com/office/drawing/2014/main" id="{73DF07FB-E70E-4854-A60E-F8243C80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481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Later vintage</a:t>
            </a:r>
          </a:p>
        </p:txBody>
      </p:sp>
      <p:sp>
        <p:nvSpPr>
          <p:cNvPr id="23" name="cell-3-2">
            <a:extLst xmlns:a="http://schemas.openxmlformats.org/drawingml/2006/main">
              <a:ext uri="{FF2B5EF4-FFF2-40B4-BE49-F238E27FC236}">
                <a16:creationId xmlns:a16="http://schemas.microsoft.com/office/drawing/2014/main" id="{3E8F525E-F811-4AC8-9E28-88298201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Public proxy</a:t>
            </a:r>
          </a:p>
        </p:txBody>
      </p:sp>
      <p:sp>
        <p:nvSpPr>
          <p:cNvPr id="24" name="row-line-3">
            <a:extLst xmlns:a="http://schemas.openxmlformats.org/drawingml/2006/main">
              <a:ext uri="{FF2B5EF4-FFF2-40B4-BE49-F238E27FC236}">
                <a16:creationId xmlns:a16="http://schemas.microsoft.com/office/drawing/2014/main" id="{818FEF36-9BF4-4EA1-976A-5EA965CA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ell-4-0">
            <a:extLst xmlns:a="http://schemas.openxmlformats.org/drawingml/2006/main">
              <a:ext uri="{FF2B5EF4-FFF2-40B4-BE49-F238E27FC236}">
                <a16:creationId xmlns:a16="http://schemas.microsoft.com/office/drawing/2014/main" id="{72CD9AF7-AAEF-488F-8615-0686F125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Output</a:t>
            </a:r>
          </a:p>
        </p:txBody>
      </p:sp>
      <p:sp>
        <p:nvSpPr>
          <p:cNvPr id="26" name="cell-4-1">
            <a:extLst xmlns:a="http://schemas.openxmlformats.org/drawingml/2006/main">
              <a:ext uri="{FF2B5EF4-FFF2-40B4-BE49-F238E27FC236}">
                <a16:creationId xmlns:a16="http://schemas.microsoft.com/office/drawing/2014/main" id="{8E997FD0-B881-427E-8EA9-E24A4D12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Two ratios</a:t>
            </a:r>
          </a:p>
        </p:txBody>
      </p:sp>
      <p:sp>
        <p:nvSpPr>
          <p:cNvPr id="27" name="cell-4-2">
            <a:extLst xmlns:a="http://schemas.openxmlformats.org/drawingml/2006/main">
              <a:ext uri="{FF2B5EF4-FFF2-40B4-BE49-F238E27FC236}">
                <a16:creationId xmlns:a16="http://schemas.microsoft.com/office/drawing/2014/main" id="{6AE699B0-0AEF-4868-BF2E-0C8DAD10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Robustness</a:t>
            </a:r>
          </a:p>
        </p:txBody>
      </p:sp>
      <p:sp>
        <p:nvSpPr>
          <p:cNvPr id="28" name="row-line-4">
            <a:extLst xmlns:a="http://schemas.openxmlformats.org/drawingml/2006/main">
              <a:ext uri="{FF2B5EF4-FFF2-40B4-BE49-F238E27FC236}">
                <a16:creationId xmlns:a16="http://schemas.microsoft.com/office/drawing/2014/main" id="{0704D39B-5682-4E58-8970-C924CACF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2025 Figure 9 debt-financing flows-frame">
            <a:extLst xmlns:a="http://schemas.openxmlformats.org/drawingml/2006/main">
              <a:ext uri="{FF2B5EF4-FFF2-40B4-BE49-F238E27FC236}">
                <a16:creationId xmlns:a16="http://schemas.microsoft.com/office/drawing/2014/main" id="{219A4000-C6D6-4F3C-A70A-16384C12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c00e25db0d4928"/>
          <a:stretch xmlns:a="http://schemas.openxmlformats.org/drawingml/2006/main"/>
        </p:blipFill>
        <p:spPr>
          <a:xfrm xmlns:a="http://schemas.openxmlformats.org/drawingml/2006/main">
            <a:off x="6400800" y="1776685"/>
            <a:ext cx="5257800" cy="2942680"/>
          </a:xfrm>
          <a:prstGeom xmlns:a="http://schemas.openxmlformats.org/drawingml/2006/main" prst="rect">
            <a:avLst/>
          </a:prstGeom>
        </p:spPr>
      </p:pic>
      <p:sp>
        <p:nvSpPr>
          <p:cNvPr id="3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45164E07-14D9-410E-B5ED-A6A5995E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B7340063-81CA-4574-9077-44EFF41E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verdict">
            <a:extLst xmlns:a="http://schemas.openxmlformats.org/drawingml/2006/main">
              <a:ext uri="{FF2B5EF4-FFF2-40B4-BE49-F238E27FC236}">
                <a16:creationId xmlns:a16="http://schemas.microsoft.com/office/drawing/2014/main" id="{58150FBF-9B5D-4B58-BB9C-CF5537C9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B7791F"/>
                </a:solidFill>
              </a:rPr>
              <a:t>TREND ROBUST</a:t>
            </a:r>
          </a:p>
        </p:txBody>
      </p:sp>
      <p:sp>
        <p:nvSpPr>
          <p:cNvPr id="34" name="assessment">
            <a:extLst xmlns:a="http://schemas.openxmlformats.org/drawingml/2006/main">
              <a:ext uri="{FF2B5EF4-FFF2-40B4-BE49-F238E27FC236}">
                <a16:creationId xmlns:a16="http://schemas.microsoft.com/office/drawing/2014/main" id="{94677C1B-710E-4943-B335-D005A436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14950"/>
            <a:ext cx="809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Indirect share: 47.5% in 1963, a 70.1% peak in 2009, and 66.2% in 2019.</a:t>
            </a:r>
          </a:p>
        </p:txBody>
      </p:sp>
      <p:sp>
        <p:nvSpPr>
          <p:cNvPr id="35" name="difference">
            <a:extLst xmlns:a="http://schemas.openxmlformats.org/drawingml/2006/main">
              <a:ext uri="{FF2B5EF4-FFF2-40B4-BE49-F238E27FC236}">
                <a16:creationId xmlns:a16="http://schemas.microsoft.com/office/drawing/2014/main" id="{F73CA6A4-7682-4A38-9F63-F48562BF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Later revisions, 21 rather than 23 intermediaries, and a different equity extension prevent an exact target comparison.</a:t>
            </a:r>
          </a:p>
        </p:txBody>
      </p:sp>
    </p:spTree>
    <p:extLst>
      <p:ext uri="{BB962C8B-B14F-4D97-AF65-F5344CB8AC3E}">
        <p14:creationId xmlns:p14="http://schemas.microsoft.com/office/powerpoint/2010/main" val="9960027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5 IDENTIFICATION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2021 wealth pipeline identifies revised saving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08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5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Saving contribution by wealth group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Allocate wealth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B.101 totals × fine DINA shares for four groups and 29 balance-sheet categories.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Remove valuations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Housing gains + debt write-downs; residual equity return closes to NIPA.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Match display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Trailing 10-year mean of saving / national income, less its 1982 value.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Reconstruction: wealth, valuation, fine-share, and NIPA inputs are supplied through 2016.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5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older inputs reproduce the saving divergence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09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ratio axis (0.10 = 10 pp)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reconstruction · percentage-point axis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HIGH-FIDELITY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Top 1% / bottom 99% correlations: 0.992 / 0.997; MAE: 0.40 / 0.42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2016 shifts: ours +3.25 / -7.11 pp; digitized paper +4.35 / -8.46 pp. Paper image excludes its printed caption.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f536b474de4e57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1e7b7aef24b4f"/>
          <a:stretch xmlns:a="http://schemas.openxmlformats.org/drawingml/2006/main"/>
        </p:blipFill>
        <p:spPr>
          <a:xfrm xmlns:a="http://schemas.openxmlformats.org/drawingml/2006/main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IDENTIFICATION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same saving rate supports rank and wealth-level views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10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6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Net saving rate by wealth percentile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Rebuild bins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Raw DINA: bottom 40%, then one-percentile bins through the top 1%.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Match income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Personal plus attributable corporate disposable income, allocated by income and equity shares.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Hold rate fixed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Active saving divided by disposable income; only the horizontal coordinate changes.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Exact-method reconstruction through 2016; the paper's later window ends in 2019.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older inputs reproduce the cross-sectional saving pattern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11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1963–82 and 1983–2019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reconstruction · second period ends in 2016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SHAPE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Correlations: 0.991 / 0.969; MAE: 1.46 / 1.22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Top 1%: ours 28.8%→36.2%; paper ≈43%→54%. The old inputs end in 2016, not 2019.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f2564f33a94339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d1aabb29bb4c6f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kicker">
            <a:extLst xmlns:a="http://schemas.openxmlformats.org/drawingml/2006/main">
              <a:ext uri="{FF2B5EF4-FFF2-40B4-BE49-F238E27FC236}">
                <a16:creationId xmlns:a16="http://schemas.microsoft.com/office/drawing/2014/main" id="{EAB68E1F-5F14-41BF-B5B2-0B83C02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DIGITIZATION AUDIT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B9ACAC-E63B-4F9A-A769-27A011FD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Recovered centerlines match the paper pixels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E310BCA-30B4-4B4B-9F0D-082B1D7D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230AEA7-5E87-4D82-B1C4-A09E0F2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12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433D43E3-23C7-49D8-9C90-19B44AAA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Calibration and trace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EBA5073A-538F-4458-851D-23CDE872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23950"/>
            <a:ext cx="506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Original raster + recovered centerlines</a:t>
            </a:r>
          </a:p>
        </p:txBody>
      </p:sp>
      <p:sp>
        <p:nvSpPr>
          <p:cNvPr id="7" name="table-frame">
            <a:extLst xmlns:a="http://schemas.openxmlformats.org/drawingml/2006/main">
              <a:ext uri="{FF2B5EF4-FFF2-40B4-BE49-F238E27FC236}">
                <a16:creationId xmlns:a16="http://schemas.microsoft.com/office/drawing/2014/main" id="{DF9B9604-BE23-46D2-9562-D6BCA821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8" name="table-title">
            <a:extLst xmlns:a="http://schemas.openxmlformats.org/drawingml/2006/main">
              <a:ext uri="{FF2B5EF4-FFF2-40B4-BE49-F238E27FC236}">
                <a16:creationId xmlns:a16="http://schemas.microsoft.com/office/drawing/2014/main" id="{081084E9-D741-43A8-900E-CF85F270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No hand-clicking or screenshot interpolation</a:t>
            </a:r>
          </a:p>
        </p:txBody>
      </p:sp>
      <p:sp>
        <p:nvSpPr>
          <p:cNvPr id="9" name="cell-0-0">
            <a:extLst xmlns:a="http://schemas.openxmlformats.org/drawingml/2006/main">
              <a:ext uri="{FF2B5EF4-FFF2-40B4-BE49-F238E27FC236}">
                <a16:creationId xmlns:a16="http://schemas.microsoft.com/office/drawing/2014/main" id="{578615A5-537D-460B-8322-D66557A3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Object</a:t>
            </a:r>
          </a:p>
        </p:txBody>
      </p:sp>
      <p:sp>
        <p:nvSpPr>
          <p:cNvPr id="10" name="cell-0-1">
            <a:extLst xmlns:a="http://schemas.openxmlformats.org/drawingml/2006/main">
              <a:ext uri="{FF2B5EF4-FFF2-40B4-BE49-F238E27FC236}">
                <a16:creationId xmlns:a16="http://schemas.microsoft.com/office/drawing/2014/main" id="{185BC6AA-6653-4B7B-BC03-67E44DB6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76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1" name="cell-0-2">
            <a:extLst xmlns:a="http://schemas.openxmlformats.org/drawingml/2006/main">
              <a:ext uri="{FF2B5EF4-FFF2-40B4-BE49-F238E27FC236}">
                <a16:creationId xmlns:a16="http://schemas.microsoft.com/office/drawing/2014/main" id="{828C9540-C458-4921-8D7B-F2F3FBAB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Result</a:t>
            </a:r>
          </a:p>
        </p:txBody>
      </p:sp>
      <p:sp>
        <p:nvSpPr>
          <p:cNvPr id="12" name="row-line-0">
            <a:extLst xmlns:a="http://schemas.openxmlformats.org/drawingml/2006/main">
              <a:ext uri="{FF2B5EF4-FFF2-40B4-BE49-F238E27FC236}">
                <a16:creationId xmlns:a16="http://schemas.microsoft.com/office/drawing/2014/main" id="{D69F3A4E-8E5A-44AE-AB89-D12450A3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ell-1-0">
            <a:extLst xmlns:a="http://schemas.openxmlformats.org/drawingml/2006/main">
              <a:ext uri="{FF2B5EF4-FFF2-40B4-BE49-F238E27FC236}">
                <a16:creationId xmlns:a16="http://schemas.microsoft.com/office/drawing/2014/main" id="{375EAF70-F87B-4459-AB19-10E3F57A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Source</a:t>
            </a:r>
          </a:p>
        </p:txBody>
      </p:sp>
      <p:sp>
        <p:nvSpPr>
          <p:cNvPr id="14" name="cell-1-1">
            <a:extLst xmlns:a="http://schemas.openxmlformats.org/drawingml/2006/main">
              <a:ext uri="{FF2B5EF4-FFF2-40B4-BE49-F238E27FC236}">
                <a16:creationId xmlns:a16="http://schemas.microsoft.com/office/drawing/2014/main" id="{DB8CB67E-0F32-4F5D-8B84-36870423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33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1047×698</a:t>
            </a:r>
          </a:p>
        </p:txBody>
      </p:sp>
      <p:sp>
        <p:nvSpPr>
          <p:cNvPr id="15" name="cell-1-2">
            <a:extLst xmlns:a="http://schemas.openxmlformats.org/drawingml/2006/main">
              <a:ext uri="{FF2B5EF4-FFF2-40B4-BE49-F238E27FC236}">
                <a16:creationId xmlns:a16="http://schemas.microsoft.com/office/drawing/2014/main" id="{A588232C-CDA7-48B1-B9EA-9DEFFC3A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Embedded</a:t>
            </a:r>
          </a:p>
        </p:txBody>
      </p:sp>
      <p:sp>
        <p:nvSpPr>
          <p:cNvPr id="16" name="row-line-1">
            <a:extLst xmlns:a="http://schemas.openxmlformats.org/drawingml/2006/main">
              <a:ext uri="{FF2B5EF4-FFF2-40B4-BE49-F238E27FC236}">
                <a16:creationId xmlns:a16="http://schemas.microsoft.com/office/drawing/2014/main" id="{5DC11FF2-CA06-4350-9B7E-DAE54138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ell-2-0">
            <a:extLst xmlns:a="http://schemas.openxmlformats.org/drawingml/2006/main">
              <a:ext uri="{FF2B5EF4-FFF2-40B4-BE49-F238E27FC236}">
                <a16:creationId xmlns:a16="http://schemas.microsoft.com/office/drawing/2014/main" id="{BB249022-439E-4DFD-8870-B63B950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Grid</a:t>
            </a:r>
          </a:p>
        </p:txBody>
      </p:sp>
      <p:sp>
        <p:nvSpPr>
          <p:cNvPr id="18" name="cell-2-1">
            <a:extLst xmlns:a="http://schemas.openxmlformats.org/drawingml/2006/main">
              <a:ext uri="{FF2B5EF4-FFF2-40B4-BE49-F238E27FC236}">
                <a16:creationId xmlns:a16="http://schemas.microsoft.com/office/drawing/2014/main" id="{87840E93-4394-4955-914E-BD1A8634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61 × 2</a:t>
            </a:r>
          </a:p>
        </p:txBody>
      </p:sp>
      <p:sp>
        <p:nvSpPr>
          <p:cNvPr id="19" name="cell-2-2">
            <a:extLst xmlns:a="http://schemas.openxmlformats.org/drawingml/2006/main">
              <a:ext uri="{FF2B5EF4-FFF2-40B4-BE49-F238E27FC236}">
                <a16:creationId xmlns:a16="http://schemas.microsoft.com/office/drawing/2014/main" id="{6AE24D16-27CB-4592-8B92-E7B2194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122 samples</a:t>
            </a:r>
          </a:p>
        </p:txBody>
      </p:sp>
      <p:sp>
        <p:nvSpPr>
          <p:cNvPr id="20" name="row-line-2">
            <a:extLst xmlns:a="http://schemas.openxmlformats.org/drawingml/2006/main">
              <a:ext uri="{FF2B5EF4-FFF2-40B4-BE49-F238E27FC236}">
                <a16:creationId xmlns:a16="http://schemas.microsoft.com/office/drawing/2014/main" id="{58202A1E-47E9-4450-9AAF-4809157C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052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ell-3-0">
            <a:extLst xmlns:a="http://schemas.openxmlformats.org/drawingml/2006/main">
              <a:ext uri="{FF2B5EF4-FFF2-40B4-BE49-F238E27FC236}">
                <a16:creationId xmlns:a16="http://schemas.microsoft.com/office/drawing/2014/main" id="{5D5C5D74-A455-4E52-8A25-CDCBC8D7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Matches</a:t>
            </a:r>
          </a:p>
        </p:txBody>
      </p:sp>
      <p:sp>
        <p:nvSpPr>
          <p:cNvPr id="22" name="cell-3-1">
            <a:extLst xmlns:a="http://schemas.openxmlformats.org/drawingml/2006/main">
              <a:ext uri="{FF2B5EF4-FFF2-40B4-BE49-F238E27FC236}">
                <a16:creationId xmlns:a16="http://schemas.microsoft.com/office/drawing/2014/main" id="{73DF07FB-E70E-4854-A60E-F8243C80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481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122 / 122</a:t>
            </a:r>
          </a:p>
        </p:txBody>
      </p:sp>
      <p:sp>
        <p:nvSpPr>
          <p:cNvPr id="23" name="cell-3-2">
            <a:extLst xmlns:a="http://schemas.openxmlformats.org/drawingml/2006/main">
              <a:ext uri="{FF2B5EF4-FFF2-40B4-BE49-F238E27FC236}">
                <a16:creationId xmlns:a16="http://schemas.microsoft.com/office/drawing/2014/main" id="{3E8F525E-F811-4AC8-9E28-88298201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0 filled</a:t>
            </a:r>
          </a:p>
        </p:txBody>
      </p:sp>
      <p:sp>
        <p:nvSpPr>
          <p:cNvPr id="24" name="row-line-3">
            <a:extLst xmlns:a="http://schemas.openxmlformats.org/drawingml/2006/main">
              <a:ext uri="{FF2B5EF4-FFF2-40B4-BE49-F238E27FC236}">
                <a16:creationId xmlns:a16="http://schemas.microsoft.com/office/drawing/2014/main" id="{818FEF36-9BF4-4EA1-976A-5EA965CA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ell-4-0">
            <a:extLst xmlns:a="http://schemas.openxmlformats.org/drawingml/2006/main">
              <a:ext uri="{FF2B5EF4-FFF2-40B4-BE49-F238E27FC236}">
                <a16:creationId xmlns:a16="http://schemas.microsoft.com/office/drawing/2014/main" id="{72CD9AF7-AAEF-488F-8615-0686F125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Scale</a:t>
            </a:r>
          </a:p>
        </p:txBody>
      </p:sp>
      <p:sp>
        <p:nvSpPr>
          <p:cNvPr id="26" name="cell-4-1">
            <a:extLst xmlns:a="http://schemas.openxmlformats.org/drawingml/2006/main">
              <a:ext uri="{FF2B5EF4-FFF2-40B4-BE49-F238E27FC236}">
                <a16:creationId xmlns:a16="http://schemas.microsoft.com/office/drawing/2014/main" id="{8E997FD0-B881-427E-8EA9-E24A4D12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 pixel</a:t>
            </a:r>
          </a:p>
        </p:txBody>
      </p:sp>
      <p:sp>
        <p:nvSpPr>
          <p:cNvPr id="27" name="cell-4-2">
            <a:extLst xmlns:a="http://schemas.openxmlformats.org/drawingml/2006/main">
              <a:ext uri="{FF2B5EF4-FFF2-40B4-BE49-F238E27FC236}">
                <a16:creationId xmlns:a16="http://schemas.microsoft.com/office/drawing/2014/main" id="{6AE699B0-0AEF-4868-BF2E-0C8DAD10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0.129 pp</a:t>
            </a:r>
          </a:p>
        </p:txBody>
      </p:sp>
      <p:sp>
        <p:nvSpPr>
          <p:cNvPr id="28" name="row-line-4">
            <a:extLst xmlns:a="http://schemas.openxmlformats.org/drawingml/2006/main">
              <a:ext uri="{FF2B5EF4-FFF2-40B4-BE49-F238E27FC236}">
                <a16:creationId xmlns:a16="http://schemas.microsoft.com/office/drawing/2014/main" id="{0704D39B-5682-4E58-8970-C924CACF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2025 Figure 9 debt-financing flows-frame">
            <a:extLst xmlns:a="http://schemas.openxmlformats.org/drawingml/2006/main">
              <a:ext uri="{FF2B5EF4-FFF2-40B4-BE49-F238E27FC236}">
                <a16:creationId xmlns:a16="http://schemas.microsoft.com/office/drawing/2014/main" id="{219A4000-C6D6-4F3C-A70A-16384C12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3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45164E07-14D9-410E-B5ED-A6A5995E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B7340063-81CA-4574-9077-44EFF41E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verdict">
            <a:extLst xmlns:a="http://schemas.openxmlformats.org/drawingml/2006/main">
              <a:ext uri="{FF2B5EF4-FFF2-40B4-BE49-F238E27FC236}">
                <a16:creationId xmlns:a16="http://schemas.microsoft.com/office/drawing/2014/main" id="{58150FBF-9B5D-4B58-BB9C-CF5537C9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B7791F"/>
                </a:solidFill>
              </a:rPr>
              <a:t>PIXEL TRACE PASSES</a:t>
            </a:r>
          </a:p>
        </p:txBody>
      </p:sp>
      <p:sp>
        <p:nvSpPr>
          <p:cNvPr id="34" name="assessment">
            <a:extLst xmlns:a="http://schemas.openxmlformats.org/drawingml/2006/main">
              <a:ext uri="{FF2B5EF4-FFF2-40B4-BE49-F238E27FC236}">
                <a16:creationId xmlns:a16="http://schemas.microsoft.com/office/drawing/2014/main" id="{94677C1B-710E-4943-B335-D005A436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14950"/>
            <a:ext cx="809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Solid recovered centerlines overlap the original dashed curves.</a:t>
            </a:r>
          </a:p>
        </p:txBody>
      </p:sp>
      <p:sp>
        <p:nvSpPr>
          <p:cNvPr id="35" name="difference">
            <a:extLst xmlns:a="http://schemas.openxmlformats.org/drawingml/2006/main">
              <a:ext uri="{FF2B5EF4-FFF2-40B4-BE49-F238E27FC236}">
                <a16:creationId xmlns:a16="http://schemas.microsoft.com/office/drawing/2014/main" id="{F73CA6A4-7682-4A38-9F63-F48562BF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overlay corrected the blue top-1 endpoint by ≈1.3 pp; post-period correlation / MAE are 0.969 / 1.22 pp.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1fe59617a3406f"/>
          <a:stretch xmlns:a="http://schemas.openxmlformats.org/drawingml/2006/main"/>
        </p:blipFill>
        <p:spPr>
          <a:xfrm xmlns:a="http://schemas.openxmlformats.org/drawingml/2006/main" flipH="0" flipV="0">
            <a:off x="6400800" y="1776685"/>
            <a:ext cx="5257800" cy="29426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0027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MECHANISM VIEW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Rising wealth alone does not explain the saving-rate shift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13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Same rates · wealth percentile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Same rates · mean real wealth per adult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NOT PURE COMPOSITION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At similar mean wealth, post-1982 cohorts often save less.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Near $300k mean wealth: pre p90 saves 31.5%; post p80 saves 7.4%. Cohort means are not fixed-dollar bins.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4014cbd904575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c59bdb97834345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TIME EVOLUTION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Upper-middle rates trend down; the top 1% remains volatile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14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Full distribution · trailing five-year means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Selected upper-tail percentiles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NOT A SINGLE BREAK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80th–90th percentiles decline persistently after the late 1980s.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top 1% oscillates sharply, including a 2008 five-year peak; this is not one smooth monotone trend.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a0e0914504555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d487604f3d4423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FEASIBILITY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Figure 8 stops one step before the revised matrix solve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15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Net household debt by wealth group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Missing upstream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Completed 2025 instrument × sector matrices and augmented household columns.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Old-kit output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Fine debt assets after seven rounds + fine liabilities.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Applied faithfully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Net debt = debt assets − liabilities; divide by NI; subtract 1982.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Proxy: group, sign, scale, and base are revised; unveiled asset stocks still come from the older method.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proxy reproduces borrowing, but understates top-1 lending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16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ratio axis (0.10 = 10 pp)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proxy · percentage-point axis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PROXY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2007: bottom 99% -38.88 pp proxy vs -38.76 paper; top 1% +12.03 vs +18.02.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Correlations: 0.993 / 0.995 (top 1% / bottom 99%). Missing matrices prevent a code-only interpretation.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901fb5bf0b4e33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e43d4195594384"/>
          <a:stretch xmlns:a="http://schemas.openxmlformats.org/drawingml/2006/main"/>
        </p:blipFill>
        <p:spPr>
          <a:xfrm xmlns:a="http://schemas.openxmlformats.org/drawingml/2006/main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REPLICATION SYNTHESIS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Figures 1, 5, and 6 reconstruct; Figure 8 remains a proxy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17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Conclusion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What did the 2021 kit let us test?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Figure 1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Close stock reconstruction; share denominator remains version-specific.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D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Figures 5–6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High-fidelity saving-flow and saving-rate reconstructions through 2016.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Figure 8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Direction and bottom-99 level match; revised matrices are unavailable.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Main lesson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2021 inputs reproduce the paper's core patterns and support a new Figure 6 mechanism diagnostic. Figure 8 alone remains method-bounded.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theme/theme1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2026-08-12T17:01:43.4040000Z</dcterms:created>
  <dcterms:modified xsi:type="dcterms:W3CDTF">2026-08-12T17:01:43.4040000Z</dcterms:modified>
</coreProperties>
</file>